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Natas is the web track and the one that works differently from the other two: launching gives you an attacker workstation, not a direct line to the target. Every target is reachable only from inside that workstation. There is no SSH requirement — one click gives a full Kali desktop in the browser over noVNC. 'Natas' is 'Satan' spelled backwards, which is where the mirrored-underworld theme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few are things you can do with nothing but a browser. The last few reach the server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deliberate pause. Say what is coming and roughly how long it will take, then work through the topics. None of them is a level and none is a method — it is the shared vocabulary the track assumes. If you are running short, this list is also the menu: cut topics from it rather than rushing all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Request and response. HTTP is one request, one reply, and no memory of either afterwards.
The left column is the explanation; the right is a worked example you can talk through line by line. The example is a generic illustration of the concept — it is not a payload, path or command for any actual level, so it can be shown in full without spoiling anything.
Land this: Name the part a value lives in, and you have named where to change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client is not a boundary. Everything the browser does happens on your machine, under your control.
The left column is the explanation; the right is a worked example you can talk through line by line. The example is a generic illustration of the concept — it is not a payload, path or command for any actual level, so it can be shown in full without spoiling anything.
Land this: The page is a suggestion. The request is what 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Paths and traversal. A path is a string the server turns into a location on disk.
The left column is the explanation; the right is a worked example you can talk through line by line. The example is a generic illustration of the concept — it is not a payload, path or command for any actual level, so it can be shown in full without spoiling anything.
Land this: The server did nothing wrong. It did exactly what it was told.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Cookies, headers and sessions. A forgetful protocol remembers you by handing you something to give back.
The left column is the explanation; the right is a worked example you can talk through line by line. The example is a generic illustration of the concept — it is not a payload, path or command for any actual level, so it can be shown in full without spoiling anything.
Land this: Received is not the same as 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Input that becomes instruction. The bug appears when a value supplied as data gets executed as a command.
The left column is the explanation; the right is a worked example you can talk through line by line. The example is a generic illustration of the concept — it is not a payload, path or command for any actual level, so it can be shown in full without spoiling anything.
Land this: Ask on every level: where does my text stop being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Reversible is not secret. If it can be undone with what you already hold, it protects nothing.
The left column is the explanation; the right is a worked example you can talk through line by line. The example is a generic illustration of the concept — it is not a payload, path or command for any actual level, so it can be shown in full without spoiling anything.
Land this: Scrambled and secret are not the same property.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layer. Behind most of the web sits a database, answering questions written as text.
The left column is the explanation; the right is a worked example you can talk through line by line. The example is a generic illustration of the concept — it is not a payload, path or command for any actual level, so it can be shown in full without spoiling anything.
Land this: The database is not fooled. It was never told there was a difference.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people get wrong. The launch gives them an attacker workstation, and the targets are reachable ONLY from inside it — not from their own laptop. Say that twice. The noVNC desktop needs nothing installed, which makes this the right track for anyone on a locked-down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points, and it proves the part people actually get stuck on: that targets live behind the workstation.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 leave it up while people get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slideLayout" Target="../slideLayouts/slideLayout1.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220"/>
        </a:solidFill>
      </p:bgPr>
    </p:bg>
    <p:spTree>
      <p:nvGrpSpPr>
        <p:cNvPr id="1" name=""/>
        <p:cNvGrpSpPr/>
        <p:nvPr/>
      </p:nvGrpSpPr>
      <p:grpSpPr>
        <a:xfrm>
          <a:off x="0" y="0"/>
          <a:ext cx="0" cy="0"/>
          <a:chOff x="0" y="0"/>
          <a:chExt cx="0" cy="0"/>
        </a:xfrm>
      </p:grpSpPr>
      <p:sp>
        <p:nvSpPr>
          <p:cNvPr id="2" name="Shape 0"/>
          <p:cNvSpPr/>
          <p:nvPr/>
        </p:nvSpPr>
        <p:spPr>
          <a:xfrm>
            <a:off x="-2194560" y="4480560"/>
            <a:ext cx="4206240" cy="4206240"/>
          </a:xfrm>
          <a:prstGeom prst="ellipse">
            <a:avLst/>
          </a:prstGeom>
          <a:solidFill>
            <a:srgbClr val="141F30"/>
          </a:solidFill>
          <a:ln/>
        </p:spPr>
      </p:sp>
      <p:pic>
        <p:nvPicPr>
          <p:cNvPr id="3" name="Image 0" descr="preencoded.png">    </p:cNvPr>
          <p:cNvPicPr>
            <a:picLocks noChangeAspect="1"/>
          </p:cNvPicPr>
          <p:nvPr/>
        </p:nvPicPr>
        <p:blipFill>
          <a:blip r:embed="rId1"/>
          <a:stretch>
            <a:fillRect/>
          </a:stretch>
        </p:blipFill>
        <p:spPr>
          <a:xfrm>
            <a:off x="6903720" y="1051560"/>
            <a:ext cx="4800600" cy="3931920"/>
          </a:xfrm>
          <a:prstGeom prst="rect">
            <a:avLst/>
          </a:prstGeom>
        </p:spPr>
      </p:pic>
      <p:sp>
        <p:nvSpPr>
          <p:cNvPr id="4" name="Shape 1"/>
          <p:cNvSpPr/>
          <p:nvPr/>
        </p:nvSpPr>
        <p:spPr>
          <a:xfrm>
            <a:off x="548640" y="960120"/>
            <a:ext cx="786384" cy="786384"/>
          </a:xfrm>
          <a:prstGeom prst="ellipse">
            <a:avLst/>
          </a:prstGeom>
          <a:solidFill>
            <a:srgbClr val="E0559E"/>
          </a:solidFill>
          <a:ln/>
        </p:spPr>
      </p:sp>
      <p:pic>
        <p:nvPicPr>
          <p:cNvPr id="5" name="Image 1" descr="preencoded.png">    </p:cNvPr>
          <p:cNvPicPr>
            <a:picLocks noChangeAspect="1"/>
          </p:cNvPicPr>
          <p:nvPr/>
        </p:nvPicPr>
        <p:blipFill>
          <a:blip r:embed="rId2"/>
          <a:stretch>
            <a:fillRect/>
          </a:stretch>
        </p:blipFill>
        <p:spPr>
          <a:xfrm>
            <a:off x="753100" y="1164580"/>
            <a:ext cx="377464" cy="377464"/>
          </a:xfrm>
          <a:prstGeom prst="rect">
            <a:avLst/>
          </a:prstGeom>
        </p:spPr>
      </p:pic>
      <p:sp>
        <p:nvSpPr>
          <p:cNvPr id="6" name="Text 2"/>
          <p:cNvSpPr/>
          <p:nvPr/>
        </p:nvSpPr>
        <p:spPr>
          <a:xfrm>
            <a:off x="548640" y="3017520"/>
            <a:ext cx="6126480" cy="822960"/>
          </a:xfrm>
          <a:prstGeom prst="rect">
            <a:avLst/>
          </a:prstGeom>
          <a:noFill/>
          <a:ln/>
        </p:spPr>
        <p:txBody>
          <a:bodyPr wrap="square" lIns="0" tIns="0" rIns="0" bIns="0" rtlCol="0" anchor="ctr"/>
          <a:lstStyle/>
          <a:p>
            <a:pPr indent="0" marL="0">
              <a:buNone/>
            </a:pPr>
            <a:r>
              <a:rPr lang="en-US" sz="4400" b="1" dirty="0">
                <a:solidFill>
                  <a:srgbClr val="F4F6FB"/>
                </a:solidFill>
                <a:latin typeface="Cambria" pitchFamily="34" charset="0"/>
                <a:ea typeface="Cambria" pitchFamily="34" charset="-122"/>
                <a:cs typeface="Cambria" pitchFamily="34" charset="-120"/>
              </a:rPr>
              <a:t>NATAS</a:t>
            </a:r>
            <a:endParaRPr lang="en-US" sz="4400" dirty="0"/>
          </a:p>
        </p:txBody>
      </p:sp>
      <p:sp>
        <p:nvSpPr>
          <p:cNvPr id="7" name="Text 3"/>
          <p:cNvSpPr/>
          <p:nvPr/>
        </p:nvSpPr>
        <p:spPr>
          <a:xfrm>
            <a:off x="548640" y="3886200"/>
            <a:ext cx="6126480" cy="411480"/>
          </a:xfrm>
          <a:prstGeom prst="rect">
            <a:avLst/>
          </a:prstGeom>
          <a:noFill/>
          <a:ln/>
        </p:spPr>
        <p:txBody>
          <a:bodyPr wrap="square" lIns="0" tIns="0" rIns="0" bIns="0" rtlCol="0" anchor="ctr"/>
          <a:lstStyle/>
          <a:p>
            <a:pPr indent="0" marL="0">
              <a:buNone/>
            </a:pPr>
            <a:r>
              <a:rPr lang="en-US" sz="2200" b="1" i="1" dirty="0">
                <a:solidFill>
                  <a:srgbClr val="E0559E"/>
                </a:solidFill>
                <a:latin typeface="Cambria" pitchFamily="34" charset="0"/>
                <a:ea typeface="Cambria" pitchFamily="34" charset="-122"/>
                <a:cs typeface="Cambria" pitchFamily="34" charset="-120"/>
              </a:rPr>
              <a:t>Into the Mirror</a:t>
            </a:r>
            <a:endParaRPr lang="en-US" sz="2200" dirty="0"/>
          </a:p>
        </p:txBody>
      </p:sp>
      <p:sp>
        <p:nvSpPr>
          <p:cNvPr id="8" name="Text 4"/>
          <p:cNvSpPr/>
          <p:nvPr/>
        </p:nvSpPr>
        <p:spPr>
          <a:xfrm>
            <a:off x="548640" y="4389120"/>
            <a:ext cx="6217920" cy="566928"/>
          </a:xfrm>
          <a:prstGeom prst="rect">
            <a:avLst/>
          </a:prstGeom>
          <a:noFill/>
          <a:ln/>
        </p:spPr>
        <p:txBody>
          <a:bodyPr wrap="square" lIns="0" tIns="0" rIns="0" bIns="0" rtlCol="0" anchor="ctr"/>
          <a:lstStyle/>
          <a:p>
            <a:pPr indent="0" marL="0">
              <a:lnSpc>
                <a:spcPct val="115000"/>
              </a:lnSpc>
              <a:buNone/>
            </a:pPr>
            <a:r>
              <a:rPr lang="en-US" sz="1350" dirty="0">
                <a:solidFill>
                  <a:srgbClr val="93A5C7"/>
                </a:solidFill>
                <a:latin typeface="Calibri" pitchFamily="34" charset="0"/>
                <a:ea typeface="Calibri" pitchFamily="34" charset="-122"/>
                <a:cs typeface="Calibri" pitchFamily="34" charset="-120"/>
              </a:rPr>
              <a:t>15 levels of server-side web security, played as a descent through an inverted underworld.</a:t>
            </a:r>
            <a:endParaRPr lang="en-US" sz="1350" dirty="0"/>
          </a:p>
        </p:txBody>
      </p:sp>
      <p:sp>
        <p:nvSpPr>
          <p:cNvPr id="9" name="Text 5"/>
          <p:cNvSpPr/>
          <p:nvPr/>
        </p:nvSpPr>
        <p:spPr>
          <a:xfrm>
            <a:off x="548640" y="5029200"/>
            <a:ext cx="6217920" cy="1188720"/>
          </a:xfrm>
          <a:prstGeom prst="rect">
            <a:avLst/>
          </a:prstGeom>
          <a:noFill/>
          <a:ln/>
        </p:spPr>
        <p:txBody>
          <a:bodyPr wrap="square" lIns="0" tIns="0" rIns="0" bIns="0" rtlCol="0" anchor="ctr"/>
          <a:lstStyle/>
          <a:p>
            <a:pPr indent="0" marL="0">
              <a:lnSpc>
                <a:spcPct val="122000"/>
              </a:lnSpc>
              <a:buNone/>
            </a:pPr>
            <a:r>
              <a:rPr lang="en-US" sz="1150" i="1" dirty="0">
                <a:solidFill>
                  <a:srgbClr val="5B6B8C"/>
                </a:solidFill>
                <a:latin typeface="Calibri" pitchFamily="34" charset="0"/>
                <a:ea typeface="Calibri" pitchFamily="34" charset="-122"/>
                <a:cs typeface="Calibri" pitchFamily="34" charset="-120"/>
              </a:rPr>
              <a:t>A researcher logs into a web application built like an inverted underworld — every layer of ordinary web logic mirrored, twisted, or hidden just beneath the surface. Each floor down leads further from what a browser is supposed to show you, toward the raw records at the bottom.</a:t>
            </a:r>
            <a:endParaRPr lang="en-US" sz="1150" dirty="0"/>
          </a:p>
        </p:txBody>
      </p:sp>
      <p:sp>
        <p:nvSpPr>
          <p:cNvPr id="10" name="Text 6"/>
          <p:cNvSpPr/>
          <p:nvPr/>
        </p:nvSpPr>
        <p:spPr>
          <a:xfrm>
            <a:off x="548640" y="6446520"/>
            <a:ext cx="2743200" cy="274320"/>
          </a:xfrm>
          <a:prstGeom prst="rect">
            <a:avLst/>
          </a:prstGeom>
          <a:noFill/>
          <a:ln/>
        </p:spPr>
        <p:txBody>
          <a:bodyPr wrap="square" lIns="0" tIns="0" rIns="0" bIns="0" rtlCol="0" anchor="ctr"/>
          <a:lstStyle/>
          <a:p>
            <a:pPr indent="0" marL="0">
              <a:buNone/>
            </a:pPr>
            <a:r>
              <a:rPr lang="en-US" sz="900" spc="150" kern="0" dirty="0">
                <a:solidFill>
                  <a:srgbClr val="5B6B8C"/>
                </a:solidFill>
                <a:latin typeface="Calibri" pitchFamily="34" charset="0"/>
                <a:ea typeface="Calibri" pitchFamily="34" charset="-122"/>
                <a:cs typeface="Calibri" pitchFamily="34" charset="-120"/>
              </a:rPr>
              <a:t>CEI LABS CTF</a:t>
            </a:r>
            <a:endParaRPr lang="en-US" sz="900" dirty="0"/>
          </a:p>
        </p:txBody>
      </p:sp>
      <p:sp>
        <p:nvSpPr>
          <p:cNvPr id="11" name="Text 7"/>
          <p:cNvSpPr/>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B6B8C"/>
                </a:solidFill>
                <a:latin typeface="Calibri" pitchFamily="34" charset="0"/>
                <a:ea typeface="Calibri" pitchFamily="34" charset="-122"/>
                <a:cs typeface="Calibri" pitchFamily="34" charset="-120"/>
              </a:rPr>
              <a:t>01</a:t>
            </a:r>
            <a:endParaRPr lang="en-US" sz="900" dirty="0"/>
          </a:p>
        </p:txBody>
      </p:sp>
    </p:spTree>
  </p:cSld>
  <p:clrMapOvr>
    <a:masterClrMapping/>
  </p:clrMapOvr>
  <p:transition spd="med" advClick="1">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57200"/>
            <a:ext cx="11094415" cy="274320"/>
          </a:xfrm>
          <a:prstGeom prst="rect">
            <a:avLst/>
          </a:prstGeom>
          <a:noFill/>
          <a:ln/>
        </p:spPr>
        <p:txBody>
          <a:bodyPr wrap="square" lIns="0" tIns="0" rIns="0" bIns="0" rtlCol="0" anchor="ctr"/>
          <a:lstStyle/>
          <a:p>
            <a:pPr indent="0" marL="0">
              <a:buNone/>
            </a:pPr>
            <a:r>
              <a:rPr lang="en-US" sz="1100" b="1" spc="120" kern="0" dirty="0">
                <a:solidFill>
                  <a:srgbClr val="E0559E"/>
                </a:solidFill>
                <a:latin typeface="Calibri" pitchFamily="34" charset="0"/>
                <a:ea typeface="Calibri" pitchFamily="34" charset="-122"/>
                <a:cs typeface="Calibri" pitchFamily="34" charset="-120"/>
              </a:rPr>
              <a:t>THE MAP</a:t>
            </a:r>
            <a:endParaRPr lang="en-US" sz="1100" dirty="0"/>
          </a:p>
        </p:txBody>
      </p:sp>
      <p:sp>
        <p:nvSpPr>
          <p:cNvPr id="3" name="Text 1"/>
          <p:cNvSpPr/>
          <p:nvPr/>
        </p:nvSpPr>
        <p:spPr>
          <a:xfrm>
            <a:off x="548640" y="749808"/>
            <a:ext cx="11094415" cy="566928"/>
          </a:xfrm>
          <a:prstGeom prst="rect">
            <a:avLst/>
          </a:prstGeom>
          <a:noFill/>
          <a:ln/>
        </p:spPr>
        <p:txBody>
          <a:bodyPr wrap="square" lIns="0" tIns="0" rIns="0" bIns="0" rtlCol="0" anchor="ctr"/>
          <a:lstStyle/>
          <a:p>
            <a:pPr indent="0" marL="0">
              <a:buNone/>
            </a:pPr>
            <a:r>
              <a:rPr lang="en-US" sz="3200" b="1" dirty="0">
                <a:solidFill>
                  <a:srgbClr val="F4F6FB"/>
                </a:solidFill>
                <a:latin typeface="Cambria" pitchFamily="34" charset="0"/>
                <a:ea typeface="Cambria" pitchFamily="34" charset="-122"/>
                <a:cs typeface="Cambria" pitchFamily="34" charset="-120"/>
              </a:rPr>
              <a:t>Fifteen levels, one long descent</a:t>
            </a:r>
            <a:endParaRPr lang="en-US" sz="3200" dirty="0"/>
          </a:p>
        </p:txBody>
      </p:sp>
      <p:sp>
        <p:nvSpPr>
          <p:cNvPr id="4" name="Text 2"/>
          <p:cNvSpPr/>
          <p:nvPr/>
        </p:nvSpPr>
        <p:spPr>
          <a:xfrm>
            <a:off x="548640" y="1389888"/>
            <a:ext cx="9814255" cy="475488"/>
          </a:xfrm>
          <a:prstGeom prst="rect">
            <a:avLst/>
          </a:prstGeom>
          <a:noFill/>
          <a:ln/>
        </p:spPr>
        <p:txBody>
          <a:bodyPr wrap="square" lIns="0" tIns="0" rIns="0" bIns="0" rtlCol="0" anchor="ctr"/>
          <a:lstStyle/>
          <a:p>
            <a:pPr indent="0" marL="0">
              <a:lnSpc>
                <a:spcPct val="115000"/>
              </a:lnSpc>
              <a:buNone/>
            </a:pPr>
            <a:r>
              <a:rPr lang="en-US" sz="1300" dirty="0">
                <a:solidFill>
                  <a:srgbClr val="93A5C7"/>
                </a:solidFill>
                <a:latin typeface="Calibri" pitchFamily="34" charset="0"/>
                <a:ea typeface="Calibri" pitchFamily="34" charset="-122"/>
                <a:cs typeface="Calibri" pitchFamily="34" charset="-120"/>
              </a:rPr>
              <a:t>The first few are things you can do with nothing but a browser. The last few reach the server itself.</a:t>
            </a:r>
            <a:endParaRPr lang="en-US" sz="1300" dirty="0"/>
          </a:p>
        </p:txBody>
      </p:sp>
      <p:sp>
        <p:nvSpPr>
          <p:cNvPr id="5" name="Shape 3"/>
          <p:cNvSpPr/>
          <p:nvPr/>
        </p:nvSpPr>
        <p:spPr>
          <a:xfrm>
            <a:off x="548640" y="1975104"/>
            <a:ext cx="2581580" cy="1874520"/>
          </a:xfrm>
          <a:prstGeom prst="roundRect">
            <a:avLst>
              <a:gd name="adj" fmla="val 4390"/>
            </a:avLst>
          </a:prstGeom>
          <a:solidFill>
            <a:srgbClr val="141F30"/>
          </a:solidFill>
          <a:ln/>
        </p:spPr>
      </p:sp>
      <p:pic>
        <p:nvPicPr>
          <p:cNvPr id="6" name="Image 0" descr="preencoded.png">    </p:cNvPr>
          <p:cNvPicPr>
            <a:picLocks noChangeAspect="1"/>
          </p:cNvPicPr>
          <p:nvPr/>
        </p:nvPicPr>
        <p:blipFill>
          <a:blip r:embed="rId1"/>
          <a:stretch>
            <a:fillRect/>
          </a:stretch>
        </p:blipFill>
        <p:spPr>
          <a:xfrm>
            <a:off x="676656" y="2103120"/>
            <a:ext cx="2325548" cy="639526"/>
          </a:xfrm>
          <a:prstGeom prst="rect">
            <a:avLst/>
          </a:prstGeom>
        </p:spPr>
      </p:pic>
      <p:sp>
        <p:nvSpPr>
          <p:cNvPr id="7" name="Text 4"/>
          <p:cNvSpPr/>
          <p:nvPr/>
        </p:nvSpPr>
        <p:spPr>
          <a:xfrm>
            <a:off x="786384" y="2879806"/>
            <a:ext cx="2106092" cy="219456"/>
          </a:xfrm>
          <a:prstGeom prst="rect">
            <a:avLst/>
          </a:prstGeom>
          <a:noFill/>
          <a:ln/>
        </p:spPr>
        <p:txBody>
          <a:bodyPr wrap="square" lIns="0" tIns="0" rIns="0" bIns="0" rtlCol="0" anchor="t"/>
          <a:lstStyle/>
          <a:p>
            <a:pPr indent="0" marL="0">
              <a:buNone/>
            </a:pPr>
            <a:r>
              <a:rPr lang="en-US" sz="1050" b="1" spc="80" kern="0" dirty="0">
                <a:solidFill>
                  <a:srgbClr val="E0559E"/>
                </a:solidFill>
                <a:latin typeface="Calibri" pitchFamily="34" charset="0"/>
                <a:ea typeface="Calibri" pitchFamily="34" charset="-122"/>
                <a:cs typeface="Calibri" pitchFamily="34" charset="-120"/>
              </a:rPr>
              <a:t>00–01</a:t>
            </a:r>
            <a:endParaRPr lang="en-US" sz="1050" dirty="0"/>
          </a:p>
        </p:txBody>
      </p:sp>
      <p:sp>
        <p:nvSpPr>
          <p:cNvPr id="8" name="Text 5"/>
          <p:cNvSpPr/>
          <p:nvPr/>
        </p:nvSpPr>
        <p:spPr>
          <a:xfrm>
            <a:off x="786384" y="3117550"/>
            <a:ext cx="2106092" cy="274320"/>
          </a:xfrm>
          <a:prstGeom prst="rect">
            <a:avLst/>
          </a:prstGeom>
          <a:noFill/>
          <a:ln/>
        </p:spPr>
        <p:txBody>
          <a:bodyPr wrap="square" lIns="0" tIns="0" rIns="0" bIns="0" rtlCol="0" anchor="t"/>
          <a:lstStyle/>
          <a:p>
            <a:pPr indent="0" marL="0">
              <a:buNone/>
            </a:pPr>
            <a:r>
              <a:rPr lang="en-US" sz="1400" b="1" dirty="0">
                <a:solidFill>
                  <a:srgbClr val="F4F6FB"/>
                </a:solidFill>
                <a:latin typeface="Cambria" pitchFamily="34" charset="0"/>
                <a:ea typeface="Cambria" pitchFamily="34" charset="-122"/>
                <a:cs typeface="Cambria" pitchFamily="34" charset="-120"/>
              </a:rPr>
              <a:t>Source &amp; Blockers</a:t>
            </a:r>
            <a:endParaRPr lang="en-US" sz="1400" dirty="0"/>
          </a:p>
        </p:txBody>
      </p:sp>
      <p:sp>
        <p:nvSpPr>
          <p:cNvPr id="9" name="Text 6"/>
          <p:cNvSpPr/>
          <p:nvPr/>
        </p:nvSpPr>
        <p:spPr>
          <a:xfrm>
            <a:off x="786384" y="3401014"/>
            <a:ext cx="2106092" cy="366314"/>
          </a:xfrm>
          <a:prstGeom prst="rect">
            <a:avLst/>
          </a:prstGeom>
          <a:noFill/>
          <a:ln/>
        </p:spPr>
        <p:txBody>
          <a:bodyPr wrap="square" lIns="0" tIns="0" rIns="0" bIns="0" rtlCol="0" anchor="t"/>
          <a:lstStyle/>
          <a:p>
            <a:pPr indent="0" marL="0">
              <a:lnSpc>
                <a:spcPct val="110000"/>
              </a:lnSpc>
              <a:buNone/>
            </a:pPr>
            <a:r>
              <a:rPr lang="en-US" sz="1000" dirty="0">
                <a:solidFill>
                  <a:srgbClr val="93A5C7"/>
                </a:solidFill>
                <a:latin typeface="Calibri" pitchFamily="34" charset="0"/>
                <a:ea typeface="Calibri" pitchFamily="34" charset="-122"/>
                <a:cs typeface="Calibri" pitchFamily="34" charset="-120"/>
              </a:rPr>
              <a:t>What the page is made of, and a barrier that only looks like one.</a:t>
            </a:r>
            <a:endParaRPr lang="en-US" sz="1000" dirty="0"/>
          </a:p>
        </p:txBody>
      </p:sp>
      <p:sp>
        <p:nvSpPr>
          <p:cNvPr id="10" name="Shape 7"/>
          <p:cNvSpPr/>
          <p:nvPr/>
        </p:nvSpPr>
        <p:spPr>
          <a:xfrm>
            <a:off x="3386252" y="1975104"/>
            <a:ext cx="2581580" cy="1874520"/>
          </a:xfrm>
          <a:prstGeom prst="roundRect">
            <a:avLst>
              <a:gd name="adj" fmla="val 4390"/>
            </a:avLst>
          </a:prstGeom>
          <a:solidFill>
            <a:srgbClr val="141F30"/>
          </a:solidFill>
          <a:ln/>
        </p:spPr>
      </p:sp>
      <p:pic>
        <p:nvPicPr>
          <p:cNvPr id="11" name="Image 1" descr="preencoded.png">    </p:cNvPr>
          <p:cNvPicPr>
            <a:picLocks noChangeAspect="1"/>
          </p:cNvPicPr>
          <p:nvPr/>
        </p:nvPicPr>
        <p:blipFill>
          <a:blip r:embed="rId2"/>
          <a:stretch>
            <a:fillRect/>
          </a:stretch>
        </p:blipFill>
        <p:spPr>
          <a:xfrm>
            <a:off x="3514268" y="2103120"/>
            <a:ext cx="2325548" cy="639526"/>
          </a:xfrm>
          <a:prstGeom prst="rect">
            <a:avLst/>
          </a:prstGeom>
        </p:spPr>
      </p:pic>
      <p:sp>
        <p:nvSpPr>
          <p:cNvPr id="12" name="Text 8"/>
          <p:cNvSpPr/>
          <p:nvPr/>
        </p:nvSpPr>
        <p:spPr>
          <a:xfrm>
            <a:off x="3623996" y="2879806"/>
            <a:ext cx="2106092" cy="219456"/>
          </a:xfrm>
          <a:prstGeom prst="rect">
            <a:avLst/>
          </a:prstGeom>
          <a:noFill/>
          <a:ln/>
        </p:spPr>
        <p:txBody>
          <a:bodyPr wrap="square" lIns="0" tIns="0" rIns="0" bIns="0" rtlCol="0" anchor="t"/>
          <a:lstStyle/>
          <a:p>
            <a:pPr indent="0" marL="0">
              <a:buNone/>
            </a:pPr>
            <a:r>
              <a:rPr lang="en-US" sz="1050" b="1" spc="80" kern="0" dirty="0">
                <a:solidFill>
                  <a:srgbClr val="E0559E"/>
                </a:solidFill>
                <a:latin typeface="Calibri" pitchFamily="34" charset="0"/>
                <a:ea typeface="Calibri" pitchFamily="34" charset="-122"/>
                <a:cs typeface="Calibri" pitchFamily="34" charset="-120"/>
              </a:rPr>
              <a:t>02–03</a:t>
            </a:r>
            <a:endParaRPr lang="en-US" sz="1050" dirty="0"/>
          </a:p>
        </p:txBody>
      </p:sp>
      <p:sp>
        <p:nvSpPr>
          <p:cNvPr id="13" name="Text 9"/>
          <p:cNvSpPr/>
          <p:nvPr/>
        </p:nvSpPr>
        <p:spPr>
          <a:xfrm>
            <a:off x="3623996" y="3117550"/>
            <a:ext cx="2106092" cy="274320"/>
          </a:xfrm>
          <a:prstGeom prst="rect">
            <a:avLst/>
          </a:prstGeom>
          <a:noFill/>
          <a:ln/>
        </p:spPr>
        <p:txBody>
          <a:bodyPr wrap="square" lIns="0" tIns="0" rIns="0" bIns="0" rtlCol="0" anchor="t"/>
          <a:lstStyle/>
          <a:p>
            <a:pPr indent="0" marL="0">
              <a:buNone/>
            </a:pPr>
            <a:r>
              <a:rPr lang="en-US" sz="1400" b="1" dirty="0">
                <a:solidFill>
                  <a:srgbClr val="F4F6FB"/>
                </a:solidFill>
                <a:latin typeface="Cambria" pitchFamily="34" charset="0"/>
                <a:ea typeface="Cambria" pitchFamily="34" charset="-122"/>
                <a:cs typeface="Cambria" pitchFamily="34" charset="-120"/>
              </a:rPr>
              <a:t>Unlisted Paths</a:t>
            </a:r>
            <a:endParaRPr lang="en-US" sz="1400" dirty="0"/>
          </a:p>
        </p:txBody>
      </p:sp>
      <p:sp>
        <p:nvSpPr>
          <p:cNvPr id="14" name="Text 10"/>
          <p:cNvSpPr/>
          <p:nvPr/>
        </p:nvSpPr>
        <p:spPr>
          <a:xfrm>
            <a:off x="3623996" y="3401014"/>
            <a:ext cx="2106092" cy="366314"/>
          </a:xfrm>
          <a:prstGeom prst="rect">
            <a:avLst/>
          </a:prstGeom>
          <a:noFill/>
          <a:ln/>
        </p:spPr>
        <p:txBody>
          <a:bodyPr wrap="square" lIns="0" tIns="0" rIns="0" bIns="0" rtlCol="0" anchor="t"/>
          <a:lstStyle/>
          <a:p>
            <a:pPr indent="0" marL="0">
              <a:lnSpc>
                <a:spcPct val="110000"/>
              </a:lnSpc>
              <a:buNone/>
            </a:pPr>
            <a:r>
              <a:rPr lang="en-US" sz="1000" dirty="0">
                <a:solidFill>
                  <a:srgbClr val="93A5C7"/>
                </a:solidFill>
                <a:latin typeface="Calibri" pitchFamily="34" charset="0"/>
                <a:ea typeface="Calibri" pitchFamily="34" charset="-122"/>
                <a:cs typeface="Calibri" pitchFamily="34" charset="-120"/>
              </a:rPr>
              <a:t>Corridors never meant to be found; a sign that only asks.</a:t>
            </a:r>
            <a:endParaRPr lang="en-US" sz="1000" dirty="0"/>
          </a:p>
        </p:txBody>
      </p:sp>
      <p:sp>
        <p:nvSpPr>
          <p:cNvPr id="15" name="Shape 11"/>
          <p:cNvSpPr/>
          <p:nvPr/>
        </p:nvSpPr>
        <p:spPr>
          <a:xfrm>
            <a:off x="6223864" y="1975104"/>
            <a:ext cx="2581580" cy="1874520"/>
          </a:xfrm>
          <a:prstGeom prst="roundRect">
            <a:avLst>
              <a:gd name="adj" fmla="val 4390"/>
            </a:avLst>
          </a:prstGeom>
          <a:solidFill>
            <a:srgbClr val="141F30"/>
          </a:solidFill>
          <a:ln/>
        </p:spPr>
      </p:sp>
      <p:pic>
        <p:nvPicPr>
          <p:cNvPr id="16" name="Image 2" descr="preencoded.png">    </p:cNvPr>
          <p:cNvPicPr>
            <a:picLocks noChangeAspect="1"/>
          </p:cNvPicPr>
          <p:nvPr/>
        </p:nvPicPr>
        <p:blipFill>
          <a:blip r:embed="rId3"/>
          <a:stretch>
            <a:fillRect/>
          </a:stretch>
        </p:blipFill>
        <p:spPr>
          <a:xfrm>
            <a:off x="6351880" y="2103120"/>
            <a:ext cx="2325548" cy="639526"/>
          </a:xfrm>
          <a:prstGeom prst="rect">
            <a:avLst/>
          </a:prstGeom>
        </p:spPr>
      </p:pic>
      <p:sp>
        <p:nvSpPr>
          <p:cNvPr id="17" name="Text 12"/>
          <p:cNvSpPr/>
          <p:nvPr/>
        </p:nvSpPr>
        <p:spPr>
          <a:xfrm>
            <a:off x="6461608" y="2879806"/>
            <a:ext cx="2106092" cy="219456"/>
          </a:xfrm>
          <a:prstGeom prst="rect">
            <a:avLst/>
          </a:prstGeom>
          <a:noFill/>
          <a:ln/>
        </p:spPr>
        <p:txBody>
          <a:bodyPr wrap="square" lIns="0" tIns="0" rIns="0" bIns="0" rtlCol="0" anchor="t"/>
          <a:lstStyle/>
          <a:p>
            <a:pPr indent="0" marL="0">
              <a:buNone/>
            </a:pPr>
            <a:r>
              <a:rPr lang="en-US" sz="1050" b="1" spc="80" kern="0" dirty="0">
                <a:solidFill>
                  <a:srgbClr val="E0559E"/>
                </a:solidFill>
                <a:latin typeface="Calibri" pitchFamily="34" charset="0"/>
                <a:ea typeface="Calibri" pitchFamily="34" charset="-122"/>
                <a:cs typeface="Calibri" pitchFamily="34" charset="-120"/>
              </a:rPr>
              <a:t>04–05</a:t>
            </a:r>
            <a:endParaRPr lang="en-US" sz="1050" dirty="0"/>
          </a:p>
        </p:txBody>
      </p:sp>
      <p:sp>
        <p:nvSpPr>
          <p:cNvPr id="18" name="Text 13"/>
          <p:cNvSpPr/>
          <p:nvPr/>
        </p:nvSpPr>
        <p:spPr>
          <a:xfrm>
            <a:off x="6461608" y="3117550"/>
            <a:ext cx="2106092" cy="274320"/>
          </a:xfrm>
          <a:prstGeom prst="rect">
            <a:avLst/>
          </a:prstGeom>
          <a:noFill/>
          <a:ln/>
        </p:spPr>
        <p:txBody>
          <a:bodyPr wrap="square" lIns="0" tIns="0" rIns="0" bIns="0" rtlCol="0" anchor="t"/>
          <a:lstStyle/>
          <a:p>
            <a:pPr indent="0" marL="0">
              <a:buNone/>
            </a:pPr>
            <a:r>
              <a:rPr lang="en-US" sz="1400" b="1" dirty="0">
                <a:solidFill>
                  <a:srgbClr val="F4F6FB"/>
                </a:solidFill>
                <a:latin typeface="Cambria" pitchFamily="34" charset="0"/>
                <a:ea typeface="Cambria" pitchFamily="34" charset="-122"/>
                <a:cs typeface="Cambria" pitchFamily="34" charset="-120"/>
              </a:rPr>
              <a:t>Forged Claims</a:t>
            </a:r>
            <a:endParaRPr lang="en-US" sz="1400" dirty="0"/>
          </a:p>
        </p:txBody>
      </p:sp>
      <p:sp>
        <p:nvSpPr>
          <p:cNvPr id="19" name="Text 14"/>
          <p:cNvSpPr/>
          <p:nvPr/>
        </p:nvSpPr>
        <p:spPr>
          <a:xfrm>
            <a:off x="6461608" y="3401014"/>
            <a:ext cx="2106092" cy="366314"/>
          </a:xfrm>
          <a:prstGeom prst="rect">
            <a:avLst/>
          </a:prstGeom>
          <a:noFill/>
          <a:ln/>
        </p:spPr>
        <p:txBody>
          <a:bodyPr wrap="square" lIns="0" tIns="0" rIns="0" bIns="0" rtlCol="0" anchor="t"/>
          <a:lstStyle/>
          <a:p>
            <a:pPr indent="0" marL="0">
              <a:lnSpc>
                <a:spcPct val="110000"/>
              </a:lnSpc>
              <a:buNone/>
            </a:pPr>
            <a:r>
              <a:rPr lang="en-US" sz="1000" dirty="0">
                <a:solidFill>
                  <a:srgbClr val="93A5C7"/>
                </a:solidFill>
                <a:latin typeface="Calibri" pitchFamily="34" charset="0"/>
                <a:ea typeface="Calibri" pitchFamily="34" charset="-122"/>
                <a:cs typeface="Calibri" pitchFamily="34" charset="-120"/>
              </a:rPr>
              <a:t>Referer and cookies — arriving from somewhere you never were.</a:t>
            </a:r>
            <a:endParaRPr lang="en-US" sz="1000" dirty="0"/>
          </a:p>
        </p:txBody>
      </p:sp>
      <p:sp>
        <p:nvSpPr>
          <p:cNvPr id="20" name="Shape 15"/>
          <p:cNvSpPr/>
          <p:nvPr/>
        </p:nvSpPr>
        <p:spPr>
          <a:xfrm>
            <a:off x="9061475" y="1975104"/>
            <a:ext cx="2581580" cy="1874520"/>
          </a:xfrm>
          <a:prstGeom prst="roundRect">
            <a:avLst>
              <a:gd name="adj" fmla="val 4390"/>
            </a:avLst>
          </a:prstGeom>
          <a:solidFill>
            <a:srgbClr val="141F30"/>
          </a:solidFill>
          <a:ln/>
        </p:spPr>
      </p:sp>
      <p:pic>
        <p:nvPicPr>
          <p:cNvPr id="21" name="Image 3" descr="preencoded.png">    </p:cNvPr>
          <p:cNvPicPr>
            <a:picLocks noChangeAspect="1"/>
          </p:cNvPicPr>
          <p:nvPr/>
        </p:nvPicPr>
        <p:blipFill>
          <a:blip r:embed="rId4"/>
          <a:stretch>
            <a:fillRect/>
          </a:stretch>
        </p:blipFill>
        <p:spPr>
          <a:xfrm>
            <a:off x="9189491" y="2103120"/>
            <a:ext cx="2325548" cy="639526"/>
          </a:xfrm>
          <a:prstGeom prst="rect">
            <a:avLst/>
          </a:prstGeom>
        </p:spPr>
      </p:pic>
      <p:sp>
        <p:nvSpPr>
          <p:cNvPr id="22" name="Text 16"/>
          <p:cNvSpPr/>
          <p:nvPr/>
        </p:nvSpPr>
        <p:spPr>
          <a:xfrm>
            <a:off x="9299219" y="2879806"/>
            <a:ext cx="2106092" cy="219456"/>
          </a:xfrm>
          <a:prstGeom prst="rect">
            <a:avLst/>
          </a:prstGeom>
          <a:noFill/>
          <a:ln/>
        </p:spPr>
        <p:txBody>
          <a:bodyPr wrap="square" lIns="0" tIns="0" rIns="0" bIns="0" rtlCol="0" anchor="t"/>
          <a:lstStyle/>
          <a:p>
            <a:pPr indent="0" marL="0">
              <a:buNone/>
            </a:pPr>
            <a:r>
              <a:rPr lang="en-US" sz="1050" b="1" spc="80" kern="0" dirty="0">
                <a:solidFill>
                  <a:srgbClr val="E0559E"/>
                </a:solidFill>
                <a:latin typeface="Calibri" pitchFamily="34" charset="0"/>
                <a:ea typeface="Calibri" pitchFamily="34" charset="-122"/>
                <a:cs typeface="Calibri" pitchFamily="34" charset="-120"/>
              </a:rPr>
              <a:t>06–07</a:t>
            </a:r>
            <a:endParaRPr lang="en-US" sz="1050" dirty="0"/>
          </a:p>
        </p:txBody>
      </p:sp>
      <p:sp>
        <p:nvSpPr>
          <p:cNvPr id="23" name="Text 17"/>
          <p:cNvSpPr/>
          <p:nvPr/>
        </p:nvSpPr>
        <p:spPr>
          <a:xfrm>
            <a:off x="9299219" y="3117550"/>
            <a:ext cx="2106092" cy="274320"/>
          </a:xfrm>
          <a:prstGeom prst="rect">
            <a:avLst/>
          </a:prstGeom>
          <a:noFill/>
          <a:ln/>
        </p:spPr>
        <p:txBody>
          <a:bodyPr wrap="square" lIns="0" tIns="0" rIns="0" bIns="0" rtlCol="0" anchor="t"/>
          <a:lstStyle/>
          <a:p>
            <a:pPr indent="0" marL="0">
              <a:buNone/>
            </a:pPr>
            <a:r>
              <a:rPr lang="en-US" sz="1400" b="1" dirty="0">
                <a:solidFill>
                  <a:srgbClr val="F4F6FB"/>
                </a:solidFill>
                <a:latin typeface="Cambria" pitchFamily="34" charset="0"/>
                <a:ea typeface="Cambria" pitchFamily="34" charset="-122"/>
                <a:cs typeface="Cambria" pitchFamily="34" charset="-120"/>
              </a:rPr>
              <a:t>Hidden Includes</a:t>
            </a:r>
            <a:endParaRPr lang="en-US" sz="1400" dirty="0"/>
          </a:p>
        </p:txBody>
      </p:sp>
      <p:sp>
        <p:nvSpPr>
          <p:cNvPr id="24" name="Text 18"/>
          <p:cNvSpPr/>
          <p:nvPr/>
        </p:nvSpPr>
        <p:spPr>
          <a:xfrm>
            <a:off x="9299219" y="3401014"/>
            <a:ext cx="2106092" cy="366314"/>
          </a:xfrm>
          <a:prstGeom prst="rect">
            <a:avLst/>
          </a:prstGeom>
          <a:noFill/>
          <a:ln/>
        </p:spPr>
        <p:txBody>
          <a:bodyPr wrap="square" lIns="0" tIns="0" rIns="0" bIns="0" rtlCol="0" anchor="t"/>
          <a:lstStyle/>
          <a:p>
            <a:pPr indent="0" marL="0">
              <a:lnSpc>
                <a:spcPct val="110000"/>
              </a:lnSpc>
              <a:buNone/>
            </a:pPr>
            <a:r>
              <a:rPr lang="en-US" sz="1000" dirty="0">
                <a:solidFill>
                  <a:srgbClr val="93A5C7"/>
                </a:solidFill>
                <a:latin typeface="Calibri" pitchFamily="34" charset="0"/>
                <a:ea typeface="Calibri" pitchFamily="34" charset="-122"/>
                <a:cs typeface="Calibri" pitchFamily="34" charset="-120"/>
              </a:rPr>
              <a:t>A trapdoor under something ordinary; a door that opens too far.</a:t>
            </a:r>
            <a:endParaRPr lang="en-US" sz="1000" dirty="0"/>
          </a:p>
        </p:txBody>
      </p:sp>
      <p:sp>
        <p:nvSpPr>
          <p:cNvPr id="25" name="Shape 19"/>
          <p:cNvSpPr/>
          <p:nvPr/>
        </p:nvSpPr>
        <p:spPr>
          <a:xfrm>
            <a:off x="548640" y="4105656"/>
            <a:ext cx="2581580" cy="1874520"/>
          </a:xfrm>
          <a:prstGeom prst="roundRect">
            <a:avLst>
              <a:gd name="adj" fmla="val 4390"/>
            </a:avLst>
          </a:prstGeom>
          <a:solidFill>
            <a:srgbClr val="1B2740"/>
          </a:solidFill>
          <a:ln/>
        </p:spPr>
      </p:sp>
      <p:pic>
        <p:nvPicPr>
          <p:cNvPr id="26" name="Image 4" descr="preencoded.png">    </p:cNvPr>
          <p:cNvPicPr>
            <a:picLocks noChangeAspect="1"/>
          </p:cNvPicPr>
          <p:nvPr/>
        </p:nvPicPr>
        <p:blipFill>
          <a:blip r:embed="rId5"/>
          <a:stretch>
            <a:fillRect/>
          </a:stretch>
        </p:blipFill>
        <p:spPr>
          <a:xfrm>
            <a:off x="676656" y="4233672"/>
            <a:ext cx="2325548" cy="639526"/>
          </a:xfrm>
          <a:prstGeom prst="rect">
            <a:avLst/>
          </a:prstGeom>
        </p:spPr>
      </p:pic>
      <p:sp>
        <p:nvSpPr>
          <p:cNvPr id="27" name="Text 20"/>
          <p:cNvSpPr/>
          <p:nvPr/>
        </p:nvSpPr>
        <p:spPr>
          <a:xfrm>
            <a:off x="786384" y="5010358"/>
            <a:ext cx="2106092" cy="219456"/>
          </a:xfrm>
          <a:prstGeom prst="rect">
            <a:avLst/>
          </a:prstGeom>
          <a:noFill/>
          <a:ln/>
        </p:spPr>
        <p:txBody>
          <a:bodyPr wrap="square" lIns="0" tIns="0" rIns="0" bIns="0" rtlCol="0" anchor="t"/>
          <a:lstStyle/>
          <a:p>
            <a:pPr indent="0" marL="0">
              <a:buNone/>
            </a:pPr>
            <a:r>
              <a:rPr lang="en-US" sz="1050" b="1" spc="80" kern="0" dirty="0">
                <a:solidFill>
                  <a:srgbClr val="E0559E"/>
                </a:solidFill>
                <a:latin typeface="Calibri" pitchFamily="34" charset="0"/>
                <a:ea typeface="Calibri" pitchFamily="34" charset="-122"/>
                <a:cs typeface="Calibri" pitchFamily="34" charset="-120"/>
              </a:rPr>
              <a:t>08–09</a:t>
            </a:r>
            <a:endParaRPr lang="en-US" sz="1050" dirty="0"/>
          </a:p>
        </p:txBody>
      </p:sp>
      <p:sp>
        <p:nvSpPr>
          <p:cNvPr id="28" name="Text 21"/>
          <p:cNvSpPr/>
          <p:nvPr/>
        </p:nvSpPr>
        <p:spPr>
          <a:xfrm>
            <a:off x="786384" y="5248102"/>
            <a:ext cx="2106092" cy="274320"/>
          </a:xfrm>
          <a:prstGeom prst="rect">
            <a:avLst/>
          </a:prstGeom>
          <a:noFill/>
          <a:ln/>
        </p:spPr>
        <p:txBody>
          <a:bodyPr wrap="square" lIns="0" tIns="0" rIns="0" bIns="0" rtlCol="0" anchor="t"/>
          <a:lstStyle/>
          <a:p>
            <a:pPr indent="0" marL="0">
              <a:buNone/>
            </a:pPr>
            <a:r>
              <a:rPr lang="en-US" sz="1400" b="1" dirty="0">
                <a:solidFill>
                  <a:srgbClr val="F4F6FB"/>
                </a:solidFill>
                <a:latin typeface="Cambria" pitchFamily="34" charset="0"/>
                <a:ea typeface="Cambria" pitchFamily="34" charset="-122"/>
                <a:cs typeface="Cambria" pitchFamily="34" charset="-120"/>
              </a:rPr>
              <a:t>Mirror &amp; Injection</a:t>
            </a:r>
            <a:endParaRPr lang="en-US" sz="1400" dirty="0"/>
          </a:p>
        </p:txBody>
      </p:sp>
      <p:sp>
        <p:nvSpPr>
          <p:cNvPr id="29" name="Text 22"/>
          <p:cNvSpPr/>
          <p:nvPr/>
        </p:nvSpPr>
        <p:spPr>
          <a:xfrm>
            <a:off x="786384" y="5531566"/>
            <a:ext cx="2106092" cy="366314"/>
          </a:xfrm>
          <a:prstGeom prst="rect">
            <a:avLst/>
          </a:prstGeom>
          <a:noFill/>
          <a:ln/>
        </p:spPr>
        <p:txBody>
          <a:bodyPr wrap="square" lIns="0" tIns="0" rIns="0" bIns="0" rtlCol="0" anchor="t"/>
          <a:lstStyle/>
          <a:p>
            <a:pPr indent="0" marL="0">
              <a:lnSpc>
                <a:spcPct val="110000"/>
              </a:lnSpc>
              <a:buNone/>
            </a:pPr>
            <a:r>
              <a:rPr lang="en-US" sz="1000" dirty="0">
                <a:solidFill>
                  <a:srgbClr val="93A5C7"/>
                </a:solidFill>
                <a:latin typeface="Calibri" pitchFamily="34" charset="0"/>
                <a:ea typeface="Calibri" pitchFamily="34" charset="-122"/>
                <a:cs typeface="Calibri" pitchFamily="34" charset="-120"/>
              </a:rPr>
              <a:t>A lock that shows its own key; one extra instruction slipped in.</a:t>
            </a:r>
            <a:endParaRPr lang="en-US" sz="1000" dirty="0"/>
          </a:p>
        </p:txBody>
      </p:sp>
      <p:sp>
        <p:nvSpPr>
          <p:cNvPr id="30" name="Shape 23"/>
          <p:cNvSpPr/>
          <p:nvPr/>
        </p:nvSpPr>
        <p:spPr>
          <a:xfrm>
            <a:off x="3386252" y="4105656"/>
            <a:ext cx="2581580" cy="1874520"/>
          </a:xfrm>
          <a:prstGeom prst="roundRect">
            <a:avLst>
              <a:gd name="adj" fmla="val 4390"/>
            </a:avLst>
          </a:prstGeom>
          <a:solidFill>
            <a:srgbClr val="1B2740"/>
          </a:solidFill>
          <a:ln/>
        </p:spPr>
      </p:sp>
      <p:pic>
        <p:nvPicPr>
          <p:cNvPr id="31" name="Image 5" descr="preencoded.png">    </p:cNvPr>
          <p:cNvPicPr>
            <a:picLocks noChangeAspect="1"/>
          </p:cNvPicPr>
          <p:nvPr/>
        </p:nvPicPr>
        <p:blipFill>
          <a:blip r:embed="rId6"/>
          <a:stretch>
            <a:fillRect/>
          </a:stretch>
        </p:blipFill>
        <p:spPr>
          <a:xfrm>
            <a:off x="3514268" y="4233672"/>
            <a:ext cx="2325548" cy="639526"/>
          </a:xfrm>
          <a:prstGeom prst="rect">
            <a:avLst/>
          </a:prstGeom>
        </p:spPr>
      </p:pic>
      <p:sp>
        <p:nvSpPr>
          <p:cNvPr id="32" name="Text 24"/>
          <p:cNvSpPr/>
          <p:nvPr/>
        </p:nvSpPr>
        <p:spPr>
          <a:xfrm>
            <a:off x="3623996" y="5010358"/>
            <a:ext cx="2106092" cy="219456"/>
          </a:xfrm>
          <a:prstGeom prst="rect">
            <a:avLst/>
          </a:prstGeom>
          <a:noFill/>
          <a:ln/>
        </p:spPr>
        <p:txBody>
          <a:bodyPr wrap="square" lIns="0" tIns="0" rIns="0" bIns="0" rtlCol="0" anchor="t"/>
          <a:lstStyle/>
          <a:p>
            <a:pPr indent="0" marL="0">
              <a:buNone/>
            </a:pPr>
            <a:r>
              <a:rPr lang="en-US" sz="1050" b="1" spc="80" kern="0" dirty="0">
                <a:solidFill>
                  <a:srgbClr val="E0559E"/>
                </a:solidFill>
                <a:latin typeface="Calibri" pitchFamily="34" charset="0"/>
                <a:ea typeface="Calibri" pitchFamily="34" charset="-122"/>
                <a:cs typeface="Calibri" pitchFamily="34" charset="-120"/>
              </a:rPr>
              <a:t>10–11</a:t>
            </a:r>
            <a:endParaRPr lang="en-US" sz="1050" dirty="0"/>
          </a:p>
        </p:txBody>
      </p:sp>
      <p:sp>
        <p:nvSpPr>
          <p:cNvPr id="33" name="Text 25"/>
          <p:cNvSpPr/>
          <p:nvPr/>
        </p:nvSpPr>
        <p:spPr>
          <a:xfrm>
            <a:off x="3623996" y="5248102"/>
            <a:ext cx="2106092" cy="274320"/>
          </a:xfrm>
          <a:prstGeom prst="rect">
            <a:avLst/>
          </a:prstGeom>
          <a:noFill/>
          <a:ln/>
        </p:spPr>
        <p:txBody>
          <a:bodyPr wrap="square" lIns="0" tIns="0" rIns="0" bIns="0" rtlCol="0" anchor="t"/>
          <a:lstStyle/>
          <a:p>
            <a:pPr indent="0" marL="0">
              <a:buNone/>
            </a:pPr>
            <a:r>
              <a:rPr lang="en-US" sz="1400" b="1" dirty="0">
                <a:solidFill>
                  <a:srgbClr val="F4F6FB"/>
                </a:solidFill>
                <a:latin typeface="Cambria" pitchFamily="34" charset="0"/>
                <a:ea typeface="Cambria" pitchFamily="34" charset="-122"/>
                <a:cs typeface="Cambria" pitchFamily="34" charset="-120"/>
              </a:rPr>
              <a:t>Guards &amp; Overlap</a:t>
            </a:r>
            <a:endParaRPr lang="en-US" sz="1400" dirty="0"/>
          </a:p>
        </p:txBody>
      </p:sp>
      <p:sp>
        <p:nvSpPr>
          <p:cNvPr id="34" name="Text 26"/>
          <p:cNvSpPr/>
          <p:nvPr/>
        </p:nvSpPr>
        <p:spPr>
          <a:xfrm>
            <a:off x="3623996" y="5531566"/>
            <a:ext cx="2106092" cy="366314"/>
          </a:xfrm>
          <a:prstGeom prst="rect">
            <a:avLst/>
          </a:prstGeom>
          <a:noFill/>
          <a:ln/>
        </p:spPr>
        <p:txBody>
          <a:bodyPr wrap="square" lIns="0" tIns="0" rIns="0" bIns="0" rtlCol="0" anchor="t"/>
          <a:lstStyle/>
          <a:p>
            <a:pPr indent="0" marL="0">
              <a:lnSpc>
                <a:spcPct val="110000"/>
              </a:lnSpc>
              <a:buNone/>
            </a:pPr>
            <a:r>
              <a:rPr lang="en-US" sz="1000" dirty="0">
                <a:solidFill>
                  <a:srgbClr val="93A5C7"/>
                </a:solidFill>
                <a:latin typeface="Calibri" pitchFamily="34" charset="0"/>
                <a:ea typeface="Calibri" pitchFamily="34" charset="-122"/>
                <a:cs typeface="Calibri" pitchFamily="34" charset="-120"/>
              </a:rPr>
              <a:t>The same trick with a guard on it; where two things overlap.</a:t>
            </a:r>
            <a:endParaRPr lang="en-US" sz="1000" dirty="0"/>
          </a:p>
        </p:txBody>
      </p:sp>
      <p:sp>
        <p:nvSpPr>
          <p:cNvPr id="35" name="Shape 27"/>
          <p:cNvSpPr/>
          <p:nvPr/>
        </p:nvSpPr>
        <p:spPr>
          <a:xfrm>
            <a:off x="6223864" y="4105656"/>
            <a:ext cx="2581580" cy="1874520"/>
          </a:xfrm>
          <a:prstGeom prst="roundRect">
            <a:avLst>
              <a:gd name="adj" fmla="val 4390"/>
            </a:avLst>
          </a:prstGeom>
          <a:solidFill>
            <a:srgbClr val="1B2740"/>
          </a:solidFill>
          <a:ln/>
        </p:spPr>
      </p:sp>
      <p:pic>
        <p:nvPicPr>
          <p:cNvPr id="36" name="Image 6" descr="preencoded.png">    </p:cNvPr>
          <p:cNvPicPr>
            <a:picLocks noChangeAspect="1"/>
          </p:cNvPicPr>
          <p:nvPr/>
        </p:nvPicPr>
        <p:blipFill>
          <a:blip r:embed="rId7"/>
          <a:stretch>
            <a:fillRect/>
          </a:stretch>
        </p:blipFill>
        <p:spPr>
          <a:xfrm>
            <a:off x="6351880" y="4233672"/>
            <a:ext cx="2325548" cy="639526"/>
          </a:xfrm>
          <a:prstGeom prst="rect">
            <a:avLst/>
          </a:prstGeom>
        </p:spPr>
      </p:pic>
      <p:sp>
        <p:nvSpPr>
          <p:cNvPr id="37" name="Text 28"/>
          <p:cNvSpPr/>
          <p:nvPr/>
        </p:nvSpPr>
        <p:spPr>
          <a:xfrm>
            <a:off x="6461608" y="5010358"/>
            <a:ext cx="2106092" cy="219456"/>
          </a:xfrm>
          <a:prstGeom prst="rect">
            <a:avLst/>
          </a:prstGeom>
          <a:noFill/>
          <a:ln/>
        </p:spPr>
        <p:txBody>
          <a:bodyPr wrap="square" lIns="0" tIns="0" rIns="0" bIns="0" rtlCol="0" anchor="t"/>
          <a:lstStyle/>
          <a:p>
            <a:pPr indent="0" marL="0">
              <a:buNone/>
            </a:pPr>
            <a:r>
              <a:rPr lang="en-US" sz="1050" b="1" spc="80" kern="0" dirty="0">
                <a:solidFill>
                  <a:srgbClr val="E0559E"/>
                </a:solidFill>
                <a:latin typeface="Calibri" pitchFamily="34" charset="0"/>
                <a:ea typeface="Calibri" pitchFamily="34" charset="-122"/>
                <a:cs typeface="Calibri" pitchFamily="34" charset="-120"/>
              </a:rPr>
              <a:t>12–14</a:t>
            </a:r>
            <a:endParaRPr lang="en-US" sz="1050" dirty="0"/>
          </a:p>
        </p:txBody>
      </p:sp>
      <p:sp>
        <p:nvSpPr>
          <p:cNvPr id="38" name="Text 29"/>
          <p:cNvSpPr/>
          <p:nvPr/>
        </p:nvSpPr>
        <p:spPr>
          <a:xfrm>
            <a:off x="6461608" y="5248102"/>
            <a:ext cx="2106092" cy="274320"/>
          </a:xfrm>
          <a:prstGeom prst="rect">
            <a:avLst/>
          </a:prstGeom>
          <a:noFill/>
          <a:ln/>
        </p:spPr>
        <p:txBody>
          <a:bodyPr wrap="square" lIns="0" tIns="0" rIns="0" bIns="0" rtlCol="0" anchor="t"/>
          <a:lstStyle/>
          <a:p>
            <a:pPr indent="0" marL="0">
              <a:buNone/>
            </a:pPr>
            <a:r>
              <a:rPr lang="en-US" sz="1400" b="1" dirty="0">
                <a:solidFill>
                  <a:srgbClr val="F4F6FB"/>
                </a:solidFill>
                <a:latin typeface="Cambria" pitchFamily="34" charset="0"/>
                <a:ea typeface="Cambria" pitchFamily="34" charset="-122"/>
                <a:cs typeface="Cambria" pitchFamily="34" charset="-120"/>
              </a:rPr>
              <a:t>Uploads &amp; Records</a:t>
            </a:r>
            <a:endParaRPr lang="en-US" sz="1400" dirty="0"/>
          </a:p>
        </p:txBody>
      </p:sp>
      <p:sp>
        <p:nvSpPr>
          <p:cNvPr id="39" name="Text 30"/>
          <p:cNvSpPr/>
          <p:nvPr/>
        </p:nvSpPr>
        <p:spPr>
          <a:xfrm>
            <a:off x="6461608" y="5531566"/>
            <a:ext cx="2106092" cy="366314"/>
          </a:xfrm>
          <a:prstGeom prst="rect">
            <a:avLst/>
          </a:prstGeom>
          <a:noFill/>
          <a:ln/>
        </p:spPr>
        <p:txBody>
          <a:bodyPr wrap="square" lIns="0" tIns="0" rIns="0" bIns="0" rtlCol="0" anchor="t"/>
          <a:lstStyle/>
          <a:p>
            <a:pPr indent="0" marL="0">
              <a:lnSpc>
                <a:spcPct val="110000"/>
              </a:lnSpc>
              <a:buNone/>
            </a:pPr>
            <a:r>
              <a:rPr lang="en-US" sz="1000" dirty="0">
                <a:solidFill>
                  <a:srgbClr val="93A5C7"/>
                </a:solidFill>
                <a:latin typeface="Calibri" pitchFamily="34" charset="0"/>
                <a:ea typeface="Calibri" pitchFamily="34" charset="-122"/>
                <a:cs typeface="Calibri" pitchFamily="34" charset="-120"/>
              </a:rPr>
              <a:t>Your own thing through the slot — then the records themselves.</a:t>
            </a:r>
            <a:endParaRPr lang="en-US" sz="1000" dirty="0"/>
          </a:p>
        </p:txBody>
      </p:sp>
      <p:sp>
        <p:nvSpPr>
          <p:cNvPr id="40" name="Text 31"/>
          <p:cNvSpPr/>
          <p:nvPr/>
        </p:nvSpPr>
        <p:spPr>
          <a:xfrm>
            <a:off x="548640" y="6108192"/>
            <a:ext cx="11094415" cy="274320"/>
          </a:xfrm>
          <a:prstGeom prst="rect">
            <a:avLst/>
          </a:prstGeom>
          <a:noFill/>
          <a:ln/>
        </p:spPr>
        <p:txBody>
          <a:bodyPr wrap="square" lIns="0" tIns="0" rIns="0" bIns="0" rtlCol="0" anchor="ctr"/>
          <a:lstStyle/>
          <a:p>
            <a:pPr indent="0" marL="0">
              <a:buNone/>
            </a:pPr>
            <a:r>
              <a:rPr lang="en-US" sz="1250" i="1" dirty="0">
                <a:solidFill>
                  <a:srgbClr val="E0559E"/>
                </a:solidFill>
                <a:latin typeface="Calibri" pitchFamily="34" charset="0"/>
                <a:ea typeface="Calibri" pitchFamily="34" charset="-122"/>
                <a:cs typeface="Calibri" pitchFamily="34" charset="-120"/>
              </a:rPr>
              <a:t>All 15 levels share one target box, distinguished by port.</a:t>
            </a:r>
            <a:endParaRPr lang="en-US" sz="1250" dirty="0"/>
          </a:p>
        </p:txBody>
      </p:sp>
      <p:sp>
        <p:nvSpPr>
          <p:cNvPr id="41" name="Text 32"/>
          <p:cNvSpPr/>
          <p:nvPr/>
        </p:nvSpPr>
        <p:spPr>
          <a:xfrm>
            <a:off x="548640" y="6446520"/>
            <a:ext cx="2743200" cy="274320"/>
          </a:xfrm>
          <a:prstGeom prst="rect">
            <a:avLst/>
          </a:prstGeom>
          <a:noFill/>
          <a:ln/>
        </p:spPr>
        <p:txBody>
          <a:bodyPr wrap="square" lIns="0" tIns="0" rIns="0" bIns="0" rtlCol="0" anchor="ctr"/>
          <a:lstStyle/>
          <a:p>
            <a:pPr indent="0" marL="0">
              <a:buNone/>
            </a:pPr>
            <a:r>
              <a:rPr lang="en-US" sz="900" spc="150" kern="0" dirty="0">
                <a:solidFill>
                  <a:srgbClr val="5B6B8C"/>
                </a:solidFill>
                <a:latin typeface="Calibri" pitchFamily="34" charset="0"/>
                <a:ea typeface="Calibri" pitchFamily="34" charset="-122"/>
                <a:cs typeface="Calibri" pitchFamily="34" charset="-120"/>
              </a:rPr>
              <a:t>CEI LABS CTF</a:t>
            </a:r>
            <a:endParaRPr lang="en-US" sz="900" dirty="0"/>
          </a:p>
        </p:txBody>
      </p:sp>
      <p:sp>
        <p:nvSpPr>
          <p:cNvPr id="42" name="Text 33"/>
          <p:cNvSpPr/>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B6B8C"/>
                </a:solidFill>
                <a:latin typeface="Calibri" pitchFamily="34" charset="0"/>
                <a:ea typeface="Calibri" pitchFamily="34" charset="-122"/>
                <a:cs typeface="Calibri" pitchFamily="34" charset="-120"/>
              </a:rPr>
              <a:t>02</a:t>
            </a:r>
            <a:endParaRPr lang="en-US" sz="900" dirty="0"/>
          </a:p>
        </p:txBody>
      </p:sp>
    </p:spTree>
  </p:cSld>
  <p:clrMapOvr>
    <a:masterClrMapping/>
  </p:clrMapOvr>
  <p:transition spd="med" advClick="1">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220"/>
        </a:solidFill>
      </p:bgPr>
    </p:bg>
    <p:spTree>
      <p:nvGrpSpPr>
        <p:cNvPr id="1" name=""/>
        <p:cNvGrpSpPr/>
        <p:nvPr/>
      </p:nvGrpSpPr>
      <p:grpSpPr>
        <a:xfrm>
          <a:off x="0" y="0"/>
          <a:ext cx="0" cy="0"/>
          <a:chOff x="0" y="0"/>
          <a:chExt cx="0" cy="0"/>
        </a:xfrm>
      </p:grpSpPr>
      <p:sp>
        <p:nvSpPr>
          <p:cNvPr id="2" name="Shape 0"/>
          <p:cNvSpPr/>
          <p:nvPr/>
        </p:nvSpPr>
        <p:spPr>
          <a:xfrm>
            <a:off x="8595360" y="-2194560"/>
            <a:ext cx="6035040" cy="6035040"/>
          </a:xfrm>
          <a:prstGeom prst="ellipse">
            <a:avLst/>
          </a:prstGeom>
          <a:solidFill>
            <a:srgbClr val="141F30"/>
          </a:solidFill>
          <a:ln/>
        </p:spPr>
      </p:sp>
      <p:sp>
        <p:nvSpPr>
          <p:cNvPr id="3" name="Text 1"/>
          <p:cNvSpPr/>
          <p:nvPr/>
        </p:nvSpPr>
        <p:spPr>
          <a:xfrm>
            <a:off x="548640" y="1783080"/>
            <a:ext cx="5486400" cy="292608"/>
          </a:xfrm>
          <a:prstGeom prst="rect">
            <a:avLst/>
          </a:prstGeom>
          <a:noFill/>
          <a:ln/>
        </p:spPr>
        <p:txBody>
          <a:bodyPr wrap="square" lIns="0" tIns="0" rIns="0" bIns="0" rtlCol="0" anchor="ctr"/>
          <a:lstStyle/>
          <a:p>
            <a:pPr indent="0" marL="0">
              <a:buNone/>
            </a:pPr>
            <a:r>
              <a:rPr lang="en-US" sz="1100" b="1" spc="140" kern="0" dirty="0">
                <a:solidFill>
                  <a:srgbClr val="E0559E"/>
                </a:solidFill>
                <a:latin typeface="Calibri" pitchFamily="34" charset="0"/>
                <a:ea typeface="Calibri" pitchFamily="34" charset="-122"/>
                <a:cs typeface="Calibri" pitchFamily="34" charset="-120"/>
              </a:rPr>
              <a:t>THE IDEAS</a:t>
            </a:r>
            <a:endParaRPr lang="en-US" sz="1100" dirty="0"/>
          </a:p>
        </p:txBody>
      </p:sp>
      <p:sp>
        <p:nvSpPr>
          <p:cNvPr id="4" name="Text 2"/>
          <p:cNvSpPr/>
          <p:nvPr/>
        </p:nvSpPr>
        <p:spPr>
          <a:xfrm>
            <a:off x="548640" y="2103120"/>
            <a:ext cx="8595360" cy="960120"/>
          </a:xfrm>
          <a:prstGeom prst="rect">
            <a:avLst/>
          </a:prstGeom>
          <a:noFill/>
          <a:ln/>
        </p:spPr>
        <p:txBody>
          <a:bodyPr wrap="square" lIns="0" tIns="0" rIns="0" bIns="0" rtlCol="0" anchor="t"/>
          <a:lstStyle/>
          <a:p>
            <a:pPr indent="0" marL="0">
              <a:buNone/>
            </a:pPr>
            <a:r>
              <a:rPr lang="en-US" sz="3800" b="1" dirty="0">
                <a:solidFill>
                  <a:srgbClr val="F4F6FB"/>
                </a:solidFill>
                <a:latin typeface="Cambria" pitchFamily="34" charset="0"/>
                <a:ea typeface="Cambria" pitchFamily="34" charset="-122"/>
                <a:cs typeface="Cambria" pitchFamily="34" charset="-120"/>
              </a:rPr>
              <a:t>Seven ideas the web is built on</a:t>
            </a:r>
            <a:endParaRPr lang="en-US" sz="3800" dirty="0"/>
          </a:p>
        </p:txBody>
      </p:sp>
      <p:sp>
        <p:nvSpPr>
          <p:cNvPr id="5" name="Text 3"/>
          <p:cNvSpPr/>
          <p:nvPr/>
        </p:nvSpPr>
        <p:spPr>
          <a:xfrm>
            <a:off x="548640" y="3017520"/>
            <a:ext cx="6949440" cy="548640"/>
          </a:xfrm>
          <a:prstGeom prst="rect">
            <a:avLst/>
          </a:prstGeom>
          <a:noFill/>
          <a:ln/>
        </p:spPr>
        <p:txBody>
          <a:bodyPr wrap="square" lIns="0" tIns="0" rIns="0" bIns="0" rtlCol="0" anchor="ctr"/>
          <a:lstStyle/>
          <a:p>
            <a:pPr indent="0" marL="0">
              <a:lnSpc>
                <a:spcPct val="118000"/>
              </a:lnSpc>
              <a:buNone/>
            </a:pPr>
            <a:r>
              <a:rPr lang="en-US" sz="1350" dirty="0">
                <a:solidFill>
                  <a:srgbClr val="93A5C7"/>
                </a:solidFill>
                <a:latin typeface="Calibri" pitchFamily="34" charset="0"/>
                <a:ea typeface="Calibri" pitchFamily="34" charset="-122"/>
                <a:cs typeface="Calibri" pitchFamily="34" charset="-120"/>
              </a:rPr>
              <a:t>Enough of how HTTP actually behaves to make the levels legible. No payloads and no walkthroughs — just the model each level is bending.</a:t>
            </a:r>
            <a:endParaRPr lang="en-US" sz="1350" dirty="0"/>
          </a:p>
        </p:txBody>
      </p:sp>
      <p:sp>
        <p:nvSpPr>
          <p:cNvPr id="6" name="Text 4"/>
          <p:cNvSpPr/>
          <p:nvPr/>
        </p:nvSpPr>
        <p:spPr>
          <a:xfrm>
            <a:off x="548640" y="3977640"/>
            <a:ext cx="411480" cy="402336"/>
          </a:xfrm>
          <a:prstGeom prst="rect">
            <a:avLst/>
          </a:prstGeom>
          <a:noFill/>
          <a:ln/>
        </p:spPr>
        <p:txBody>
          <a:bodyPr wrap="square" lIns="0" tIns="0" rIns="0" bIns="0" rtlCol="0" anchor="ctr"/>
          <a:lstStyle/>
          <a:p>
            <a:pPr indent="0" marL="0">
              <a:buNone/>
            </a:pPr>
            <a:r>
              <a:rPr lang="en-US" sz="1200" b="1" dirty="0">
                <a:solidFill>
                  <a:srgbClr val="E0559E"/>
                </a:solidFill>
                <a:latin typeface="Cambria" pitchFamily="34" charset="0"/>
                <a:ea typeface="Cambria" pitchFamily="34" charset="-122"/>
                <a:cs typeface="Cambria" pitchFamily="34" charset="-120"/>
              </a:rPr>
              <a:t>01</a:t>
            </a:r>
            <a:endParaRPr lang="en-US" sz="1200" dirty="0"/>
          </a:p>
        </p:txBody>
      </p:sp>
      <p:sp>
        <p:nvSpPr>
          <p:cNvPr id="7" name="Text 5"/>
          <p:cNvSpPr/>
          <p:nvPr/>
        </p:nvSpPr>
        <p:spPr>
          <a:xfrm>
            <a:off x="1005840" y="3977640"/>
            <a:ext cx="4663440" cy="402336"/>
          </a:xfrm>
          <a:prstGeom prst="rect">
            <a:avLst/>
          </a:prstGeom>
          <a:noFill/>
          <a:ln/>
        </p:spPr>
        <p:txBody>
          <a:bodyPr wrap="square" lIns="0" tIns="0" rIns="0" bIns="0" rtlCol="0" anchor="ctr"/>
          <a:lstStyle/>
          <a:p>
            <a:pPr indent="0" marL="0">
              <a:buNone/>
            </a:pPr>
            <a:r>
              <a:rPr lang="en-US" sz="1300" dirty="0">
                <a:solidFill>
                  <a:srgbClr val="F4F6FB"/>
                </a:solidFill>
                <a:latin typeface="Calibri" pitchFamily="34" charset="0"/>
                <a:ea typeface="Calibri" pitchFamily="34" charset="-122"/>
                <a:cs typeface="Calibri" pitchFamily="34" charset="-120"/>
              </a:rPr>
              <a:t>Request and response</a:t>
            </a:r>
            <a:endParaRPr lang="en-US" sz="1300" dirty="0"/>
          </a:p>
        </p:txBody>
      </p:sp>
      <p:sp>
        <p:nvSpPr>
          <p:cNvPr id="8" name="Text 6"/>
          <p:cNvSpPr/>
          <p:nvPr/>
        </p:nvSpPr>
        <p:spPr>
          <a:xfrm>
            <a:off x="548640" y="4379976"/>
            <a:ext cx="411480" cy="402336"/>
          </a:xfrm>
          <a:prstGeom prst="rect">
            <a:avLst/>
          </a:prstGeom>
          <a:noFill/>
          <a:ln/>
        </p:spPr>
        <p:txBody>
          <a:bodyPr wrap="square" lIns="0" tIns="0" rIns="0" bIns="0" rtlCol="0" anchor="ctr"/>
          <a:lstStyle/>
          <a:p>
            <a:pPr indent="0" marL="0">
              <a:buNone/>
            </a:pPr>
            <a:r>
              <a:rPr lang="en-US" sz="1200" b="1" dirty="0">
                <a:solidFill>
                  <a:srgbClr val="E0559E"/>
                </a:solidFill>
                <a:latin typeface="Cambria" pitchFamily="34" charset="0"/>
                <a:ea typeface="Cambria" pitchFamily="34" charset="-122"/>
                <a:cs typeface="Cambria" pitchFamily="34" charset="-120"/>
              </a:rPr>
              <a:t>02</a:t>
            </a:r>
            <a:endParaRPr lang="en-US" sz="1200" dirty="0"/>
          </a:p>
        </p:txBody>
      </p:sp>
      <p:sp>
        <p:nvSpPr>
          <p:cNvPr id="9" name="Text 7"/>
          <p:cNvSpPr/>
          <p:nvPr/>
        </p:nvSpPr>
        <p:spPr>
          <a:xfrm>
            <a:off x="1005840" y="4379976"/>
            <a:ext cx="4663440" cy="402336"/>
          </a:xfrm>
          <a:prstGeom prst="rect">
            <a:avLst/>
          </a:prstGeom>
          <a:noFill/>
          <a:ln/>
        </p:spPr>
        <p:txBody>
          <a:bodyPr wrap="square" lIns="0" tIns="0" rIns="0" bIns="0" rtlCol="0" anchor="ctr"/>
          <a:lstStyle/>
          <a:p>
            <a:pPr indent="0" marL="0">
              <a:buNone/>
            </a:pPr>
            <a:r>
              <a:rPr lang="en-US" sz="1300" dirty="0">
                <a:solidFill>
                  <a:srgbClr val="F4F6FB"/>
                </a:solidFill>
                <a:latin typeface="Calibri" pitchFamily="34" charset="0"/>
                <a:ea typeface="Calibri" pitchFamily="34" charset="-122"/>
                <a:cs typeface="Calibri" pitchFamily="34" charset="-120"/>
              </a:rPr>
              <a:t>The client is not a boundary</a:t>
            </a:r>
            <a:endParaRPr lang="en-US" sz="1300" dirty="0"/>
          </a:p>
        </p:txBody>
      </p:sp>
      <p:sp>
        <p:nvSpPr>
          <p:cNvPr id="10" name="Text 8"/>
          <p:cNvSpPr/>
          <p:nvPr/>
        </p:nvSpPr>
        <p:spPr>
          <a:xfrm>
            <a:off x="548640" y="4782312"/>
            <a:ext cx="411480" cy="402336"/>
          </a:xfrm>
          <a:prstGeom prst="rect">
            <a:avLst/>
          </a:prstGeom>
          <a:noFill/>
          <a:ln/>
        </p:spPr>
        <p:txBody>
          <a:bodyPr wrap="square" lIns="0" tIns="0" rIns="0" bIns="0" rtlCol="0" anchor="ctr"/>
          <a:lstStyle/>
          <a:p>
            <a:pPr indent="0" marL="0">
              <a:buNone/>
            </a:pPr>
            <a:r>
              <a:rPr lang="en-US" sz="1200" b="1" dirty="0">
                <a:solidFill>
                  <a:srgbClr val="E0559E"/>
                </a:solidFill>
                <a:latin typeface="Cambria" pitchFamily="34" charset="0"/>
                <a:ea typeface="Cambria" pitchFamily="34" charset="-122"/>
                <a:cs typeface="Cambria" pitchFamily="34" charset="-120"/>
              </a:rPr>
              <a:t>03</a:t>
            </a:r>
            <a:endParaRPr lang="en-US" sz="1200" dirty="0"/>
          </a:p>
        </p:txBody>
      </p:sp>
      <p:sp>
        <p:nvSpPr>
          <p:cNvPr id="11" name="Text 9"/>
          <p:cNvSpPr/>
          <p:nvPr/>
        </p:nvSpPr>
        <p:spPr>
          <a:xfrm>
            <a:off x="1005840" y="4782312"/>
            <a:ext cx="4663440" cy="402336"/>
          </a:xfrm>
          <a:prstGeom prst="rect">
            <a:avLst/>
          </a:prstGeom>
          <a:noFill/>
          <a:ln/>
        </p:spPr>
        <p:txBody>
          <a:bodyPr wrap="square" lIns="0" tIns="0" rIns="0" bIns="0" rtlCol="0" anchor="ctr"/>
          <a:lstStyle/>
          <a:p>
            <a:pPr indent="0" marL="0">
              <a:buNone/>
            </a:pPr>
            <a:r>
              <a:rPr lang="en-US" sz="1300" dirty="0">
                <a:solidFill>
                  <a:srgbClr val="F4F6FB"/>
                </a:solidFill>
                <a:latin typeface="Calibri" pitchFamily="34" charset="0"/>
                <a:ea typeface="Calibri" pitchFamily="34" charset="-122"/>
                <a:cs typeface="Calibri" pitchFamily="34" charset="-120"/>
              </a:rPr>
              <a:t>Paths and traversal</a:t>
            </a:r>
            <a:endParaRPr lang="en-US" sz="1300" dirty="0"/>
          </a:p>
        </p:txBody>
      </p:sp>
      <p:sp>
        <p:nvSpPr>
          <p:cNvPr id="12" name="Text 10"/>
          <p:cNvSpPr/>
          <p:nvPr/>
        </p:nvSpPr>
        <p:spPr>
          <a:xfrm>
            <a:off x="548640" y="5184648"/>
            <a:ext cx="411480" cy="402336"/>
          </a:xfrm>
          <a:prstGeom prst="rect">
            <a:avLst/>
          </a:prstGeom>
          <a:noFill/>
          <a:ln/>
        </p:spPr>
        <p:txBody>
          <a:bodyPr wrap="square" lIns="0" tIns="0" rIns="0" bIns="0" rtlCol="0" anchor="ctr"/>
          <a:lstStyle/>
          <a:p>
            <a:pPr indent="0" marL="0">
              <a:buNone/>
            </a:pPr>
            <a:r>
              <a:rPr lang="en-US" sz="1200" b="1" dirty="0">
                <a:solidFill>
                  <a:srgbClr val="E0559E"/>
                </a:solidFill>
                <a:latin typeface="Cambria" pitchFamily="34" charset="0"/>
                <a:ea typeface="Cambria" pitchFamily="34" charset="-122"/>
                <a:cs typeface="Cambria" pitchFamily="34" charset="-120"/>
              </a:rPr>
              <a:t>04</a:t>
            </a:r>
            <a:endParaRPr lang="en-US" sz="1200" dirty="0"/>
          </a:p>
        </p:txBody>
      </p:sp>
      <p:sp>
        <p:nvSpPr>
          <p:cNvPr id="13" name="Text 11"/>
          <p:cNvSpPr/>
          <p:nvPr/>
        </p:nvSpPr>
        <p:spPr>
          <a:xfrm>
            <a:off x="1005840" y="5184648"/>
            <a:ext cx="4663440" cy="402336"/>
          </a:xfrm>
          <a:prstGeom prst="rect">
            <a:avLst/>
          </a:prstGeom>
          <a:noFill/>
          <a:ln/>
        </p:spPr>
        <p:txBody>
          <a:bodyPr wrap="square" lIns="0" tIns="0" rIns="0" bIns="0" rtlCol="0" anchor="ctr"/>
          <a:lstStyle/>
          <a:p>
            <a:pPr indent="0" marL="0">
              <a:buNone/>
            </a:pPr>
            <a:r>
              <a:rPr lang="en-US" sz="1300" dirty="0">
                <a:solidFill>
                  <a:srgbClr val="F4F6FB"/>
                </a:solidFill>
                <a:latin typeface="Calibri" pitchFamily="34" charset="0"/>
                <a:ea typeface="Calibri" pitchFamily="34" charset="-122"/>
                <a:cs typeface="Calibri" pitchFamily="34" charset="-120"/>
              </a:rPr>
              <a:t>Cookies, headers and sessions</a:t>
            </a:r>
            <a:endParaRPr lang="en-US" sz="1300" dirty="0"/>
          </a:p>
        </p:txBody>
      </p:sp>
      <p:sp>
        <p:nvSpPr>
          <p:cNvPr id="14" name="Text 12"/>
          <p:cNvSpPr/>
          <p:nvPr/>
        </p:nvSpPr>
        <p:spPr>
          <a:xfrm>
            <a:off x="6126480" y="3977640"/>
            <a:ext cx="411480" cy="402336"/>
          </a:xfrm>
          <a:prstGeom prst="rect">
            <a:avLst/>
          </a:prstGeom>
          <a:noFill/>
          <a:ln/>
        </p:spPr>
        <p:txBody>
          <a:bodyPr wrap="square" lIns="0" tIns="0" rIns="0" bIns="0" rtlCol="0" anchor="ctr"/>
          <a:lstStyle/>
          <a:p>
            <a:pPr indent="0" marL="0">
              <a:buNone/>
            </a:pPr>
            <a:r>
              <a:rPr lang="en-US" sz="1200" b="1" dirty="0">
                <a:solidFill>
                  <a:srgbClr val="E0559E"/>
                </a:solidFill>
                <a:latin typeface="Cambria" pitchFamily="34" charset="0"/>
                <a:ea typeface="Cambria" pitchFamily="34" charset="-122"/>
                <a:cs typeface="Cambria" pitchFamily="34" charset="-120"/>
              </a:rPr>
              <a:t>05</a:t>
            </a:r>
            <a:endParaRPr lang="en-US" sz="1200" dirty="0"/>
          </a:p>
        </p:txBody>
      </p:sp>
      <p:sp>
        <p:nvSpPr>
          <p:cNvPr id="15" name="Text 13"/>
          <p:cNvSpPr/>
          <p:nvPr/>
        </p:nvSpPr>
        <p:spPr>
          <a:xfrm>
            <a:off x="6583680" y="3977640"/>
            <a:ext cx="4663440" cy="402336"/>
          </a:xfrm>
          <a:prstGeom prst="rect">
            <a:avLst/>
          </a:prstGeom>
          <a:noFill/>
          <a:ln/>
        </p:spPr>
        <p:txBody>
          <a:bodyPr wrap="square" lIns="0" tIns="0" rIns="0" bIns="0" rtlCol="0" anchor="ctr"/>
          <a:lstStyle/>
          <a:p>
            <a:pPr indent="0" marL="0">
              <a:buNone/>
            </a:pPr>
            <a:r>
              <a:rPr lang="en-US" sz="1300" dirty="0">
                <a:solidFill>
                  <a:srgbClr val="F4F6FB"/>
                </a:solidFill>
                <a:latin typeface="Calibri" pitchFamily="34" charset="0"/>
                <a:ea typeface="Calibri" pitchFamily="34" charset="-122"/>
                <a:cs typeface="Calibri" pitchFamily="34" charset="-120"/>
              </a:rPr>
              <a:t>Input that becomes instruction</a:t>
            </a:r>
            <a:endParaRPr lang="en-US" sz="1300" dirty="0"/>
          </a:p>
        </p:txBody>
      </p:sp>
      <p:sp>
        <p:nvSpPr>
          <p:cNvPr id="16" name="Text 14"/>
          <p:cNvSpPr/>
          <p:nvPr/>
        </p:nvSpPr>
        <p:spPr>
          <a:xfrm>
            <a:off x="6126480" y="4379976"/>
            <a:ext cx="411480" cy="402336"/>
          </a:xfrm>
          <a:prstGeom prst="rect">
            <a:avLst/>
          </a:prstGeom>
          <a:noFill/>
          <a:ln/>
        </p:spPr>
        <p:txBody>
          <a:bodyPr wrap="square" lIns="0" tIns="0" rIns="0" bIns="0" rtlCol="0" anchor="ctr"/>
          <a:lstStyle/>
          <a:p>
            <a:pPr indent="0" marL="0">
              <a:buNone/>
            </a:pPr>
            <a:r>
              <a:rPr lang="en-US" sz="1200" b="1" dirty="0">
                <a:solidFill>
                  <a:srgbClr val="E0559E"/>
                </a:solidFill>
                <a:latin typeface="Cambria" pitchFamily="34" charset="0"/>
                <a:ea typeface="Cambria" pitchFamily="34" charset="-122"/>
                <a:cs typeface="Cambria" pitchFamily="34" charset="-120"/>
              </a:rPr>
              <a:t>06</a:t>
            </a:r>
            <a:endParaRPr lang="en-US" sz="1200" dirty="0"/>
          </a:p>
        </p:txBody>
      </p:sp>
      <p:sp>
        <p:nvSpPr>
          <p:cNvPr id="17" name="Text 15"/>
          <p:cNvSpPr/>
          <p:nvPr/>
        </p:nvSpPr>
        <p:spPr>
          <a:xfrm>
            <a:off x="6583680" y="4379976"/>
            <a:ext cx="4663440" cy="402336"/>
          </a:xfrm>
          <a:prstGeom prst="rect">
            <a:avLst/>
          </a:prstGeom>
          <a:noFill/>
          <a:ln/>
        </p:spPr>
        <p:txBody>
          <a:bodyPr wrap="square" lIns="0" tIns="0" rIns="0" bIns="0" rtlCol="0" anchor="ctr"/>
          <a:lstStyle/>
          <a:p>
            <a:pPr indent="0" marL="0">
              <a:buNone/>
            </a:pPr>
            <a:r>
              <a:rPr lang="en-US" sz="1300" dirty="0">
                <a:solidFill>
                  <a:srgbClr val="F4F6FB"/>
                </a:solidFill>
                <a:latin typeface="Calibri" pitchFamily="34" charset="0"/>
                <a:ea typeface="Calibri" pitchFamily="34" charset="-122"/>
                <a:cs typeface="Calibri" pitchFamily="34" charset="-120"/>
              </a:rPr>
              <a:t>Reversible is not secret</a:t>
            </a:r>
            <a:endParaRPr lang="en-US" sz="1300" dirty="0"/>
          </a:p>
        </p:txBody>
      </p:sp>
      <p:sp>
        <p:nvSpPr>
          <p:cNvPr id="18" name="Text 16"/>
          <p:cNvSpPr/>
          <p:nvPr/>
        </p:nvSpPr>
        <p:spPr>
          <a:xfrm>
            <a:off x="6126480" y="4782312"/>
            <a:ext cx="411480" cy="402336"/>
          </a:xfrm>
          <a:prstGeom prst="rect">
            <a:avLst/>
          </a:prstGeom>
          <a:noFill/>
          <a:ln/>
        </p:spPr>
        <p:txBody>
          <a:bodyPr wrap="square" lIns="0" tIns="0" rIns="0" bIns="0" rtlCol="0" anchor="ctr"/>
          <a:lstStyle/>
          <a:p>
            <a:pPr indent="0" marL="0">
              <a:buNone/>
            </a:pPr>
            <a:r>
              <a:rPr lang="en-US" sz="1200" b="1" dirty="0">
                <a:solidFill>
                  <a:srgbClr val="E0559E"/>
                </a:solidFill>
                <a:latin typeface="Cambria" pitchFamily="34" charset="0"/>
                <a:ea typeface="Cambria" pitchFamily="34" charset="-122"/>
                <a:cs typeface="Cambria" pitchFamily="34" charset="-120"/>
              </a:rPr>
              <a:t>07</a:t>
            </a:r>
            <a:endParaRPr lang="en-US" sz="1200" dirty="0"/>
          </a:p>
        </p:txBody>
      </p:sp>
      <p:sp>
        <p:nvSpPr>
          <p:cNvPr id="19" name="Text 17"/>
          <p:cNvSpPr/>
          <p:nvPr/>
        </p:nvSpPr>
        <p:spPr>
          <a:xfrm>
            <a:off x="6583680" y="4782312"/>
            <a:ext cx="4663440" cy="402336"/>
          </a:xfrm>
          <a:prstGeom prst="rect">
            <a:avLst/>
          </a:prstGeom>
          <a:noFill/>
          <a:ln/>
        </p:spPr>
        <p:txBody>
          <a:bodyPr wrap="square" lIns="0" tIns="0" rIns="0" bIns="0" rtlCol="0" anchor="ctr"/>
          <a:lstStyle/>
          <a:p>
            <a:pPr indent="0" marL="0">
              <a:buNone/>
            </a:pPr>
            <a:r>
              <a:rPr lang="en-US" sz="1300" dirty="0">
                <a:solidFill>
                  <a:srgbClr val="F4F6FB"/>
                </a:solidFill>
                <a:latin typeface="Calibri" pitchFamily="34" charset="0"/>
                <a:ea typeface="Calibri" pitchFamily="34" charset="-122"/>
                <a:cs typeface="Calibri" pitchFamily="34" charset="-120"/>
              </a:rPr>
              <a:t>The data layer</a:t>
            </a:r>
            <a:endParaRPr lang="en-US" sz="1300" dirty="0"/>
          </a:p>
        </p:txBody>
      </p:sp>
      <p:sp>
        <p:nvSpPr>
          <p:cNvPr id="20" name="Text 18"/>
          <p:cNvSpPr/>
          <p:nvPr/>
        </p:nvSpPr>
        <p:spPr>
          <a:xfrm>
            <a:off x="548640" y="6446520"/>
            <a:ext cx="2743200" cy="274320"/>
          </a:xfrm>
          <a:prstGeom prst="rect">
            <a:avLst/>
          </a:prstGeom>
          <a:noFill/>
          <a:ln/>
        </p:spPr>
        <p:txBody>
          <a:bodyPr wrap="square" lIns="0" tIns="0" rIns="0" bIns="0" rtlCol="0" anchor="ctr"/>
          <a:lstStyle/>
          <a:p>
            <a:pPr indent="0" marL="0">
              <a:buNone/>
            </a:pPr>
            <a:r>
              <a:rPr lang="en-US" sz="900" spc="150" kern="0" dirty="0">
                <a:solidFill>
                  <a:srgbClr val="5B6B8C"/>
                </a:solidFill>
                <a:latin typeface="Calibri" pitchFamily="34" charset="0"/>
                <a:ea typeface="Calibri" pitchFamily="34" charset="-122"/>
                <a:cs typeface="Calibri" pitchFamily="34" charset="-120"/>
              </a:rPr>
              <a:t>CEI LABS CTF</a:t>
            </a:r>
            <a:endParaRPr lang="en-US" sz="900" dirty="0"/>
          </a:p>
        </p:txBody>
      </p:sp>
      <p:sp>
        <p:nvSpPr>
          <p:cNvPr id="21" name="Text 19"/>
          <p:cNvSpPr/>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B6B8C"/>
                </a:solidFill>
                <a:latin typeface="Calibri" pitchFamily="34" charset="0"/>
                <a:ea typeface="Calibri" pitchFamily="34" charset="-122"/>
                <a:cs typeface="Calibri" pitchFamily="34" charset="-120"/>
              </a:rPr>
              <a:t>03</a:t>
            </a:r>
            <a:endParaRPr lang="en-US" sz="900" dirty="0"/>
          </a:p>
        </p:txBody>
      </p:sp>
    </p:spTree>
  </p:cSld>
  <p:clrMapOvr>
    <a:masterClrMapping/>
  </p:clrMapOvr>
  <p:transition spd="med" advClick="1">
    <p:push dir="u"/>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57200"/>
            <a:ext cx="11094415" cy="274320"/>
          </a:xfrm>
          <a:prstGeom prst="rect">
            <a:avLst/>
          </a:prstGeom>
          <a:noFill/>
          <a:ln/>
        </p:spPr>
        <p:txBody>
          <a:bodyPr wrap="square" lIns="0" tIns="0" rIns="0" bIns="0" rtlCol="0" anchor="ctr"/>
          <a:lstStyle/>
          <a:p>
            <a:pPr indent="0" marL="0">
              <a:buNone/>
            </a:pPr>
            <a:r>
              <a:rPr lang="en-US" sz="1100" b="1" spc="120" kern="0" dirty="0">
                <a:solidFill>
                  <a:srgbClr val="E0559E"/>
                </a:solidFill>
                <a:latin typeface="Calibri" pitchFamily="34" charset="0"/>
                <a:ea typeface="Calibri" pitchFamily="34" charset="-122"/>
                <a:cs typeface="Calibri" pitchFamily="34" charset="-120"/>
              </a:rPr>
              <a:t>THEORY  01 / 07</a:t>
            </a:r>
            <a:endParaRPr lang="en-US" sz="1100" dirty="0"/>
          </a:p>
        </p:txBody>
      </p:sp>
      <p:sp>
        <p:nvSpPr>
          <p:cNvPr id="3" name="Text 1"/>
          <p:cNvSpPr/>
          <p:nvPr/>
        </p:nvSpPr>
        <p:spPr>
          <a:xfrm>
            <a:off x="548640" y="749808"/>
            <a:ext cx="11094415" cy="566928"/>
          </a:xfrm>
          <a:prstGeom prst="rect">
            <a:avLst/>
          </a:prstGeom>
          <a:noFill/>
          <a:ln/>
        </p:spPr>
        <p:txBody>
          <a:bodyPr wrap="square" lIns="0" tIns="0" rIns="0" bIns="0" rtlCol="0" anchor="ctr"/>
          <a:lstStyle/>
          <a:p>
            <a:pPr indent="0" marL="0">
              <a:buNone/>
            </a:pPr>
            <a:r>
              <a:rPr lang="en-US" sz="3200" b="1" dirty="0">
                <a:solidFill>
                  <a:srgbClr val="F4F6FB"/>
                </a:solidFill>
                <a:latin typeface="Cambria" pitchFamily="34" charset="0"/>
                <a:ea typeface="Cambria" pitchFamily="34" charset="-122"/>
                <a:cs typeface="Cambria" pitchFamily="34" charset="-120"/>
              </a:rPr>
              <a:t>Request and response</a:t>
            </a:r>
            <a:endParaRPr lang="en-US" sz="3200" dirty="0"/>
          </a:p>
        </p:txBody>
      </p:sp>
      <p:sp>
        <p:nvSpPr>
          <p:cNvPr id="4" name="Text 2"/>
          <p:cNvSpPr/>
          <p:nvPr/>
        </p:nvSpPr>
        <p:spPr>
          <a:xfrm>
            <a:off x="548640" y="1389888"/>
            <a:ext cx="9814255" cy="475488"/>
          </a:xfrm>
          <a:prstGeom prst="rect">
            <a:avLst/>
          </a:prstGeom>
          <a:noFill/>
          <a:ln/>
        </p:spPr>
        <p:txBody>
          <a:bodyPr wrap="square" lIns="0" tIns="0" rIns="0" bIns="0" rtlCol="0" anchor="ctr"/>
          <a:lstStyle/>
          <a:p>
            <a:pPr indent="0" marL="0">
              <a:lnSpc>
                <a:spcPct val="115000"/>
              </a:lnSpc>
              <a:buNone/>
            </a:pPr>
            <a:r>
              <a:rPr lang="en-US" sz="1300" dirty="0">
                <a:solidFill>
                  <a:srgbClr val="93A5C7"/>
                </a:solidFill>
                <a:latin typeface="Calibri" pitchFamily="34" charset="0"/>
                <a:ea typeface="Calibri" pitchFamily="34" charset="-122"/>
                <a:cs typeface="Calibri" pitchFamily="34" charset="-120"/>
              </a:rPr>
              <a:t>HTTP is one request, one reply, and no memory of either afterwards.</a:t>
            </a:r>
            <a:endParaRPr lang="en-US" sz="1300" dirty="0"/>
          </a:p>
        </p:txBody>
      </p:sp>
      <p:sp>
        <p:nvSpPr>
          <p:cNvPr id="5" name="Shape 3"/>
          <p:cNvSpPr/>
          <p:nvPr/>
        </p:nvSpPr>
        <p:spPr>
          <a:xfrm>
            <a:off x="548640" y="2148840"/>
            <a:ext cx="5577840" cy="3127248"/>
          </a:xfrm>
          <a:prstGeom prst="roundRect">
            <a:avLst>
              <a:gd name="adj" fmla="val 2632"/>
            </a:avLst>
          </a:prstGeom>
          <a:solidFill>
            <a:srgbClr val="141F30"/>
          </a:solidFill>
          <a:ln/>
        </p:spPr>
      </p:sp>
      <p:sp>
        <p:nvSpPr>
          <p:cNvPr id="6" name="Text 4"/>
          <p:cNvSpPr/>
          <p:nvPr/>
        </p:nvSpPr>
        <p:spPr>
          <a:xfrm>
            <a:off x="859536" y="2423160"/>
            <a:ext cx="4956048" cy="237744"/>
          </a:xfrm>
          <a:prstGeom prst="rect">
            <a:avLst/>
          </a:prstGeom>
          <a:noFill/>
          <a:ln/>
        </p:spPr>
        <p:txBody>
          <a:bodyPr wrap="square" lIns="0" tIns="0" rIns="0" bIns="0" rtlCol="0" anchor="ctr"/>
          <a:lstStyle/>
          <a:p>
            <a:pPr indent="0" marL="0">
              <a:buNone/>
            </a:pPr>
            <a:r>
              <a:rPr lang="en-US" sz="950" b="1" spc="110" kern="0" dirty="0">
                <a:solidFill>
                  <a:srgbClr val="E0559E"/>
                </a:solidFill>
                <a:latin typeface="Calibri" pitchFamily="34" charset="0"/>
                <a:ea typeface="Calibri" pitchFamily="34" charset="-122"/>
                <a:cs typeface="Calibri" pitchFamily="34" charset="-120"/>
              </a:rPr>
              <a:t>WHAT IT IS</a:t>
            </a:r>
            <a:endParaRPr lang="en-US" sz="950" dirty="0"/>
          </a:p>
        </p:txBody>
      </p:sp>
      <p:sp>
        <p:nvSpPr>
          <p:cNvPr id="7" name="Text 5"/>
          <p:cNvSpPr/>
          <p:nvPr/>
        </p:nvSpPr>
        <p:spPr>
          <a:xfrm>
            <a:off x="859536" y="2697480"/>
            <a:ext cx="4956048" cy="1371600"/>
          </a:xfrm>
          <a:prstGeom prst="rect">
            <a:avLst/>
          </a:prstGeom>
          <a:noFill/>
          <a:ln/>
        </p:spPr>
        <p:txBody>
          <a:bodyPr wrap="square" lIns="0" tIns="0" rIns="0" bIns="0" rtlCol="0" anchor="t"/>
          <a:lstStyle/>
          <a:p>
            <a:pPr indent="0" marL="0">
              <a:lnSpc>
                <a:spcPct val="120000"/>
              </a:lnSpc>
              <a:buNone/>
            </a:pPr>
            <a:r>
              <a:rPr lang="en-US" sz="1200" dirty="0">
                <a:solidFill>
                  <a:srgbClr val="93A5C7"/>
                </a:solidFill>
                <a:latin typeface="Calibri" pitchFamily="34" charset="0"/>
                <a:ea typeface="Calibri" pitchFamily="34" charset="-122"/>
                <a:cs typeface="Calibri" pitchFamily="34" charset="-120"/>
              </a:rPr>
              <a:t>A browser sends a request: a method, a path, a set of headers and sometimes a body. The server replies with a status, its own headers and some content. Then it forgets you entirely. Anything the server needs to know next time has to be carried along in the next request.</a:t>
            </a:r>
            <a:endParaRPr lang="en-US" sz="1200" dirty="0"/>
          </a:p>
        </p:txBody>
      </p:sp>
      <p:sp>
        <p:nvSpPr>
          <p:cNvPr id="8" name="Text 6"/>
          <p:cNvSpPr/>
          <p:nvPr/>
        </p:nvSpPr>
        <p:spPr>
          <a:xfrm>
            <a:off x="859536" y="3959352"/>
            <a:ext cx="4956048" cy="237744"/>
          </a:xfrm>
          <a:prstGeom prst="rect">
            <a:avLst/>
          </a:prstGeom>
          <a:noFill/>
          <a:ln/>
        </p:spPr>
        <p:txBody>
          <a:bodyPr wrap="square" lIns="0" tIns="0" rIns="0" bIns="0" rtlCol="0" anchor="ctr"/>
          <a:lstStyle/>
          <a:p>
            <a:pPr indent="0" marL="0">
              <a:buNone/>
            </a:pPr>
            <a:r>
              <a:rPr lang="en-US" sz="950" b="1" spc="110" kern="0" dirty="0">
                <a:solidFill>
                  <a:srgbClr val="E0559E"/>
                </a:solidFill>
                <a:latin typeface="Calibri" pitchFamily="34" charset="0"/>
                <a:ea typeface="Calibri" pitchFamily="34" charset="-122"/>
                <a:cs typeface="Calibri" pitchFamily="34" charset="-120"/>
              </a:rPr>
              <a:t>WHY IT MATTERS HERE</a:t>
            </a:r>
            <a:endParaRPr lang="en-US" sz="950" dirty="0"/>
          </a:p>
        </p:txBody>
      </p:sp>
      <p:sp>
        <p:nvSpPr>
          <p:cNvPr id="9" name="Text 7"/>
          <p:cNvSpPr/>
          <p:nvPr/>
        </p:nvSpPr>
        <p:spPr>
          <a:xfrm>
            <a:off x="859536" y="4233672"/>
            <a:ext cx="4956048" cy="1371600"/>
          </a:xfrm>
          <a:prstGeom prst="rect">
            <a:avLst/>
          </a:prstGeom>
          <a:noFill/>
          <a:ln/>
        </p:spPr>
        <p:txBody>
          <a:bodyPr wrap="square" lIns="0" tIns="0" rIns="0" bIns="0" rtlCol="0" anchor="t"/>
          <a:lstStyle/>
          <a:p>
            <a:pPr indent="0" marL="0">
              <a:lnSpc>
                <a:spcPct val="120000"/>
              </a:lnSpc>
              <a:buNone/>
            </a:pPr>
            <a:r>
              <a:rPr lang="en-US" sz="1200" dirty="0">
                <a:solidFill>
                  <a:srgbClr val="93A5C7"/>
                </a:solidFill>
                <a:latin typeface="Calibri" pitchFamily="34" charset="0"/>
                <a:ea typeface="Calibri" pitchFamily="34" charset="-122"/>
                <a:cs typeface="Calibri" pitchFamily="34" charset="-120"/>
              </a:rPr>
              <a:t>Every input on this track arrives inside one of those parts. Being able to say exactly where a value lives — in the path, a header, a cookie or the body — is most of the work on most levels.</a:t>
            </a:r>
            <a:endParaRPr lang="en-US" sz="1200" dirty="0"/>
          </a:p>
        </p:txBody>
      </p:sp>
      <p:sp>
        <p:nvSpPr>
          <p:cNvPr id="10" name="Shape 8"/>
          <p:cNvSpPr/>
          <p:nvPr/>
        </p:nvSpPr>
        <p:spPr>
          <a:xfrm>
            <a:off x="6382512" y="2148840"/>
            <a:ext cx="5260543" cy="3127248"/>
          </a:xfrm>
          <a:prstGeom prst="roundRect">
            <a:avLst>
              <a:gd name="adj" fmla="val 2632"/>
            </a:avLst>
          </a:prstGeom>
          <a:solidFill>
            <a:srgbClr val="141F30"/>
          </a:solidFill>
          <a:ln/>
        </p:spPr>
      </p:sp>
      <p:sp>
        <p:nvSpPr>
          <p:cNvPr id="11" name="Text 9"/>
          <p:cNvSpPr/>
          <p:nvPr/>
        </p:nvSpPr>
        <p:spPr>
          <a:xfrm>
            <a:off x="6656832" y="2404872"/>
            <a:ext cx="4711903" cy="2615184"/>
          </a:xfrm>
          <a:prstGeom prst="rect">
            <a:avLst/>
          </a:prstGeom>
          <a:noFill/>
          <a:ln/>
        </p:spPr>
        <p:txBody>
          <a:bodyPr wrap="square" lIns="0" tIns="0" rIns="0" bIns="0" rtlCol="0" anchor="t"/>
          <a:lstStyle/>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GET /index.php HTTP/1.1      &lt;- method, path</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Host: target                 &lt;- headers</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Cookie: session=abc123</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Referer: http://example/</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User-Agent: Mozilla/5.0</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&lt;- blank line</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HTTP/1.1 200 OK              &lt;- status</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Content-Type: text/html      &lt;- headers</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&lt;html&gt;...&lt;/html&gt;             &lt;- body</a:t>
            </a:r>
            <a:endParaRPr lang="en-US" sz="1050" dirty="0"/>
          </a:p>
        </p:txBody>
      </p:sp>
      <p:sp>
        <p:nvSpPr>
          <p:cNvPr id="12" name="Text 10"/>
          <p:cNvSpPr/>
          <p:nvPr/>
        </p:nvSpPr>
        <p:spPr>
          <a:xfrm>
            <a:off x="548640" y="5532120"/>
            <a:ext cx="11094415" cy="274320"/>
          </a:xfrm>
          <a:prstGeom prst="rect">
            <a:avLst/>
          </a:prstGeom>
          <a:noFill/>
          <a:ln/>
        </p:spPr>
        <p:txBody>
          <a:bodyPr wrap="square" lIns="0" tIns="0" rIns="0" bIns="0" rtlCol="0" anchor="ctr"/>
          <a:lstStyle/>
          <a:p>
            <a:pPr indent="0" marL="0">
              <a:buNone/>
            </a:pPr>
            <a:r>
              <a:rPr lang="en-US" sz="1250" i="1" dirty="0">
                <a:solidFill>
                  <a:srgbClr val="E0559E"/>
                </a:solidFill>
                <a:latin typeface="Calibri" pitchFamily="34" charset="0"/>
                <a:ea typeface="Calibri" pitchFamily="34" charset="-122"/>
                <a:cs typeface="Calibri" pitchFamily="34" charset="-120"/>
              </a:rPr>
              <a:t>Name the part a value lives in, and you have named where to change it.</a:t>
            </a:r>
            <a:endParaRPr lang="en-US" sz="1250" dirty="0"/>
          </a:p>
        </p:txBody>
      </p:sp>
      <p:sp>
        <p:nvSpPr>
          <p:cNvPr id="13" name="Text 11"/>
          <p:cNvSpPr/>
          <p:nvPr/>
        </p:nvSpPr>
        <p:spPr>
          <a:xfrm>
            <a:off x="548640" y="6446520"/>
            <a:ext cx="2743200" cy="274320"/>
          </a:xfrm>
          <a:prstGeom prst="rect">
            <a:avLst/>
          </a:prstGeom>
          <a:noFill/>
          <a:ln/>
        </p:spPr>
        <p:txBody>
          <a:bodyPr wrap="square" lIns="0" tIns="0" rIns="0" bIns="0" rtlCol="0" anchor="ctr"/>
          <a:lstStyle/>
          <a:p>
            <a:pPr indent="0" marL="0">
              <a:buNone/>
            </a:pPr>
            <a:r>
              <a:rPr lang="en-US" sz="900" spc="150" kern="0" dirty="0">
                <a:solidFill>
                  <a:srgbClr val="5B6B8C"/>
                </a:solidFill>
                <a:latin typeface="Calibri" pitchFamily="34" charset="0"/>
                <a:ea typeface="Calibri" pitchFamily="34" charset="-122"/>
                <a:cs typeface="Calibri" pitchFamily="34" charset="-120"/>
              </a:rPr>
              <a:t>CEI LABS CTF</a:t>
            </a:r>
            <a:endParaRPr lang="en-US" sz="900" dirty="0"/>
          </a:p>
        </p:txBody>
      </p:sp>
      <p:sp>
        <p:nvSpPr>
          <p:cNvPr id="14" name="Text 12"/>
          <p:cNvSpPr/>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B6B8C"/>
                </a:solidFill>
                <a:latin typeface="Calibri" pitchFamily="34" charset="0"/>
                <a:ea typeface="Calibri" pitchFamily="34" charset="-122"/>
                <a:cs typeface="Calibri" pitchFamily="34" charset="-120"/>
              </a:rPr>
              <a:t>04</a:t>
            </a:r>
            <a:endParaRPr lang="en-US" sz="900" dirty="0"/>
          </a:p>
        </p:txBody>
      </p:sp>
    </p:spTree>
  </p:cSld>
  <p:clrMapOvr>
    <a:masterClrMapping/>
  </p:clrMapOvr>
  <p:transition spd="med" advClick="1">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57200"/>
            <a:ext cx="11094415" cy="274320"/>
          </a:xfrm>
          <a:prstGeom prst="rect">
            <a:avLst/>
          </a:prstGeom>
          <a:noFill/>
          <a:ln/>
        </p:spPr>
        <p:txBody>
          <a:bodyPr wrap="square" lIns="0" tIns="0" rIns="0" bIns="0" rtlCol="0" anchor="ctr"/>
          <a:lstStyle/>
          <a:p>
            <a:pPr indent="0" marL="0">
              <a:buNone/>
            </a:pPr>
            <a:r>
              <a:rPr lang="en-US" sz="1100" b="1" spc="120" kern="0" dirty="0">
                <a:solidFill>
                  <a:srgbClr val="E0559E"/>
                </a:solidFill>
                <a:latin typeface="Calibri" pitchFamily="34" charset="0"/>
                <a:ea typeface="Calibri" pitchFamily="34" charset="-122"/>
                <a:cs typeface="Calibri" pitchFamily="34" charset="-120"/>
              </a:rPr>
              <a:t>THEORY  02 / 07</a:t>
            </a:r>
            <a:endParaRPr lang="en-US" sz="1100" dirty="0"/>
          </a:p>
        </p:txBody>
      </p:sp>
      <p:sp>
        <p:nvSpPr>
          <p:cNvPr id="3" name="Text 1"/>
          <p:cNvSpPr/>
          <p:nvPr/>
        </p:nvSpPr>
        <p:spPr>
          <a:xfrm>
            <a:off x="548640" y="749808"/>
            <a:ext cx="11094415" cy="566928"/>
          </a:xfrm>
          <a:prstGeom prst="rect">
            <a:avLst/>
          </a:prstGeom>
          <a:noFill/>
          <a:ln/>
        </p:spPr>
        <p:txBody>
          <a:bodyPr wrap="square" lIns="0" tIns="0" rIns="0" bIns="0" rtlCol="0" anchor="ctr"/>
          <a:lstStyle/>
          <a:p>
            <a:pPr indent="0" marL="0">
              <a:buNone/>
            </a:pPr>
            <a:r>
              <a:rPr lang="en-US" sz="3200" b="1" dirty="0">
                <a:solidFill>
                  <a:srgbClr val="F4F6FB"/>
                </a:solidFill>
                <a:latin typeface="Cambria" pitchFamily="34" charset="0"/>
                <a:ea typeface="Cambria" pitchFamily="34" charset="-122"/>
                <a:cs typeface="Cambria" pitchFamily="34" charset="-120"/>
              </a:rPr>
              <a:t>The client is not a boundary</a:t>
            </a:r>
            <a:endParaRPr lang="en-US" sz="3200" dirty="0"/>
          </a:p>
        </p:txBody>
      </p:sp>
      <p:sp>
        <p:nvSpPr>
          <p:cNvPr id="4" name="Text 2"/>
          <p:cNvSpPr/>
          <p:nvPr/>
        </p:nvSpPr>
        <p:spPr>
          <a:xfrm>
            <a:off x="548640" y="1389888"/>
            <a:ext cx="9814255" cy="475488"/>
          </a:xfrm>
          <a:prstGeom prst="rect">
            <a:avLst/>
          </a:prstGeom>
          <a:noFill/>
          <a:ln/>
        </p:spPr>
        <p:txBody>
          <a:bodyPr wrap="square" lIns="0" tIns="0" rIns="0" bIns="0" rtlCol="0" anchor="ctr"/>
          <a:lstStyle/>
          <a:p>
            <a:pPr indent="0" marL="0">
              <a:lnSpc>
                <a:spcPct val="115000"/>
              </a:lnSpc>
              <a:buNone/>
            </a:pPr>
            <a:r>
              <a:rPr lang="en-US" sz="1300" dirty="0">
                <a:solidFill>
                  <a:srgbClr val="93A5C7"/>
                </a:solidFill>
                <a:latin typeface="Calibri" pitchFamily="34" charset="0"/>
                <a:ea typeface="Calibri" pitchFamily="34" charset="-122"/>
                <a:cs typeface="Calibri" pitchFamily="34" charset="-120"/>
              </a:rPr>
              <a:t>Everything the browser does happens on your machine, under your control.</a:t>
            </a:r>
            <a:endParaRPr lang="en-US" sz="1300" dirty="0"/>
          </a:p>
        </p:txBody>
      </p:sp>
      <p:sp>
        <p:nvSpPr>
          <p:cNvPr id="5" name="Shape 3"/>
          <p:cNvSpPr/>
          <p:nvPr/>
        </p:nvSpPr>
        <p:spPr>
          <a:xfrm>
            <a:off x="548640" y="2148840"/>
            <a:ext cx="5577840" cy="3127248"/>
          </a:xfrm>
          <a:prstGeom prst="roundRect">
            <a:avLst>
              <a:gd name="adj" fmla="val 2632"/>
            </a:avLst>
          </a:prstGeom>
          <a:solidFill>
            <a:srgbClr val="141F30"/>
          </a:solidFill>
          <a:ln/>
        </p:spPr>
      </p:sp>
      <p:sp>
        <p:nvSpPr>
          <p:cNvPr id="6" name="Text 4"/>
          <p:cNvSpPr/>
          <p:nvPr/>
        </p:nvSpPr>
        <p:spPr>
          <a:xfrm>
            <a:off x="859536" y="2423160"/>
            <a:ext cx="4956048" cy="237744"/>
          </a:xfrm>
          <a:prstGeom prst="rect">
            <a:avLst/>
          </a:prstGeom>
          <a:noFill/>
          <a:ln/>
        </p:spPr>
        <p:txBody>
          <a:bodyPr wrap="square" lIns="0" tIns="0" rIns="0" bIns="0" rtlCol="0" anchor="ctr"/>
          <a:lstStyle/>
          <a:p>
            <a:pPr indent="0" marL="0">
              <a:buNone/>
            </a:pPr>
            <a:r>
              <a:rPr lang="en-US" sz="950" b="1" spc="110" kern="0" dirty="0">
                <a:solidFill>
                  <a:srgbClr val="E0559E"/>
                </a:solidFill>
                <a:latin typeface="Calibri" pitchFamily="34" charset="0"/>
                <a:ea typeface="Calibri" pitchFamily="34" charset="-122"/>
                <a:cs typeface="Calibri" pitchFamily="34" charset="-120"/>
              </a:rPr>
              <a:t>WHAT IT IS</a:t>
            </a:r>
            <a:endParaRPr lang="en-US" sz="950" dirty="0"/>
          </a:p>
        </p:txBody>
      </p:sp>
      <p:sp>
        <p:nvSpPr>
          <p:cNvPr id="7" name="Text 5"/>
          <p:cNvSpPr/>
          <p:nvPr/>
        </p:nvSpPr>
        <p:spPr>
          <a:xfrm>
            <a:off x="859536" y="2697480"/>
            <a:ext cx="4956048" cy="1371600"/>
          </a:xfrm>
          <a:prstGeom prst="rect">
            <a:avLst/>
          </a:prstGeom>
          <a:noFill/>
          <a:ln/>
        </p:spPr>
        <p:txBody>
          <a:bodyPr wrap="square" lIns="0" tIns="0" rIns="0" bIns="0" rtlCol="0" anchor="t"/>
          <a:lstStyle/>
          <a:p>
            <a:pPr indent="0" marL="0">
              <a:lnSpc>
                <a:spcPct val="120000"/>
              </a:lnSpc>
              <a:buNone/>
            </a:pPr>
            <a:r>
              <a:rPr lang="en-US" sz="1200" dirty="0">
                <a:solidFill>
                  <a:srgbClr val="93A5C7"/>
                </a:solidFill>
                <a:latin typeface="Calibri" pitchFamily="34" charset="0"/>
                <a:ea typeface="Calibri" pitchFamily="34" charset="-122"/>
                <a:cs typeface="Calibri" pitchFamily="34" charset="-120"/>
              </a:rPr>
              <a:t>The page source, the scripts, the hidden fields, the disabled buttons and the validation messages are all delivered to you and run by you. You can read every byte of it, and you can decline to run any of it. A request does not even have to come from a browser.</a:t>
            </a:r>
            <a:endParaRPr lang="en-US" sz="1200" dirty="0"/>
          </a:p>
        </p:txBody>
      </p:sp>
      <p:sp>
        <p:nvSpPr>
          <p:cNvPr id="8" name="Text 6"/>
          <p:cNvSpPr/>
          <p:nvPr/>
        </p:nvSpPr>
        <p:spPr>
          <a:xfrm>
            <a:off x="859536" y="3959352"/>
            <a:ext cx="4956048" cy="237744"/>
          </a:xfrm>
          <a:prstGeom prst="rect">
            <a:avLst/>
          </a:prstGeom>
          <a:noFill/>
          <a:ln/>
        </p:spPr>
        <p:txBody>
          <a:bodyPr wrap="square" lIns="0" tIns="0" rIns="0" bIns="0" rtlCol="0" anchor="ctr"/>
          <a:lstStyle/>
          <a:p>
            <a:pPr indent="0" marL="0">
              <a:buNone/>
            </a:pPr>
            <a:r>
              <a:rPr lang="en-US" sz="950" b="1" spc="110" kern="0" dirty="0">
                <a:solidFill>
                  <a:srgbClr val="E0559E"/>
                </a:solidFill>
                <a:latin typeface="Calibri" pitchFamily="34" charset="0"/>
                <a:ea typeface="Calibri" pitchFamily="34" charset="-122"/>
                <a:cs typeface="Calibri" pitchFamily="34" charset="-120"/>
              </a:rPr>
              <a:t>WHY IT MATTERS HERE</a:t>
            </a:r>
            <a:endParaRPr lang="en-US" sz="950" dirty="0"/>
          </a:p>
        </p:txBody>
      </p:sp>
      <p:sp>
        <p:nvSpPr>
          <p:cNvPr id="9" name="Text 7"/>
          <p:cNvSpPr/>
          <p:nvPr/>
        </p:nvSpPr>
        <p:spPr>
          <a:xfrm>
            <a:off x="859536" y="4233672"/>
            <a:ext cx="4956048" cy="1371600"/>
          </a:xfrm>
          <a:prstGeom prst="rect">
            <a:avLst/>
          </a:prstGeom>
          <a:noFill/>
          <a:ln/>
        </p:spPr>
        <p:txBody>
          <a:bodyPr wrap="square" lIns="0" tIns="0" rIns="0" bIns="0" rtlCol="0" anchor="t"/>
          <a:lstStyle/>
          <a:p>
            <a:pPr indent="0" marL="0">
              <a:lnSpc>
                <a:spcPct val="120000"/>
              </a:lnSpc>
              <a:buNone/>
            </a:pPr>
            <a:r>
              <a:rPr lang="en-US" sz="1200" dirty="0">
                <a:solidFill>
                  <a:srgbClr val="93A5C7"/>
                </a:solidFill>
                <a:latin typeface="Calibri" pitchFamily="34" charset="0"/>
                <a:ea typeface="Calibri" pitchFamily="34" charset="-122"/>
                <a:cs typeface="Calibri" pitchFamily="34" charset="-120"/>
              </a:rPr>
              <a:t>A great deal of web software confuses "the interface won't let you" with "it cannot happen". Only a check that runs on the server is a check at all. This one idea unlocks the whole track.</a:t>
            </a:r>
            <a:endParaRPr lang="en-US" sz="1200" dirty="0"/>
          </a:p>
        </p:txBody>
      </p:sp>
      <p:sp>
        <p:nvSpPr>
          <p:cNvPr id="10" name="Shape 8"/>
          <p:cNvSpPr/>
          <p:nvPr/>
        </p:nvSpPr>
        <p:spPr>
          <a:xfrm>
            <a:off x="6382512" y="2148840"/>
            <a:ext cx="5260543" cy="3127248"/>
          </a:xfrm>
          <a:prstGeom prst="roundRect">
            <a:avLst>
              <a:gd name="adj" fmla="val 2632"/>
            </a:avLst>
          </a:prstGeom>
          <a:solidFill>
            <a:srgbClr val="141F30"/>
          </a:solidFill>
          <a:ln/>
        </p:spPr>
      </p:sp>
      <p:sp>
        <p:nvSpPr>
          <p:cNvPr id="11" name="Text 9"/>
          <p:cNvSpPr/>
          <p:nvPr/>
        </p:nvSpPr>
        <p:spPr>
          <a:xfrm>
            <a:off x="6656832" y="2404872"/>
            <a:ext cx="4711903" cy="2615184"/>
          </a:xfrm>
          <a:prstGeom prst="rect">
            <a:avLst/>
          </a:prstGeom>
          <a:noFill/>
          <a:ln/>
        </p:spPr>
        <p:txBody>
          <a:bodyPr wrap="square" lIns="0" tIns="0" rIns="0" bIns="0" rtlCol="0" anchor="t"/>
          <a:lstStyle/>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what the server sent to you</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&lt;input type=hidden name=price value=10&gt;</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&lt;button disabled&gt;Submit&lt;/button&gt;</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&lt;script&gt;if (!valid()) return;&lt;/script&gt;</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what you may do about it</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read all of the source, not the page</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change any value before sending it</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ignore the script completely</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send the request without a browser</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none of the above is an exploit.</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it is just using your own computer.</a:t>
            </a:r>
            <a:endParaRPr lang="en-US" sz="1050" dirty="0"/>
          </a:p>
        </p:txBody>
      </p:sp>
      <p:sp>
        <p:nvSpPr>
          <p:cNvPr id="12" name="Text 10"/>
          <p:cNvSpPr/>
          <p:nvPr/>
        </p:nvSpPr>
        <p:spPr>
          <a:xfrm>
            <a:off x="548640" y="5532120"/>
            <a:ext cx="11094415" cy="274320"/>
          </a:xfrm>
          <a:prstGeom prst="rect">
            <a:avLst/>
          </a:prstGeom>
          <a:noFill/>
          <a:ln/>
        </p:spPr>
        <p:txBody>
          <a:bodyPr wrap="square" lIns="0" tIns="0" rIns="0" bIns="0" rtlCol="0" anchor="ctr"/>
          <a:lstStyle/>
          <a:p>
            <a:pPr indent="0" marL="0">
              <a:buNone/>
            </a:pPr>
            <a:r>
              <a:rPr lang="en-US" sz="1250" i="1" dirty="0">
                <a:solidFill>
                  <a:srgbClr val="E0559E"/>
                </a:solidFill>
                <a:latin typeface="Calibri" pitchFamily="34" charset="0"/>
                <a:ea typeface="Calibri" pitchFamily="34" charset="-122"/>
                <a:cs typeface="Calibri" pitchFamily="34" charset="-120"/>
              </a:rPr>
              <a:t>The page is a suggestion. The request is what counts.</a:t>
            </a:r>
            <a:endParaRPr lang="en-US" sz="1250" dirty="0"/>
          </a:p>
        </p:txBody>
      </p:sp>
      <p:sp>
        <p:nvSpPr>
          <p:cNvPr id="13" name="Text 11"/>
          <p:cNvSpPr/>
          <p:nvPr/>
        </p:nvSpPr>
        <p:spPr>
          <a:xfrm>
            <a:off x="548640" y="6446520"/>
            <a:ext cx="2743200" cy="274320"/>
          </a:xfrm>
          <a:prstGeom prst="rect">
            <a:avLst/>
          </a:prstGeom>
          <a:noFill/>
          <a:ln/>
        </p:spPr>
        <p:txBody>
          <a:bodyPr wrap="square" lIns="0" tIns="0" rIns="0" bIns="0" rtlCol="0" anchor="ctr"/>
          <a:lstStyle/>
          <a:p>
            <a:pPr indent="0" marL="0">
              <a:buNone/>
            </a:pPr>
            <a:r>
              <a:rPr lang="en-US" sz="900" spc="150" kern="0" dirty="0">
                <a:solidFill>
                  <a:srgbClr val="5B6B8C"/>
                </a:solidFill>
                <a:latin typeface="Calibri" pitchFamily="34" charset="0"/>
                <a:ea typeface="Calibri" pitchFamily="34" charset="-122"/>
                <a:cs typeface="Calibri" pitchFamily="34" charset="-120"/>
              </a:rPr>
              <a:t>CEI LABS CTF</a:t>
            </a:r>
            <a:endParaRPr lang="en-US" sz="900" dirty="0"/>
          </a:p>
        </p:txBody>
      </p:sp>
      <p:sp>
        <p:nvSpPr>
          <p:cNvPr id="14" name="Text 12"/>
          <p:cNvSpPr/>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B6B8C"/>
                </a:solidFill>
                <a:latin typeface="Calibri" pitchFamily="34" charset="0"/>
                <a:ea typeface="Calibri" pitchFamily="34" charset="-122"/>
                <a:cs typeface="Calibri" pitchFamily="34" charset="-120"/>
              </a:rPr>
              <a:t>05</a:t>
            </a:r>
            <a:endParaRPr lang="en-US" sz="900" dirty="0"/>
          </a:p>
        </p:txBody>
      </p:sp>
    </p:spTree>
  </p:cSld>
  <p:clrMapOvr>
    <a:masterClrMapping/>
  </p:clrMapOvr>
  <p:transition spd="med" advClick="1">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57200"/>
            <a:ext cx="11094415" cy="274320"/>
          </a:xfrm>
          <a:prstGeom prst="rect">
            <a:avLst/>
          </a:prstGeom>
          <a:noFill/>
          <a:ln/>
        </p:spPr>
        <p:txBody>
          <a:bodyPr wrap="square" lIns="0" tIns="0" rIns="0" bIns="0" rtlCol="0" anchor="ctr"/>
          <a:lstStyle/>
          <a:p>
            <a:pPr indent="0" marL="0">
              <a:buNone/>
            </a:pPr>
            <a:r>
              <a:rPr lang="en-US" sz="1100" b="1" spc="120" kern="0" dirty="0">
                <a:solidFill>
                  <a:srgbClr val="E0559E"/>
                </a:solidFill>
                <a:latin typeface="Calibri" pitchFamily="34" charset="0"/>
                <a:ea typeface="Calibri" pitchFamily="34" charset="-122"/>
                <a:cs typeface="Calibri" pitchFamily="34" charset="-120"/>
              </a:rPr>
              <a:t>THEORY  03 / 07</a:t>
            </a:r>
            <a:endParaRPr lang="en-US" sz="1100" dirty="0"/>
          </a:p>
        </p:txBody>
      </p:sp>
      <p:sp>
        <p:nvSpPr>
          <p:cNvPr id="3" name="Text 1"/>
          <p:cNvSpPr/>
          <p:nvPr/>
        </p:nvSpPr>
        <p:spPr>
          <a:xfrm>
            <a:off x="548640" y="749808"/>
            <a:ext cx="11094415" cy="566928"/>
          </a:xfrm>
          <a:prstGeom prst="rect">
            <a:avLst/>
          </a:prstGeom>
          <a:noFill/>
          <a:ln/>
        </p:spPr>
        <p:txBody>
          <a:bodyPr wrap="square" lIns="0" tIns="0" rIns="0" bIns="0" rtlCol="0" anchor="ctr"/>
          <a:lstStyle/>
          <a:p>
            <a:pPr indent="0" marL="0">
              <a:buNone/>
            </a:pPr>
            <a:r>
              <a:rPr lang="en-US" sz="3200" b="1" dirty="0">
                <a:solidFill>
                  <a:srgbClr val="F4F6FB"/>
                </a:solidFill>
                <a:latin typeface="Cambria" pitchFamily="34" charset="0"/>
                <a:ea typeface="Cambria" pitchFamily="34" charset="-122"/>
                <a:cs typeface="Cambria" pitchFamily="34" charset="-120"/>
              </a:rPr>
              <a:t>Paths and traversal</a:t>
            </a:r>
            <a:endParaRPr lang="en-US" sz="3200" dirty="0"/>
          </a:p>
        </p:txBody>
      </p:sp>
      <p:sp>
        <p:nvSpPr>
          <p:cNvPr id="4" name="Text 2"/>
          <p:cNvSpPr/>
          <p:nvPr/>
        </p:nvSpPr>
        <p:spPr>
          <a:xfrm>
            <a:off x="548640" y="1389888"/>
            <a:ext cx="9814255" cy="475488"/>
          </a:xfrm>
          <a:prstGeom prst="rect">
            <a:avLst/>
          </a:prstGeom>
          <a:noFill/>
          <a:ln/>
        </p:spPr>
        <p:txBody>
          <a:bodyPr wrap="square" lIns="0" tIns="0" rIns="0" bIns="0" rtlCol="0" anchor="ctr"/>
          <a:lstStyle/>
          <a:p>
            <a:pPr indent="0" marL="0">
              <a:lnSpc>
                <a:spcPct val="115000"/>
              </a:lnSpc>
              <a:buNone/>
            </a:pPr>
            <a:r>
              <a:rPr lang="en-US" sz="1300" dirty="0">
                <a:solidFill>
                  <a:srgbClr val="93A5C7"/>
                </a:solidFill>
                <a:latin typeface="Calibri" pitchFamily="34" charset="0"/>
                <a:ea typeface="Calibri" pitchFamily="34" charset="-122"/>
                <a:cs typeface="Calibri" pitchFamily="34" charset="-120"/>
              </a:rPr>
              <a:t>A path is a string the server turns into a location on disk.</a:t>
            </a:r>
            <a:endParaRPr lang="en-US" sz="1300" dirty="0"/>
          </a:p>
        </p:txBody>
      </p:sp>
      <p:sp>
        <p:nvSpPr>
          <p:cNvPr id="5" name="Shape 3"/>
          <p:cNvSpPr/>
          <p:nvPr/>
        </p:nvSpPr>
        <p:spPr>
          <a:xfrm>
            <a:off x="548640" y="2148840"/>
            <a:ext cx="5577840" cy="3127248"/>
          </a:xfrm>
          <a:prstGeom prst="roundRect">
            <a:avLst>
              <a:gd name="adj" fmla="val 2632"/>
            </a:avLst>
          </a:prstGeom>
          <a:solidFill>
            <a:srgbClr val="141F30"/>
          </a:solidFill>
          <a:ln/>
        </p:spPr>
      </p:sp>
      <p:sp>
        <p:nvSpPr>
          <p:cNvPr id="6" name="Text 4"/>
          <p:cNvSpPr/>
          <p:nvPr/>
        </p:nvSpPr>
        <p:spPr>
          <a:xfrm>
            <a:off x="859536" y="2423160"/>
            <a:ext cx="4956048" cy="237744"/>
          </a:xfrm>
          <a:prstGeom prst="rect">
            <a:avLst/>
          </a:prstGeom>
          <a:noFill/>
          <a:ln/>
        </p:spPr>
        <p:txBody>
          <a:bodyPr wrap="square" lIns="0" tIns="0" rIns="0" bIns="0" rtlCol="0" anchor="ctr"/>
          <a:lstStyle/>
          <a:p>
            <a:pPr indent="0" marL="0">
              <a:buNone/>
            </a:pPr>
            <a:r>
              <a:rPr lang="en-US" sz="950" b="1" spc="110" kern="0" dirty="0">
                <a:solidFill>
                  <a:srgbClr val="E0559E"/>
                </a:solidFill>
                <a:latin typeface="Calibri" pitchFamily="34" charset="0"/>
                <a:ea typeface="Calibri" pitchFamily="34" charset="-122"/>
                <a:cs typeface="Calibri" pitchFamily="34" charset="-120"/>
              </a:rPr>
              <a:t>WHAT IT IS</a:t>
            </a:r>
            <a:endParaRPr lang="en-US" sz="950" dirty="0"/>
          </a:p>
        </p:txBody>
      </p:sp>
      <p:sp>
        <p:nvSpPr>
          <p:cNvPr id="7" name="Text 5"/>
          <p:cNvSpPr/>
          <p:nvPr/>
        </p:nvSpPr>
        <p:spPr>
          <a:xfrm>
            <a:off x="859536" y="2697480"/>
            <a:ext cx="4956048" cy="1371600"/>
          </a:xfrm>
          <a:prstGeom prst="rect">
            <a:avLst/>
          </a:prstGeom>
          <a:noFill/>
          <a:ln/>
        </p:spPr>
        <p:txBody>
          <a:bodyPr wrap="square" lIns="0" tIns="0" rIns="0" bIns="0" rtlCol="0" anchor="t"/>
          <a:lstStyle/>
          <a:p>
            <a:pPr indent="0" marL="0">
              <a:lnSpc>
                <a:spcPct val="120000"/>
              </a:lnSpc>
              <a:buNone/>
            </a:pPr>
            <a:r>
              <a:rPr lang="en-US" sz="1200" dirty="0">
                <a:solidFill>
                  <a:srgbClr val="93A5C7"/>
                </a:solidFill>
                <a:latin typeface="Calibri" pitchFamily="34" charset="0"/>
                <a:ea typeface="Calibri" pitchFamily="34" charset="-122"/>
                <a:cs typeface="Calibri" pitchFamily="34" charset="-120"/>
              </a:rPr>
              <a:t>When a value taken from the request is used to build a filename, the server is trusting that value to stay where it was meant to. Path syntax includes a component meaning "go up one level", so a value expected to name a file can instead describe a route out of the intended directory.</a:t>
            </a:r>
            <a:endParaRPr lang="en-US" sz="1200" dirty="0"/>
          </a:p>
        </p:txBody>
      </p:sp>
      <p:sp>
        <p:nvSpPr>
          <p:cNvPr id="8" name="Text 6"/>
          <p:cNvSpPr/>
          <p:nvPr/>
        </p:nvSpPr>
        <p:spPr>
          <a:xfrm>
            <a:off x="859536" y="3959352"/>
            <a:ext cx="4956048" cy="237744"/>
          </a:xfrm>
          <a:prstGeom prst="rect">
            <a:avLst/>
          </a:prstGeom>
          <a:noFill/>
          <a:ln/>
        </p:spPr>
        <p:txBody>
          <a:bodyPr wrap="square" lIns="0" tIns="0" rIns="0" bIns="0" rtlCol="0" anchor="ctr"/>
          <a:lstStyle/>
          <a:p>
            <a:pPr indent="0" marL="0">
              <a:buNone/>
            </a:pPr>
            <a:r>
              <a:rPr lang="en-US" sz="950" b="1" spc="110" kern="0" dirty="0">
                <a:solidFill>
                  <a:srgbClr val="E0559E"/>
                </a:solidFill>
                <a:latin typeface="Calibri" pitchFamily="34" charset="0"/>
                <a:ea typeface="Calibri" pitchFamily="34" charset="-122"/>
                <a:cs typeface="Calibri" pitchFamily="34" charset="-120"/>
              </a:rPr>
              <a:t>WHY IT MATTERS HERE</a:t>
            </a:r>
            <a:endParaRPr lang="en-US" sz="950" dirty="0"/>
          </a:p>
        </p:txBody>
      </p:sp>
      <p:sp>
        <p:nvSpPr>
          <p:cNvPr id="9" name="Text 7"/>
          <p:cNvSpPr/>
          <p:nvPr/>
        </p:nvSpPr>
        <p:spPr>
          <a:xfrm>
            <a:off x="859536" y="4233672"/>
            <a:ext cx="4956048" cy="1371600"/>
          </a:xfrm>
          <a:prstGeom prst="rect">
            <a:avLst/>
          </a:prstGeom>
          <a:noFill/>
          <a:ln/>
        </p:spPr>
        <p:txBody>
          <a:bodyPr wrap="square" lIns="0" tIns="0" rIns="0" bIns="0" rtlCol="0" anchor="t"/>
          <a:lstStyle/>
          <a:p>
            <a:pPr indent="0" marL="0">
              <a:lnSpc>
                <a:spcPct val="120000"/>
              </a:lnSpc>
              <a:buNone/>
            </a:pPr>
            <a:r>
              <a:rPr lang="en-US" sz="1200" dirty="0">
                <a:solidFill>
                  <a:srgbClr val="93A5C7"/>
                </a:solidFill>
                <a:latin typeface="Calibri" pitchFamily="34" charset="0"/>
                <a:ea typeface="Calibri" pitchFamily="34" charset="-122"/>
                <a:cs typeface="Calibri" pitchFamily="34" charset="-120"/>
              </a:rPr>
              <a:t>The flaw is not the syntax — the syntax is doing exactly what it says. The flaw is assembling a filesystem path out of something a stranger supplied, and never checking where it landed.</a:t>
            </a:r>
            <a:endParaRPr lang="en-US" sz="1200" dirty="0"/>
          </a:p>
        </p:txBody>
      </p:sp>
      <p:sp>
        <p:nvSpPr>
          <p:cNvPr id="10" name="Shape 8"/>
          <p:cNvSpPr/>
          <p:nvPr/>
        </p:nvSpPr>
        <p:spPr>
          <a:xfrm>
            <a:off x="6382512" y="2148840"/>
            <a:ext cx="5260543" cy="3127248"/>
          </a:xfrm>
          <a:prstGeom prst="roundRect">
            <a:avLst>
              <a:gd name="adj" fmla="val 2632"/>
            </a:avLst>
          </a:prstGeom>
          <a:solidFill>
            <a:srgbClr val="141F30"/>
          </a:solidFill>
          <a:ln/>
        </p:spPr>
      </p:sp>
      <p:sp>
        <p:nvSpPr>
          <p:cNvPr id="11" name="Text 9"/>
          <p:cNvSpPr/>
          <p:nvPr/>
        </p:nvSpPr>
        <p:spPr>
          <a:xfrm>
            <a:off x="6656832" y="2404872"/>
            <a:ext cx="4711903" cy="2615184"/>
          </a:xfrm>
          <a:prstGeom prst="rect">
            <a:avLst/>
          </a:prstGeom>
          <a:noFill/>
          <a:ln/>
        </p:spPr>
        <p:txBody>
          <a:bodyPr wrap="square" lIns="0" tIns="0" rIns="0" bIns="0" rtlCol="0" anchor="t"/>
          <a:lstStyle/>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what the developer pictured</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/var/www/files/  +  report.txt</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/var/www/files/report.txt</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what the same syntax also permits</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/var/www/files/  +  ../../etc/hostname</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/etc/hostname</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 means 'up one directory'</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the server resolved it exactly as asked</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and never checked the destination</a:t>
            </a:r>
            <a:endParaRPr lang="en-US" sz="1050" dirty="0"/>
          </a:p>
        </p:txBody>
      </p:sp>
      <p:sp>
        <p:nvSpPr>
          <p:cNvPr id="12" name="Text 10"/>
          <p:cNvSpPr/>
          <p:nvPr/>
        </p:nvSpPr>
        <p:spPr>
          <a:xfrm>
            <a:off x="548640" y="5532120"/>
            <a:ext cx="11094415" cy="274320"/>
          </a:xfrm>
          <a:prstGeom prst="rect">
            <a:avLst/>
          </a:prstGeom>
          <a:noFill/>
          <a:ln/>
        </p:spPr>
        <p:txBody>
          <a:bodyPr wrap="square" lIns="0" tIns="0" rIns="0" bIns="0" rtlCol="0" anchor="ctr"/>
          <a:lstStyle/>
          <a:p>
            <a:pPr indent="0" marL="0">
              <a:buNone/>
            </a:pPr>
            <a:r>
              <a:rPr lang="en-US" sz="1250" i="1" dirty="0">
                <a:solidFill>
                  <a:srgbClr val="E0559E"/>
                </a:solidFill>
                <a:latin typeface="Calibri" pitchFamily="34" charset="0"/>
                <a:ea typeface="Calibri" pitchFamily="34" charset="-122"/>
                <a:cs typeface="Calibri" pitchFamily="34" charset="-120"/>
              </a:rPr>
              <a:t>The server did nothing wrong. It did exactly what it was told.</a:t>
            </a:r>
            <a:endParaRPr lang="en-US" sz="1250" dirty="0"/>
          </a:p>
        </p:txBody>
      </p:sp>
      <p:sp>
        <p:nvSpPr>
          <p:cNvPr id="13" name="Text 11"/>
          <p:cNvSpPr/>
          <p:nvPr/>
        </p:nvSpPr>
        <p:spPr>
          <a:xfrm>
            <a:off x="548640" y="6446520"/>
            <a:ext cx="2743200" cy="274320"/>
          </a:xfrm>
          <a:prstGeom prst="rect">
            <a:avLst/>
          </a:prstGeom>
          <a:noFill/>
          <a:ln/>
        </p:spPr>
        <p:txBody>
          <a:bodyPr wrap="square" lIns="0" tIns="0" rIns="0" bIns="0" rtlCol="0" anchor="ctr"/>
          <a:lstStyle/>
          <a:p>
            <a:pPr indent="0" marL="0">
              <a:buNone/>
            </a:pPr>
            <a:r>
              <a:rPr lang="en-US" sz="900" spc="150" kern="0" dirty="0">
                <a:solidFill>
                  <a:srgbClr val="5B6B8C"/>
                </a:solidFill>
                <a:latin typeface="Calibri" pitchFamily="34" charset="0"/>
                <a:ea typeface="Calibri" pitchFamily="34" charset="-122"/>
                <a:cs typeface="Calibri" pitchFamily="34" charset="-120"/>
              </a:rPr>
              <a:t>CEI LABS CTF</a:t>
            </a:r>
            <a:endParaRPr lang="en-US" sz="900" dirty="0"/>
          </a:p>
        </p:txBody>
      </p:sp>
      <p:sp>
        <p:nvSpPr>
          <p:cNvPr id="14" name="Text 12"/>
          <p:cNvSpPr/>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B6B8C"/>
                </a:solidFill>
                <a:latin typeface="Calibri" pitchFamily="34" charset="0"/>
                <a:ea typeface="Calibri" pitchFamily="34" charset="-122"/>
                <a:cs typeface="Calibri" pitchFamily="34" charset="-120"/>
              </a:rPr>
              <a:t>06</a:t>
            </a:r>
            <a:endParaRPr lang="en-US" sz="900" dirty="0"/>
          </a:p>
        </p:txBody>
      </p:sp>
    </p:spTree>
  </p:cSld>
  <p:clrMapOvr>
    <a:masterClrMapping/>
  </p:clrMapOvr>
  <p:transition spd="med" advClick="1">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57200"/>
            <a:ext cx="11094415" cy="274320"/>
          </a:xfrm>
          <a:prstGeom prst="rect">
            <a:avLst/>
          </a:prstGeom>
          <a:noFill/>
          <a:ln/>
        </p:spPr>
        <p:txBody>
          <a:bodyPr wrap="square" lIns="0" tIns="0" rIns="0" bIns="0" rtlCol="0" anchor="ctr"/>
          <a:lstStyle/>
          <a:p>
            <a:pPr indent="0" marL="0">
              <a:buNone/>
            </a:pPr>
            <a:r>
              <a:rPr lang="en-US" sz="1100" b="1" spc="120" kern="0" dirty="0">
                <a:solidFill>
                  <a:srgbClr val="E0559E"/>
                </a:solidFill>
                <a:latin typeface="Calibri" pitchFamily="34" charset="0"/>
                <a:ea typeface="Calibri" pitchFamily="34" charset="-122"/>
                <a:cs typeface="Calibri" pitchFamily="34" charset="-120"/>
              </a:rPr>
              <a:t>THEORY  04 / 07</a:t>
            </a:r>
            <a:endParaRPr lang="en-US" sz="1100" dirty="0"/>
          </a:p>
        </p:txBody>
      </p:sp>
      <p:sp>
        <p:nvSpPr>
          <p:cNvPr id="3" name="Text 1"/>
          <p:cNvSpPr/>
          <p:nvPr/>
        </p:nvSpPr>
        <p:spPr>
          <a:xfrm>
            <a:off x="548640" y="749808"/>
            <a:ext cx="11094415" cy="566928"/>
          </a:xfrm>
          <a:prstGeom prst="rect">
            <a:avLst/>
          </a:prstGeom>
          <a:noFill/>
          <a:ln/>
        </p:spPr>
        <p:txBody>
          <a:bodyPr wrap="square" lIns="0" tIns="0" rIns="0" bIns="0" rtlCol="0" anchor="ctr"/>
          <a:lstStyle/>
          <a:p>
            <a:pPr indent="0" marL="0">
              <a:buNone/>
            </a:pPr>
            <a:r>
              <a:rPr lang="en-US" sz="3200" b="1" dirty="0">
                <a:solidFill>
                  <a:srgbClr val="F4F6FB"/>
                </a:solidFill>
                <a:latin typeface="Cambria" pitchFamily="34" charset="0"/>
                <a:ea typeface="Cambria" pitchFamily="34" charset="-122"/>
                <a:cs typeface="Cambria" pitchFamily="34" charset="-120"/>
              </a:rPr>
              <a:t>Cookies, headers and sessions</a:t>
            </a:r>
            <a:endParaRPr lang="en-US" sz="3200" dirty="0"/>
          </a:p>
        </p:txBody>
      </p:sp>
      <p:sp>
        <p:nvSpPr>
          <p:cNvPr id="4" name="Text 2"/>
          <p:cNvSpPr/>
          <p:nvPr/>
        </p:nvSpPr>
        <p:spPr>
          <a:xfrm>
            <a:off x="548640" y="1389888"/>
            <a:ext cx="9814255" cy="475488"/>
          </a:xfrm>
          <a:prstGeom prst="rect">
            <a:avLst/>
          </a:prstGeom>
          <a:noFill/>
          <a:ln/>
        </p:spPr>
        <p:txBody>
          <a:bodyPr wrap="square" lIns="0" tIns="0" rIns="0" bIns="0" rtlCol="0" anchor="ctr"/>
          <a:lstStyle/>
          <a:p>
            <a:pPr indent="0" marL="0">
              <a:lnSpc>
                <a:spcPct val="115000"/>
              </a:lnSpc>
              <a:buNone/>
            </a:pPr>
            <a:r>
              <a:rPr lang="en-US" sz="1300" dirty="0">
                <a:solidFill>
                  <a:srgbClr val="93A5C7"/>
                </a:solidFill>
                <a:latin typeface="Calibri" pitchFamily="34" charset="0"/>
                <a:ea typeface="Calibri" pitchFamily="34" charset="-122"/>
                <a:cs typeface="Calibri" pitchFamily="34" charset="-120"/>
              </a:rPr>
              <a:t>A forgetful protocol remembers you by handing you something to give back.</a:t>
            </a:r>
            <a:endParaRPr lang="en-US" sz="1300" dirty="0"/>
          </a:p>
        </p:txBody>
      </p:sp>
      <p:sp>
        <p:nvSpPr>
          <p:cNvPr id="5" name="Shape 3"/>
          <p:cNvSpPr/>
          <p:nvPr/>
        </p:nvSpPr>
        <p:spPr>
          <a:xfrm>
            <a:off x="548640" y="2148840"/>
            <a:ext cx="5577840" cy="3127248"/>
          </a:xfrm>
          <a:prstGeom prst="roundRect">
            <a:avLst>
              <a:gd name="adj" fmla="val 2632"/>
            </a:avLst>
          </a:prstGeom>
          <a:solidFill>
            <a:srgbClr val="141F30"/>
          </a:solidFill>
          <a:ln/>
        </p:spPr>
      </p:sp>
      <p:sp>
        <p:nvSpPr>
          <p:cNvPr id="6" name="Text 4"/>
          <p:cNvSpPr/>
          <p:nvPr/>
        </p:nvSpPr>
        <p:spPr>
          <a:xfrm>
            <a:off x="859536" y="2423160"/>
            <a:ext cx="4956048" cy="237744"/>
          </a:xfrm>
          <a:prstGeom prst="rect">
            <a:avLst/>
          </a:prstGeom>
          <a:noFill/>
          <a:ln/>
        </p:spPr>
        <p:txBody>
          <a:bodyPr wrap="square" lIns="0" tIns="0" rIns="0" bIns="0" rtlCol="0" anchor="ctr"/>
          <a:lstStyle/>
          <a:p>
            <a:pPr indent="0" marL="0">
              <a:buNone/>
            </a:pPr>
            <a:r>
              <a:rPr lang="en-US" sz="950" b="1" spc="110" kern="0" dirty="0">
                <a:solidFill>
                  <a:srgbClr val="E0559E"/>
                </a:solidFill>
                <a:latin typeface="Calibri" pitchFamily="34" charset="0"/>
                <a:ea typeface="Calibri" pitchFamily="34" charset="-122"/>
                <a:cs typeface="Calibri" pitchFamily="34" charset="-120"/>
              </a:rPr>
              <a:t>WHAT IT IS</a:t>
            </a:r>
            <a:endParaRPr lang="en-US" sz="950" dirty="0"/>
          </a:p>
        </p:txBody>
      </p:sp>
      <p:sp>
        <p:nvSpPr>
          <p:cNvPr id="7" name="Text 5"/>
          <p:cNvSpPr/>
          <p:nvPr/>
        </p:nvSpPr>
        <p:spPr>
          <a:xfrm>
            <a:off x="859536" y="2697480"/>
            <a:ext cx="4956048" cy="1371600"/>
          </a:xfrm>
          <a:prstGeom prst="rect">
            <a:avLst/>
          </a:prstGeom>
          <a:noFill/>
          <a:ln/>
        </p:spPr>
        <p:txBody>
          <a:bodyPr wrap="square" lIns="0" tIns="0" rIns="0" bIns="0" rtlCol="0" anchor="t"/>
          <a:lstStyle/>
          <a:p>
            <a:pPr indent="0" marL="0">
              <a:lnSpc>
                <a:spcPct val="120000"/>
              </a:lnSpc>
              <a:buNone/>
            </a:pPr>
            <a:r>
              <a:rPr lang="en-US" sz="1200" dirty="0">
                <a:solidFill>
                  <a:srgbClr val="93A5C7"/>
                </a:solidFill>
                <a:latin typeface="Calibri" pitchFamily="34" charset="0"/>
                <a:ea typeface="Calibri" pitchFamily="34" charset="-122"/>
                <a:cs typeface="Calibri" pitchFamily="34" charset="-120"/>
              </a:rPr>
              <a:t>The server sets a cookie; your browser returns it on every later request. Other headers carry similar claims — where you came from, what browser you are, what you will accept. All of them are simply text, stored on your machine, and sent by your machine.</a:t>
            </a:r>
            <a:endParaRPr lang="en-US" sz="1200" dirty="0"/>
          </a:p>
        </p:txBody>
      </p:sp>
      <p:sp>
        <p:nvSpPr>
          <p:cNvPr id="8" name="Text 6"/>
          <p:cNvSpPr/>
          <p:nvPr/>
        </p:nvSpPr>
        <p:spPr>
          <a:xfrm>
            <a:off x="859536" y="3959352"/>
            <a:ext cx="4956048" cy="237744"/>
          </a:xfrm>
          <a:prstGeom prst="rect">
            <a:avLst/>
          </a:prstGeom>
          <a:noFill/>
          <a:ln/>
        </p:spPr>
        <p:txBody>
          <a:bodyPr wrap="square" lIns="0" tIns="0" rIns="0" bIns="0" rtlCol="0" anchor="ctr"/>
          <a:lstStyle/>
          <a:p>
            <a:pPr indent="0" marL="0">
              <a:buNone/>
            </a:pPr>
            <a:r>
              <a:rPr lang="en-US" sz="950" b="1" spc="110" kern="0" dirty="0">
                <a:solidFill>
                  <a:srgbClr val="E0559E"/>
                </a:solidFill>
                <a:latin typeface="Calibri" pitchFamily="34" charset="0"/>
                <a:ea typeface="Calibri" pitchFamily="34" charset="-122"/>
                <a:cs typeface="Calibri" pitchFamily="34" charset="-120"/>
              </a:rPr>
              <a:t>WHY IT MATTERS HERE</a:t>
            </a:r>
            <a:endParaRPr lang="en-US" sz="950" dirty="0"/>
          </a:p>
        </p:txBody>
      </p:sp>
      <p:sp>
        <p:nvSpPr>
          <p:cNvPr id="9" name="Text 7"/>
          <p:cNvSpPr/>
          <p:nvPr/>
        </p:nvSpPr>
        <p:spPr>
          <a:xfrm>
            <a:off x="859536" y="4233672"/>
            <a:ext cx="4956048" cy="1371600"/>
          </a:xfrm>
          <a:prstGeom prst="rect">
            <a:avLst/>
          </a:prstGeom>
          <a:noFill/>
          <a:ln/>
        </p:spPr>
        <p:txBody>
          <a:bodyPr wrap="square" lIns="0" tIns="0" rIns="0" bIns="0" rtlCol="0" anchor="t"/>
          <a:lstStyle/>
          <a:p>
            <a:pPr indent="0" marL="0">
              <a:lnSpc>
                <a:spcPct val="120000"/>
              </a:lnSpc>
              <a:buNone/>
            </a:pPr>
            <a:r>
              <a:rPr lang="en-US" sz="1200" dirty="0">
                <a:solidFill>
                  <a:srgbClr val="93A5C7"/>
                </a:solidFill>
                <a:latin typeface="Calibri" pitchFamily="34" charset="0"/>
                <a:ea typeface="Calibri" pitchFamily="34" charset="-122"/>
                <a:cs typeface="Calibri" pitchFamily="34" charset="-120"/>
              </a:rPr>
              <a:t>Anything travelling with the request can be inspected and altered. A value is trustworthy only if the server can verify it independently, not merely because the server received it.</a:t>
            </a:r>
            <a:endParaRPr lang="en-US" sz="1200" dirty="0"/>
          </a:p>
        </p:txBody>
      </p:sp>
      <p:sp>
        <p:nvSpPr>
          <p:cNvPr id="10" name="Shape 8"/>
          <p:cNvSpPr/>
          <p:nvPr/>
        </p:nvSpPr>
        <p:spPr>
          <a:xfrm>
            <a:off x="6382512" y="2148840"/>
            <a:ext cx="5260543" cy="3127248"/>
          </a:xfrm>
          <a:prstGeom prst="roundRect">
            <a:avLst>
              <a:gd name="adj" fmla="val 2632"/>
            </a:avLst>
          </a:prstGeom>
          <a:solidFill>
            <a:srgbClr val="141F30"/>
          </a:solidFill>
          <a:ln/>
        </p:spPr>
      </p:sp>
      <p:sp>
        <p:nvSpPr>
          <p:cNvPr id="11" name="Text 9"/>
          <p:cNvSpPr/>
          <p:nvPr/>
        </p:nvSpPr>
        <p:spPr>
          <a:xfrm>
            <a:off x="6656832" y="2404872"/>
            <a:ext cx="4711903" cy="2615184"/>
          </a:xfrm>
          <a:prstGeom prst="rect">
            <a:avLst/>
          </a:prstGeom>
          <a:noFill/>
          <a:ln/>
        </p:spPr>
        <p:txBody>
          <a:bodyPr wrap="square" lIns="0" tIns="0" rIns="0" bIns="0" rtlCol="0" anchor="t"/>
          <a:lstStyle/>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the server hands you something</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Set-Cookie: role=guest; loggedin=0</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your browser gives it back, every time</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Cookie: role=guest; loggedin=0</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but it is your file, on your disk</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Cookie: role=admin; loggedin=1</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other headers make claims too</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Referer     says where you came from</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User-Agent  says what you are</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neither of them is proof of anything</a:t>
            </a:r>
            <a:endParaRPr lang="en-US" sz="1050" dirty="0"/>
          </a:p>
        </p:txBody>
      </p:sp>
      <p:sp>
        <p:nvSpPr>
          <p:cNvPr id="12" name="Text 10"/>
          <p:cNvSpPr/>
          <p:nvPr/>
        </p:nvSpPr>
        <p:spPr>
          <a:xfrm>
            <a:off x="548640" y="5532120"/>
            <a:ext cx="11094415" cy="274320"/>
          </a:xfrm>
          <a:prstGeom prst="rect">
            <a:avLst/>
          </a:prstGeom>
          <a:noFill/>
          <a:ln/>
        </p:spPr>
        <p:txBody>
          <a:bodyPr wrap="square" lIns="0" tIns="0" rIns="0" bIns="0" rtlCol="0" anchor="ctr"/>
          <a:lstStyle/>
          <a:p>
            <a:pPr indent="0" marL="0">
              <a:buNone/>
            </a:pPr>
            <a:r>
              <a:rPr lang="en-US" sz="1250" i="1" dirty="0">
                <a:solidFill>
                  <a:srgbClr val="E0559E"/>
                </a:solidFill>
                <a:latin typeface="Calibri" pitchFamily="34" charset="0"/>
                <a:ea typeface="Calibri" pitchFamily="34" charset="-122"/>
                <a:cs typeface="Calibri" pitchFamily="34" charset="-120"/>
              </a:rPr>
              <a:t>Received is not the same as verified.</a:t>
            </a:r>
            <a:endParaRPr lang="en-US" sz="1250" dirty="0"/>
          </a:p>
        </p:txBody>
      </p:sp>
      <p:sp>
        <p:nvSpPr>
          <p:cNvPr id="13" name="Text 11"/>
          <p:cNvSpPr/>
          <p:nvPr/>
        </p:nvSpPr>
        <p:spPr>
          <a:xfrm>
            <a:off x="548640" y="6446520"/>
            <a:ext cx="2743200" cy="274320"/>
          </a:xfrm>
          <a:prstGeom prst="rect">
            <a:avLst/>
          </a:prstGeom>
          <a:noFill/>
          <a:ln/>
        </p:spPr>
        <p:txBody>
          <a:bodyPr wrap="square" lIns="0" tIns="0" rIns="0" bIns="0" rtlCol="0" anchor="ctr"/>
          <a:lstStyle/>
          <a:p>
            <a:pPr indent="0" marL="0">
              <a:buNone/>
            </a:pPr>
            <a:r>
              <a:rPr lang="en-US" sz="900" spc="150" kern="0" dirty="0">
                <a:solidFill>
                  <a:srgbClr val="5B6B8C"/>
                </a:solidFill>
                <a:latin typeface="Calibri" pitchFamily="34" charset="0"/>
                <a:ea typeface="Calibri" pitchFamily="34" charset="-122"/>
                <a:cs typeface="Calibri" pitchFamily="34" charset="-120"/>
              </a:rPr>
              <a:t>CEI LABS CTF</a:t>
            </a:r>
            <a:endParaRPr lang="en-US" sz="900" dirty="0"/>
          </a:p>
        </p:txBody>
      </p:sp>
      <p:sp>
        <p:nvSpPr>
          <p:cNvPr id="14" name="Text 12"/>
          <p:cNvSpPr/>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B6B8C"/>
                </a:solidFill>
                <a:latin typeface="Calibri" pitchFamily="34" charset="0"/>
                <a:ea typeface="Calibri" pitchFamily="34" charset="-122"/>
                <a:cs typeface="Calibri" pitchFamily="34" charset="-120"/>
              </a:rPr>
              <a:t>07</a:t>
            </a:r>
            <a:endParaRPr lang="en-US" sz="900" dirty="0"/>
          </a:p>
        </p:txBody>
      </p:sp>
    </p:spTree>
  </p:cSld>
  <p:clrMapOvr>
    <a:masterClrMapping/>
  </p:clrMapOvr>
  <p:transition spd="med" advClick="1">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57200"/>
            <a:ext cx="11094415" cy="274320"/>
          </a:xfrm>
          <a:prstGeom prst="rect">
            <a:avLst/>
          </a:prstGeom>
          <a:noFill/>
          <a:ln/>
        </p:spPr>
        <p:txBody>
          <a:bodyPr wrap="square" lIns="0" tIns="0" rIns="0" bIns="0" rtlCol="0" anchor="ctr"/>
          <a:lstStyle/>
          <a:p>
            <a:pPr indent="0" marL="0">
              <a:buNone/>
            </a:pPr>
            <a:r>
              <a:rPr lang="en-US" sz="1100" b="1" spc="120" kern="0" dirty="0">
                <a:solidFill>
                  <a:srgbClr val="E0559E"/>
                </a:solidFill>
                <a:latin typeface="Calibri" pitchFamily="34" charset="0"/>
                <a:ea typeface="Calibri" pitchFamily="34" charset="-122"/>
                <a:cs typeface="Calibri" pitchFamily="34" charset="-120"/>
              </a:rPr>
              <a:t>THEORY  05 / 07</a:t>
            </a:r>
            <a:endParaRPr lang="en-US" sz="1100" dirty="0"/>
          </a:p>
        </p:txBody>
      </p:sp>
      <p:sp>
        <p:nvSpPr>
          <p:cNvPr id="3" name="Text 1"/>
          <p:cNvSpPr/>
          <p:nvPr/>
        </p:nvSpPr>
        <p:spPr>
          <a:xfrm>
            <a:off x="548640" y="749808"/>
            <a:ext cx="11094415" cy="566928"/>
          </a:xfrm>
          <a:prstGeom prst="rect">
            <a:avLst/>
          </a:prstGeom>
          <a:noFill/>
          <a:ln/>
        </p:spPr>
        <p:txBody>
          <a:bodyPr wrap="square" lIns="0" tIns="0" rIns="0" bIns="0" rtlCol="0" anchor="ctr"/>
          <a:lstStyle/>
          <a:p>
            <a:pPr indent="0" marL="0">
              <a:buNone/>
            </a:pPr>
            <a:r>
              <a:rPr lang="en-US" sz="3200" b="1" dirty="0">
                <a:solidFill>
                  <a:srgbClr val="F4F6FB"/>
                </a:solidFill>
                <a:latin typeface="Cambria" pitchFamily="34" charset="0"/>
                <a:ea typeface="Cambria" pitchFamily="34" charset="-122"/>
                <a:cs typeface="Cambria" pitchFamily="34" charset="-120"/>
              </a:rPr>
              <a:t>Input that becomes instruction</a:t>
            </a:r>
            <a:endParaRPr lang="en-US" sz="3200" dirty="0"/>
          </a:p>
        </p:txBody>
      </p:sp>
      <p:sp>
        <p:nvSpPr>
          <p:cNvPr id="4" name="Text 2"/>
          <p:cNvSpPr/>
          <p:nvPr/>
        </p:nvSpPr>
        <p:spPr>
          <a:xfrm>
            <a:off x="548640" y="1389888"/>
            <a:ext cx="9814255" cy="475488"/>
          </a:xfrm>
          <a:prstGeom prst="rect">
            <a:avLst/>
          </a:prstGeom>
          <a:noFill/>
          <a:ln/>
        </p:spPr>
        <p:txBody>
          <a:bodyPr wrap="square" lIns="0" tIns="0" rIns="0" bIns="0" rtlCol="0" anchor="ctr"/>
          <a:lstStyle/>
          <a:p>
            <a:pPr indent="0" marL="0">
              <a:lnSpc>
                <a:spcPct val="115000"/>
              </a:lnSpc>
              <a:buNone/>
            </a:pPr>
            <a:r>
              <a:rPr lang="en-US" sz="1300" dirty="0">
                <a:solidFill>
                  <a:srgbClr val="93A5C7"/>
                </a:solidFill>
                <a:latin typeface="Calibri" pitchFamily="34" charset="0"/>
                <a:ea typeface="Calibri" pitchFamily="34" charset="-122"/>
                <a:cs typeface="Calibri" pitchFamily="34" charset="-120"/>
              </a:rPr>
              <a:t>The bug appears when a value supplied as data gets executed as a command.</a:t>
            </a:r>
            <a:endParaRPr lang="en-US" sz="1300" dirty="0"/>
          </a:p>
        </p:txBody>
      </p:sp>
      <p:sp>
        <p:nvSpPr>
          <p:cNvPr id="5" name="Shape 3"/>
          <p:cNvSpPr/>
          <p:nvPr/>
        </p:nvSpPr>
        <p:spPr>
          <a:xfrm>
            <a:off x="548640" y="2148840"/>
            <a:ext cx="5577840" cy="3127248"/>
          </a:xfrm>
          <a:prstGeom prst="roundRect">
            <a:avLst>
              <a:gd name="adj" fmla="val 2632"/>
            </a:avLst>
          </a:prstGeom>
          <a:solidFill>
            <a:srgbClr val="141F30"/>
          </a:solidFill>
          <a:ln/>
        </p:spPr>
      </p:sp>
      <p:sp>
        <p:nvSpPr>
          <p:cNvPr id="6" name="Text 4"/>
          <p:cNvSpPr/>
          <p:nvPr/>
        </p:nvSpPr>
        <p:spPr>
          <a:xfrm>
            <a:off x="859536" y="2423160"/>
            <a:ext cx="4956048" cy="237744"/>
          </a:xfrm>
          <a:prstGeom prst="rect">
            <a:avLst/>
          </a:prstGeom>
          <a:noFill/>
          <a:ln/>
        </p:spPr>
        <p:txBody>
          <a:bodyPr wrap="square" lIns="0" tIns="0" rIns="0" bIns="0" rtlCol="0" anchor="ctr"/>
          <a:lstStyle/>
          <a:p>
            <a:pPr indent="0" marL="0">
              <a:buNone/>
            </a:pPr>
            <a:r>
              <a:rPr lang="en-US" sz="950" b="1" spc="110" kern="0" dirty="0">
                <a:solidFill>
                  <a:srgbClr val="E0559E"/>
                </a:solidFill>
                <a:latin typeface="Calibri" pitchFamily="34" charset="0"/>
                <a:ea typeface="Calibri" pitchFamily="34" charset="-122"/>
                <a:cs typeface="Calibri" pitchFamily="34" charset="-120"/>
              </a:rPr>
              <a:t>WHAT IT IS</a:t>
            </a:r>
            <a:endParaRPr lang="en-US" sz="950" dirty="0"/>
          </a:p>
        </p:txBody>
      </p:sp>
      <p:sp>
        <p:nvSpPr>
          <p:cNvPr id="7" name="Text 5"/>
          <p:cNvSpPr/>
          <p:nvPr/>
        </p:nvSpPr>
        <p:spPr>
          <a:xfrm>
            <a:off x="859536" y="2697480"/>
            <a:ext cx="4956048" cy="1371600"/>
          </a:xfrm>
          <a:prstGeom prst="rect">
            <a:avLst/>
          </a:prstGeom>
          <a:noFill/>
          <a:ln/>
        </p:spPr>
        <p:txBody>
          <a:bodyPr wrap="square" lIns="0" tIns="0" rIns="0" bIns="0" rtlCol="0" anchor="t"/>
          <a:lstStyle/>
          <a:p>
            <a:pPr indent="0" marL="0">
              <a:lnSpc>
                <a:spcPct val="120000"/>
              </a:lnSpc>
              <a:buNone/>
            </a:pPr>
            <a:r>
              <a:rPr lang="en-US" sz="1200" dirty="0">
                <a:solidFill>
                  <a:srgbClr val="93A5C7"/>
                </a:solidFill>
                <a:latin typeface="Calibri" pitchFamily="34" charset="0"/>
                <a:ea typeface="Calibri" pitchFamily="34" charset="-122"/>
                <a:cs typeface="Calibri" pitchFamily="34" charset="-120"/>
              </a:rPr>
              <a:t>A program builds a command or a query by pasting a value into the middle of a string. To the program it is one piece of text. To whatever interprets that text afterwards, part of it is a value and part is syntax — so if the supplied value contains syntax, it stops being data.</a:t>
            </a:r>
            <a:endParaRPr lang="en-US" sz="1200" dirty="0"/>
          </a:p>
        </p:txBody>
      </p:sp>
      <p:sp>
        <p:nvSpPr>
          <p:cNvPr id="8" name="Text 6"/>
          <p:cNvSpPr/>
          <p:nvPr/>
        </p:nvSpPr>
        <p:spPr>
          <a:xfrm>
            <a:off x="859536" y="3959352"/>
            <a:ext cx="4956048" cy="237744"/>
          </a:xfrm>
          <a:prstGeom prst="rect">
            <a:avLst/>
          </a:prstGeom>
          <a:noFill/>
          <a:ln/>
        </p:spPr>
        <p:txBody>
          <a:bodyPr wrap="square" lIns="0" tIns="0" rIns="0" bIns="0" rtlCol="0" anchor="ctr"/>
          <a:lstStyle/>
          <a:p>
            <a:pPr indent="0" marL="0">
              <a:buNone/>
            </a:pPr>
            <a:r>
              <a:rPr lang="en-US" sz="950" b="1" spc="110" kern="0" dirty="0">
                <a:solidFill>
                  <a:srgbClr val="E0559E"/>
                </a:solidFill>
                <a:latin typeface="Calibri" pitchFamily="34" charset="0"/>
                <a:ea typeface="Calibri" pitchFamily="34" charset="-122"/>
                <a:cs typeface="Calibri" pitchFamily="34" charset="-120"/>
              </a:rPr>
              <a:t>WHY IT MATTERS HERE</a:t>
            </a:r>
            <a:endParaRPr lang="en-US" sz="950" dirty="0"/>
          </a:p>
        </p:txBody>
      </p:sp>
      <p:sp>
        <p:nvSpPr>
          <p:cNvPr id="9" name="Text 7"/>
          <p:cNvSpPr/>
          <p:nvPr/>
        </p:nvSpPr>
        <p:spPr>
          <a:xfrm>
            <a:off x="859536" y="4233672"/>
            <a:ext cx="4956048" cy="1371600"/>
          </a:xfrm>
          <a:prstGeom prst="rect">
            <a:avLst/>
          </a:prstGeom>
          <a:noFill/>
          <a:ln/>
        </p:spPr>
        <p:txBody>
          <a:bodyPr wrap="square" lIns="0" tIns="0" rIns="0" bIns="0" rtlCol="0" anchor="t"/>
          <a:lstStyle/>
          <a:p>
            <a:pPr indent="0" marL="0">
              <a:lnSpc>
                <a:spcPct val="120000"/>
              </a:lnSpc>
              <a:buNone/>
            </a:pPr>
            <a:r>
              <a:rPr lang="en-US" sz="1200" dirty="0">
                <a:solidFill>
                  <a:srgbClr val="93A5C7"/>
                </a:solidFill>
                <a:latin typeface="Calibri" pitchFamily="34" charset="0"/>
                <a:ea typeface="Calibri" pitchFamily="34" charset="-122"/>
                <a:cs typeface="Calibri" pitchFamily="34" charset="-120"/>
              </a:rPr>
              <a:t>This single shape explains command injection, SQL injection and most of the second half of this track. Filtering particular characters is a patch on the symptom; not building instructions out of input at all is the actual fix.</a:t>
            </a:r>
            <a:endParaRPr lang="en-US" sz="1200" dirty="0"/>
          </a:p>
        </p:txBody>
      </p:sp>
      <p:sp>
        <p:nvSpPr>
          <p:cNvPr id="10" name="Shape 8"/>
          <p:cNvSpPr/>
          <p:nvPr/>
        </p:nvSpPr>
        <p:spPr>
          <a:xfrm>
            <a:off x="6382512" y="2148840"/>
            <a:ext cx="5260543" cy="3127248"/>
          </a:xfrm>
          <a:prstGeom prst="roundRect">
            <a:avLst>
              <a:gd name="adj" fmla="val 2632"/>
            </a:avLst>
          </a:prstGeom>
          <a:solidFill>
            <a:srgbClr val="141F30"/>
          </a:solidFill>
          <a:ln/>
        </p:spPr>
      </p:sp>
      <p:sp>
        <p:nvSpPr>
          <p:cNvPr id="11" name="Text 9"/>
          <p:cNvSpPr/>
          <p:nvPr/>
        </p:nvSpPr>
        <p:spPr>
          <a:xfrm>
            <a:off x="6656832" y="2404872"/>
            <a:ext cx="4711903" cy="2615184"/>
          </a:xfrm>
          <a:prstGeom prst="rect">
            <a:avLst/>
          </a:prstGeom>
          <a:noFill/>
          <a:ln/>
        </p:spPr>
        <p:txBody>
          <a:bodyPr wrap="square" lIns="0" tIns="0" rIns="0" bIns="0" rtlCol="0" anchor="t"/>
          <a:lstStyle/>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the developer's mental model</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run("ping " + userInput)</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command       a hostname</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what usually runs</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ping 127.0.0.1</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what a shell also understands</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ping 127.0.0.1 ; whoami</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 no longer a hostname</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same shape, different interpreter</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SELECT * FROM t WHERE n = 'value'</a:t>
            </a:r>
            <a:endParaRPr lang="en-US" sz="1050" dirty="0"/>
          </a:p>
        </p:txBody>
      </p:sp>
      <p:sp>
        <p:nvSpPr>
          <p:cNvPr id="12" name="Text 10"/>
          <p:cNvSpPr/>
          <p:nvPr/>
        </p:nvSpPr>
        <p:spPr>
          <a:xfrm>
            <a:off x="548640" y="5532120"/>
            <a:ext cx="11094415" cy="274320"/>
          </a:xfrm>
          <a:prstGeom prst="rect">
            <a:avLst/>
          </a:prstGeom>
          <a:noFill/>
          <a:ln/>
        </p:spPr>
        <p:txBody>
          <a:bodyPr wrap="square" lIns="0" tIns="0" rIns="0" bIns="0" rtlCol="0" anchor="ctr"/>
          <a:lstStyle/>
          <a:p>
            <a:pPr indent="0" marL="0">
              <a:buNone/>
            </a:pPr>
            <a:r>
              <a:rPr lang="en-US" sz="1250" i="1" dirty="0">
                <a:solidFill>
                  <a:srgbClr val="E0559E"/>
                </a:solidFill>
                <a:latin typeface="Calibri" pitchFamily="34" charset="0"/>
                <a:ea typeface="Calibri" pitchFamily="34" charset="-122"/>
                <a:cs typeface="Calibri" pitchFamily="34" charset="-120"/>
              </a:rPr>
              <a:t>Ask on every level: where does my text stop being text?</a:t>
            </a:r>
            <a:endParaRPr lang="en-US" sz="1250" dirty="0"/>
          </a:p>
        </p:txBody>
      </p:sp>
      <p:sp>
        <p:nvSpPr>
          <p:cNvPr id="13" name="Text 11"/>
          <p:cNvSpPr/>
          <p:nvPr/>
        </p:nvSpPr>
        <p:spPr>
          <a:xfrm>
            <a:off x="548640" y="6446520"/>
            <a:ext cx="2743200" cy="274320"/>
          </a:xfrm>
          <a:prstGeom prst="rect">
            <a:avLst/>
          </a:prstGeom>
          <a:noFill/>
          <a:ln/>
        </p:spPr>
        <p:txBody>
          <a:bodyPr wrap="square" lIns="0" tIns="0" rIns="0" bIns="0" rtlCol="0" anchor="ctr"/>
          <a:lstStyle/>
          <a:p>
            <a:pPr indent="0" marL="0">
              <a:buNone/>
            </a:pPr>
            <a:r>
              <a:rPr lang="en-US" sz="900" spc="150" kern="0" dirty="0">
                <a:solidFill>
                  <a:srgbClr val="5B6B8C"/>
                </a:solidFill>
                <a:latin typeface="Calibri" pitchFamily="34" charset="0"/>
                <a:ea typeface="Calibri" pitchFamily="34" charset="-122"/>
                <a:cs typeface="Calibri" pitchFamily="34" charset="-120"/>
              </a:rPr>
              <a:t>CEI LABS CTF</a:t>
            </a:r>
            <a:endParaRPr lang="en-US" sz="900" dirty="0"/>
          </a:p>
        </p:txBody>
      </p:sp>
      <p:sp>
        <p:nvSpPr>
          <p:cNvPr id="14" name="Text 12"/>
          <p:cNvSpPr/>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B6B8C"/>
                </a:solidFill>
                <a:latin typeface="Calibri" pitchFamily="34" charset="0"/>
                <a:ea typeface="Calibri" pitchFamily="34" charset="-122"/>
                <a:cs typeface="Calibri" pitchFamily="34" charset="-120"/>
              </a:rPr>
              <a:t>08</a:t>
            </a:r>
            <a:endParaRPr lang="en-US" sz="900" dirty="0"/>
          </a:p>
        </p:txBody>
      </p:sp>
    </p:spTree>
  </p:cSld>
  <p:clrMapOvr>
    <a:masterClrMapping/>
  </p:clrMapOvr>
  <p:transition spd="med" advClick="1">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57200"/>
            <a:ext cx="11094415" cy="274320"/>
          </a:xfrm>
          <a:prstGeom prst="rect">
            <a:avLst/>
          </a:prstGeom>
          <a:noFill/>
          <a:ln/>
        </p:spPr>
        <p:txBody>
          <a:bodyPr wrap="square" lIns="0" tIns="0" rIns="0" bIns="0" rtlCol="0" anchor="ctr"/>
          <a:lstStyle/>
          <a:p>
            <a:pPr indent="0" marL="0">
              <a:buNone/>
            </a:pPr>
            <a:r>
              <a:rPr lang="en-US" sz="1100" b="1" spc="120" kern="0" dirty="0">
                <a:solidFill>
                  <a:srgbClr val="E0559E"/>
                </a:solidFill>
                <a:latin typeface="Calibri" pitchFamily="34" charset="0"/>
                <a:ea typeface="Calibri" pitchFamily="34" charset="-122"/>
                <a:cs typeface="Calibri" pitchFamily="34" charset="-120"/>
              </a:rPr>
              <a:t>THEORY  06 / 07</a:t>
            </a:r>
            <a:endParaRPr lang="en-US" sz="1100" dirty="0"/>
          </a:p>
        </p:txBody>
      </p:sp>
      <p:sp>
        <p:nvSpPr>
          <p:cNvPr id="3" name="Text 1"/>
          <p:cNvSpPr/>
          <p:nvPr/>
        </p:nvSpPr>
        <p:spPr>
          <a:xfrm>
            <a:off x="548640" y="749808"/>
            <a:ext cx="11094415" cy="566928"/>
          </a:xfrm>
          <a:prstGeom prst="rect">
            <a:avLst/>
          </a:prstGeom>
          <a:noFill/>
          <a:ln/>
        </p:spPr>
        <p:txBody>
          <a:bodyPr wrap="square" lIns="0" tIns="0" rIns="0" bIns="0" rtlCol="0" anchor="ctr"/>
          <a:lstStyle/>
          <a:p>
            <a:pPr indent="0" marL="0">
              <a:buNone/>
            </a:pPr>
            <a:r>
              <a:rPr lang="en-US" sz="3200" b="1" dirty="0">
                <a:solidFill>
                  <a:srgbClr val="F4F6FB"/>
                </a:solidFill>
                <a:latin typeface="Cambria" pitchFamily="34" charset="0"/>
                <a:ea typeface="Cambria" pitchFamily="34" charset="-122"/>
                <a:cs typeface="Cambria" pitchFamily="34" charset="-120"/>
              </a:rPr>
              <a:t>Reversible is not secret</a:t>
            </a:r>
            <a:endParaRPr lang="en-US" sz="3200" dirty="0"/>
          </a:p>
        </p:txBody>
      </p:sp>
      <p:sp>
        <p:nvSpPr>
          <p:cNvPr id="4" name="Text 2"/>
          <p:cNvSpPr/>
          <p:nvPr/>
        </p:nvSpPr>
        <p:spPr>
          <a:xfrm>
            <a:off x="548640" y="1389888"/>
            <a:ext cx="9814255" cy="475488"/>
          </a:xfrm>
          <a:prstGeom prst="rect">
            <a:avLst/>
          </a:prstGeom>
          <a:noFill/>
          <a:ln/>
        </p:spPr>
        <p:txBody>
          <a:bodyPr wrap="square" lIns="0" tIns="0" rIns="0" bIns="0" rtlCol="0" anchor="ctr"/>
          <a:lstStyle/>
          <a:p>
            <a:pPr indent="0" marL="0">
              <a:lnSpc>
                <a:spcPct val="115000"/>
              </a:lnSpc>
              <a:buNone/>
            </a:pPr>
            <a:r>
              <a:rPr lang="en-US" sz="1300" dirty="0">
                <a:solidFill>
                  <a:srgbClr val="93A5C7"/>
                </a:solidFill>
                <a:latin typeface="Calibri" pitchFamily="34" charset="0"/>
                <a:ea typeface="Calibri" pitchFamily="34" charset="-122"/>
                <a:cs typeface="Calibri" pitchFamily="34" charset="-120"/>
              </a:rPr>
              <a:t>If it can be undone with what you already hold, it protects nothing.</a:t>
            </a:r>
            <a:endParaRPr lang="en-US" sz="1300" dirty="0"/>
          </a:p>
        </p:txBody>
      </p:sp>
      <p:sp>
        <p:nvSpPr>
          <p:cNvPr id="5" name="Shape 3"/>
          <p:cNvSpPr/>
          <p:nvPr/>
        </p:nvSpPr>
        <p:spPr>
          <a:xfrm>
            <a:off x="548640" y="2148840"/>
            <a:ext cx="5577840" cy="3127248"/>
          </a:xfrm>
          <a:prstGeom prst="roundRect">
            <a:avLst>
              <a:gd name="adj" fmla="val 2632"/>
            </a:avLst>
          </a:prstGeom>
          <a:solidFill>
            <a:srgbClr val="141F30"/>
          </a:solidFill>
          <a:ln/>
        </p:spPr>
      </p:sp>
      <p:sp>
        <p:nvSpPr>
          <p:cNvPr id="6" name="Text 4"/>
          <p:cNvSpPr/>
          <p:nvPr/>
        </p:nvSpPr>
        <p:spPr>
          <a:xfrm>
            <a:off x="859536" y="2423160"/>
            <a:ext cx="4956048" cy="237744"/>
          </a:xfrm>
          <a:prstGeom prst="rect">
            <a:avLst/>
          </a:prstGeom>
          <a:noFill/>
          <a:ln/>
        </p:spPr>
        <p:txBody>
          <a:bodyPr wrap="square" lIns="0" tIns="0" rIns="0" bIns="0" rtlCol="0" anchor="ctr"/>
          <a:lstStyle/>
          <a:p>
            <a:pPr indent="0" marL="0">
              <a:buNone/>
            </a:pPr>
            <a:r>
              <a:rPr lang="en-US" sz="950" b="1" spc="110" kern="0" dirty="0">
                <a:solidFill>
                  <a:srgbClr val="E0559E"/>
                </a:solidFill>
                <a:latin typeface="Calibri" pitchFamily="34" charset="0"/>
                <a:ea typeface="Calibri" pitchFamily="34" charset="-122"/>
                <a:cs typeface="Calibri" pitchFamily="34" charset="-120"/>
              </a:rPr>
              <a:t>WHAT IT IS</a:t>
            </a:r>
            <a:endParaRPr lang="en-US" sz="950" dirty="0"/>
          </a:p>
        </p:txBody>
      </p:sp>
      <p:sp>
        <p:nvSpPr>
          <p:cNvPr id="7" name="Text 5"/>
          <p:cNvSpPr/>
          <p:nvPr/>
        </p:nvSpPr>
        <p:spPr>
          <a:xfrm>
            <a:off x="859536" y="2697480"/>
            <a:ext cx="4956048" cy="1371600"/>
          </a:xfrm>
          <a:prstGeom prst="rect">
            <a:avLst/>
          </a:prstGeom>
          <a:noFill/>
          <a:ln/>
        </p:spPr>
        <p:txBody>
          <a:bodyPr wrap="square" lIns="0" tIns="0" rIns="0" bIns="0" rtlCol="0" anchor="t"/>
          <a:lstStyle/>
          <a:p>
            <a:pPr indent="0" marL="0">
              <a:lnSpc>
                <a:spcPct val="120000"/>
              </a:lnSpc>
              <a:buNone/>
            </a:pPr>
            <a:r>
              <a:rPr lang="en-US" sz="1200" dirty="0">
                <a:solidFill>
                  <a:srgbClr val="93A5C7"/>
                </a:solidFill>
                <a:latin typeface="Calibri" pitchFamily="34" charset="0"/>
                <a:ea typeface="Calibri" pitchFamily="34" charset="-122"/>
                <a:cs typeface="Calibri" pitchFamily="34" charset="-120"/>
              </a:rPr>
              <a:t>Encoding, compression and XOR against a fixed value all transform data without keeping a secret. XOR is its own inverse, so if you can obtain a single matching pair of before and after, the key falls straight out of it.</a:t>
            </a:r>
            <a:endParaRPr lang="en-US" sz="1200" dirty="0"/>
          </a:p>
        </p:txBody>
      </p:sp>
      <p:sp>
        <p:nvSpPr>
          <p:cNvPr id="8" name="Text 6"/>
          <p:cNvSpPr/>
          <p:nvPr/>
        </p:nvSpPr>
        <p:spPr>
          <a:xfrm>
            <a:off x="859536" y="3959352"/>
            <a:ext cx="4956048" cy="237744"/>
          </a:xfrm>
          <a:prstGeom prst="rect">
            <a:avLst/>
          </a:prstGeom>
          <a:noFill/>
          <a:ln/>
        </p:spPr>
        <p:txBody>
          <a:bodyPr wrap="square" lIns="0" tIns="0" rIns="0" bIns="0" rtlCol="0" anchor="ctr"/>
          <a:lstStyle/>
          <a:p>
            <a:pPr indent="0" marL="0">
              <a:buNone/>
            </a:pPr>
            <a:r>
              <a:rPr lang="en-US" sz="950" b="1" spc="110" kern="0" dirty="0">
                <a:solidFill>
                  <a:srgbClr val="E0559E"/>
                </a:solidFill>
                <a:latin typeface="Calibri" pitchFamily="34" charset="0"/>
                <a:ea typeface="Calibri" pitchFamily="34" charset="-122"/>
                <a:cs typeface="Calibri" pitchFamily="34" charset="-120"/>
              </a:rPr>
              <a:t>WHY IT MATTERS HERE</a:t>
            </a:r>
            <a:endParaRPr lang="en-US" sz="950" dirty="0"/>
          </a:p>
        </p:txBody>
      </p:sp>
      <p:sp>
        <p:nvSpPr>
          <p:cNvPr id="9" name="Text 7"/>
          <p:cNvSpPr/>
          <p:nvPr/>
        </p:nvSpPr>
        <p:spPr>
          <a:xfrm>
            <a:off x="859536" y="4233672"/>
            <a:ext cx="4956048" cy="1371600"/>
          </a:xfrm>
          <a:prstGeom prst="rect">
            <a:avLst/>
          </a:prstGeom>
          <a:noFill/>
          <a:ln/>
        </p:spPr>
        <p:txBody>
          <a:bodyPr wrap="square" lIns="0" tIns="0" rIns="0" bIns="0" rtlCol="0" anchor="t"/>
          <a:lstStyle/>
          <a:p>
            <a:pPr indent="0" marL="0">
              <a:lnSpc>
                <a:spcPct val="120000"/>
              </a:lnSpc>
              <a:buNone/>
            </a:pPr>
            <a:r>
              <a:rPr lang="en-US" sz="1200" dirty="0">
                <a:solidFill>
                  <a:srgbClr val="93A5C7"/>
                </a:solidFill>
                <a:latin typeface="Calibri" pitchFamily="34" charset="0"/>
                <a:ea typeface="Calibri" pitchFamily="34" charset="-122"/>
                <a:cs typeface="Calibri" pitchFamily="34" charset="-120"/>
              </a:rPr>
              <a:t>Home-made "encryption" in web applications is nearly always one of these. Recognising a merely reversible transformation stops you treating it as a wall and spending an hour on it.</a:t>
            </a:r>
            <a:endParaRPr lang="en-US" sz="1200" dirty="0"/>
          </a:p>
        </p:txBody>
      </p:sp>
      <p:sp>
        <p:nvSpPr>
          <p:cNvPr id="10" name="Shape 8"/>
          <p:cNvSpPr/>
          <p:nvPr/>
        </p:nvSpPr>
        <p:spPr>
          <a:xfrm>
            <a:off x="6382512" y="2148840"/>
            <a:ext cx="5260543" cy="3127248"/>
          </a:xfrm>
          <a:prstGeom prst="roundRect">
            <a:avLst>
              <a:gd name="adj" fmla="val 2632"/>
            </a:avLst>
          </a:prstGeom>
          <a:solidFill>
            <a:srgbClr val="141F30"/>
          </a:solidFill>
          <a:ln/>
        </p:spPr>
      </p:sp>
      <p:sp>
        <p:nvSpPr>
          <p:cNvPr id="11" name="Text 9"/>
          <p:cNvSpPr/>
          <p:nvPr/>
        </p:nvSpPr>
        <p:spPr>
          <a:xfrm>
            <a:off x="6656832" y="2404872"/>
            <a:ext cx="4711903" cy="2615184"/>
          </a:xfrm>
          <a:prstGeom prst="rect">
            <a:avLst/>
          </a:prstGeom>
          <a:noFill/>
          <a:ln/>
        </p:spPr>
        <p:txBody>
          <a:bodyPr wrap="square" lIns="0" tIns="0" rIns="0" bIns="0" rtlCol="0" anchor="t"/>
          <a:lstStyle/>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XOR is its own inverse</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data      XOR key  =  scrambled</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scrambled XOR key  =  data</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and given any matching pair</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data XOR scrambled =  key</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 the key itself</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signs there is no real secret</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output length equals input length</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the same input always gives the same</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the transformation is in the source</a:t>
            </a:r>
            <a:endParaRPr lang="en-US" sz="1050" dirty="0"/>
          </a:p>
        </p:txBody>
      </p:sp>
      <p:sp>
        <p:nvSpPr>
          <p:cNvPr id="12" name="Text 10"/>
          <p:cNvSpPr/>
          <p:nvPr/>
        </p:nvSpPr>
        <p:spPr>
          <a:xfrm>
            <a:off x="548640" y="5532120"/>
            <a:ext cx="11094415" cy="274320"/>
          </a:xfrm>
          <a:prstGeom prst="rect">
            <a:avLst/>
          </a:prstGeom>
          <a:noFill/>
          <a:ln/>
        </p:spPr>
        <p:txBody>
          <a:bodyPr wrap="square" lIns="0" tIns="0" rIns="0" bIns="0" rtlCol="0" anchor="ctr"/>
          <a:lstStyle/>
          <a:p>
            <a:pPr indent="0" marL="0">
              <a:buNone/>
            </a:pPr>
            <a:r>
              <a:rPr lang="en-US" sz="1250" i="1" dirty="0">
                <a:solidFill>
                  <a:srgbClr val="E0559E"/>
                </a:solidFill>
                <a:latin typeface="Calibri" pitchFamily="34" charset="0"/>
                <a:ea typeface="Calibri" pitchFamily="34" charset="-122"/>
                <a:cs typeface="Calibri" pitchFamily="34" charset="-120"/>
              </a:rPr>
              <a:t>Scrambled and secret are not the same property.</a:t>
            </a:r>
            <a:endParaRPr lang="en-US" sz="1250" dirty="0"/>
          </a:p>
        </p:txBody>
      </p:sp>
      <p:sp>
        <p:nvSpPr>
          <p:cNvPr id="13" name="Text 11"/>
          <p:cNvSpPr/>
          <p:nvPr/>
        </p:nvSpPr>
        <p:spPr>
          <a:xfrm>
            <a:off x="548640" y="6446520"/>
            <a:ext cx="2743200" cy="274320"/>
          </a:xfrm>
          <a:prstGeom prst="rect">
            <a:avLst/>
          </a:prstGeom>
          <a:noFill/>
          <a:ln/>
        </p:spPr>
        <p:txBody>
          <a:bodyPr wrap="square" lIns="0" tIns="0" rIns="0" bIns="0" rtlCol="0" anchor="ctr"/>
          <a:lstStyle/>
          <a:p>
            <a:pPr indent="0" marL="0">
              <a:buNone/>
            </a:pPr>
            <a:r>
              <a:rPr lang="en-US" sz="900" spc="150" kern="0" dirty="0">
                <a:solidFill>
                  <a:srgbClr val="5B6B8C"/>
                </a:solidFill>
                <a:latin typeface="Calibri" pitchFamily="34" charset="0"/>
                <a:ea typeface="Calibri" pitchFamily="34" charset="-122"/>
                <a:cs typeface="Calibri" pitchFamily="34" charset="-120"/>
              </a:rPr>
              <a:t>CEI LABS CTF</a:t>
            </a:r>
            <a:endParaRPr lang="en-US" sz="900" dirty="0"/>
          </a:p>
        </p:txBody>
      </p:sp>
      <p:sp>
        <p:nvSpPr>
          <p:cNvPr id="14" name="Text 12"/>
          <p:cNvSpPr/>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B6B8C"/>
                </a:solidFill>
                <a:latin typeface="Calibri" pitchFamily="34" charset="0"/>
                <a:ea typeface="Calibri" pitchFamily="34" charset="-122"/>
                <a:cs typeface="Calibri" pitchFamily="34" charset="-120"/>
              </a:rPr>
              <a:t>09</a:t>
            </a:r>
            <a:endParaRPr lang="en-US" sz="900" dirty="0"/>
          </a:p>
        </p:txBody>
      </p:sp>
    </p:spTree>
  </p:cSld>
  <p:clrMapOvr>
    <a:masterClrMapping/>
  </p:clrMapOvr>
  <p:transition spd="med" advClick="1">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57200"/>
            <a:ext cx="11094415" cy="274320"/>
          </a:xfrm>
          <a:prstGeom prst="rect">
            <a:avLst/>
          </a:prstGeom>
          <a:noFill/>
          <a:ln/>
        </p:spPr>
        <p:txBody>
          <a:bodyPr wrap="square" lIns="0" tIns="0" rIns="0" bIns="0" rtlCol="0" anchor="ctr"/>
          <a:lstStyle/>
          <a:p>
            <a:pPr indent="0" marL="0">
              <a:buNone/>
            </a:pPr>
            <a:r>
              <a:rPr lang="en-US" sz="1100" b="1" spc="120" kern="0" dirty="0">
                <a:solidFill>
                  <a:srgbClr val="E0559E"/>
                </a:solidFill>
                <a:latin typeface="Calibri" pitchFamily="34" charset="0"/>
                <a:ea typeface="Calibri" pitchFamily="34" charset="-122"/>
                <a:cs typeface="Calibri" pitchFamily="34" charset="-120"/>
              </a:rPr>
              <a:t>THEORY  07 / 07</a:t>
            </a:r>
            <a:endParaRPr lang="en-US" sz="1100" dirty="0"/>
          </a:p>
        </p:txBody>
      </p:sp>
      <p:sp>
        <p:nvSpPr>
          <p:cNvPr id="3" name="Text 1"/>
          <p:cNvSpPr/>
          <p:nvPr/>
        </p:nvSpPr>
        <p:spPr>
          <a:xfrm>
            <a:off x="548640" y="749808"/>
            <a:ext cx="11094415" cy="566928"/>
          </a:xfrm>
          <a:prstGeom prst="rect">
            <a:avLst/>
          </a:prstGeom>
          <a:noFill/>
          <a:ln/>
        </p:spPr>
        <p:txBody>
          <a:bodyPr wrap="square" lIns="0" tIns="0" rIns="0" bIns="0" rtlCol="0" anchor="ctr"/>
          <a:lstStyle/>
          <a:p>
            <a:pPr indent="0" marL="0">
              <a:buNone/>
            </a:pPr>
            <a:r>
              <a:rPr lang="en-US" sz="3200" b="1" dirty="0">
                <a:solidFill>
                  <a:srgbClr val="F4F6FB"/>
                </a:solidFill>
                <a:latin typeface="Cambria" pitchFamily="34" charset="0"/>
                <a:ea typeface="Cambria" pitchFamily="34" charset="-122"/>
                <a:cs typeface="Cambria" pitchFamily="34" charset="-120"/>
              </a:rPr>
              <a:t>The data layer</a:t>
            </a:r>
            <a:endParaRPr lang="en-US" sz="3200" dirty="0"/>
          </a:p>
        </p:txBody>
      </p:sp>
      <p:sp>
        <p:nvSpPr>
          <p:cNvPr id="4" name="Text 2"/>
          <p:cNvSpPr/>
          <p:nvPr/>
        </p:nvSpPr>
        <p:spPr>
          <a:xfrm>
            <a:off x="548640" y="1389888"/>
            <a:ext cx="9814255" cy="475488"/>
          </a:xfrm>
          <a:prstGeom prst="rect">
            <a:avLst/>
          </a:prstGeom>
          <a:noFill/>
          <a:ln/>
        </p:spPr>
        <p:txBody>
          <a:bodyPr wrap="square" lIns="0" tIns="0" rIns="0" bIns="0" rtlCol="0" anchor="ctr"/>
          <a:lstStyle/>
          <a:p>
            <a:pPr indent="0" marL="0">
              <a:lnSpc>
                <a:spcPct val="115000"/>
              </a:lnSpc>
              <a:buNone/>
            </a:pPr>
            <a:r>
              <a:rPr lang="en-US" sz="1300" dirty="0">
                <a:solidFill>
                  <a:srgbClr val="93A5C7"/>
                </a:solidFill>
                <a:latin typeface="Calibri" pitchFamily="34" charset="0"/>
                <a:ea typeface="Calibri" pitchFamily="34" charset="-122"/>
                <a:cs typeface="Calibri" pitchFamily="34" charset="-120"/>
              </a:rPr>
              <a:t>Behind most of the web sits a database, answering questions written as text.</a:t>
            </a:r>
            <a:endParaRPr lang="en-US" sz="1300" dirty="0"/>
          </a:p>
        </p:txBody>
      </p:sp>
      <p:sp>
        <p:nvSpPr>
          <p:cNvPr id="5" name="Shape 3"/>
          <p:cNvSpPr/>
          <p:nvPr/>
        </p:nvSpPr>
        <p:spPr>
          <a:xfrm>
            <a:off x="548640" y="2148840"/>
            <a:ext cx="5577840" cy="3127248"/>
          </a:xfrm>
          <a:prstGeom prst="roundRect">
            <a:avLst>
              <a:gd name="adj" fmla="val 2632"/>
            </a:avLst>
          </a:prstGeom>
          <a:solidFill>
            <a:srgbClr val="141F30"/>
          </a:solidFill>
          <a:ln/>
        </p:spPr>
      </p:sp>
      <p:sp>
        <p:nvSpPr>
          <p:cNvPr id="6" name="Text 4"/>
          <p:cNvSpPr/>
          <p:nvPr/>
        </p:nvSpPr>
        <p:spPr>
          <a:xfrm>
            <a:off x="859536" y="2423160"/>
            <a:ext cx="4956048" cy="237744"/>
          </a:xfrm>
          <a:prstGeom prst="rect">
            <a:avLst/>
          </a:prstGeom>
          <a:noFill/>
          <a:ln/>
        </p:spPr>
        <p:txBody>
          <a:bodyPr wrap="square" lIns="0" tIns="0" rIns="0" bIns="0" rtlCol="0" anchor="ctr"/>
          <a:lstStyle/>
          <a:p>
            <a:pPr indent="0" marL="0">
              <a:buNone/>
            </a:pPr>
            <a:r>
              <a:rPr lang="en-US" sz="950" b="1" spc="110" kern="0" dirty="0">
                <a:solidFill>
                  <a:srgbClr val="E0559E"/>
                </a:solidFill>
                <a:latin typeface="Calibri" pitchFamily="34" charset="0"/>
                <a:ea typeface="Calibri" pitchFamily="34" charset="-122"/>
                <a:cs typeface="Calibri" pitchFamily="34" charset="-120"/>
              </a:rPr>
              <a:t>WHAT IT IS</a:t>
            </a:r>
            <a:endParaRPr lang="en-US" sz="950" dirty="0"/>
          </a:p>
        </p:txBody>
      </p:sp>
      <p:sp>
        <p:nvSpPr>
          <p:cNvPr id="7" name="Text 5"/>
          <p:cNvSpPr/>
          <p:nvPr/>
        </p:nvSpPr>
        <p:spPr>
          <a:xfrm>
            <a:off x="859536" y="2697480"/>
            <a:ext cx="4956048" cy="1371600"/>
          </a:xfrm>
          <a:prstGeom prst="rect">
            <a:avLst/>
          </a:prstGeom>
          <a:noFill/>
          <a:ln/>
        </p:spPr>
        <p:txBody>
          <a:bodyPr wrap="square" lIns="0" tIns="0" rIns="0" bIns="0" rtlCol="0" anchor="t"/>
          <a:lstStyle/>
          <a:p>
            <a:pPr indent="0" marL="0">
              <a:lnSpc>
                <a:spcPct val="120000"/>
              </a:lnSpc>
              <a:buNone/>
            </a:pPr>
            <a:r>
              <a:rPr lang="en-US" sz="1200" dirty="0">
                <a:solidFill>
                  <a:srgbClr val="93A5C7"/>
                </a:solidFill>
                <a:latin typeface="Calibri" pitchFamily="34" charset="0"/>
                <a:ea typeface="Calibri" pitchFamily="34" charset="-122"/>
                <a:cs typeface="Calibri" pitchFamily="34" charset="-120"/>
              </a:rPr>
              <a:t>A query is a sentence: which columns, from which table, matching which condition. Applications build these sentences while running, very often by joining fragments and user input into one string. The database cannot tell which part the developer wrote and which part arrived from outside.</a:t>
            </a:r>
            <a:endParaRPr lang="en-US" sz="1200" dirty="0"/>
          </a:p>
        </p:txBody>
      </p:sp>
      <p:sp>
        <p:nvSpPr>
          <p:cNvPr id="8" name="Text 6"/>
          <p:cNvSpPr/>
          <p:nvPr/>
        </p:nvSpPr>
        <p:spPr>
          <a:xfrm>
            <a:off x="859536" y="3959352"/>
            <a:ext cx="4956048" cy="237744"/>
          </a:xfrm>
          <a:prstGeom prst="rect">
            <a:avLst/>
          </a:prstGeom>
          <a:noFill/>
          <a:ln/>
        </p:spPr>
        <p:txBody>
          <a:bodyPr wrap="square" lIns="0" tIns="0" rIns="0" bIns="0" rtlCol="0" anchor="ctr"/>
          <a:lstStyle/>
          <a:p>
            <a:pPr indent="0" marL="0">
              <a:buNone/>
            </a:pPr>
            <a:r>
              <a:rPr lang="en-US" sz="950" b="1" spc="110" kern="0" dirty="0">
                <a:solidFill>
                  <a:srgbClr val="E0559E"/>
                </a:solidFill>
                <a:latin typeface="Calibri" pitchFamily="34" charset="0"/>
                <a:ea typeface="Calibri" pitchFamily="34" charset="-122"/>
                <a:cs typeface="Calibri" pitchFamily="34" charset="-120"/>
              </a:rPr>
              <a:t>WHY IT MATTERS HERE</a:t>
            </a:r>
            <a:endParaRPr lang="en-US" sz="950" dirty="0"/>
          </a:p>
        </p:txBody>
      </p:sp>
      <p:sp>
        <p:nvSpPr>
          <p:cNvPr id="9" name="Text 7"/>
          <p:cNvSpPr/>
          <p:nvPr/>
        </p:nvSpPr>
        <p:spPr>
          <a:xfrm>
            <a:off x="859536" y="4233672"/>
            <a:ext cx="4956048" cy="1371600"/>
          </a:xfrm>
          <a:prstGeom prst="rect">
            <a:avLst/>
          </a:prstGeom>
          <a:noFill/>
          <a:ln/>
        </p:spPr>
        <p:txBody>
          <a:bodyPr wrap="square" lIns="0" tIns="0" rIns="0" bIns="0" rtlCol="0" anchor="t"/>
          <a:lstStyle/>
          <a:p>
            <a:pPr indent="0" marL="0">
              <a:lnSpc>
                <a:spcPct val="120000"/>
              </a:lnSpc>
              <a:buNone/>
            </a:pPr>
            <a:r>
              <a:rPr lang="en-US" sz="1200" dirty="0">
                <a:solidFill>
                  <a:srgbClr val="93A5C7"/>
                </a:solidFill>
                <a:latin typeface="Calibri" pitchFamily="34" charset="0"/>
                <a:ea typeface="Calibri" pitchFamily="34" charset="-122"/>
                <a:cs typeface="Calibri" pitchFamily="34" charset="-120"/>
              </a:rPr>
              <a:t>It is the deepest floor of this track for a reason: the records are the point of the whole building. Every level above it is a route towards here.</a:t>
            </a:r>
            <a:endParaRPr lang="en-US" sz="1200" dirty="0"/>
          </a:p>
        </p:txBody>
      </p:sp>
      <p:sp>
        <p:nvSpPr>
          <p:cNvPr id="10" name="Shape 8"/>
          <p:cNvSpPr/>
          <p:nvPr/>
        </p:nvSpPr>
        <p:spPr>
          <a:xfrm>
            <a:off x="6382512" y="2148840"/>
            <a:ext cx="5260543" cy="3127248"/>
          </a:xfrm>
          <a:prstGeom prst="roundRect">
            <a:avLst>
              <a:gd name="adj" fmla="val 2632"/>
            </a:avLst>
          </a:prstGeom>
          <a:solidFill>
            <a:srgbClr val="141F30"/>
          </a:solidFill>
          <a:ln/>
        </p:spPr>
      </p:sp>
      <p:sp>
        <p:nvSpPr>
          <p:cNvPr id="11" name="Text 9"/>
          <p:cNvSpPr/>
          <p:nvPr/>
        </p:nvSpPr>
        <p:spPr>
          <a:xfrm>
            <a:off x="6656832" y="2404872"/>
            <a:ext cx="4711903" cy="2615184"/>
          </a:xfrm>
          <a:prstGeom prst="rect">
            <a:avLst/>
          </a:prstGeom>
          <a:noFill/>
          <a:ln/>
        </p:spPr>
        <p:txBody>
          <a:bodyPr wrap="square" lIns="0" tIns="0" rIns="0" bIns="0" rtlCol="0" anchor="t"/>
          <a:lstStyle/>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the shape of a query</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SELECT  column    the fields you want</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FROM    table     where they live</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WHERE   name = 'value'    the condition</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built by joining strings together</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WHERE name = '"  +  input  +  "'"</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the quote character ends the value.</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anything after it is read as more</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query, not as more data.</a:t>
            </a:r>
            <a:endParaRPr lang="en-US" sz="1050" dirty="0"/>
          </a:p>
        </p:txBody>
      </p:sp>
      <p:sp>
        <p:nvSpPr>
          <p:cNvPr id="12" name="Text 10"/>
          <p:cNvSpPr/>
          <p:nvPr/>
        </p:nvSpPr>
        <p:spPr>
          <a:xfrm>
            <a:off x="548640" y="5532120"/>
            <a:ext cx="11094415" cy="274320"/>
          </a:xfrm>
          <a:prstGeom prst="rect">
            <a:avLst/>
          </a:prstGeom>
          <a:noFill/>
          <a:ln/>
        </p:spPr>
        <p:txBody>
          <a:bodyPr wrap="square" lIns="0" tIns="0" rIns="0" bIns="0" rtlCol="0" anchor="ctr"/>
          <a:lstStyle/>
          <a:p>
            <a:pPr indent="0" marL="0">
              <a:buNone/>
            </a:pPr>
            <a:r>
              <a:rPr lang="en-US" sz="1250" i="1" dirty="0">
                <a:solidFill>
                  <a:srgbClr val="E0559E"/>
                </a:solidFill>
                <a:latin typeface="Calibri" pitchFamily="34" charset="0"/>
                <a:ea typeface="Calibri" pitchFamily="34" charset="-122"/>
                <a:cs typeface="Calibri" pitchFamily="34" charset="-120"/>
              </a:rPr>
              <a:t>The database is not fooled. It was never told there was a difference.</a:t>
            </a:r>
            <a:endParaRPr lang="en-US" sz="1250" dirty="0"/>
          </a:p>
        </p:txBody>
      </p:sp>
      <p:sp>
        <p:nvSpPr>
          <p:cNvPr id="13" name="Text 11"/>
          <p:cNvSpPr/>
          <p:nvPr/>
        </p:nvSpPr>
        <p:spPr>
          <a:xfrm>
            <a:off x="548640" y="6446520"/>
            <a:ext cx="2743200" cy="274320"/>
          </a:xfrm>
          <a:prstGeom prst="rect">
            <a:avLst/>
          </a:prstGeom>
          <a:noFill/>
          <a:ln/>
        </p:spPr>
        <p:txBody>
          <a:bodyPr wrap="square" lIns="0" tIns="0" rIns="0" bIns="0" rtlCol="0" anchor="ctr"/>
          <a:lstStyle/>
          <a:p>
            <a:pPr indent="0" marL="0">
              <a:buNone/>
            </a:pPr>
            <a:r>
              <a:rPr lang="en-US" sz="900" spc="150" kern="0" dirty="0">
                <a:solidFill>
                  <a:srgbClr val="5B6B8C"/>
                </a:solidFill>
                <a:latin typeface="Calibri" pitchFamily="34" charset="0"/>
                <a:ea typeface="Calibri" pitchFamily="34" charset="-122"/>
                <a:cs typeface="Calibri" pitchFamily="34" charset="-120"/>
              </a:rPr>
              <a:t>CEI LABS CTF</a:t>
            </a:r>
            <a:endParaRPr lang="en-US" sz="900" dirty="0"/>
          </a:p>
        </p:txBody>
      </p:sp>
      <p:sp>
        <p:nvSpPr>
          <p:cNvPr id="14" name="Text 12"/>
          <p:cNvSpPr/>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B6B8C"/>
                </a:solidFill>
                <a:latin typeface="Calibri" pitchFamily="34" charset="0"/>
                <a:ea typeface="Calibri" pitchFamily="34" charset="-122"/>
                <a:cs typeface="Calibri" pitchFamily="34" charset="-120"/>
              </a:rPr>
              <a:t>10</a:t>
            </a:r>
            <a:endParaRPr lang="en-US" sz="900" dirty="0"/>
          </a:p>
        </p:txBody>
      </p:sp>
    </p:spTree>
  </p:cSld>
  <p:clrMapOvr>
    <a:masterClrMapping/>
  </p:clrMapOvr>
  <p:transition spd="med" advClick="1">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22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alphaModFix amt="28000"/>
          </a:blip>
          <a:stretch>
            <a:fillRect/>
          </a:stretch>
        </p:blipFill>
        <p:spPr>
          <a:xfrm>
            <a:off x="8549640" y="109728"/>
            <a:ext cx="3291840" cy="1901952"/>
          </a:xfrm>
          <a:prstGeom prst="rect">
            <a:avLst/>
          </a:prstGeom>
        </p:spPr>
      </p:pic>
      <p:sp>
        <p:nvSpPr>
          <p:cNvPr id="3" name="Text 0"/>
          <p:cNvSpPr/>
          <p:nvPr/>
        </p:nvSpPr>
        <p:spPr>
          <a:xfrm>
            <a:off x="548640" y="457200"/>
            <a:ext cx="11094415" cy="274320"/>
          </a:xfrm>
          <a:prstGeom prst="rect">
            <a:avLst/>
          </a:prstGeom>
          <a:noFill/>
          <a:ln/>
        </p:spPr>
        <p:txBody>
          <a:bodyPr wrap="square" lIns="0" tIns="0" rIns="0" bIns="0" rtlCol="0" anchor="ctr"/>
          <a:lstStyle/>
          <a:p>
            <a:pPr indent="0" marL="0">
              <a:buNone/>
            </a:pPr>
            <a:r>
              <a:rPr lang="en-US" sz="1100" b="1" spc="120" kern="0" dirty="0">
                <a:solidFill>
                  <a:srgbClr val="E0559E"/>
                </a:solidFill>
                <a:latin typeface="Calibri" pitchFamily="34" charset="0"/>
                <a:ea typeface="Calibri" pitchFamily="34" charset="-122"/>
                <a:cs typeface="Calibri" pitchFamily="34" charset="-120"/>
              </a:rPr>
              <a:t>GETTING IN</a:t>
            </a:r>
            <a:endParaRPr lang="en-US" sz="1100" dirty="0"/>
          </a:p>
        </p:txBody>
      </p:sp>
      <p:sp>
        <p:nvSpPr>
          <p:cNvPr id="4" name="Text 1"/>
          <p:cNvSpPr/>
          <p:nvPr/>
        </p:nvSpPr>
        <p:spPr>
          <a:xfrm>
            <a:off x="548640" y="749808"/>
            <a:ext cx="11094415" cy="566928"/>
          </a:xfrm>
          <a:prstGeom prst="rect">
            <a:avLst/>
          </a:prstGeom>
          <a:noFill/>
          <a:ln/>
        </p:spPr>
        <p:txBody>
          <a:bodyPr wrap="square" lIns="0" tIns="0" rIns="0" bIns="0" rtlCol="0" anchor="ctr"/>
          <a:lstStyle/>
          <a:p>
            <a:pPr indent="0" marL="0">
              <a:buNone/>
            </a:pPr>
            <a:r>
              <a:rPr lang="en-US" sz="3200" b="1" dirty="0">
                <a:solidFill>
                  <a:srgbClr val="F4F6FB"/>
                </a:solidFill>
                <a:latin typeface="Cambria" pitchFamily="34" charset="0"/>
                <a:ea typeface="Cambria" pitchFamily="34" charset="-122"/>
                <a:cs typeface="Cambria" pitchFamily="34" charset="-120"/>
              </a:rPr>
              <a:t>No SSH required</a:t>
            </a:r>
            <a:endParaRPr lang="en-US" sz="3200" dirty="0"/>
          </a:p>
        </p:txBody>
      </p:sp>
      <p:sp>
        <p:nvSpPr>
          <p:cNvPr id="5" name="Text 2"/>
          <p:cNvSpPr/>
          <p:nvPr/>
        </p:nvSpPr>
        <p:spPr>
          <a:xfrm>
            <a:off x="548640" y="1389888"/>
            <a:ext cx="9814255" cy="475488"/>
          </a:xfrm>
          <a:prstGeom prst="rect">
            <a:avLst/>
          </a:prstGeom>
          <a:noFill/>
          <a:ln/>
        </p:spPr>
        <p:txBody>
          <a:bodyPr wrap="square" lIns="0" tIns="0" rIns="0" bIns="0" rtlCol="0" anchor="ctr"/>
          <a:lstStyle/>
          <a:p>
            <a:pPr indent="0" marL="0">
              <a:lnSpc>
                <a:spcPct val="115000"/>
              </a:lnSpc>
              <a:buNone/>
            </a:pPr>
            <a:r>
              <a:rPr lang="en-US" sz="1300" dirty="0">
                <a:solidFill>
                  <a:srgbClr val="93A5C7"/>
                </a:solidFill>
                <a:latin typeface="Calibri" pitchFamily="34" charset="0"/>
                <a:ea typeface="Calibri" pitchFamily="34" charset="-122"/>
                <a:cs typeface="Calibri" pitchFamily="34" charset="-120"/>
              </a:rPr>
              <a:t>Natas is the one track that needs nothing installed. One click gives you a full Linux desktop inside your browser.</a:t>
            </a:r>
            <a:endParaRPr lang="en-US" sz="1300" dirty="0"/>
          </a:p>
        </p:txBody>
      </p:sp>
      <p:sp>
        <p:nvSpPr>
          <p:cNvPr id="6" name="Shape 3"/>
          <p:cNvSpPr/>
          <p:nvPr/>
        </p:nvSpPr>
        <p:spPr>
          <a:xfrm>
            <a:off x="548640" y="2148840"/>
            <a:ext cx="5577840" cy="3127248"/>
          </a:xfrm>
          <a:prstGeom prst="roundRect">
            <a:avLst>
              <a:gd name="adj" fmla="val 2632"/>
            </a:avLst>
          </a:prstGeom>
          <a:solidFill>
            <a:srgbClr val="141F30"/>
          </a:solidFill>
          <a:ln/>
        </p:spPr>
      </p:sp>
      <p:sp>
        <p:nvSpPr>
          <p:cNvPr id="7" name="Text 4"/>
          <p:cNvSpPr/>
          <p:nvPr/>
        </p:nvSpPr>
        <p:spPr>
          <a:xfrm>
            <a:off x="859536" y="2404872"/>
            <a:ext cx="4956048" cy="237744"/>
          </a:xfrm>
          <a:prstGeom prst="rect">
            <a:avLst/>
          </a:prstGeom>
          <a:noFill/>
          <a:ln/>
        </p:spPr>
        <p:txBody>
          <a:bodyPr wrap="square" lIns="0" tIns="0" rIns="0" bIns="0" rtlCol="0" anchor="ctr"/>
          <a:lstStyle/>
          <a:p>
            <a:pPr indent="0" marL="0">
              <a:buNone/>
            </a:pPr>
            <a:r>
              <a:rPr lang="en-US" sz="950" b="1" spc="110" kern="0" dirty="0">
                <a:solidFill>
                  <a:srgbClr val="E0559E"/>
                </a:solidFill>
                <a:latin typeface="Calibri" pitchFamily="34" charset="0"/>
                <a:ea typeface="Calibri" pitchFamily="34" charset="-122"/>
                <a:cs typeface="Calibri" pitchFamily="34" charset="-120"/>
              </a:rPr>
              <a:t>STEP BY STEP</a:t>
            </a:r>
            <a:endParaRPr lang="en-US" sz="950" dirty="0"/>
          </a:p>
        </p:txBody>
      </p:sp>
      <p:sp>
        <p:nvSpPr>
          <p:cNvPr id="8" name="Text 5"/>
          <p:cNvSpPr/>
          <p:nvPr/>
        </p:nvSpPr>
        <p:spPr>
          <a:xfrm>
            <a:off x="859536" y="2770632"/>
            <a:ext cx="365760" cy="621792"/>
          </a:xfrm>
          <a:prstGeom prst="rect">
            <a:avLst/>
          </a:prstGeom>
          <a:noFill/>
          <a:ln/>
        </p:spPr>
        <p:txBody>
          <a:bodyPr wrap="square" lIns="0" tIns="0" rIns="0" bIns="0" rtlCol="0" anchor="ctr"/>
          <a:lstStyle/>
          <a:p>
            <a:pPr indent="0" marL="0">
              <a:buNone/>
            </a:pPr>
            <a:r>
              <a:rPr lang="en-US" sz="1600" b="1" dirty="0">
                <a:solidFill>
                  <a:srgbClr val="E0559E"/>
                </a:solidFill>
                <a:latin typeface="Cambria" pitchFamily="34" charset="0"/>
                <a:ea typeface="Cambria" pitchFamily="34" charset="-122"/>
                <a:cs typeface="Cambria" pitchFamily="34" charset="-120"/>
              </a:rPr>
              <a:t>1</a:t>
            </a:r>
            <a:endParaRPr lang="en-US" sz="1600" dirty="0"/>
          </a:p>
        </p:txBody>
      </p:sp>
      <p:sp>
        <p:nvSpPr>
          <p:cNvPr id="9" name="Text 6"/>
          <p:cNvSpPr/>
          <p:nvPr/>
        </p:nvSpPr>
        <p:spPr>
          <a:xfrm>
            <a:off x="1280160" y="2807208"/>
            <a:ext cx="4480560" cy="256032"/>
          </a:xfrm>
          <a:prstGeom prst="rect">
            <a:avLst/>
          </a:prstGeom>
          <a:noFill/>
          <a:ln/>
        </p:spPr>
        <p:txBody>
          <a:bodyPr wrap="square" lIns="0" tIns="0" rIns="0" bIns="0" rtlCol="0" anchor="ctr"/>
          <a:lstStyle/>
          <a:p>
            <a:pPr indent="0" marL="0">
              <a:buNone/>
            </a:pPr>
            <a:r>
              <a:rPr lang="en-US" sz="1250" b="1" dirty="0">
                <a:solidFill>
                  <a:srgbClr val="F4F6FB"/>
                </a:solidFill>
                <a:latin typeface="Calibri" pitchFamily="34" charset="0"/>
                <a:ea typeface="Calibri" pitchFamily="34" charset="-122"/>
                <a:cs typeface="Calibri" pitchFamily="34" charset="-120"/>
              </a:rPr>
              <a:t>Launch Environment</a:t>
            </a:r>
            <a:endParaRPr lang="en-US" sz="1250" dirty="0"/>
          </a:p>
        </p:txBody>
      </p:sp>
      <p:sp>
        <p:nvSpPr>
          <p:cNvPr id="10" name="Text 7"/>
          <p:cNvSpPr/>
          <p:nvPr/>
        </p:nvSpPr>
        <p:spPr>
          <a:xfrm>
            <a:off x="1280160" y="3044952"/>
            <a:ext cx="4480560" cy="274320"/>
          </a:xfrm>
          <a:prstGeom prst="rect">
            <a:avLst/>
          </a:prstGeom>
          <a:noFill/>
          <a:ln/>
        </p:spPr>
        <p:txBody>
          <a:bodyPr wrap="square" lIns="0" tIns="0" rIns="0" bIns="0" rtlCol="0" anchor="ctr"/>
          <a:lstStyle/>
          <a:p>
            <a:pPr indent="0" marL="0">
              <a:buNone/>
            </a:pPr>
            <a:r>
              <a:rPr lang="en-US" sz="1100" dirty="0">
                <a:solidFill>
                  <a:srgbClr val="93A5C7"/>
                </a:solidFill>
                <a:latin typeface="Calibri" pitchFamily="34" charset="0"/>
                <a:ea typeface="Calibri" pitchFamily="34" charset="-122"/>
                <a:cs typeface="Calibri" pitchFamily="34" charset="-120"/>
              </a:rPr>
              <a:t>You get an attacker workstation plus this track's shared target.</a:t>
            </a:r>
            <a:endParaRPr lang="en-US" sz="1100" dirty="0"/>
          </a:p>
        </p:txBody>
      </p:sp>
      <p:sp>
        <p:nvSpPr>
          <p:cNvPr id="11" name="Text 8"/>
          <p:cNvSpPr/>
          <p:nvPr/>
        </p:nvSpPr>
        <p:spPr>
          <a:xfrm>
            <a:off x="859536" y="3392424"/>
            <a:ext cx="365760" cy="621792"/>
          </a:xfrm>
          <a:prstGeom prst="rect">
            <a:avLst/>
          </a:prstGeom>
          <a:noFill/>
          <a:ln/>
        </p:spPr>
        <p:txBody>
          <a:bodyPr wrap="square" lIns="0" tIns="0" rIns="0" bIns="0" rtlCol="0" anchor="ctr"/>
          <a:lstStyle/>
          <a:p>
            <a:pPr indent="0" marL="0">
              <a:buNone/>
            </a:pPr>
            <a:r>
              <a:rPr lang="en-US" sz="1600" b="1" dirty="0">
                <a:solidFill>
                  <a:srgbClr val="E0559E"/>
                </a:solidFill>
                <a:latin typeface="Cambria" pitchFamily="34" charset="0"/>
                <a:ea typeface="Cambria" pitchFamily="34" charset="-122"/>
                <a:cs typeface="Cambria" pitchFamily="34" charset="-120"/>
              </a:rPr>
              <a:t>2</a:t>
            </a:r>
            <a:endParaRPr lang="en-US" sz="1600" dirty="0"/>
          </a:p>
        </p:txBody>
      </p:sp>
      <p:sp>
        <p:nvSpPr>
          <p:cNvPr id="12" name="Text 9"/>
          <p:cNvSpPr/>
          <p:nvPr/>
        </p:nvSpPr>
        <p:spPr>
          <a:xfrm>
            <a:off x="1280160" y="3429000"/>
            <a:ext cx="4480560" cy="256032"/>
          </a:xfrm>
          <a:prstGeom prst="rect">
            <a:avLst/>
          </a:prstGeom>
          <a:noFill/>
          <a:ln/>
        </p:spPr>
        <p:txBody>
          <a:bodyPr wrap="square" lIns="0" tIns="0" rIns="0" bIns="0" rtlCol="0" anchor="ctr"/>
          <a:lstStyle/>
          <a:p>
            <a:pPr indent="0" marL="0">
              <a:buNone/>
            </a:pPr>
            <a:r>
              <a:rPr lang="en-US" sz="1250" b="1" dirty="0">
                <a:solidFill>
                  <a:srgbClr val="F4F6FB"/>
                </a:solidFill>
                <a:latin typeface="Calibri" pitchFamily="34" charset="0"/>
                <a:ea typeface="Calibri" pitchFamily="34" charset="-122"/>
                <a:cs typeface="Calibri" pitchFamily="34" charset="-120"/>
              </a:rPr>
              <a:t>Open noVNC</a:t>
            </a:r>
            <a:endParaRPr lang="en-US" sz="1250" dirty="0"/>
          </a:p>
        </p:txBody>
      </p:sp>
      <p:sp>
        <p:nvSpPr>
          <p:cNvPr id="13" name="Text 10"/>
          <p:cNvSpPr/>
          <p:nvPr/>
        </p:nvSpPr>
        <p:spPr>
          <a:xfrm>
            <a:off x="1280160" y="3666744"/>
            <a:ext cx="4480560" cy="274320"/>
          </a:xfrm>
          <a:prstGeom prst="rect">
            <a:avLst/>
          </a:prstGeom>
          <a:noFill/>
          <a:ln/>
        </p:spPr>
        <p:txBody>
          <a:bodyPr wrap="square" lIns="0" tIns="0" rIns="0" bIns="0" rtlCol="0" anchor="ctr"/>
          <a:lstStyle/>
          <a:p>
            <a:pPr indent="0" marL="0">
              <a:buNone/>
            </a:pPr>
            <a:r>
              <a:rPr lang="en-US" sz="1100" dirty="0">
                <a:solidFill>
                  <a:srgbClr val="93A5C7"/>
                </a:solidFill>
                <a:latin typeface="Calibri" pitchFamily="34" charset="0"/>
                <a:ea typeface="Calibri" pitchFamily="34" charset="-122"/>
                <a:cs typeface="Calibri" pitchFamily="34" charset="-120"/>
              </a:rPr>
              <a:t>A full desktop in a browser tab. SSH is offered too.</a:t>
            </a:r>
            <a:endParaRPr lang="en-US" sz="1100" dirty="0"/>
          </a:p>
        </p:txBody>
      </p:sp>
      <p:sp>
        <p:nvSpPr>
          <p:cNvPr id="14" name="Text 11"/>
          <p:cNvSpPr/>
          <p:nvPr/>
        </p:nvSpPr>
        <p:spPr>
          <a:xfrm>
            <a:off x="859536" y="4014216"/>
            <a:ext cx="365760" cy="621792"/>
          </a:xfrm>
          <a:prstGeom prst="rect">
            <a:avLst/>
          </a:prstGeom>
          <a:noFill/>
          <a:ln/>
        </p:spPr>
        <p:txBody>
          <a:bodyPr wrap="square" lIns="0" tIns="0" rIns="0" bIns="0" rtlCol="0" anchor="ctr"/>
          <a:lstStyle/>
          <a:p>
            <a:pPr indent="0" marL="0">
              <a:buNone/>
            </a:pPr>
            <a:r>
              <a:rPr lang="en-US" sz="1600" b="1" dirty="0">
                <a:solidFill>
                  <a:srgbClr val="E0559E"/>
                </a:solidFill>
                <a:latin typeface="Cambria" pitchFamily="34" charset="0"/>
                <a:ea typeface="Cambria" pitchFamily="34" charset="-122"/>
                <a:cs typeface="Cambria" pitchFamily="34" charset="-120"/>
              </a:rPr>
              <a:t>3</a:t>
            </a:r>
            <a:endParaRPr lang="en-US" sz="1600" dirty="0"/>
          </a:p>
        </p:txBody>
      </p:sp>
      <p:sp>
        <p:nvSpPr>
          <p:cNvPr id="15" name="Text 12"/>
          <p:cNvSpPr/>
          <p:nvPr/>
        </p:nvSpPr>
        <p:spPr>
          <a:xfrm>
            <a:off x="1280160" y="4050792"/>
            <a:ext cx="4480560" cy="256032"/>
          </a:xfrm>
          <a:prstGeom prst="rect">
            <a:avLst/>
          </a:prstGeom>
          <a:noFill/>
          <a:ln/>
        </p:spPr>
        <p:txBody>
          <a:bodyPr wrap="square" lIns="0" tIns="0" rIns="0" bIns="0" rtlCol="0" anchor="ctr"/>
          <a:lstStyle/>
          <a:p>
            <a:pPr indent="0" marL="0">
              <a:buNone/>
            </a:pPr>
            <a:r>
              <a:rPr lang="en-US" sz="1250" b="1" dirty="0">
                <a:solidFill>
                  <a:srgbClr val="F4F6FB"/>
                </a:solidFill>
                <a:latin typeface="Calibri" pitchFamily="34" charset="0"/>
                <a:ea typeface="Calibri" pitchFamily="34" charset="-122"/>
                <a:cs typeface="Calibri" pitchFamily="34" charset="-120"/>
              </a:rPr>
              <a:t>Work from inside</a:t>
            </a:r>
            <a:endParaRPr lang="en-US" sz="1250" dirty="0"/>
          </a:p>
        </p:txBody>
      </p:sp>
      <p:sp>
        <p:nvSpPr>
          <p:cNvPr id="16" name="Text 13"/>
          <p:cNvSpPr/>
          <p:nvPr/>
        </p:nvSpPr>
        <p:spPr>
          <a:xfrm>
            <a:off x="1280160" y="4288536"/>
            <a:ext cx="4480560" cy="274320"/>
          </a:xfrm>
          <a:prstGeom prst="rect">
            <a:avLst/>
          </a:prstGeom>
          <a:noFill/>
          <a:ln/>
        </p:spPr>
        <p:txBody>
          <a:bodyPr wrap="square" lIns="0" tIns="0" rIns="0" bIns="0" rtlCol="0" anchor="ctr"/>
          <a:lstStyle/>
          <a:p>
            <a:pPr indent="0" marL="0">
              <a:buNone/>
            </a:pPr>
            <a:r>
              <a:rPr lang="en-US" sz="1100" dirty="0">
                <a:solidFill>
                  <a:srgbClr val="93A5C7"/>
                </a:solidFill>
                <a:latin typeface="Calibri" pitchFamily="34" charset="0"/>
                <a:ea typeface="Calibri" pitchFamily="34" charset="-122"/>
                <a:cs typeface="Calibri" pitchFamily="34" charset="-120"/>
              </a:rPr>
              <a:t>Browse to the target from the workstation, not from your own laptop.</a:t>
            </a:r>
            <a:endParaRPr lang="en-US" sz="1100" dirty="0"/>
          </a:p>
        </p:txBody>
      </p:sp>
      <p:sp>
        <p:nvSpPr>
          <p:cNvPr id="17" name="Text 14"/>
          <p:cNvSpPr/>
          <p:nvPr/>
        </p:nvSpPr>
        <p:spPr>
          <a:xfrm>
            <a:off x="859536" y="4636008"/>
            <a:ext cx="365760" cy="621792"/>
          </a:xfrm>
          <a:prstGeom prst="rect">
            <a:avLst/>
          </a:prstGeom>
          <a:noFill/>
          <a:ln/>
        </p:spPr>
        <p:txBody>
          <a:bodyPr wrap="square" lIns="0" tIns="0" rIns="0" bIns="0" rtlCol="0" anchor="ctr"/>
          <a:lstStyle/>
          <a:p>
            <a:pPr indent="0" marL="0">
              <a:buNone/>
            </a:pPr>
            <a:r>
              <a:rPr lang="en-US" sz="1600" b="1" dirty="0">
                <a:solidFill>
                  <a:srgbClr val="E0559E"/>
                </a:solidFill>
                <a:latin typeface="Cambria" pitchFamily="34" charset="0"/>
                <a:ea typeface="Cambria" pitchFamily="34" charset="-122"/>
                <a:cs typeface="Cambria" pitchFamily="34" charset="-120"/>
              </a:rPr>
              <a:t>4</a:t>
            </a:r>
            <a:endParaRPr lang="en-US" sz="1600" dirty="0"/>
          </a:p>
        </p:txBody>
      </p:sp>
      <p:sp>
        <p:nvSpPr>
          <p:cNvPr id="18" name="Text 15"/>
          <p:cNvSpPr/>
          <p:nvPr/>
        </p:nvSpPr>
        <p:spPr>
          <a:xfrm>
            <a:off x="1280160" y="4672584"/>
            <a:ext cx="4480560" cy="256032"/>
          </a:xfrm>
          <a:prstGeom prst="rect">
            <a:avLst/>
          </a:prstGeom>
          <a:noFill/>
          <a:ln/>
        </p:spPr>
        <p:txBody>
          <a:bodyPr wrap="square" lIns="0" tIns="0" rIns="0" bIns="0" rtlCol="0" anchor="ctr"/>
          <a:lstStyle/>
          <a:p>
            <a:pPr indent="0" marL="0">
              <a:buNone/>
            </a:pPr>
            <a:r>
              <a:rPr lang="en-US" sz="1250" b="1" dirty="0">
                <a:solidFill>
                  <a:srgbClr val="F4F6FB"/>
                </a:solidFill>
                <a:latin typeface="Calibri" pitchFamily="34" charset="0"/>
                <a:ea typeface="Calibri" pitchFamily="34" charset="-122"/>
                <a:cs typeface="Calibri" pitchFamily="34" charset="-120"/>
              </a:rPr>
              <a:t>Submit the flag</a:t>
            </a:r>
            <a:endParaRPr lang="en-US" sz="1250" dirty="0"/>
          </a:p>
        </p:txBody>
      </p:sp>
      <p:sp>
        <p:nvSpPr>
          <p:cNvPr id="19" name="Text 16"/>
          <p:cNvSpPr/>
          <p:nvPr/>
        </p:nvSpPr>
        <p:spPr>
          <a:xfrm>
            <a:off x="1280160" y="4910328"/>
            <a:ext cx="4480560" cy="274320"/>
          </a:xfrm>
          <a:prstGeom prst="rect">
            <a:avLst/>
          </a:prstGeom>
          <a:noFill/>
          <a:ln/>
        </p:spPr>
        <p:txBody>
          <a:bodyPr wrap="square" lIns="0" tIns="0" rIns="0" bIns="0" rtlCol="0" anchor="ctr"/>
          <a:lstStyle/>
          <a:p>
            <a:pPr indent="0" marL="0">
              <a:buNone/>
            </a:pPr>
            <a:r>
              <a:rPr lang="en-US" sz="1100" dirty="0">
                <a:solidFill>
                  <a:srgbClr val="93A5C7"/>
                </a:solidFill>
                <a:latin typeface="Calibri" pitchFamily="34" charset="0"/>
                <a:ea typeface="Calibri" pitchFamily="34" charset="-122"/>
                <a:cs typeface="Calibri" pitchFamily="34" charset="-120"/>
              </a:rPr>
              <a:t>Each level's password is the login for the next level's page.</a:t>
            </a:r>
            <a:endParaRPr lang="en-US" sz="1100" dirty="0"/>
          </a:p>
        </p:txBody>
      </p:sp>
      <p:sp>
        <p:nvSpPr>
          <p:cNvPr id="20" name="Shape 17"/>
          <p:cNvSpPr/>
          <p:nvPr/>
        </p:nvSpPr>
        <p:spPr>
          <a:xfrm>
            <a:off x="6382512" y="2148840"/>
            <a:ext cx="5260543" cy="3127248"/>
          </a:xfrm>
          <a:prstGeom prst="roundRect">
            <a:avLst>
              <a:gd name="adj" fmla="val 2632"/>
            </a:avLst>
          </a:prstGeom>
          <a:solidFill>
            <a:srgbClr val="141F30"/>
          </a:solidFill>
          <a:ln/>
        </p:spPr>
      </p:sp>
      <p:sp>
        <p:nvSpPr>
          <p:cNvPr id="21" name="Text 18"/>
          <p:cNvSpPr/>
          <p:nvPr/>
        </p:nvSpPr>
        <p:spPr>
          <a:xfrm>
            <a:off x="6656832" y="2404872"/>
            <a:ext cx="4711903" cy="237744"/>
          </a:xfrm>
          <a:prstGeom prst="rect">
            <a:avLst/>
          </a:prstGeom>
          <a:noFill/>
          <a:ln/>
        </p:spPr>
        <p:txBody>
          <a:bodyPr wrap="square" lIns="0" tIns="0" rIns="0" bIns="0" rtlCol="0" anchor="ctr"/>
          <a:lstStyle/>
          <a:p>
            <a:pPr indent="0" marL="0">
              <a:buNone/>
            </a:pPr>
            <a:r>
              <a:rPr lang="en-US" sz="950" b="1" spc="110" kern="0" dirty="0">
                <a:solidFill>
                  <a:srgbClr val="E0559E"/>
                </a:solidFill>
                <a:latin typeface="Calibri" pitchFamily="34" charset="0"/>
                <a:ea typeface="Calibri" pitchFamily="34" charset="-122"/>
                <a:cs typeface="Calibri" pitchFamily="34" charset="-120"/>
              </a:rPr>
              <a:t>THE LAUNCH PANEL</a:t>
            </a:r>
            <a:endParaRPr lang="en-US" sz="950" dirty="0"/>
          </a:p>
        </p:txBody>
      </p:sp>
      <p:sp>
        <p:nvSpPr>
          <p:cNvPr id="22" name="Shape 19"/>
          <p:cNvSpPr/>
          <p:nvPr/>
        </p:nvSpPr>
        <p:spPr>
          <a:xfrm>
            <a:off x="6656832" y="2843784"/>
            <a:ext cx="402336" cy="402336"/>
          </a:xfrm>
          <a:prstGeom prst="ellipse">
            <a:avLst/>
          </a:prstGeom>
          <a:solidFill>
            <a:srgbClr val="E0559E"/>
          </a:solidFill>
          <a:ln/>
        </p:spPr>
      </p:sp>
      <p:pic>
        <p:nvPicPr>
          <p:cNvPr id="23" name="Image 1" descr="preencoded.png">    </p:cNvPr>
          <p:cNvPicPr>
            <a:picLocks noChangeAspect="1"/>
          </p:cNvPicPr>
          <p:nvPr/>
        </p:nvPicPr>
        <p:blipFill>
          <a:blip r:embed="rId2"/>
          <a:stretch>
            <a:fillRect/>
          </a:stretch>
        </p:blipFill>
        <p:spPr>
          <a:xfrm>
            <a:off x="6761439" y="2948391"/>
            <a:ext cx="193121" cy="193121"/>
          </a:xfrm>
          <a:prstGeom prst="rect">
            <a:avLst/>
          </a:prstGeom>
        </p:spPr>
      </p:pic>
      <p:sp>
        <p:nvSpPr>
          <p:cNvPr id="24" name="Text 20"/>
          <p:cNvSpPr/>
          <p:nvPr/>
        </p:nvSpPr>
        <p:spPr>
          <a:xfrm>
            <a:off x="7223760" y="2788920"/>
            <a:ext cx="4117543" cy="256032"/>
          </a:xfrm>
          <a:prstGeom prst="rect">
            <a:avLst/>
          </a:prstGeom>
          <a:noFill/>
          <a:ln/>
        </p:spPr>
        <p:txBody>
          <a:bodyPr wrap="square" lIns="0" tIns="0" rIns="0" bIns="0" rtlCol="0" anchor="ctr"/>
          <a:lstStyle/>
          <a:p>
            <a:pPr indent="0" marL="0">
              <a:buNone/>
            </a:pPr>
            <a:r>
              <a:rPr lang="en-US" sz="1250" b="1" dirty="0">
                <a:solidFill>
                  <a:srgbClr val="F4F6FB"/>
                </a:solidFill>
                <a:latin typeface="Calibri" pitchFamily="34" charset="0"/>
                <a:ea typeface="Calibri" pitchFamily="34" charset="-122"/>
                <a:cs typeface="Calibri" pitchFamily="34" charset="-120"/>
              </a:rPr>
              <a:t>Launch Environment</a:t>
            </a:r>
            <a:endParaRPr lang="en-US" sz="1250" dirty="0"/>
          </a:p>
        </p:txBody>
      </p:sp>
      <p:sp>
        <p:nvSpPr>
          <p:cNvPr id="25" name="Text 21"/>
          <p:cNvSpPr/>
          <p:nvPr/>
        </p:nvSpPr>
        <p:spPr>
          <a:xfrm>
            <a:off x="7223760" y="3026664"/>
            <a:ext cx="4117543" cy="292608"/>
          </a:xfrm>
          <a:prstGeom prst="rect">
            <a:avLst/>
          </a:prstGeom>
          <a:noFill/>
          <a:ln/>
        </p:spPr>
        <p:txBody>
          <a:bodyPr wrap="square" lIns="0" tIns="0" rIns="0" bIns="0" rtlCol="0" anchor="ctr"/>
          <a:lstStyle/>
          <a:p>
            <a:pPr indent="0" marL="0">
              <a:buNone/>
            </a:pPr>
            <a:r>
              <a:rPr lang="en-US" sz="1100" dirty="0">
                <a:solidFill>
                  <a:srgbClr val="93A5C7"/>
                </a:solidFill>
                <a:latin typeface="Calibri" pitchFamily="34" charset="0"/>
                <a:ea typeface="Calibri" pitchFamily="34" charset="-122"/>
                <a:cs typeface="Calibri" pitchFamily="34" charset="-120"/>
              </a:rPr>
              <a:t>Starts your box, or reconnects you to one already running.</a:t>
            </a:r>
            <a:endParaRPr lang="en-US" sz="1100" dirty="0"/>
          </a:p>
        </p:txBody>
      </p:sp>
      <p:sp>
        <p:nvSpPr>
          <p:cNvPr id="26" name="Shape 22"/>
          <p:cNvSpPr/>
          <p:nvPr/>
        </p:nvSpPr>
        <p:spPr>
          <a:xfrm>
            <a:off x="6656832" y="3465576"/>
            <a:ext cx="402336" cy="402336"/>
          </a:xfrm>
          <a:prstGeom prst="ellipse">
            <a:avLst/>
          </a:prstGeom>
          <a:solidFill>
            <a:srgbClr val="E0559E"/>
          </a:solidFill>
          <a:ln/>
        </p:spPr>
      </p:sp>
      <p:pic>
        <p:nvPicPr>
          <p:cNvPr id="27" name="Image 2" descr="preencoded.png">    </p:cNvPr>
          <p:cNvPicPr>
            <a:picLocks noChangeAspect="1"/>
          </p:cNvPicPr>
          <p:nvPr/>
        </p:nvPicPr>
        <p:blipFill>
          <a:blip r:embed="rId3"/>
          <a:stretch>
            <a:fillRect/>
          </a:stretch>
        </p:blipFill>
        <p:spPr>
          <a:xfrm>
            <a:off x="6761439" y="3570183"/>
            <a:ext cx="193121" cy="193121"/>
          </a:xfrm>
          <a:prstGeom prst="rect">
            <a:avLst/>
          </a:prstGeom>
        </p:spPr>
      </p:pic>
      <p:sp>
        <p:nvSpPr>
          <p:cNvPr id="28" name="Text 23"/>
          <p:cNvSpPr/>
          <p:nvPr/>
        </p:nvSpPr>
        <p:spPr>
          <a:xfrm>
            <a:off x="7223760" y="3410712"/>
            <a:ext cx="4117543" cy="256032"/>
          </a:xfrm>
          <a:prstGeom prst="rect">
            <a:avLst/>
          </a:prstGeom>
          <a:noFill/>
          <a:ln/>
        </p:spPr>
        <p:txBody>
          <a:bodyPr wrap="square" lIns="0" tIns="0" rIns="0" bIns="0" rtlCol="0" anchor="ctr"/>
          <a:lstStyle/>
          <a:p>
            <a:pPr indent="0" marL="0">
              <a:buNone/>
            </a:pPr>
            <a:r>
              <a:rPr lang="en-US" sz="1250" b="1" dirty="0">
                <a:solidFill>
                  <a:srgbClr val="F4F6FB"/>
                </a:solidFill>
                <a:latin typeface="Calibri" pitchFamily="34" charset="0"/>
                <a:ea typeface="Calibri" pitchFamily="34" charset="-122"/>
                <a:cs typeface="Calibri" pitchFamily="34" charset="-120"/>
              </a:rPr>
              <a:t>Reboot Host</a:t>
            </a:r>
            <a:endParaRPr lang="en-US" sz="1250" dirty="0"/>
          </a:p>
        </p:txBody>
      </p:sp>
      <p:sp>
        <p:nvSpPr>
          <p:cNvPr id="29" name="Text 24"/>
          <p:cNvSpPr/>
          <p:nvPr/>
        </p:nvSpPr>
        <p:spPr>
          <a:xfrm>
            <a:off x="7223760" y="3648456"/>
            <a:ext cx="4117543" cy="292608"/>
          </a:xfrm>
          <a:prstGeom prst="rect">
            <a:avLst/>
          </a:prstGeom>
          <a:noFill/>
          <a:ln/>
        </p:spPr>
        <p:txBody>
          <a:bodyPr wrap="square" lIns="0" tIns="0" rIns="0" bIns="0" rtlCol="0" anchor="ctr"/>
          <a:lstStyle/>
          <a:p>
            <a:pPr indent="0" marL="0">
              <a:buNone/>
            </a:pPr>
            <a:r>
              <a:rPr lang="en-US" sz="1100" dirty="0">
                <a:solidFill>
                  <a:srgbClr val="93A5C7"/>
                </a:solidFill>
                <a:latin typeface="Calibri" pitchFamily="34" charset="0"/>
                <a:ea typeface="Calibri" pitchFamily="34" charset="-122"/>
                <a:cs typeface="Calibri" pitchFamily="34" charset="-120"/>
              </a:rPr>
              <a:t>Restarts it in place. Same connection details afterward.</a:t>
            </a:r>
            <a:endParaRPr lang="en-US" sz="1100" dirty="0"/>
          </a:p>
        </p:txBody>
      </p:sp>
      <p:sp>
        <p:nvSpPr>
          <p:cNvPr id="30" name="Shape 25"/>
          <p:cNvSpPr/>
          <p:nvPr/>
        </p:nvSpPr>
        <p:spPr>
          <a:xfrm>
            <a:off x="6656832" y="4087368"/>
            <a:ext cx="402336" cy="402336"/>
          </a:xfrm>
          <a:prstGeom prst="ellipse">
            <a:avLst/>
          </a:prstGeom>
          <a:solidFill>
            <a:srgbClr val="E0559E"/>
          </a:solidFill>
          <a:ln/>
        </p:spPr>
      </p:sp>
      <p:pic>
        <p:nvPicPr>
          <p:cNvPr id="31" name="Image 3" descr="preencoded.png">    </p:cNvPr>
          <p:cNvPicPr>
            <a:picLocks noChangeAspect="1"/>
          </p:cNvPicPr>
          <p:nvPr/>
        </p:nvPicPr>
        <p:blipFill>
          <a:blip r:embed="rId4"/>
          <a:stretch>
            <a:fillRect/>
          </a:stretch>
        </p:blipFill>
        <p:spPr>
          <a:xfrm>
            <a:off x="6761439" y="4191975"/>
            <a:ext cx="193121" cy="193121"/>
          </a:xfrm>
          <a:prstGeom prst="rect">
            <a:avLst/>
          </a:prstGeom>
        </p:spPr>
      </p:pic>
      <p:sp>
        <p:nvSpPr>
          <p:cNvPr id="32" name="Text 26"/>
          <p:cNvSpPr/>
          <p:nvPr/>
        </p:nvSpPr>
        <p:spPr>
          <a:xfrm>
            <a:off x="7223760" y="4032504"/>
            <a:ext cx="4117543" cy="256032"/>
          </a:xfrm>
          <a:prstGeom prst="rect">
            <a:avLst/>
          </a:prstGeom>
          <a:noFill/>
          <a:ln/>
        </p:spPr>
        <p:txBody>
          <a:bodyPr wrap="square" lIns="0" tIns="0" rIns="0" bIns="0" rtlCol="0" anchor="ctr"/>
          <a:lstStyle/>
          <a:p>
            <a:pPr indent="0" marL="0">
              <a:buNone/>
            </a:pPr>
            <a:r>
              <a:rPr lang="en-US" sz="1250" b="1" dirty="0">
                <a:solidFill>
                  <a:srgbClr val="F4F6FB"/>
                </a:solidFill>
                <a:latin typeface="Calibri" pitchFamily="34" charset="0"/>
                <a:ea typeface="Calibri" pitchFamily="34" charset="-122"/>
                <a:cs typeface="Calibri" pitchFamily="34" charset="-120"/>
              </a:rPr>
              <a:t>Relaunch Environment</a:t>
            </a:r>
            <a:endParaRPr lang="en-US" sz="1250" dirty="0"/>
          </a:p>
        </p:txBody>
      </p:sp>
      <p:sp>
        <p:nvSpPr>
          <p:cNvPr id="33" name="Text 27"/>
          <p:cNvSpPr/>
          <p:nvPr/>
        </p:nvSpPr>
        <p:spPr>
          <a:xfrm>
            <a:off x="7223760" y="4270248"/>
            <a:ext cx="4117543" cy="292608"/>
          </a:xfrm>
          <a:prstGeom prst="rect">
            <a:avLst/>
          </a:prstGeom>
          <a:noFill/>
          <a:ln/>
        </p:spPr>
        <p:txBody>
          <a:bodyPr wrap="square" lIns="0" tIns="0" rIns="0" bIns="0" rtlCol="0" anchor="ctr"/>
          <a:lstStyle/>
          <a:p>
            <a:pPr indent="0" marL="0">
              <a:buNone/>
            </a:pPr>
            <a:r>
              <a:rPr lang="en-US" sz="1100" dirty="0">
                <a:solidFill>
                  <a:srgbClr val="93A5C7"/>
                </a:solidFill>
                <a:latin typeface="Calibri" pitchFamily="34" charset="0"/>
                <a:ea typeface="Calibri" pitchFamily="34" charset="-122"/>
                <a:cs typeface="Calibri" pitchFamily="34" charset="-120"/>
              </a:rPr>
              <a:t>Rebuilds from scratch. Anything you changed inside is lost.</a:t>
            </a:r>
            <a:endParaRPr lang="en-US" sz="1100" dirty="0"/>
          </a:p>
        </p:txBody>
      </p:sp>
      <p:sp>
        <p:nvSpPr>
          <p:cNvPr id="34" name="Shape 28"/>
          <p:cNvSpPr/>
          <p:nvPr/>
        </p:nvSpPr>
        <p:spPr>
          <a:xfrm>
            <a:off x="6656832" y="4709160"/>
            <a:ext cx="402336" cy="402336"/>
          </a:xfrm>
          <a:prstGeom prst="ellipse">
            <a:avLst/>
          </a:prstGeom>
          <a:solidFill>
            <a:srgbClr val="E0559E"/>
          </a:solidFill>
          <a:ln/>
        </p:spPr>
      </p:sp>
      <p:pic>
        <p:nvPicPr>
          <p:cNvPr id="35" name="Image 4" descr="preencoded.png">    </p:cNvPr>
          <p:cNvPicPr>
            <a:picLocks noChangeAspect="1"/>
          </p:cNvPicPr>
          <p:nvPr/>
        </p:nvPicPr>
        <p:blipFill>
          <a:blip r:embed="rId5"/>
          <a:stretch>
            <a:fillRect/>
          </a:stretch>
        </p:blipFill>
        <p:spPr>
          <a:xfrm>
            <a:off x="6761439" y="4813767"/>
            <a:ext cx="193121" cy="193121"/>
          </a:xfrm>
          <a:prstGeom prst="rect">
            <a:avLst/>
          </a:prstGeom>
        </p:spPr>
      </p:pic>
      <p:sp>
        <p:nvSpPr>
          <p:cNvPr id="36" name="Text 29"/>
          <p:cNvSpPr/>
          <p:nvPr/>
        </p:nvSpPr>
        <p:spPr>
          <a:xfrm>
            <a:off x="7223760" y="4654296"/>
            <a:ext cx="4117543" cy="256032"/>
          </a:xfrm>
          <a:prstGeom prst="rect">
            <a:avLst/>
          </a:prstGeom>
          <a:noFill/>
          <a:ln/>
        </p:spPr>
        <p:txBody>
          <a:bodyPr wrap="square" lIns="0" tIns="0" rIns="0" bIns="0" rtlCol="0" anchor="ctr"/>
          <a:lstStyle/>
          <a:p>
            <a:pPr indent="0" marL="0">
              <a:buNone/>
            </a:pPr>
            <a:r>
              <a:rPr lang="en-US" sz="1250" b="1" dirty="0">
                <a:solidFill>
                  <a:srgbClr val="F4F6FB"/>
                </a:solidFill>
                <a:latin typeface="Calibri" pitchFamily="34" charset="0"/>
                <a:ea typeface="Calibri" pitchFamily="34" charset="-122"/>
                <a:cs typeface="Calibri" pitchFamily="34" charset="-120"/>
              </a:rPr>
              <a:t>+5 more minutes</a:t>
            </a:r>
            <a:endParaRPr lang="en-US" sz="1250" dirty="0"/>
          </a:p>
        </p:txBody>
      </p:sp>
      <p:sp>
        <p:nvSpPr>
          <p:cNvPr id="37" name="Text 30"/>
          <p:cNvSpPr/>
          <p:nvPr/>
        </p:nvSpPr>
        <p:spPr>
          <a:xfrm>
            <a:off x="7223760" y="4892040"/>
            <a:ext cx="4117543" cy="292608"/>
          </a:xfrm>
          <a:prstGeom prst="rect">
            <a:avLst/>
          </a:prstGeom>
          <a:noFill/>
          <a:ln/>
        </p:spPr>
        <p:txBody>
          <a:bodyPr wrap="square" lIns="0" tIns="0" rIns="0" bIns="0" rtlCol="0" anchor="ctr"/>
          <a:lstStyle/>
          <a:p>
            <a:pPr indent="0" marL="0">
              <a:buNone/>
            </a:pPr>
            <a:r>
              <a:rPr lang="en-US" sz="1100" dirty="0">
                <a:solidFill>
                  <a:srgbClr val="93A5C7"/>
                </a:solidFill>
                <a:latin typeface="Calibri" pitchFamily="34" charset="0"/>
                <a:ea typeface="Calibri" pitchFamily="34" charset="-122"/>
                <a:cs typeface="Calibri" pitchFamily="34" charset="-120"/>
              </a:rPr>
              <a:t>Appears only once the track is solved and a shutdown has started.</a:t>
            </a:r>
            <a:endParaRPr lang="en-US" sz="1100" dirty="0"/>
          </a:p>
        </p:txBody>
      </p:sp>
      <p:sp>
        <p:nvSpPr>
          <p:cNvPr id="38" name="Text 31"/>
          <p:cNvSpPr/>
          <p:nvPr/>
        </p:nvSpPr>
        <p:spPr>
          <a:xfrm>
            <a:off x="548640" y="5532120"/>
            <a:ext cx="11094415" cy="274320"/>
          </a:xfrm>
          <a:prstGeom prst="rect">
            <a:avLst/>
          </a:prstGeom>
          <a:noFill/>
          <a:ln/>
        </p:spPr>
        <p:txBody>
          <a:bodyPr wrap="square" lIns="0" tIns="0" rIns="0" bIns="0" rtlCol="0" anchor="ctr"/>
          <a:lstStyle/>
          <a:p>
            <a:pPr indent="0" marL="0">
              <a:buNone/>
            </a:pPr>
            <a:r>
              <a:rPr lang="en-US" sz="1250" i="1" dirty="0">
                <a:solidFill>
                  <a:srgbClr val="E0559E"/>
                </a:solidFill>
                <a:latin typeface="Calibri" pitchFamily="34" charset="0"/>
                <a:ea typeface="Calibri" pitchFamily="34" charset="-122"/>
                <a:cs typeface="Calibri" pitchFamily="34" charset="-120"/>
              </a:rPr>
              <a:t>This is the track to pick if you're on a locked-down laptop with no terminal.</a:t>
            </a:r>
            <a:endParaRPr lang="en-US" sz="1250" dirty="0"/>
          </a:p>
        </p:txBody>
      </p:sp>
      <p:sp>
        <p:nvSpPr>
          <p:cNvPr id="39" name="Text 32"/>
          <p:cNvSpPr/>
          <p:nvPr/>
        </p:nvSpPr>
        <p:spPr>
          <a:xfrm>
            <a:off x="548640" y="6446520"/>
            <a:ext cx="2743200" cy="274320"/>
          </a:xfrm>
          <a:prstGeom prst="rect">
            <a:avLst/>
          </a:prstGeom>
          <a:noFill/>
          <a:ln/>
        </p:spPr>
        <p:txBody>
          <a:bodyPr wrap="square" lIns="0" tIns="0" rIns="0" bIns="0" rtlCol="0" anchor="ctr"/>
          <a:lstStyle/>
          <a:p>
            <a:pPr indent="0" marL="0">
              <a:buNone/>
            </a:pPr>
            <a:r>
              <a:rPr lang="en-US" sz="900" spc="150" kern="0" dirty="0">
                <a:solidFill>
                  <a:srgbClr val="5B6B8C"/>
                </a:solidFill>
                <a:latin typeface="Calibri" pitchFamily="34" charset="0"/>
                <a:ea typeface="Calibri" pitchFamily="34" charset="-122"/>
                <a:cs typeface="Calibri" pitchFamily="34" charset="-120"/>
              </a:rPr>
              <a:t>CEI LABS CTF</a:t>
            </a:r>
            <a:endParaRPr lang="en-US" sz="900" dirty="0"/>
          </a:p>
        </p:txBody>
      </p:sp>
      <p:sp>
        <p:nvSpPr>
          <p:cNvPr id="40" name="Text 33"/>
          <p:cNvSpPr/>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B6B8C"/>
                </a:solidFill>
                <a:latin typeface="Calibri" pitchFamily="34" charset="0"/>
                <a:ea typeface="Calibri" pitchFamily="34" charset="-122"/>
                <a:cs typeface="Calibri" pitchFamily="34" charset="-120"/>
              </a:rPr>
              <a:t>11</a:t>
            </a:r>
            <a:endParaRPr lang="en-US" sz="900" dirty="0"/>
          </a:p>
        </p:txBody>
      </p:sp>
    </p:spTree>
  </p:cSld>
  <p:clrMapOvr>
    <a:masterClrMapping/>
  </p:clrMapOvr>
  <p:transition spd="med" advClick="1">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22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alphaModFix amt="28000"/>
          </a:blip>
          <a:stretch>
            <a:fillRect/>
          </a:stretch>
        </p:blipFill>
        <p:spPr>
          <a:xfrm>
            <a:off x="8549640" y="109728"/>
            <a:ext cx="3291840" cy="1901952"/>
          </a:xfrm>
          <a:prstGeom prst="rect">
            <a:avLst/>
          </a:prstGeom>
        </p:spPr>
      </p:pic>
      <p:sp>
        <p:nvSpPr>
          <p:cNvPr id="3" name="Text 0"/>
          <p:cNvSpPr/>
          <p:nvPr/>
        </p:nvSpPr>
        <p:spPr>
          <a:xfrm>
            <a:off x="548640" y="457200"/>
            <a:ext cx="11094415" cy="274320"/>
          </a:xfrm>
          <a:prstGeom prst="rect">
            <a:avLst/>
          </a:prstGeom>
          <a:noFill/>
          <a:ln/>
        </p:spPr>
        <p:txBody>
          <a:bodyPr wrap="square" lIns="0" tIns="0" rIns="0" bIns="0" rtlCol="0" anchor="ctr"/>
          <a:lstStyle/>
          <a:p>
            <a:pPr indent="0" marL="0">
              <a:buNone/>
            </a:pPr>
            <a:r>
              <a:rPr lang="en-US" sz="1100" b="1" spc="120" kern="0" dirty="0">
                <a:solidFill>
                  <a:srgbClr val="E0559E"/>
                </a:solidFill>
                <a:latin typeface="Calibri" pitchFamily="34" charset="0"/>
                <a:ea typeface="Calibri" pitchFamily="34" charset="-122"/>
                <a:cs typeface="Calibri" pitchFamily="34" charset="-120"/>
              </a:rPr>
              <a:t>YOUR FIRST FLAG</a:t>
            </a:r>
            <a:endParaRPr lang="en-US" sz="1100" dirty="0"/>
          </a:p>
        </p:txBody>
      </p:sp>
      <p:sp>
        <p:nvSpPr>
          <p:cNvPr id="4" name="Text 1"/>
          <p:cNvSpPr/>
          <p:nvPr/>
        </p:nvSpPr>
        <p:spPr>
          <a:xfrm>
            <a:off x="548640" y="749808"/>
            <a:ext cx="11094415" cy="566928"/>
          </a:xfrm>
          <a:prstGeom prst="rect">
            <a:avLst/>
          </a:prstGeom>
          <a:noFill/>
          <a:ln/>
        </p:spPr>
        <p:txBody>
          <a:bodyPr wrap="square" lIns="0" tIns="0" rIns="0" bIns="0" rtlCol="0" anchor="ctr"/>
          <a:lstStyle/>
          <a:p>
            <a:pPr indent="0" marL="0">
              <a:buNone/>
            </a:pPr>
            <a:r>
              <a:rPr lang="en-US" sz="3200" b="1" dirty="0">
                <a:solidFill>
                  <a:srgbClr val="F4F6FB"/>
                </a:solidFill>
                <a:latin typeface="Cambria" pitchFamily="34" charset="0"/>
                <a:ea typeface="Cambria" pitchFamily="34" charset="-122"/>
                <a:cs typeface="Cambria" pitchFamily="34" charset="-120"/>
              </a:rPr>
              <a:t>Start Here, step by step</a:t>
            </a:r>
            <a:endParaRPr lang="en-US" sz="3200" dirty="0"/>
          </a:p>
        </p:txBody>
      </p:sp>
      <p:sp>
        <p:nvSpPr>
          <p:cNvPr id="5" name="Text 2"/>
          <p:cNvSpPr/>
          <p:nvPr/>
        </p:nvSpPr>
        <p:spPr>
          <a:xfrm>
            <a:off x="548640" y="1389888"/>
            <a:ext cx="9814255" cy="475488"/>
          </a:xfrm>
          <a:prstGeom prst="rect">
            <a:avLst/>
          </a:prstGeom>
          <a:noFill/>
          <a:ln/>
        </p:spPr>
        <p:txBody>
          <a:bodyPr wrap="square" lIns="0" tIns="0" rIns="0" bIns="0" rtlCol="0" anchor="ctr"/>
          <a:lstStyle/>
          <a:p>
            <a:pPr indent="0" marL="0">
              <a:lnSpc>
                <a:spcPct val="115000"/>
              </a:lnSpc>
              <a:buNone/>
            </a:pPr>
            <a:r>
              <a:rPr lang="en-US" sz="1300" dirty="0">
                <a:solidFill>
                  <a:srgbClr val="93A5C7"/>
                </a:solidFill>
                <a:latin typeface="Calibri" pitchFamily="34" charset="0"/>
                <a:ea typeface="Calibri" pitchFamily="34" charset="-122"/>
                <a:cs typeface="Calibri" pitchFamily="34" charset="-120"/>
              </a:rPr>
              <a:t>Ten points, and it proves the part people actually get stuck on: that targets live behind the workstation.</a:t>
            </a:r>
            <a:endParaRPr lang="en-US" sz="1300" dirty="0"/>
          </a:p>
        </p:txBody>
      </p:sp>
      <p:sp>
        <p:nvSpPr>
          <p:cNvPr id="6" name="Shape 3"/>
          <p:cNvSpPr/>
          <p:nvPr/>
        </p:nvSpPr>
        <p:spPr>
          <a:xfrm>
            <a:off x="548640" y="2194560"/>
            <a:ext cx="2430704" cy="2788920"/>
          </a:xfrm>
          <a:prstGeom prst="roundRect">
            <a:avLst>
              <a:gd name="adj" fmla="val 3386"/>
            </a:avLst>
          </a:prstGeom>
          <a:solidFill>
            <a:srgbClr val="141F30"/>
          </a:solidFill>
          <a:ln/>
        </p:spPr>
      </p:sp>
      <p:sp>
        <p:nvSpPr>
          <p:cNvPr id="7" name="Text 4"/>
          <p:cNvSpPr/>
          <p:nvPr/>
        </p:nvSpPr>
        <p:spPr>
          <a:xfrm>
            <a:off x="841248" y="2432304"/>
            <a:ext cx="548640" cy="457200"/>
          </a:xfrm>
          <a:prstGeom prst="rect">
            <a:avLst/>
          </a:prstGeom>
          <a:noFill/>
          <a:ln/>
        </p:spPr>
        <p:txBody>
          <a:bodyPr wrap="square" lIns="0" tIns="0" rIns="0" bIns="0" rtlCol="0" anchor="ctr"/>
          <a:lstStyle/>
          <a:p>
            <a:pPr indent="0" marL="0">
              <a:buNone/>
            </a:pPr>
            <a:r>
              <a:rPr lang="en-US" sz="2600" b="1" dirty="0">
                <a:solidFill>
                  <a:srgbClr val="E0559E"/>
                </a:solidFill>
                <a:latin typeface="Cambria" pitchFamily="34" charset="0"/>
                <a:ea typeface="Cambria" pitchFamily="34" charset="-122"/>
                <a:cs typeface="Cambria" pitchFamily="34" charset="-120"/>
              </a:rPr>
              <a:t>1</a:t>
            </a:r>
            <a:endParaRPr lang="en-US" sz="2600" dirty="0"/>
          </a:p>
        </p:txBody>
      </p:sp>
      <p:sp>
        <p:nvSpPr>
          <p:cNvPr id="8" name="Text 5"/>
          <p:cNvSpPr/>
          <p:nvPr/>
        </p:nvSpPr>
        <p:spPr>
          <a:xfrm>
            <a:off x="841248" y="2926080"/>
            <a:ext cx="1845488" cy="548640"/>
          </a:xfrm>
          <a:prstGeom prst="rect">
            <a:avLst/>
          </a:prstGeom>
          <a:noFill/>
          <a:ln/>
        </p:spPr>
        <p:txBody>
          <a:bodyPr wrap="square" lIns="0" tIns="0" rIns="0" bIns="0" rtlCol="0" anchor="t"/>
          <a:lstStyle/>
          <a:p>
            <a:pPr indent="0" marL="0">
              <a:buNone/>
            </a:pPr>
            <a:r>
              <a:rPr lang="en-US" sz="1500" b="1" dirty="0">
                <a:solidFill>
                  <a:srgbClr val="F4F6FB"/>
                </a:solidFill>
                <a:latin typeface="Cambria" pitchFamily="34" charset="0"/>
                <a:ea typeface="Cambria" pitchFamily="34" charset="-122"/>
                <a:cs typeface="Cambria" pitchFamily="34" charset="-120"/>
              </a:rPr>
              <a:t>Click Launch</a:t>
            </a:r>
            <a:endParaRPr lang="en-US" sz="1500" dirty="0"/>
          </a:p>
        </p:txBody>
      </p:sp>
      <p:sp>
        <p:nvSpPr>
          <p:cNvPr id="9" name="Text 6"/>
          <p:cNvSpPr/>
          <p:nvPr/>
        </p:nvSpPr>
        <p:spPr>
          <a:xfrm>
            <a:off x="841248" y="3493008"/>
            <a:ext cx="1845488" cy="1216152"/>
          </a:xfrm>
          <a:prstGeom prst="rect">
            <a:avLst/>
          </a:prstGeom>
          <a:noFill/>
          <a:ln/>
        </p:spPr>
        <p:txBody>
          <a:bodyPr wrap="square" lIns="0" tIns="0" rIns="0" bIns="0" rtlCol="0" anchor="t"/>
          <a:lstStyle/>
          <a:p>
            <a:pPr indent="0" marL="0">
              <a:lnSpc>
                <a:spcPct val="115000"/>
              </a:lnSpc>
              <a:buNone/>
            </a:pPr>
            <a:r>
              <a:rPr lang="en-US" sz="1200" dirty="0">
                <a:solidFill>
                  <a:srgbClr val="93A5C7"/>
                </a:solidFill>
                <a:latin typeface="Calibri" pitchFamily="34" charset="0"/>
                <a:ea typeface="Calibri" pitchFamily="34" charset="-122"/>
                <a:cs typeface="Calibri" pitchFamily="34" charset="-120"/>
              </a:rPr>
              <a:t>On the "Natas: Start Here" challenge in CTFd.</a:t>
            </a:r>
            <a:endParaRPr lang="en-US" sz="1200" dirty="0"/>
          </a:p>
        </p:txBody>
      </p:sp>
      <p:sp>
        <p:nvSpPr>
          <p:cNvPr id="10" name="Text 7"/>
          <p:cNvSpPr/>
          <p:nvPr/>
        </p:nvSpPr>
        <p:spPr>
          <a:xfrm>
            <a:off x="2979344" y="3387852"/>
            <a:ext cx="457200" cy="402336"/>
          </a:xfrm>
          <a:prstGeom prst="rect">
            <a:avLst/>
          </a:prstGeom>
          <a:noFill/>
          <a:ln/>
        </p:spPr>
        <p:txBody>
          <a:bodyPr wrap="square" lIns="0" tIns="0" rIns="0" bIns="0" rtlCol="0" anchor="ctr"/>
          <a:lstStyle/>
          <a:p>
            <a:pPr algn="ctr" indent="0" marL="0">
              <a:buNone/>
            </a:pPr>
            <a:r>
              <a:rPr lang="en-US" sz="1800" dirty="0">
                <a:solidFill>
                  <a:srgbClr val="5B6B8C"/>
                </a:solidFill>
                <a:latin typeface="Calibri" pitchFamily="34" charset="0"/>
                <a:ea typeface="Calibri" pitchFamily="34" charset="-122"/>
                <a:cs typeface="Calibri" pitchFamily="34" charset="-120"/>
              </a:rPr>
              <a:t>→</a:t>
            </a:r>
            <a:endParaRPr lang="en-US" sz="1800" dirty="0"/>
          </a:p>
        </p:txBody>
      </p:sp>
      <p:sp>
        <p:nvSpPr>
          <p:cNvPr id="11" name="Shape 8"/>
          <p:cNvSpPr/>
          <p:nvPr/>
        </p:nvSpPr>
        <p:spPr>
          <a:xfrm>
            <a:off x="3436544" y="2194560"/>
            <a:ext cx="2430704" cy="2788920"/>
          </a:xfrm>
          <a:prstGeom prst="roundRect">
            <a:avLst>
              <a:gd name="adj" fmla="val 3386"/>
            </a:avLst>
          </a:prstGeom>
          <a:solidFill>
            <a:srgbClr val="141F30"/>
          </a:solidFill>
          <a:ln/>
        </p:spPr>
      </p:sp>
      <p:sp>
        <p:nvSpPr>
          <p:cNvPr id="12" name="Text 9"/>
          <p:cNvSpPr/>
          <p:nvPr/>
        </p:nvSpPr>
        <p:spPr>
          <a:xfrm>
            <a:off x="3729152" y="2432304"/>
            <a:ext cx="548640" cy="457200"/>
          </a:xfrm>
          <a:prstGeom prst="rect">
            <a:avLst/>
          </a:prstGeom>
          <a:noFill/>
          <a:ln/>
        </p:spPr>
        <p:txBody>
          <a:bodyPr wrap="square" lIns="0" tIns="0" rIns="0" bIns="0" rtlCol="0" anchor="ctr"/>
          <a:lstStyle/>
          <a:p>
            <a:pPr indent="0" marL="0">
              <a:buNone/>
            </a:pPr>
            <a:r>
              <a:rPr lang="en-US" sz="2600" b="1" dirty="0">
                <a:solidFill>
                  <a:srgbClr val="E0559E"/>
                </a:solidFill>
                <a:latin typeface="Cambria" pitchFamily="34" charset="0"/>
                <a:ea typeface="Cambria" pitchFamily="34" charset="-122"/>
                <a:cs typeface="Cambria" pitchFamily="34" charset="-120"/>
              </a:rPr>
              <a:t>2</a:t>
            </a:r>
            <a:endParaRPr lang="en-US" sz="2600" dirty="0"/>
          </a:p>
        </p:txBody>
      </p:sp>
      <p:sp>
        <p:nvSpPr>
          <p:cNvPr id="13" name="Text 10"/>
          <p:cNvSpPr/>
          <p:nvPr/>
        </p:nvSpPr>
        <p:spPr>
          <a:xfrm>
            <a:off x="3729152" y="2926080"/>
            <a:ext cx="1845488" cy="548640"/>
          </a:xfrm>
          <a:prstGeom prst="rect">
            <a:avLst/>
          </a:prstGeom>
          <a:noFill/>
          <a:ln/>
        </p:spPr>
        <p:txBody>
          <a:bodyPr wrap="square" lIns="0" tIns="0" rIns="0" bIns="0" rtlCol="0" anchor="t"/>
          <a:lstStyle/>
          <a:p>
            <a:pPr indent="0" marL="0">
              <a:buNone/>
            </a:pPr>
            <a:r>
              <a:rPr lang="en-US" sz="1500" b="1" dirty="0">
                <a:solidFill>
                  <a:srgbClr val="F4F6FB"/>
                </a:solidFill>
                <a:latin typeface="Cambria" pitchFamily="34" charset="0"/>
                <a:ea typeface="Cambria" pitchFamily="34" charset="-122"/>
                <a:cs typeface="Cambria" pitchFamily="34" charset="-120"/>
              </a:rPr>
              <a:t>Open the workstation</a:t>
            </a:r>
            <a:endParaRPr lang="en-US" sz="1500" dirty="0"/>
          </a:p>
        </p:txBody>
      </p:sp>
      <p:sp>
        <p:nvSpPr>
          <p:cNvPr id="14" name="Text 11"/>
          <p:cNvSpPr/>
          <p:nvPr/>
        </p:nvSpPr>
        <p:spPr>
          <a:xfrm>
            <a:off x="3729152" y="3493008"/>
            <a:ext cx="1845488" cy="1216152"/>
          </a:xfrm>
          <a:prstGeom prst="rect">
            <a:avLst/>
          </a:prstGeom>
          <a:noFill/>
          <a:ln/>
        </p:spPr>
        <p:txBody>
          <a:bodyPr wrap="square" lIns="0" tIns="0" rIns="0" bIns="0" rtlCol="0" anchor="t"/>
          <a:lstStyle/>
          <a:p>
            <a:pPr indent="0" marL="0">
              <a:lnSpc>
                <a:spcPct val="115000"/>
              </a:lnSpc>
              <a:buNone/>
            </a:pPr>
            <a:r>
              <a:rPr lang="en-US" sz="1200" dirty="0">
                <a:solidFill>
                  <a:srgbClr val="93A5C7"/>
                </a:solidFill>
                <a:latin typeface="Calibri" pitchFamily="34" charset="0"/>
                <a:ea typeface="Calibri" pitchFamily="34" charset="-122"/>
                <a:cs typeface="Calibri" pitchFamily="34" charset="-120"/>
              </a:rPr>
              <a:t>noVNC in your browser, or SSH — your choice.</a:t>
            </a:r>
            <a:endParaRPr lang="en-US" sz="1200" dirty="0"/>
          </a:p>
        </p:txBody>
      </p:sp>
      <p:sp>
        <p:nvSpPr>
          <p:cNvPr id="15" name="Text 12"/>
          <p:cNvSpPr/>
          <p:nvPr/>
        </p:nvSpPr>
        <p:spPr>
          <a:xfrm>
            <a:off x="5867248" y="3387852"/>
            <a:ext cx="457200" cy="402336"/>
          </a:xfrm>
          <a:prstGeom prst="rect">
            <a:avLst/>
          </a:prstGeom>
          <a:noFill/>
          <a:ln/>
        </p:spPr>
        <p:txBody>
          <a:bodyPr wrap="square" lIns="0" tIns="0" rIns="0" bIns="0" rtlCol="0" anchor="ctr"/>
          <a:lstStyle/>
          <a:p>
            <a:pPr algn="ctr" indent="0" marL="0">
              <a:buNone/>
            </a:pPr>
            <a:r>
              <a:rPr lang="en-US" sz="1800" dirty="0">
                <a:solidFill>
                  <a:srgbClr val="5B6B8C"/>
                </a:solidFill>
                <a:latin typeface="Calibri" pitchFamily="34" charset="0"/>
                <a:ea typeface="Calibri" pitchFamily="34" charset="-122"/>
                <a:cs typeface="Calibri" pitchFamily="34" charset="-120"/>
              </a:rPr>
              <a:t>→</a:t>
            </a:r>
            <a:endParaRPr lang="en-US" sz="1800" dirty="0"/>
          </a:p>
        </p:txBody>
      </p:sp>
      <p:sp>
        <p:nvSpPr>
          <p:cNvPr id="16" name="Shape 13"/>
          <p:cNvSpPr/>
          <p:nvPr/>
        </p:nvSpPr>
        <p:spPr>
          <a:xfrm>
            <a:off x="6324448" y="2194560"/>
            <a:ext cx="2430704" cy="2788920"/>
          </a:xfrm>
          <a:prstGeom prst="roundRect">
            <a:avLst>
              <a:gd name="adj" fmla="val 3386"/>
            </a:avLst>
          </a:prstGeom>
          <a:solidFill>
            <a:srgbClr val="141F30"/>
          </a:solidFill>
          <a:ln/>
        </p:spPr>
      </p:sp>
      <p:sp>
        <p:nvSpPr>
          <p:cNvPr id="17" name="Text 14"/>
          <p:cNvSpPr/>
          <p:nvPr/>
        </p:nvSpPr>
        <p:spPr>
          <a:xfrm>
            <a:off x="6617056" y="2432304"/>
            <a:ext cx="548640" cy="457200"/>
          </a:xfrm>
          <a:prstGeom prst="rect">
            <a:avLst/>
          </a:prstGeom>
          <a:noFill/>
          <a:ln/>
        </p:spPr>
        <p:txBody>
          <a:bodyPr wrap="square" lIns="0" tIns="0" rIns="0" bIns="0" rtlCol="0" anchor="ctr"/>
          <a:lstStyle/>
          <a:p>
            <a:pPr indent="0" marL="0">
              <a:buNone/>
            </a:pPr>
            <a:r>
              <a:rPr lang="en-US" sz="2600" b="1" dirty="0">
                <a:solidFill>
                  <a:srgbClr val="E0559E"/>
                </a:solidFill>
                <a:latin typeface="Cambria" pitchFamily="34" charset="0"/>
                <a:ea typeface="Cambria" pitchFamily="34" charset="-122"/>
                <a:cs typeface="Cambria" pitchFamily="34" charset="-120"/>
              </a:rPr>
              <a:t>3</a:t>
            </a:r>
            <a:endParaRPr lang="en-US" sz="2600" dirty="0"/>
          </a:p>
        </p:txBody>
      </p:sp>
      <p:sp>
        <p:nvSpPr>
          <p:cNvPr id="18" name="Text 15"/>
          <p:cNvSpPr/>
          <p:nvPr/>
        </p:nvSpPr>
        <p:spPr>
          <a:xfrm>
            <a:off x="6617056" y="2926080"/>
            <a:ext cx="1845488" cy="548640"/>
          </a:xfrm>
          <a:prstGeom prst="rect">
            <a:avLst/>
          </a:prstGeom>
          <a:noFill/>
          <a:ln/>
        </p:spPr>
        <p:txBody>
          <a:bodyPr wrap="square" lIns="0" tIns="0" rIns="0" bIns="0" rtlCol="0" anchor="t"/>
          <a:lstStyle/>
          <a:p>
            <a:pPr indent="0" marL="0">
              <a:buNone/>
            </a:pPr>
            <a:r>
              <a:rPr lang="en-US" sz="1500" b="1" dirty="0">
                <a:solidFill>
                  <a:srgbClr val="F4F6FB"/>
                </a:solidFill>
                <a:latin typeface="Cambria" pitchFamily="34" charset="0"/>
                <a:ea typeface="Cambria" pitchFamily="34" charset="-122"/>
                <a:cs typeface="Cambria" pitchFamily="34" charset="-120"/>
              </a:rPr>
              <a:t>Browse from inside it</a:t>
            </a:r>
            <a:endParaRPr lang="en-US" sz="1500" dirty="0"/>
          </a:p>
        </p:txBody>
      </p:sp>
      <p:sp>
        <p:nvSpPr>
          <p:cNvPr id="19" name="Text 16"/>
          <p:cNvSpPr/>
          <p:nvPr/>
        </p:nvSpPr>
        <p:spPr>
          <a:xfrm>
            <a:off x="6617056" y="3493008"/>
            <a:ext cx="1845488" cy="1216152"/>
          </a:xfrm>
          <a:prstGeom prst="rect">
            <a:avLst/>
          </a:prstGeom>
          <a:noFill/>
          <a:ln/>
        </p:spPr>
        <p:txBody>
          <a:bodyPr wrap="square" lIns="0" tIns="0" rIns="0" bIns="0" rtlCol="0" anchor="t"/>
          <a:lstStyle/>
          <a:p>
            <a:pPr indent="0" marL="0">
              <a:lnSpc>
                <a:spcPct val="115000"/>
              </a:lnSpc>
              <a:buNone/>
            </a:pPr>
            <a:r>
              <a:rPr lang="en-US" sz="1200" dirty="0">
                <a:solidFill>
                  <a:srgbClr val="93A5C7"/>
                </a:solidFill>
                <a:latin typeface="Calibri" pitchFamily="34" charset="0"/>
                <a:ea typeface="Calibri" pitchFamily="34" charset="-122"/>
                <a:cs typeface="Calibri" pitchFamily="34" charset="-120"/>
              </a:rPr>
              <a:t>Open the target host on port 8000 and read welcome.txt.</a:t>
            </a:r>
            <a:endParaRPr lang="en-US" sz="1200" dirty="0"/>
          </a:p>
        </p:txBody>
      </p:sp>
      <p:sp>
        <p:nvSpPr>
          <p:cNvPr id="20" name="Text 17"/>
          <p:cNvSpPr/>
          <p:nvPr/>
        </p:nvSpPr>
        <p:spPr>
          <a:xfrm>
            <a:off x="8755151" y="3387852"/>
            <a:ext cx="457200" cy="402336"/>
          </a:xfrm>
          <a:prstGeom prst="rect">
            <a:avLst/>
          </a:prstGeom>
          <a:noFill/>
          <a:ln/>
        </p:spPr>
        <p:txBody>
          <a:bodyPr wrap="square" lIns="0" tIns="0" rIns="0" bIns="0" rtlCol="0" anchor="ctr"/>
          <a:lstStyle/>
          <a:p>
            <a:pPr algn="ctr" indent="0" marL="0">
              <a:buNone/>
            </a:pPr>
            <a:r>
              <a:rPr lang="en-US" sz="1800" dirty="0">
                <a:solidFill>
                  <a:srgbClr val="5B6B8C"/>
                </a:solidFill>
                <a:latin typeface="Calibri" pitchFamily="34" charset="0"/>
                <a:ea typeface="Calibri" pitchFamily="34" charset="-122"/>
                <a:cs typeface="Calibri" pitchFamily="34" charset="-120"/>
              </a:rPr>
              <a:t>→</a:t>
            </a:r>
            <a:endParaRPr lang="en-US" sz="1800" dirty="0"/>
          </a:p>
        </p:txBody>
      </p:sp>
      <p:sp>
        <p:nvSpPr>
          <p:cNvPr id="21" name="Shape 18"/>
          <p:cNvSpPr/>
          <p:nvPr/>
        </p:nvSpPr>
        <p:spPr>
          <a:xfrm>
            <a:off x="9212351" y="2194560"/>
            <a:ext cx="2430704" cy="2788920"/>
          </a:xfrm>
          <a:prstGeom prst="roundRect">
            <a:avLst>
              <a:gd name="adj" fmla="val 3386"/>
            </a:avLst>
          </a:prstGeom>
          <a:solidFill>
            <a:srgbClr val="141F30"/>
          </a:solidFill>
          <a:ln/>
        </p:spPr>
      </p:sp>
      <p:sp>
        <p:nvSpPr>
          <p:cNvPr id="22" name="Text 19"/>
          <p:cNvSpPr/>
          <p:nvPr/>
        </p:nvSpPr>
        <p:spPr>
          <a:xfrm>
            <a:off x="9504959" y="2432304"/>
            <a:ext cx="548640" cy="457200"/>
          </a:xfrm>
          <a:prstGeom prst="rect">
            <a:avLst/>
          </a:prstGeom>
          <a:noFill/>
          <a:ln/>
        </p:spPr>
        <p:txBody>
          <a:bodyPr wrap="square" lIns="0" tIns="0" rIns="0" bIns="0" rtlCol="0" anchor="ctr"/>
          <a:lstStyle/>
          <a:p>
            <a:pPr indent="0" marL="0">
              <a:buNone/>
            </a:pPr>
            <a:r>
              <a:rPr lang="en-US" sz="2600" b="1" dirty="0">
                <a:solidFill>
                  <a:srgbClr val="E0559E"/>
                </a:solidFill>
                <a:latin typeface="Cambria" pitchFamily="34" charset="0"/>
                <a:ea typeface="Cambria" pitchFamily="34" charset="-122"/>
                <a:cs typeface="Cambria" pitchFamily="34" charset="-120"/>
              </a:rPr>
              <a:t>4</a:t>
            </a:r>
            <a:endParaRPr lang="en-US" sz="2600" dirty="0"/>
          </a:p>
        </p:txBody>
      </p:sp>
      <p:sp>
        <p:nvSpPr>
          <p:cNvPr id="23" name="Text 20"/>
          <p:cNvSpPr/>
          <p:nvPr/>
        </p:nvSpPr>
        <p:spPr>
          <a:xfrm>
            <a:off x="9504959" y="2926080"/>
            <a:ext cx="1845488" cy="548640"/>
          </a:xfrm>
          <a:prstGeom prst="rect">
            <a:avLst/>
          </a:prstGeom>
          <a:noFill/>
          <a:ln/>
        </p:spPr>
        <p:txBody>
          <a:bodyPr wrap="square" lIns="0" tIns="0" rIns="0" bIns="0" rtlCol="0" anchor="t"/>
          <a:lstStyle/>
          <a:p>
            <a:pPr indent="0" marL="0">
              <a:buNone/>
            </a:pPr>
            <a:r>
              <a:rPr lang="en-US" sz="1500" b="1" dirty="0">
                <a:solidFill>
                  <a:srgbClr val="F4F6FB"/>
                </a:solidFill>
                <a:latin typeface="Cambria" pitchFamily="34" charset="0"/>
                <a:ea typeface="Cambria" pitchFamily="34" charset="-122"/>
                <a:cs typeface="Cambria" pitchFamily="34" charset="-120"/>
              </a:rPr>
              <a:t>Submit it</a:t>
            </a:r>
            <a:endParaRPr lang="en-US" sz="1500" dirty="0"/>
          </a:p>
        </p:txBody>
      </p:sp>
      <p:sp>
        <p:nvSpPr>
          <p:cNvPr id="24" name="Text 21"/>
          <p:cNvSpPr/>
          <p:nvPr/>
        </p:nvSpPr>
        <p:spPr>
          <a:xfrm>
            <a:off x="9504959" y="3493008"/>
            <a:ext cx="1845488" cy="1216152"/>
          </a:xfrm>
          <a:prstGeom prst="rect">
            <a:avLst/>
          </a:prstGeom>
          <a:noFill/>
          <a:ln/>
        </p:spPr>
        <p:txBody>
          <a:bodyPr wrap="square" lIns="0" tIns="0" rIns="0" bIns="0" rtlCol="0" anchor="t"/>
          <a:lstStyle/>
          <a:p>
            <a:pPr indent="0" marL="0">
              <a:lnSpc>
                <a:spcPct val="115000"/>
              </a:lnSpc>
              <a:buNone/>
            </a:pPr>
            <a:r>
              <a:rPr lang="en-US" sz="1200" dirty="0">
                <a:solidFill>
                  <a:srgbClr val="93A5C7"/>
                </a:solidFill>
                <a:latin typeface="Calibri" pitchFamily="34" charset="0"/>
                <a:ea typeface="Calibri" pitchFamily="34" charset="-122"/>
                <a:cs typeface="Calibri" pitchFamily="34" charset="-120"/>
              </a:rPr>
              <a:t>Then begin Natas 0: View Source.</a:t>
            </a:r>
            <a:endParaRPr lang="en-US" sz="1200" dirty="0"/>
          </a:p>
        </p:txBody>
      </p:sp>
      <p:sp>
        <p:nvSpPr>
          <p:cNvPr id="25" name="Text 22"/>
          <p:cNvSpPr/>
          <p:nvPr/>
        </p:nvSpPr>
        <p:spPr>
          <a:xfrm>
            <a:off x="548640" y="5349240"/>
            <a:ext cx="11094415" cy="274320"/>
          </a:xfrm>
          <a:prstGeom prst="rect">
            <a:avLst/>
          </a:prstGeom>
          <a:noFill/>
          <a:ln/>
        </p:spPr>
        <p:txBody>
          <a:bodyPr wrap="square" lIns="0" tIns="0" rIns="0" bIns="0" rtlCol="0" anchor="ctr"/>
          <a:lstStyle/>
          <a:p>
            <a:pPr indent="0" marL="0">
              <a:buNone/>
            </a:pPr>
            <a:r>
              <a:rPr lang="en-US" sz="1250" i="1" dirty="0">
                <a:solidFill>
                  <a:srgbClr val="E0559E"/>
                </a:solidFill>
                <a:latin typeface="Calibri" pitchFamily="34" charset="0"/>
                <a:ea typeface="Calibri" pitchFamily="34" charset="-122"/>
                <a:cs typeface="Calibri" pitchFamily="34" charset="-120"/>
              </a:rPr>
              <a:t>If the target won't load, check you're browsing from the workstation and not your own machine.</a:t>
            </a:r>
            <a:endParaRPr lang="en-US" sz="1250" dirty="0"/>
          </a:p>
        </p:txBody>
      </p:sp>
      <p:sp>
        <p:nvSpPr>
          <p:cNvPr id="26" name="Text 23"/>
          <p:cNvSpPr/>
          <p:nvPr/>
        </p:nvSpPr>
        <p:spPr>
          <a:xfrm>
            <a:off x="548640" y="6446520"/>
            <a:ext cx="2743200" cy="274320"/>
          </a:xfrm>
          <a:prstGeom prst="rect">
            <a:avLst/>
          </a:prstGeom>
          <a:noFill/>
          <a:ln/>
        </p:spPr>
        <p:txBody>
          <a:bodyPr wrap="square" lIns="0" tIns="0" rIns="0" bIns="0" rtlCol="0" anchor="ctr"/>
          <a:lstStyle/>
          <a:p>
            <a:pPr indent="0" marL="0">
              <a:buNone/>
            </a:pPr>
            <a:r>
              <a:rPr lang="en-US" sz="900" spc="150" kern="0" dirty="0">
                <a:solidFill>
                  <a:srgbClr val="5B6B8C"/>
                </a:solidFill>
                <a:latin typeface="Calibri" pitchFamily="34" charset="0"/>
                <a:ea typeface="Calibri" pitchFamily="34" charset="-122"/>
                <a:cs typeface="Calibri" pitchFamily="34" charset="-120"/>
              </a:rPr>
              <a:t>CEI LABS CTF</a:t>
            </a:r>
            <a:endParaRPr lang="en-US" sz="900" dirty="0"/>
          </a:p>
        </p:txBody>
      </p:sp>
      <p:sp>
        <p:nvSpPr>
          <p:cNvPr id="27" name="Text 24"/>
          <p:cNvSpPr/>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B6B8C"/>
                </a:solidFill>
                <a:latin typeface="Calibri" pitchFamily="34" charset="0"/>
                <a:ea typeface="Calibri" pitchFamily="34" charset="-122"/>
                <a:cs typeface="Calibri" pitchFamily="34" charset="-120"/>
              </a:rPr>
              <a:t>12</a:t>
            </a:r>
            <a:endParaRPr lang="en-US" sz="900" dirty="0"/>
          </a:p>
        </p:txBody>
      </p:sp>
    </p:spTree>
  </p:cSld>
  <p:clrMapOvr>
    <a:masterClrMapping/>
  </p:clrMapOvr>
  <p:transition spd="med" advClick="1">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122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882128" y="2286000"/>
            <a:ext cx="3749040" cy="3072384"/>
          </a:xfrm>
          <a:prstGeom prst="rect">
            <a:avLst/>
          </a:prstGeom>
        </p:spPr>
      </p:pic>
      <p:sp>
        <p:nvSpPr>
          <p:cNvPr id="3" name="Text 0"/>
          <p:cNvSpPr/>
          <p:nvPr/>
        </p:nvSpPr>
        <p:spPr>
          <a:xfrm>
            <a:off x="548640" y="1143000"/>
            <a:ext cx="7315200" cy="731520"/>
          </a:xfrm>
          <a:prstGeom prst="rect">
            <a:avLst/>
          </a:prstGeom>
          <a:noFill/>
          <a:ln/>
        </p:spPr>
        <p:txBody>
          <a:bodyPr wrap="square" lIns="0" tIns="0" rIns="0" bIns="0" rtlCol="0" anchor="ctr"/>
          <a:lstStyle/>
          <a:p>
            <a:pPr indent="0" marL="0">
              <a:buNone/>
            </a:pPr>
            <a:r>
              <a:rPr lang="en-US" sz="4000" b="1" dirty="0">
                <a:solidFill>
                  <a:srgbClr val="F4F6FB"/>
                </a:solidFill>
                <a:latin typeface="Cambria" pitchFamily="34" charset="0"/>
                <a:ea typeface="Cambria" pitchFamily="34" charset="-122"/>
                <a:cs typeface="Cambria" pitchFamily="34" charset="-120"/>
              </a:rPr>
              <a:t>Ready to play.</a:t>
            </a:r>
            <a:endParaRPr lang="en-US" sz="4000" dirty="0"/>
          </a:p>
        </p:txBody>
      </p:sp>
      <p:sp>
        <p:nvSpPr>
          <p:cNvPr id="4" name="Text 1"/>
          <p:cNvSpPr/>
          <p:nvPr/>
        </p:nvSpPr>
        <p:spPr>
          <a:xfrm>
            <a:off x="548640" y="1920240"/>
            <a:ext cx="7680960" cy="365760"/>
          </a:xfrm>
          <a:prstGeom prst="rect">
            <a:avLst/>
          </a:prstGeom>
          <a:noFill/>
          <a:ln/>
        </p:spPr>
        <p:txBody>
          <a:bodyPr wrap="square" lIns="0" tIns="0" rIns="0" bIns="0" rtlCol="0" anchor="ctr"/>
          <a:lstStyle/>
          <a:p>
            <a:pPr indent="0" marL="0">
              <a:buNone/>
            </a:pPr>
            <a:r>
              <a:rPr lang="en-US" sz="1350" dirty="0">
                <a:solidFill>
                  <a:srgbClr val="93A5C7"/>
                </a:solidFill>
                <a:latin typeface="Calibri" pitchFamily="34" charset="0"/>
                <a:ea typeface="Calibri" pitchFamily="34" charset="-122"/>
                <a:cs typeface="Calibri" pitchFamily="34" charset="-120"/>
              </a:rPr>
              <a:t>Natas needs nothing installed — just a browser.</a:t>
            </a:r>
            <a:endParaRPr lang="en-US" sz="1350" dirty="0"/>
          </a:p>
        </p:txBody>
      </p:sp>
      <p:sp>
        <p:nvSpPr>
          <p:cNvPr id="5" name="Shape 2"/>
          <p:cNvSpPr/>
          <p:nvPr/>
        </p:nvSpPr>
        <p:spPr>
          <a:xfrm>
            <a:off x="548640" y="2606040"/>
            <a:ext cx="6613855" cy="694944"/>
          </a:xfrm>
          <a:prstGeom prst="roundRect">
            <a:avLst>
              <a:gd name="adj" fmla="val 11842"/>
            </a:avLst>
          </a:prstGeom>
          <a:solidFill>
            <a:srgbClr val="141F30"/>
          </a:solidFill>
          <a:ln/>
        </p:spPr>
      </p:sp>
      <p:sp>
        <p:nvSpPr>
          <p:cNvPr id="6" name="Text 3"/>
          <p:cNvSpPr/>
          <p:nvPr/>
        </p:nvSpPr>
        <p:spPr>
          <a:xfrm>
            <a:off x="932688" y="2606040"/>
            <a:ext cx="457200" cy="694944"/>
          </a:xfrm>
          <a:prstGeom prst="rect">
            <a:avLst/>
          </a:prstGeom>
          <a:noFill/>
          <a:ln/>
        </p:spPr>
        <p:txBody>
          <a:bodyPr wrap="square" lIns="0" tIns="0" rIns="0" bIns="0" rtlCol="0" anchor="ctr"/>
          <a:lstStyle/>
          <a:p>
            <a:pPr indent="0" marL="0">
              <a:buNone/>
            </a:pPr>
            <a:r>
              <a:rPr lang="en-US" sz="1900" b="1" dirty="0">
                <a:solidFill>
                  <a:srgbClr val="E0559E"/>
                </a:solidFill>
                <a:latin typeface="Cambria" pitchFamily="34" charset="0"/>
                <a:ea typeface="Cambria" pitchFamily="34" charset="-122"/>
                <a:cs typeface="Cambria" pitchFamily="34" charset="-120"/>
              </a:rPr>
              <a:t>1</a:t>
            </a:r>
            <a:endParaRPr lang="en-US" sz="1900" dirty="0"/>
          </a:p>
        </p:txBody>
      </p:sp>
      <p:sp>
        <p:nvSpPr>
          <p:cNvPr id="7" name="Text 4"/>
          <p:cNvSpPr/>
          <p:nvPr/>
        </p:nvSpPr>
        <p:spPr>
          <a:xfrm>
            <a:off x="1554480" y="2606040"/>
            <a:ext cx="5333695" cy="694944"/>
          </a:xfrm>
          <a:prstGeom prst="rect">
            <a:avLst/>
          </a:prstGeom>
          <a:noFill/>
          <a:ln/>
        </p:spPr>
        <p:txBody>
          <a:bodyPr wrap="square" lIns="0" tIns="0" rIns="0" bIns="0" rtlCol="0" anchor="ctr"/>
          <a:lstStyle/>
          <a:p>
            <a:pPr indent="0" marL="0">
              <a:buNone/>
            </a:pPr>
            <a:r>
              <a:rPr lang="en-US" sz="1400" dirty="0">
                <a:solidFill>
                  <a:srgbClr val="F4F6FB"/>
                </a:solidFill>
                <a:latin typeface="Calibri" pitchFamily="34" charset="0"/>
                <a:ea typeface="Calibri" pitchFamily="34" charset="-122"/>
                <a:cs typeface="Calibri" pitchFamily="34" charset="-120"/>
              </a:rPr>
              <a:t>Log in to CTFd and open the Web Security category</a:t>
            </a:r>
            <a:endParaRPr lang="en-US" sz="1400" dirty="0"/>
          </a:p>
        </p:txBody>
      </p:sp>
      <p:sp>
        <p:nvSpPr>
          <p:cNvPr id="8" name="Shape 5"/>
          <p:cNvSpPr/>
          <p:nvPr/>
        </p:nvSpPr>
        <p:spPr>
          <a:xfrm>
            <a:off x="548640" y="3438144"/>
            <a:ext cx="6613855" cy="694944"/>
          </a:xfrm>
          <a:prstGeom prst="roundRect">
            <a:avLst>
              <a:gd name="adj" fmla="val 11842"/>
            </a:avLst>
          </a:prstGeom>
          <a:solidFill>
            <a:srgbClr val="1B2740"/>
          </a:solidFill>
          <a:ln/>
        </p:spPr>
      </p:sp>
      <p:sp>
        <p:nvSpPr>
          <p:cNvPr id="9" name="Text 6"/>
          <p:cNvSpPr/>
          <p:nvPr/>
        </p:nvSpPr>
        <p:spPr>
          <a:xfrm>
            <a:off x="932688" y="3438144"/>
            <a:ext cx="457200" cy="694944"/>
          </a:xfrm>
          <a:prstGeom prst="rect">
            <a:avLst/>
          </a:prstGeom>
          <a:noFill/>
          <a:ln/>
        </p:spPr>
        <p:txBody>
          <a:bodyPr wrap="square" lIns="0" tIns="0" rIns="0" bIns="0" rtlCol="0" anchor="ctr"/>
          <a:lstStyle/>
          <a:p>
            <a:pPr indent="0" marL="0">
              <a:buNone/>
            </a:pPr>
            <a:r>
              <a:rPr lang="en-US" sz="1900" b="1" dirty="0">
                <a:solidFill>
                  <a:srgbClr val="E0559E"/>
                </a:solidFill>
                <a:latin typeface="Cambria" pitchFamily="34" charset="0"/>
                <a:ea typeface="Cambria" pitchFamily="34" charset="-122"/>
                <a:cs typeface="Cambria" pitchFamily="34" charset="-120"/>
              </a:rPr>
              <a:t>2</a:t>
            </a:r>
            <a:endParaRPr lang="en-US" sz="1900" dirty="0"/>
          </a:p>
        </p:txBody>
      </p:sp>
      <p:sp>
        <p:nvSpPr>
          <p:cNvPr id="10" name="Text 7"/>
          <p:cNvSpPr/>
          <p:nvPr/>
        </p:nvSpPr>
        <p:spPr>
          <a:xfrm>
            <a:off x="1554480" y="3438144"/>
            <a:ext cx="5333695" cy="694944"/>
          </a:xfrm>
          <a:prstGeom prst="rect">
            <a:avLst/>
          </a:prstGeom>
          <a:noFill/>
          <a:ln/>
        </p:spPr>
        <p:txBody>
          <a:bodyPr wrap="square" lIns="0" tIns="0" rIns="0" bIns="0" rtlCol="0" anchor="ctr"/>
          <a:lstStyle/>
          <a:p>
            <a:pPr indent="0" marL="0">
              <a:buNone/>
            </a:pPr>
            <a:r>
              <a:rPr lang="en-US" sz="1400" dirty="0">
                <a:solidFill>
                  <a:srgbClr val="F4F6FB"/>
                </a:solidFill>
                <a:latin typeface="Calibri" pitchFamily="34" charset="0"/>
                <a:ea typeface="Calibri" pitchFamily="34" charset="-122"/>
                <a:cs typeface="Calibri" pitchFamily="34" charset="-120"/>
              </a:rPr>
              <a:t>Solve "Natas: Start Here" to reach the workstation</a:t>
            </a:r>
            <a:endParaRPr lang="en-US" sz="1400" dirty="0"/>
          </a:p>
        </p:txBody>
      </p:sp>
      <p:sp>
        <p:nvSpPr>
          <p:cNvPr id="11" name="Shape 8"/>
          <p:cNvSpPr/>
          <p:nvPr/>
        </p:nvSpPr>
        <p:spPr>
          <a:xfrm>
            <a:off x="548640" y="4270248"/>
            <a:ext cx="6613855" cy="694944"/>
          </a:xfrm>
          <a:prstGeom prst="roundRect">
            <a:avLst>
              <a:gd name="adj" fmla="val 11842"/>
            </a:avLst>
          </a:prstGeom>
          <a:solidFill>
            <a:srgbClr val="141F30"/>
          </a:solidFill>
          <a:ln/>
        </p:spPr>
      </p:sp>
      <p:sp>
        <p:nvSpPr>
          <p:cNvPr id="12" name="Text 9"/>
          <p:cNvSpPr/>
          <p:nvPr/>
        </p:nvSpPr>
        <p:spPr>
          <a:xfrm>
            <a:off x="932688" y="4270248"/>
            <a:ext cx="457200" cy="694944"/>
          </a:xfrm>
          <a:prstGeom prst="rect">
            <a:avLst/>
          </a:prstGeom>
          <a:noFill/>
          <a:ln/>
        </p:spPr>
        <p:txBody>
          <a:bodyPr wrap="square" lIns="0" tIns="0" rIns="0" bIns="0" rtlCol="0" anchor="ctr"/>
          <a:lstStyle/>
          <a:p>
            <a:pPr indent="0" marL="0">
              <a:buNone/>
            </a:pPr>
            <a:r>
              <a:rPr lang="en-US" sz="1900" b="1" dirty="0">
                <a:solidFill>
                  <a:srgbClr val="E0559E"/>
                </a:solidFill>
                <a:latin typeface="Cambria" pitchFamily="34" charset="0"/>
                <a:ea typeface="Cambria" pitchFamily="34" charset="-122"/>
                <a:cs typeface="Cambria" pitchFamily="34" charset="-120"/>
              </a:rPr>
              <a:t>3</a:t>
            </a:r>
            <a:endParaRPr lang="en-US" sz="1900" dirty="0"/>
          </a:p>
        </p:txBody>
      </p:sp>
      <p:sp>
        <p:nvSpPr>
          <p:cNvPr id="13" name="Text 10"/>
          <p:cNvSpPr/>
          <p:nvPr/>
        </p:nvSpPr>
        <p:spPr>
          <a:xfrm>
            <a:off x="1554480" y="4270248"/>
            <a:ext cx="5333695" cy="694944"/>
          </a:xfrm>
          <a:prstGeom prst="rect">
            <a:avLst/>
          </a:prstGeom>
          <a:noFill/>
          <a:ln/>
        </p:spPr>
        <p:txBody>
          <a:bodyPr wrap="square" lIns="0" tIns="0" rIns="0" bIns="0" rtlCol="0" anchor="ctr"/>
          <a:lstStyle/>
          <a:p>
            <a:pPr indent="0" marL="0">
              <a:buNone/>
            </a:pPr>
            <a:r>
              <a:rPr lang="en-US" sz="1400" dirty="0">
                <a:solidFill>
                  <a:srgbClr val="F4F6FB"/>
                </a:solidFill>
                <a:latin typeface="Calibri" pitchFamily="34" charset="0"/>
                <a:ea typeface="Calibri" pitchFamily="34" charset="-122"/>
                <a:cs typeface="Calibri" pitchFamily="34" charset="-120"/>
              </a:rPr>
              <a:t>Open noVNC and browse to the target from inside it</a:t>
            </a:r>
            <a:endParaRPr lang="en-US" sz="1400" dirty="0"/>
          </a:p>
        </p:txBody>
      </p:sp>
      <p:sp>
        <p:nvSpPr>
          <p:cNvPr id="14" name="Shape 11"/>
          <p:cNvSpPr/>
          <p:nvPr/>
        </p:nvSpPr>
        <p:spPr>
          <a:xfrm>
            <a:off x="548640" y="5102352"/>
            <a:ext cx="6613855" cy="694944"/>
          </a:xfrm>
          <a:prstGeom prst="roundRect">
            <a:avLst>
              <a:gd name="adj" fmla="val 11842"/>
            </a:avLst>
          </a:prstGeom>
          <a:solidFill>
            <a:srgbClr val="1B2740"/>
          </a:solidFill>
          <a:ln/>
        </p:spPr>
      </p:sp>
      <p:sp>
        <p:nvSpPr>
          <p:cNvPr id="15" name="Text 12"/>
          <p:cNvSpPr/>
          <p:nvPr/>
        </p:nvSpPr>
        <p:spPr>
          <a:xfrm>
            <a:off x="932688" y="5102352"/>
            <a:ext cx="457200" cy="694944"/>
          </a:xfrm>
          <a:prstGeom prst="rect">
            <a:avLst/>
          </a:prstGeom>
          <a:noFill/>
          <a:ln/>
        </p:spPr>
        <p:txBody>
          <a:bodyPr wrap="square" lIns="0" tIns="0" rIns="0" bIns="0" rtlCol="0" anchor="ctr"/>
          <a:lstStyle/>
          <a:p>
            <a:pPr indent="0" marL="0">
              <a:buNone/>
            </a:pPr>
            <a:r>
              <a:rPr lang="en-US" sz="1900" b="1" dirty="0">
                <a:solidFill>
                  <a:srgbClr val="E0559E"/>
                </a:solidFill>
                <a:latin typeface="Cambria" pitchFamily="34" charset="0"/>
                <a:ea typeface="Cambria" pitchFamily="34" charset="-122"/>
                <a:cs typeface="Cambria" pitchFamily="34" charset="-120"/>
              </a:rPr>
              <a:t>4</a:t>
            </a:r>
            <a:endParaRPr lang="en-US" sz="1900" dirty="0"/>
          </a:p>
        </p:txBody>
      </p:sp>
      <p:sp>
        <p:nvSpPr>
          <p:cNvPr id="16" name="Text 13"/>
          <p:cNvSpPr/>
          <p:nvPr/>
        </p:nvSpPr>
        <p:spPr>
          <a:xfrm>
            <a:off x="1554480" y="5102352"/>
            <a:ext cx="5333695" cy="694944"/>
          </a:xfrm>
          <a:prstGeom prst="rect">
            <a:avLst/>
          </a:prstGeom>
          <a:noFill/>
          <a:ln/>
        </p:spPr>
        <p:txBody>
          <a:bodyPr wrap="square" lIns="0" tIns="0" rIns="0" bIns="0" rtlCol="0" anchor="ctr"/>
          <a:lstStyle/>
          <a:p>
            <a:pPr indent="0" marL="0">
              <a:buNone/>
            </a:pPr>
            <a:r>
              <a:rPr lang="en-US" sz="1400" dirty="0">
                <a:solidFill>
                  <a:srgbClr val="F4F6FB"/>
                </a:solidFill>
                <a:latin typeface="Calibri" pitchFamily="34" charset="0"/>
                <a:ea typeface="Calibri" pitchFamily="34" charset="-122"/>
                <a:cs typeface="Calibri" pitchFamily="34" charset="-120"/>
              </a:rPr>
              <a:t>Work level 0 downward; view source before anything else</a:t>
            </a:r>
            <a:endParaRPr lang="en-US" sz="1400" dirty="0"/>
          </a:p>
        </p:txBody>
      </p:sp>
      <p:sp>
        <p:nvSpPr>
          <p:cNvPr id="17" name="Text 14"/>
          <p:cNvSpPr/>
          <p:nvPr/>
        </p:nvSpPr>
        <p:spPr>
          <a:xfrm>
            <a:off x="548640" y="5989320"/>
            <a:ext cx="5486400" cy="320040"/>
          </a:xfrm>
          <a:prstGeom prst="rect">
            <a:avLst/>
          </a:prstGeom>
          <a:noFill/>
          <a:ln/>
        </p:spPr>
        <p:txBody>
          <a:bodyPr wrap="square" lIns="0" tIns="0" rIns="0" bIns="0" rtlCol="0" anchor="ctr"/>
          <a:lstStyle/>
          <a:p>
            <a:pPr indent="0" marL="0">
              <a:buNone/>
            </a:pPr>
            <a:r>
              <a:rPr lang="en-US" sz="1400" i="1" dirty="0">
                <a:solidFill>
                  <a:srgbClr val="E0559E"/>
                </a:solidFill>
                <a:latin typeface="Calibri" pitchFamily="34" charset="0"/>
                <a:ea typeface="Calibri" pitchFamily="34" charset="-122"/>
                <a:cs typeface="Calibri" pitchFamily="34" charset="-120"/>
              </a:rPr>
              <a:t>Good luck.</a:t>
            </a:r>
            <a:endParaRPr lang="en-US" sz="1400" dirty="0"/>
          </a:p>
        </p:txBody>
      </p:sp>
      <p:sp>
        <p:nvSpPr>
          <p:cNvPr id="18" name="Text 15"/>
          <p:cNvSpPr/>
          <p:nvPr/>
        </p:nvSpPr>
        <p:spPr>
          <a:xfrm>
            <a:off x="548640" y="6446520"/>
            <a:ext cx="2743200" cy="274320"/>
          </a:xfrm>
          <a:prstGeom prst="rect">
            <a:avLst/>
          </a:prstGeom>
          <a:noFill/>
          <a:ln/>
        </p:spPr>
        <p:txBody>
          <a:bodyPr wrap="square" lIns="0" tIns="0" rIns="0" bIns="0" rtlCol="0" anchor="ctr"/>
          <a:lstStyle/>
          <a:p>
            <a:pPr indent="0" marL="0">
              <a:buNone/>
            </a:pPr>
            <a:r>
              <a:rPr lang="en-US" sz="900" spc="150" kern="0" dirty="0">
                <a:solidFill>
                  <a:srgbClr val="5B6B8C"/>
                </a:solidFill>
                <a:latin typeface="Calibri" pitchFamily="34" charset="0"/>
                <a:ea typeface="Calibri" pitchFamily="34" charset="-122"/>
                <a:cs typeface="Calibri" pitchFamily="34" charset="-120"/>
              </a:rPr>
              <a:t>CEI LABS CTF</a:t>
            </a:r>
            <a:endParaRPr lang="en-US" sz="900" dirty="0"/>
          </a:p>
        </p:txBody>
      </p:sp>
      <p:sp>
        <p:nvSpPr>
          <p:cNvPr id="19" name="Text 16"/>
          <p:cNvSpPr/>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B6B8C"/>
                </a:solidFill>
                <a:latin typeface="Calibri" pitchFamily="34" charset="0"/>
                <a:ea typeface="Calibri" pitchFamily="34" charset="-122"/>
                <a:cs typeface="Calibri" pitchFamily="34" charset="-120"/>
              </a:rPr>
              <a:t>13</a:t>
            </a:r>
            <a:endParaRPr lang="en-US" sz="900" dirty="0"/>
          </a:p>
        </p:txBody>
      </p:sp>
    </p:spTree>
  </p:cSld>
  <p:clrMapOvr>
    <a:masterClrMapping/>
  </p:clrMapOvr>
  <p:transition spd="med" advClick="1">
    <p:push dir="u"/>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CEI Labs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CEI Labs</dc:creator>
  <cp:lastModifiedBy>CEI Labs</cp:lastModifiedBy>
  <cp:revision>1</cp:revision>
  <dcterms:created xsi:type="dcterms:W3CDTF">2026-08-04T12:28:52Z</dcterms:created>
  <dcterms:modified xsi:type="dcterms:W3CDTF">2026-08-04T12:28:52Z</dcterms:modified>
</cp:coreProperties>
</file>