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Oval 1"/>
          <p:cNvSpPr/>
          <p:nvPr/>
        </p:nvSpPr>
        <p:spPr>
          <a:xfrm>
            <a:off x="-2194560" y="4480560"/>
            <a:ext cx="4206240" cy="4206240"/>
          </a:xfrm>
          <a:prstGeom prst="ellipse">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png"/>
          <p:cNvPicPr>
            <a:picLocks noChangeAspect="1"/>
          </p:cNvPicPr>
          <p:nvPr/>
        </p:nvPicPr>
        <p:blipFill>
          <a:blip r:embed="rId2"/>
          <a:stretch>
            <a:fillRect/>
          </a:stretch>
        </p:blipFill>
        <p:spPr>
          <a:xfrm>
            <a:off x="6903720" y="1051560"/>
            <a:ext cx="4800600" cy="3931920"/>
          </a:xfrm>
          <a:prstGeom prst="rect">
            <a:avLst/>
          </a:prstGeom>
        </p:spPr>
      </p:pic>
      <p:sp>
        <p:nvSpPr>
          <p:cNvPr id="4" name="Oval 3"/>
          <p:cNvSpPr/>
          <p:nvPr/>
        </p:nvSpPr>
        <p:spPr>
          <a:xfrm>
            <a:off x="548640" y="960119"/>
            <a:ext cx="786130" cy="786130"/>
          </a:xfrm>
          <a:prstGeom prst="ellipse">
            <a:avLst/>
          </a:prstGeom>
          <a:solidFill>
            <a:srgbClr val="E05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2.png"/>
          <p:cNvPicPr>
            <a:picLocks noChangeAspect="1"/>
          </p:cNvPicPr>
          <p:nvPr/>
        </p:nvPicPr>
        <p:blipFill>
          <a:blip r:embed="rId3"/>
          <a:stretch>
            <a:fillRect/>
          </a:stretch>
        </p:blipFill>
        <p:spPr>
          <a:xfrm>
            <a:off x="753110" y="1164590"/>
            <a:ext cx="377190" cy="377190"/>
          </a:xfrm>
          <a:prstGeom prst="rect">
            <a:avLst/>
          </a:prstGeom>
        </p:spPr>
      </p:pic>
      <p:sp>
        <p:nvSpPr>
          <p:cNvPr id="6" name="TextBox 5"/>
          <p:cNvSpPr txBox="1"/>
          <p:nvPr/>
        </p:nvSpPr>
        <p:spPr>
          <a:xfrm>
            <a:off x="548640" y="3017520"/>
            <a:ext cx="6126480" cy="822960"/>
          </a:xfrm>
          <a:prstGeom prst="rect">
            <a:avLst/>
          </a:prstGeom>
          <a:noFill/>
        </p:spPr>
        <p:txBody>
          <a:bodyPr wrap="square" lIns="0" rIns="0" tIns="0" bIns="0" anchor="ctr">
            <a:spAutoFit/>
          </a:bodyPr>
          <a:lstStyle/>
          <a:p>
            <a:pPr algn="l"/>
            <a:r>
              <a:rPr sz="4400" b="1" i="0">
                <a:solidFill>
                  <a:srgbClr val="F4F6FB"/>
                </a:solidFill>
                <a:latin typeface="Cambria"/>
              </a:rPr>
              <a:t>NATAS</a:t>
            </a:r>
          </a:p>
        </p:txBody>
      </p:sp>
      <p:sp>
        <p:nvSpPr>
          <p:cNvPr id="7" name="TextBox 6"/>
          <p:cNvSpPr txBox="1"/>
          <p:nvPr/>
        </p:nvSpPr>
        <p:spPr>
          <a:xfrm>
            <a:off x="548640" y="3886200"/>
            <a:ext cx="6126480" cy="411480"/>
          </a:xfrm>
          <a:prstGeom prst="rect">
            <a:avLst/>
          </a:prstGeom>
          <a:noFill/>
        </p:spPr>
        <p:txBody>
          <a:bodyPr wrap="square" lIns="0" rIns="0" tIns="0" bIns="0" anchor="ctr">
            <a:spAutoFit/>
          </a:bodyPr>
          <a:lstStyle/>
          <a:p>
            <a:pPr algn="l"/>
            <a:r>
              <a:rPr sz="2200" b="1" i="1">
                <a:solidFill>
                  <a:srgbClr val="E0559E"/>
                </a:solidFill>
                <a:latin typeface="Cambria"/>
              </a:rPr>
              <a:t>Into the Mirror</a:t>
            </a:r>
          </a:p>
        </p:txBody>
      </p:sp>
      <p:sp>
        <p:nvSpPr>
          <p:cNvPr id="8" name="TextBox 7"/>
          <p:cNvSpPr txBox="1"/>
          <p:nvPr/>
        </p:nvSpPr>
        <p:spPr>
          <a:xfrm>
            <a:off x="548640" y="4389120"/>
            <a:ext cx="6217920" cy="566420"/>
          </a:xfrm>
          <a:prstGeom prst="rect">
            <a:avLst/>
          </a:prstGeom>
          <a:noFill/>
        </p:spPr>
        <p:txBody>
          <a:bodyPr wrap="square" lIns="0" rIns="0" tIns="0" bIns="0" anchor="ctr">
            <a:spAutoFit/>
          </a:bodyPr>
          <a:lstStyle/>
          <a:p>
            <a:pPr algn="l">
              <a:lnSpc>
                <a:spcPct val="115000"/>
              </a:lnSpc>
            </a:pPr>
            <a:r>
              <a:rPr sz="1350" b="0" i="0">
                <a:solidFill>
                  <a:srgbClr val="B8C7E4"/>
                </a:solidFill>
                <a:latin typeface="Calibri"/>
              </a:rPr>
              <a:t>15 levels of server-side web security, played as a descent through an inverted underworld.</a:t>
            </a:r>
          </a:p>
        </p:txBody>
      </p:sp>
      <p:sp>
        <p:nvSpPr>
          <p:cNvPr id="9" name="TextBox 8"/>
          <p:cNvSpPr txBox="1"/>
          <p:nvPr/>
        </p:nvSpPr>
        <p:spPr>
          <a:xfrm>
            <a:off x="548640" y="5029200"/>
            <a:ext cx="6217920" cy="1188720"/>
          </a:xfrm>
          <a:prstGeom prst="rect">
            <a:avLst/>
          </a:prstGeom>
          <a:noFill/>
        </p:spPr>
        <p:txBody>
          <a:bodyPr wrap="square" lIns="0" rIns="0" tIns="0" bIns="0" anchor="ctr">
            <a:spAutoFit/>
          </a:bodyPr>
          <a:lstStyle/>
          <a:p>
            <a:pPr algn="l">
              <a:lnSpc>
                <a:spcPct val="122000"/>
              </a:lnSpc>
            </a:pPr>
            <a:r>
              <a:rPr sz="1300" b="0" i="1">
                <a:solidFill>
                  <a:srgbClr val="B8C7E4"/>
                </a:solidFill>
                <a:latin typeface="Calibri"/>
              </a:rPr>
              <a:t>A researcher logs into a web application built like an inverted underworld — every layer of ordinary web logic mirrored, twisted, or hidden just beneath the surface. Each floor down leads further from what a browser is supposed to show you, toward the raw records at the bottom.</a:t>
            </a:r>
          </a:p>
        </p:txBody>
      </p:sp>
      <p:sp>
        <p:nvSpPr>
          <p:cNvPr id="10" name="TextBox 9"/>
          <p:cNvSpPr txBox="1"/>
          <p:nvPr/>
        </p:nvSpPr>
        <p:spPr>
          <a:xfrm>
            <a:off x="548640" y="6446520"/>
            <a:ext cx="40640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03 / 04</a:t>
            </a:r>
          </a:p>
        </p:txBody>
      </p:sp>
      <p:sp>
        <p:nvSpPr>
          <p:cNvPr id="11" name="TextBox 10"/>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E0559E"/>
                </a:solidFill>
                <a:latin typeface="Calibri"/>
              </a:rPr>
              <a:t>THE MAP</a:t>
            </a:r>
          </a:p>
        </p:txBody>
      </p:sp>
      <p:sp>
        <p:nvSpPr>
          <p:cNvPr id="3" name="TextBox 2"/>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Fifteen levels, one long descent</a:t>
            </a:r>
          </a:p>
        </p:txBody>
      </p:sp>
      <p:sp>
        <p:nvSpPr>
          <p:cNvPr id="4" name="TextBox 3"/>
          <p:cNvSpPr txBox="1"/>
          <p:nvPr/>
        </p:nvSpPr>
        <p:spPr>
          <a:xfrm>
            <a:off x="548640" y="1389380"/>
            <a:ext cx="9814560" cy="30480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The first few are things you can do with nothing but a browser. The last few reach the server itself.</a:t>
            </a:r>
          </a:p>
        </p:txBody>
      </p:sp>
      <p:sp>
        <p:nvSpPr>
          <p:cNvPr id="5" name="TextBox 4"/>
          <p:cNvSpPr txBox="1"/>
          <p:nvPr/>
        </p:nvSpPr>
        <p:spPr>
          <a:xfrm>
            <a:off x="548640" y="1739900"/>
            <a:ext cx="9814560" cy="22860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Points run 200 up to 900 across the fifteen levels — 8,250 in total. Theory section below: about ten minutes of reading.</a:t>
            </a:r>
          </a:p>
        </p:txBody>
      </p:sp>
      <p:sp>
        <p:nvSpPr>
          <p:cNvPr id="6" name="Rounded Rectangle 5"/>
          <p:cNvSpPr/>
          <p:nvPr/>
        </p:nvSpPr>
        <p:spPr>
          <a:xfrm>
            <a:off x="548640" y="2006600"/>
            <a:ext cx="2581910" cy="1943100"/>
          </a:xfrm>
          <a:prstGeom prst="roundRect">
            <a:avLst>
              <a:gd name="adj" fmla="val 439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3.png"/>
          <p:cNvPicPr>
            <a:picLocks noChangeAspect="1"/>
          </p:cNvPicPr>
          <p:nvPr/>
        </p:nvPicPr>
        <p:blipFill>
          <a:blip r:embed="rId2"/>
          <a:stretch>
            <a:fillRect/>
          </a:stretch>
        </p:blipFill>
        <p:spPr>
          <a:xfrm>
            <a:off x="676910" y="2134870"/>
            <a:ext cx="2325370" cy="640080"/>
          </a:xfrm>
          <a:prstGeom prst="rect">
            <a:avLst/>
          </a:prstGeom>
        </p:spPr>
      </p:pic>
      <p:sp>
        <p:nvSpPr>
          <p:cNvPr id="8" name="TextBox 7"/>
          <p:cNvSpPr txBox="1"/>
          <p:nvPr/>
        </p:nvSpPr>
        <p:spPr>
          <a:xfrm>
            <a:off x="786130" y="2913380"/>
            <a:ext cx="2105660" cy="219710"/>
          </a:xfrm>
          <a:prstGeom prst="rect">
            <a:avLst/>
          </a:prstGeom>
          <a:noFill/>
        </p:spPr>
        <p:txBody>
          <a:bodyPr wrap="square" lIns="0" rIns="0" tIns="0" bIns="0" anchor="t">
            <a:spAutoFit/>
          </a:bodyPr>
          <a:lstStyle/>
          <a:p>
            <a:pPr algn="l"/>
            <a:r>
              <a:rPr sz="1050" b="1" i="0" spc="80">
                <a:solidFill>
                  <a:srgbClr val="E0559E"/>
                </a:solidFill>
                <a:latin typeface="Calibri"/>
              </a:rPr>
              <a:t>00–01</a:t>
            </a:r>
          </a:p>
        </p:txBody>
      </p:sp>
      <p:sp>
        <p:nvSpPr>
          <p:cNvPr id="9" name="TextBox 8"/>
          <p:cNvSpPr txBox="1"/>
          <p:nvPr/>
        </p:nvSpPr>
        <p:spPr>
          <a:xfrm>
            <a:off x="786130" y="3150870"/>
            <a:ext cx="2105660" cy="274320"/>
          </a:xfrm>
          <a:prstGeom prst="rect">
            <a:avLst/>
          </a:prstGeom>
          <a:noFill/>
        </p:spPr>
        <p:txBody>
          <a:bodyPr wrap="square" lIns="0" rIns="0" tIns="0" bIns="0" anchor="t">
            <a:spAutoFit/>
          </a:bodyPr>
          <a:lstStyle/>
          <a:p>
            <a:pPr algn="l"/>
            <a:r>
              <a:rPr sz="1400" b="1" i="0">
                <a:solidFill>
                  <a:srgbClr val="F4F6FB"/>
                </a:solidFill>
                <a:latin typeface="Cambria"/>
              </a:rPr>
              <a:t>Source &amp; Blockers</a:t>
            </a:r>
          </a:p>
        </p:txBody>
      </p:sp>
      <p:sp>
        <p:nvSpPr>
          <p:cNvPr id="10" name="TextBox 9"/>
          <p:cNvSpPr txBox="1"/>
          <p:nvPr/>
        </p:nvSpPr>
        <p:spPr>
          <a:xfrm>
            <a:off x="786130" y="3434079"/>
            <a:ext cx="2105660" cy="365760"/>
          </a:xfrm>
          <a:prstGeom prst="rect">
            <a:avLst/>
          </a:prstGeom>
          <a:noFill/>
        </p:spPr>
        <p:txBody>
          <a:bodyPr wrap="square" lIns="0" rIns="0" tIns="0" bIns="0" anchor="t">
            <a:spAutoFit/>
          </a:bodyPr>
          <a:lstStyle/>
          <a:p>
            <a:pPr algn="l">
              <a:lnSpc>
                <a:spcPct val="110000"/>
              </a:lnSpc>
            </a:pPr>
            <a:r>
              <a:rPr sz="1000" b="0" i="0">
                <a:solidFill>
                  <a:srgbClr val="B8C7E4"/>
                </a:solidFill>
                <a:latin typeface="Calibri"/>
              </a:rPr>
              <a:t>What the page is made of, and a barrier that only looks like one.</a:t>
            </a:r>
          </a:p>
        </p:txBody>
      </p:sp>
      <p:sp>
        <p:nvSpPr>
          <p:cNvPr id="11" name="Rounded Rectangle 10"/>
          <p:cNvSpPr/>
          <p:nvPr/>
        </p:nvSpPr>
        <p:spPr>
          <a:xfrm>
            <a:off x="3385820" y="2006600"/>
            <a:ext cx="2581910" cy="1943100"/>
          </a:xfrm>
          <a:prstGeom prst="roundRect">
            <a:avLst>
              <a:gd name="adj" fmla="val 439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4.png"/>
          <p:cNvPicPr>
            <a:picLocks noChangeAspect="1"/>
          </p:cNvPicPr>
          <p:nvPr/>
        </p:nvPicPr>
        <p:blipFill>
          <a:blip r:embed="rId3"/>
          <a:stretch>
            <a:fillRect/>
          </a:stretch>
        </p:blipFill>
        <p:spPr>
          <a:xfrm>
            <a:off x="3514090" y="2134870"/>
            <a:ext cx="2325370" cy="640080"/>
          </a:xfrm>
          <a:prstGeom prst="rect">
            <a:avLst/>
          </a:prstGeom>
        </p:spPr>
      </p:pic>
      <p:sp>
        <p:nvSpPr>
          <p:cNvPr id="13" name="TextBox 12"/>
          <p:cNvSpPr txBox="1"/>
          <p:nvPr/>
        </p:nvSpPr>
        <p:spPr>
          <a:xfrm>
            <a:off x="3624579" y="2913380"/>
            <a:ext cx="2105660" cy="219710"/>
          </a:xfrm>
          <a:prstGeom prst="rect">
            <a:avLst/>
          </a:prstGeom>
          <a:noFill/>
        </p:spPr>
        <p:txBody>
          <a:bodyPr wrap="square" lIns="0" rIns="0" tIns="0" bIns="0" anchor="t">
            <a:spAutoFit/>
          </a:bodyPr>
          <a:lstStyle/>
          <a:p>
            <a:pPr algn="l"/>
            <a:r>
              <a:rPr sz="1050" b="1" i="0" spc="80">
                <a:solidFill>
                  <a:srgbClr val="E0559E"/>
                </a:solidFill>
                <a:latin typeface="Calibri"/>
              </a:rPr>
              <a:t>02–03</a:t>
            </a:r>
          </a:p>
        </p:txBody>
      </p:sp>
      <p:sp>
        <p:nvSpPr>
          <p:cNvPr id="14" name="TextBox 13"/>
          <p:cNvSpPr txBox="1"/>
          <p:nvPr/>
        </p:nvSpPr>
        <p:spPr>
          <a:xfrm>
            <a:off x="3624579" y="3150870"/>
            <a:ext cx="2105660" cy="274320"/>
          </a:xfrm>
          <a:prstGeom prst="rect">
            <a:avLst/>
          </a:prstGeom>
          <a:noFill/>
        </p:spPr>
        <p:txBody>
          <a:bodyPr wrap="square" lIns="0" rIns="0" tIns="0" bIns="0" anchor="t">
            <a:spAutoFit/>
          </a:bodyPr>
          <a:lstStyle/>
          <a:p>
            <a:pPr algn="l"/>
            <a:r>
              <a:rPr sz="1400" b="1" i="0">
                <a:solidFill>
                  <a:srgbClr val="F4F6FB"/>
                </a:solidFill>
                <a:latin typeface="Cambria"/>
              </a:rPr>
              <a:t>Unlisted Paths</a:t>
            </a:r>
          </a:p>
        </p:txBody>
      </p:sp>
      <p:sp>
        <p:nvSpPr>
          <p:cNvPr id="15" name="TextBox 14"/>
          <p:cNvSpPr txBox="1"/>
          <p:nvPr/>
        </p:nvSpPr>
        <p:spPr>
          <a:xfrm>
            <a:off x="3624579" y="3434079"/>
            <a:ext cx="2105660" cy="365760"/>
          </a:xfrm>
          <a:prstGeom prst="rect">
            <a:avLst/>
          </a:prstGeom>
          <a:noFill/>
        </p:spPr>
        <p:txBody>
          <a:bodyPr wrap="square" lIns="0" rIns="0" tIns="0" bIns="0" anchor="t">
            <a:spAutoFit/>
          </a:bodyPr>
          <a:lstStyle/>
          <a:p>
            <a:pPr algn="l">
              <a:lnSpc>
                <a:spcPct val="110000"/>
              </a:lnSpc>
            </a:pPr>
            <a:r>
              <a:rPr sz="1000" b="0" i="0">
                <a:solidFill>
                  <a:srgbClr val="B8C7E4"/>
                </a:solidFill>
                <a:latin typeface="Calibri"/>
              </a:rPr>
              <a:t>Corridors never meant to be found; a sign that only asks.</a:t>
            </a:r>
          </a:p>
        </p:txBody>
      </p:sp>
      <p:sp>
        <p:nvSpPr>
          <p:cNvPr id="16" name="Rounded Rectangle 15"/>
          <p:cNvSpPr/>
          <p:nvPr/>
        </p:nvSpPr>
        <p:spPr>
          <a:xfrm>
            <a:off x="6224270" y="2006600"/>
            <a:ext cx="2581910" cy="1943100"/>
          </a:xfrm>
          <a:prstGeom prst="roundRect">
            <a:avLst>
              <a:gd name="adj" fmla="val 439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mage-5.png"/>
          <p:cNvPicPr>
            <a:picLocks noChangeAspect="1"/>
          </p:cNvPicPr>
          <p:nvPr/>
        </p:nvPicPr>
        <p:blipFill>
          <a:blip r:embed="rId4"/>
          <a:stretch>
            <a:fillRect/>
          </a:stretch>
        </p:blipFill>
        <p:spPr>
          <a:xfrm>
            <a:off x="6351270" y="2134870"/>
            <a:ext cx="2325370" cy="640080"/>
          </a:xfrm>
          <a:prstGeom prst="rect">
            <a:avLst/>
          </a:prstGeom>
        </p:spPr>
      </p:pic>
      <p:sp>
        <p:nvSpPr>
          <p:cNvPr id="18" name="TextBox 17"/>
          <p:cNvSpPr txBox="1"/>
          <p:nvPr/>
        </p:nvSpPr>
        <p:spPr>
          <a:xfrm>
            <a:off x="6461760" y="2913380"/>
            <a:ext cx="2105660" cy="219710"/>
          </a:xfrm>
          <a:prstGeom prst="rect">
            <a:avLst/>
          </a:prstGeom>
          <a:noFill/>
        </p:spPr>
        <p:txBody>
          <a:bodyPr wrap="square" lIns="0" rIns="0" tIns="0" bIns="0" anchor="t">
            <a:spAutoFit/>
          </a:bodyPr>
          <a:lstStyle/>
          <a:p>
            <a:pPr algn="l"/>
            <a:r>
              <a:rPr sz="1050" b="1" i="0" spc="80">
                <a:solidFill>
                  <a:srgbClr val="E0559E"/>
                </a:solidFill>
                <a:latin typeface="Calibri"/>
              </a:rPr>
              <a:t>04–05</a:t>
            </a:r>
          </a:p>
        </p:txBody>
      </p:sp>
      <p:sp>
        <p:nvSpPr>
          <p:cNvPr id="19" name="TextBox 18"/>
          <p:cNvSpPr txBox="1"/>
          <p:nvPr/>
        </p:nvSpPr>
        <p:spPr>
          <a:xfrm>
            <a:off x="6461760" y="3150870"/>
            <a:ext cx="2105660" cy="274320"/>
          </a:xfrm>
          <a:prstGeom prst="rect">
            <a:avLst/>
          </a:prstGeom>
          <a:noFill/>
        </p:spPr>
        <p:txBody>
          <a:bodyPr wrap="square" lIns="0" rIns="0" tIns="0" bIns="0" anchor="t">
            <a:spAutoFit/>
          </a:bodyPr>
          <a:lstStyle/>
          <a:p>
            <a:pPr algn="l"/>
            <a:r>
              <a:rPr sz="1400" b="1" i="0">
                <a:solidFill>
                  <a:srgbClr val="F4F6FB"/>
                </a:solidFill>
                <a:latin typeface="Cambria"/>
              </a:rPr>
              <a:t>Forged Claims</a:t>
            </a:r>
          </a:p>
        </p:txBody>
      </p:sp>
      <p:sp>
        <p:nvSpPr>
          <p:cNvPr id="20" name="TextBox 19"/>
          <p:cNvSpPr txBox="1"/>
          <p:nvPr/>
        </p:nvSpPr>
        <p:spPr>
          <a:xfrm>
            <a:off x="6461760" y="3434079"/>
            <a:ext cx="2105660" cy="365760"/>
          </a:xfrm>
          <a:prstGeom prst="rect">
            <a:avLst/>
          </a:prstGeom>
          <a:noFill/>
        </p:spPr>
        <p:txBody>
          <a:bodyPr wrap="square" lIns="0" rIns="0" tIns="0" bIns="0" anchor="t">
            <a:spAutoFit/>
          </a:bodyPr>
          <a:lstStyle/>
          <a:p>
            <a:pPr algn="l">
              <a:lnSpc>
                <a:spcPct val="110000"/>
              </a:lnSpc>
            </a:pPr>
            <a:r>
              <a:rPr sz="1000" b="0" i="0">
                <a:solidFill>
                  <a:srgbClr val="B8C7E4"/>
                </a:solidFill>
                <a:latin typeface="Calibri"/>
              </a:rPr>
              <a:t>Referer and cookies — arriving from somewhere you never were.</a:t>
            </a:r>
          </a:p>
        </p:txBody>
      </p:sp>
      <p:sp>
        <p:nvSpPr>
          <p:cNvPr id="21" name="Rounded Rectangle 20"/>
          <p:cNvSpPr/>
          <p:nvPr/>
        </p:nvSpPr>
        <p:spPr>
          <a:xfrm>
            <a:off x="9061450" y="2006600"/>
            <a:ext cx="2581910" cy="1943100"/>
          </a:xfrm>
          <a:prstGeom prst="roundRect">
            <a:avLst>
              <a:gd name="adj" fmla="val 4390"/>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6.png"/>
          <p:cNvPicPr>
            <a:picLocks noChangeAspect="1"/>
          </p:cNvPicPr>
          <p:nvPr/>
        </p:nvPicPr>
        <p:blipFill>
          <a:blip r:embed="rId5"/>
          <a:stretch>
            <a:fillRect/>
          </a:stretch>
        </p:blipFill>
        <p:spPr>
          <a:xfrm>
            <a:off x="9189720" y="2134870"/>
            <a:ext cx="2325370" cy="640080"/>
          </a:xfrm>
          <a:prstGeom prst="rect">
            <a:avLst/>
          </a:prstGeom>
        </p:spPr>
      </p:pic>
      <p:sp>
        <p:nvSpPr>
          <p:cNvPr id="23" name="TextBox 22"/>
          <p:cNvSpPr txBox="1"/>
          <p:nvPr/>
        </p:nvSpPr>
        <p:spPr>
          <a:xfrm>
            <a:off x="9298940" y="2913380"/>
            <a:ext cx="2105660" cy="219710"/>
          </a:xfrm>
          <a:prstGeom prst="rect">
            <a:avLst/>
          </a:prstGeom>
          <a:noFill/>
        </p:spPr>
        <p:txBody>
          <a:bodyPr wrap="square" lIns="0" rIns="0" tIns="0" bIns="0" anchor="t">
            <a:spAutoFit/>
          </a:bodyPr>
          <a:lstStyle/>
          <a:p>
            <a:pPr algn="l"/>
            <a:r>
              <a:rPr sz="1050" b="1" i="0" spc="80">
                <a:solidFill>
                  <a:srgbClr val="E0559E"/>
                </a:solidFill>
                <a:latin typeface="Calibri"/>
              </a:rPr>
              <a:t>06–07</a:t>
            </a:r>
          </a:p>
        </p:txBody>
      </p:sp>
      <p:sp>
        <p:nvSpPr>
          <p:cNvPr id="24" name="TextBox 23"/>
          <p:cNvSpPr txBox="1"/>
          <p:nvPr/>
        </p:nvSpPr>
        <p:spPr>
          <a:xfrm>
            <a:off x="9298940" y="3150870"/>
            <a:ext cx="2105660" cy="274320"/>
          </a:xfrm>
          <a:prstGeom prst="rect">
            <a:avLst/>
          </a:prstGeom>
          <a:noFill/>
        </p:spPr>
        <p:txBody>
          <a:bodyPr wrap="square" lIns="0" rIns="0" tIns="0" bIns="0" anchor="t">
            <a:spAutoFit/>
          </a:bodyPr>
          <a:lstStyle/>
          <a:p>
            <a:pPr algn="l"/>
            <a:r>
              <a:rPr sz="1400" b="1" i="0">
                <a:solidFill>
                  <a:srgbClr val="F4F6FB"/>
                </a:solidFill>
                <a:latin typeface="Cambria"/>
              </a:rPr>
              <a:t>Hidden Includes</a:t>
            </a:r>
          </a:p>
        </p:txBody>
      </p:sp>
      <p:sp>
        <p:nvSpPr>
          <p:cNvPr id="25" name="TextBox 24"/>
          <p:cNvSpPr txBox="1"/>
          <p:nvPr/>
        </p:nvSpPr>
        <p:spPr>
          <a:xfrm>
            <a:off x="9298940" y="3434079"/>
            <a:ext cx="2105660" cy="365760"/>
          </a:xfrm>
          <a:prstGeom prst="rect">
            <a:avLst/>
          </a:prstGeom>
          <a:noFill/>
        </p:spPr>
        <p:txBody>
          <a:bodyPr wrap="square" lIns="0" rIns="0" tIns="0" bIns="0" anchor="t">
            <a:spAutoFit/>
          </a:bodyPr>
          <a:lstStyle/>
          <a:p>
            <a:pPr algn="l">
              <a:lnSpc>
                <a:spcPct val="110000"/>
              </a:lnSpc>
            </a:pPr>
            <a:r>
              <a:rPr sz="1000" b="0" i="0">
                <a:solidFill>
                  <a:srgbClr val="B8C7E4"/>
                </a:solidFill>
                <a:latin typeface="Calibri"/>
              </a:rPr>
              <a:t>A trapdoor under something ordinary; a door that opens too far.</a:t>
            </a:r>
          </a:p>
        </p:txBody>
      </p:sp>
      <p:sp>
        <p:nvSpPr>
          <p:cNvPr id="26" name="Rounded Rectangle 25"/>
          <p:cNvSpPr/>
          <p:nvPr/>
        </p:nvSpPr>
        <p:spPr>
          <a:xfrm>
            <a:off x="548640" y="4152900"/>
            <a:ext cx="2581910" cy="1943100"/>
          </a:xfrm>
          <a:prstGeom prst="roundRect">
            <a:avLst>
              <a:gd name="adj" fmla="val 4390"/>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7.png"/>
          <p:cNvPicPr>
            <a:picLocks noChangeAspect="1"/>
          </p:cNvPicPr>
          <p:nvPr/>
        </p:nvPicPr>
        <p:blipFill>
          <a:blip r:embed="rId6"/>
          <a:stretch>
            <a:fillRect/>
          </a:stretch>
        </p:blipFill>
        <p:spPr>
          <a:xfrm>
            <a:off x="676910" y="4281170"/>
            <a:ext cx="2325370" cy="640080"/>
          </a:xfrm>
          <a:prstGeom prst="rect">
            <a:avLst/>
          </a:prstGeom>
        </p:spPr>
      </p:pic>
      <p:sp>
        <p:nvSpPr>
          <p:cNvPr id="28" name="TextBox 27"/>
          <p:cNvSpPr txBox="1"/>
          <p:nvPr/>
        </p:nvSpPr>
        <p:spPr>
          <a:xfrm>
            <a:off x="786130" y="5059680"/>
            <a:ext cx="2105660" cy="219710"/>
          </a:xfrm>
          <a:prstGeom prst="rect">
            <a:avLst/>
          </a:prstGeom>
          <a:noFill/>
        </p:spPr>
        <p:txBody>
          <a:bodyPr wrap="square" lIns="0" rIns="0" tIns="0" bIns="0" anchor="t">
            <a:spAutoFit/>
          </a:bodyPr>
          <a:lstStyle/>
          <a:p>
            <a:pPr algn="l"/>
            <a:r>
              <a:rPr sz="1050" b="1" i="0" spc="80">
                <a:solidFill>
                  <a:srgbClr val="E0559E"/>
                </a:solidFill>
                <a:latin typeface="Calibri"/>
              </a:rPr>
              <a:t>08–09</a:t>
            </a:r>
          </a:p>
        </p:txBody>
      </p:sp>
      <p:sp>
        <p:nvSpPr>
          <p:cNvPr id="29" name="TextBox 28"/>
          <p:cNvSpPr txBox="1"/>
          <p:nvPr/>
        </p:nvSpPr>
        <p:spPr>
          <a:xfrm>
            <a:off x="786130" y="5297170"/>
            <a:ext cx="2105660" cy="274320"/>
          </a:xfrm>
          <a:prstGeom prst="rect">
            <a:avLst/>
          </a:prstGeom>
          <a:noFill/>
        </p:spPr>
        <p:txBody>
          <a:bodyPr wrap="square" lIns="0" rIns="0" tIns="0" bIns="0" anchor="t">
            <a:spAutoFit/>
          </a:bodyPr>
          <a:lstStyle/>
          <a:p>
            <a:pPr algn="l"/>
            <a:r>
              <a:rPr sz="1400" b="1" i="0">
                <a:solidFill>
                  <a:srgbClr val="F4F6FB"/>
                </a:solidFill>
                <a:latin typeface="Cambria"/>
              </a:rPr>
              <a:t>Mirror &amp; Injection</a:t>
            </a:r>
          </a:p>
        </p:txBody>
      </p:sp>
      <p:sp>
        <p:nvSpPr>
          <p:cNvPr id="30" name="TextBox 29"/>
          <p:cNvSpPr txBox="1"/>
          <p:nvPr/>
        </p:nvSpPr>
        <p:spPr>
          <a:xfrm>
            <a:off x="786130" y="5580380"/>
            <a:ext cx="2105660" cy="365760"/>
          </a:xfrm>
          <a:prstGeom prst="rect">
            <a:avLst/>
          </a:prstGeom>
          <a:noFill/>
        </p:spPr>
        <p:txBody>
          <a:bodyPr wrap="square" lIns="0" rIns="0" tIns="0" bIns="0" anchor="t">
            <a:spAutoFit/>
          </a:bodyPr>
          <a:lstStyle/>
          <a:p>
            <a:pPr algn="l">
              <a:lnSpc>
                <a:spcPct val="110000"/>
              </a:lnSpc>
            </a:pPr>
            <a:r>
              <a:rPr sz="1000" b="0" i="0">
                <a:solidFill>
                  <a:srgbClr val="B8C7E4"/>
                </a:solidFill>
                <a:latin typeface="Calibri"/>
              </a:rPr>
              <a:t>A lock that shows its own key; one extra instruction slipped in.</a:t>
            </a:r>
          </a:p>
        </p:txBody>
      </p:sp>
      <p:sp>
        <p:nvSpPr>
          <p:cNvPr id="31" name="Rounded Rectangle 30"/>
          <p:cNvSpPr/>
          <p:nvPr/>
        </p:nvSpPr>
        <p:spPr>
          <a:xfrm>
            <a:off x="3385820" y="4152900"/>
            <a:ext cx="2581910" cy="1943100"/>
          </a:xfrm>
          <a:prstGeom prst="roundRect">
            <a:avLst>
              <a:gd name="adj" fmla="val 4390"/>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8.png"/>
          <p:cNvPicPr>
            <a:picLocks noChangeAspect="1"/>
          </p:cNvPicPr>
          <p:nvPr/>
        </p:nvPicPr>
        <p:blipFill>
          <a:blip r:embed="rId7"/>
          <a:stretch>
            <a:fillRect/>
          </a:stretch>
        </p:blipFill>
        <p:spPr>
          <a:xfrm>
            <a:off x="3514090" y="4281170"/>
            <a:ext cx="2325370" cy="640080"/>
          </a:xfrm>
          <a:prstGeom prst="rect">
            <a:avLst/>
          </a:prstGeom>
        </p:spPr>
      </p:pic>
      <p:sp>
        <p:nvSpPr>
          <p:cNvPr id="33" name="TextBox 32"/>
          <p:cNvSpPr txBox="1"/>
          <p:nvPr/>
        </p:nvSpPr>
        <p:spPr>
          <a:xfrm>
            <a:off x="3624579" y="5059680"/>
            <a:ext cx="2105660" cy="219710"/>
          </a:xfrm>
          <a:prstGeom prst="rect">
            <a:avLst/>
          </a:prstGeom>
          <a:noFill/>
        </p:spPr>
        <p:txBody>
          <a:bodyPr wrap="square" lIns="0" rIns="0" tIns="0" bIns="0" anchor="t">
            <a:spAutoFit/>
          </a:bodyPr>
          <a:lstStyle/>
          <a:p>
            <a:pPr algn="l"/>
            <a:r>
              <a:rPr sz="1050" b="1" i="0" spc="80">
                <a:solidFill>
                  <a:srgbClr val="E0559E"/>
                </a:solidFill>
                <a:latin typeface="Calibri"/>
              </a:rPr>
              <a:t>10–11</a:t>
            </a:r>
          </a:p>
        </p:txBody>
      </p:sp>
      <p:sp>
        <p:nvSpPr>
          <p:cNvPr id="34" name="TextBox 33"/>
          <p:cNvSpPr txBox="1"/>
          <p:nvPr/>
        </p:nvSpPr>
        <p:spPr>
          <a:xfrm>
            <a:off x="3624579" y="5297170"/>
            <a:ext cx="2105660" cy="274320"/>
          </a:xfrm>
          <a:prstGeom prst="rect">
            <a:avLst/>
          </a:prstGeom>
          <a:noFill/>
        </p:spPr>
        <p:txBody>
          <a:bodyPr wrap="square" lIns="0" rIns="0" tIns="0" bIns="0" anchor="t">
            <a:spAutoFit/>
          </a:bodyPr>
          <a:lstStyle/>
          <a:p>
            <a:pPr algn="l"/>
            <a:r>
              <a:rPr sz="1400" b="1" i="0">
                <a:solidFill>
                  <a:srgbClr val="F4F6FB"/>
                </a:solidFill>
                <a:latin typeface="Cambria"/>
              </a:rPr>
              <a:t>Guards &amp; Overlap</a:t>
            </a:r>
          </a:p>
        </p:txBody>
      </p:sp>
      <p:sp>
        <p:nvSpPr>
          <p:cNvPr id="35" name="TextBox 34"/>
          <p:cNvSpPr txBox="1"/>
          <p:nvPr/>
        </p:nvSpPr>
        <p:spPr>
          <a:xfrm>
            <a:off x="3624579" y="5580380"/>
            <a:ext cx="2105660" cy="365760"/>
          </a:xfrm>
          <a:prstGeom prst="rect">
            <a:avLst/>
          </a:prstGeom>
          <a:noFill/>
        </p:spPr>
        <p:txBody>
          <a:bodyPr wrap="square" lIns="0" rIns="0" tIns="0" bIns="0" anchor="t">
            <a:spAutoFit/>
          </a:bodyPr>
          <a:lstStyle/>
          <a:p>
            <a:pPr algn="l">
              <a:lnSpc>
                <a:spcPct val="110000"/>
              </a:lnSpc>
            </a:pPr>
            <a:r>
              <a:rPr sz="1000" b="0" i="0">
                <a:solidFill>
                  <a:srgbClr val="B8C7E4"/>
                </a:solidFill>
                <a:latin typeface="Calibri"/>
              </a:rPr>
              <a:t>The same trick with a guard on it; where two things overlap.</a:t>
            </a:r>
          </a:p>
        </p:txBody>
      </p:sp>
      <p:sp>
        <p:nvSpPr>
          <p:cNvPr id="36" name="Rounded Rectangle 35"/>
          <p:cNvSpPr/>
          <p:nvPr/>
        </p:nvSpPr>
        <p:spPr>
          <a:xfrm>
            <a:off x="6224270" y="4152900"/>
            <a:ext cx="2581910" cy="1943100"/>
          </a:xfrm>
          <a:prstGeom prst="roundRect">
            <a:avLst>
              <a:gd name="adj" fmla="val 4390"/>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9.png"/>
          <p:cNvPicPr>
            <a:picLocks noChangeAspect="1"/>
          </p:cNvPicPr>
          <p:nvPr/>
        </p:nvPicPr>
        <p:blipFill>
          <a:blip r:embed="rId8"/>
          <a:stretch>
            <a:fillRect/>
          </a:stretch>
        </p:blipFill>
        <p:spPr>
          <a:xfrm>
            <a:off x="6351270" y="4281170"/>
            <a:ext cx="2325370" cy="640080"/>
          </a:xfrm>
          <a:prstGeom prst="rect">
            <a:avLst/>
          </a:prstGeom>
        </p:spPr>
      </p:pic>
      <p:sp>
        <p:nvSpPr>
          <p:cNvPr id="38" name="TextBox 37"/>
          <p:cNvSpPr txBox="1"/>
          <p:nvPr/>
        </p:nvSpPr>
        <p:spPr>
          <a:xfrm>
            <a:off x="6461760" y="5059680"/>
            <a:ext cx="2105660" cy="219710"/>
          </a:xfrm>
          <a:prstGeom prst="rect">
            <a:avLst/>
          </a:prstGeom>
          <a:noFill/>
        </p:spPr>
        <p:txBody>
          <a:bodyPr wrap="square" lIns="0" rIns="0" tIns="0" bIns="0" anchor="t">
            <a:spAutoFit/>
          </a:bodyPr>
          <a:lstStyle/>
          <a:p>
            <a:pPr algn="l"/>
            <a:r>
              <a:rPr sz="1050" b="1" i="0" spc="80">
                <a:solidFill>
                  <a:srgbClr val="E0559E"/>
                </a:solidFill>
                <a:latin typeface="Calibri"/>
              </a:rPr>
              <a:t>12–14</a:t>
            </a:r>
          </a:p>
        </p:txBody>
      </p:sp>
      <p:sp>
        <p:nvSpPr>
          <p:cNvPr id="39" name="TextBox 38"/>
          <p:cNvSpPr txBox="1"/>
          <p:nvPr/>
        </p:nvSpPr>
        <p:spPr>
          <a:xfrm>
            <a:off x="6461760" y="5297170"/>
            <a:ext cx="2105660" cy="274320"/>
          </a:xfrm>
          <a:prstGeom prst="rect">
            <a:avLst/>
          </a:prstGeom>
          <a:noFill/>
        </p:spPr>
        <p:txBody>
          <a:bodyPr wrap="square" lIns="0" rIns="0" tIns="0" bIns="0" anchor="t">
            <a:spAutoFit/>
          </a:bodyPr>
          <a:lstStyle/>
          <a:p>
            <a:pPr algn="l"/>
            <a:r>
              <a:rPr sz="1400" b="1" i="0">
                <a:solidFill>
                  <a:srgbClr val="F4F6FB"/>
                </a:solidFill>
                <a:latin typeface="Cambria"/>
              </a:rPr>
              <a:t>Uploads &amp; Records</a:t>
            </a:r>
          </a:p>
        </p:txBody>
      </p:sp>
      <p:sp>
        <p:nvSpPr>
          <p:cNvPr id="40" name="TextBox 39"/>
          <p:cNvSpPr txBox="1"/>
          <p:nvPr/>
        </p:nvSpPr>
        <p:spPr>
          <a:xfrm>
            <a:off x="6461760" y="5580380"/>
            <a:ext cx="2105660" cy="365760"/>
          </a:xfrm>
          <a:prstGeom prst="rect">
            <a:avLst/>
          </a:prstGeom>
          <a:noFill/>
        </p:spPr>
        <p:txBody>
          <a:bodyPr wrap="square" lIns="0" rIns="0" tIns="0" bIns="0" anchor="t">
            <a:spAutoFit/>
          </a:bodyPr>
          <a:lstStyle/>
          <a:p>
            <a:pPr algn="l">
              <a:lnSpc>
                <a:spcPct val="110000"/>
              </a:lnSpc>
            </a:pPr>
            <a:r>
              <a:rPr sz="1000" b="0" i="0">
                <a:solidFill>
                  <a:srgbClr val="B8C7E4"/>
                </a:solidFill>
                <a:latin typeface="Calibri"/>
              </a:rPr>
              <a:t>Your own thing through the slot — then the records themselves.</a:t>
            </a:r>
          </a:p>
        </p:txBody>
      </p:sp>
      <p:sp>
        <p:nvSpPr>
          <p:cNvPr id="41" name="TextBox 40"/>
          <p:cNvSpPr txBox="1"/>
          <p:nvPr/>
        </p:nvSpPr>
        <p:spPr>
          <a:xfrm>
            <a:off x="548640" y="6134100"/>
            <a:ext cx="11094720" cy="274320"/>
          </a:xfrm>
          <a:prstGeom prst="rect">
            <a:avLst/>
          </a:prstGeom>
          <a:noFill/>
        </p:spPr>
        <p:txBody>
          <a:bodyPr wrap="square" lIns="0" rIns="0" tIns="0" bIns="0" anchor="ctr">
            <a:spAutoFit/>
          </a:bodyPr>
          <a:lstStyle/>
          <a:p>
            <a:pPr algn="l"/>
            <a:r>
              <a:rPr sz="1250" b="0" i="1">
                <a:solidFill>
                  <a:srgbClr val="E0559E"/>
                </a:solidFill>
                <a:latin typeface="Calibri"/>
              </a:rPr>
              <a:t>All 15 levels share one target box, distinguished by port.</a:t>
            </a:r>
          </a:p>
        </p:txBody>
      </p:sp>
      <p:sp>
        <p:nvSpPr>
          <p:cNvPr id="42" name="TextBox 41"/>
          <p:cNvSpPr txBox="1"/>
          <p:nvPr/>
        </p:nvSpPr>
        <p:spPr>
          <a:xfrm>
            <a:off x="548640" y="6446520"/>
            <a:ext cx="40640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03 / 04</a:t>
            </a:r>
          </a:p>
        </p:txBody>
      </p:sp>
      <p:sp>
        <p:nvSpPr>
          <p:cNvPr id="43" name="TextBox 42"/>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Oval 1"/>
          <p:cNvSpPr/>
          <p:nvPr/>
        </p:nvSpPr>
        <p:spPr>
          <a:xfrm>
            <a:off x="8595360" y="-2194560"/>
            <a:ext cx="6035040" cy="6035040"/>
          </a:xfrm>
          <a:prstGeom prst="ellipse">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783080"/>
            <a:ext cx="5486400" cy="292100"/>
          </a:xfrm>
          <a:prstGeom prst="rect">
            <a:avLst/>
          </a:prstGeom>
          <a:noFill/>
        </p:spPr>
        <p:txBody>
          <a:bodyPr wrap="square" lIns="0" rIns="0" tIns="0" bIns="0" anchor="ctr">
            <a:spAutoFit/>
          </a:bodyPr>
          <a:lstStyle/>
          <a:p>
            <a:pPr algn="l"/>
            <a:r>
              <a:rPr sz="1100" b="1" i="0" spc="140">
                <a:solidFill>
                  <a:srgbClr val="E0559E"/>
                </a:solidFill>
                <a:latin typeface="Calibri"/>
              </a:rPr>
              <a:t>THE IDEAS</a:t>
            </a:r>
          </a:p>
        </p:txBody>
      </p:sp>
      <p:sp>
        <p:nvSpPr>
          <p:cNvPr id="4" name="TextBox 3"/>
          <p:cNvSpPr txBox="1"/>
          <p:nvPr/>
        </p:nvSpPr>
        <p:spPr>
          <a:xfrm>
            <a:off x="548640" y="2103120"/>
            <a:ext cx="8595360" cy="960119"/>
          </a:xfrm>
          <a:prstGeom prst="rect">
            <a:avLst/>
          </a:prstGeom>
          <a:noFill/>
        </p:spPr>
        <p:txBody>
          <a:bodyPr wrap="square" lIns="0" rIns="0" tIns="0" bIns="0" anchor="t">
            <a:spAutoFit/>
          </a:bodyPr>
          <a:lstStyle/>
          <a:p>
            <a:pPr algn="l"/>
            <a:r>
              <a:rPr sz="3800" b="1" i="0">
                <a:solidFill>
                  <a:srgbClr val="F4F6FB"/>
                </a:solidFill>
                <a:latin typeface="Cambria"/>
              </a:rPr>
              <a:t>Seven ideas the web is built on</a:t>
            </a:r>
          </a:p>
        </p:txBody>
      </p:sp>
      <p:sp>
        <p:nvSpPr>
          <p:cNvPr id="5" name="TextBox 4"/>
          <p:cNvSpPr txBox="1"/>
          <p:nvPr/>
        </p:nvSpPr>
        <p:spPr>
          <a:xfrm>
            <a:off x="548640" y="3017520"/>
            <a:ext cx="6949440" cy="548640"/>
          </a:xfrm>
          <a:prstGeom prst="rect">
            <a:avLst/>
          </a:prstGeom>
          <a:noFill/>
        </p:spPr>
        <p:txBody>
          <a:bodyPr wrap="square" lIns="0" rIns="0" tIns="0" bIns="0" anchor="ctr">
            <a:spAutoFit/>
          </a:bodyPr>
          <a:lstStyle/>
          <a:p>
            <a:pPr algn="l">
              <a:lnSpc>
                <a:spcPct val="118000"/>
              </a:lnSpc>
            </a:pPr>
            <a:r>
              <a:rPr sz="1350" b="0" i="0">
                <a:solidFill>
                  <a:srgbClr val="B8C7E4"/>
                </a:solidFill>
                <a:latin typeface="Calibri"/>
              </a:rPr>
              <a:t>Enough of how HTTP actually behaves to make the levels legible. No payloads and no walkthroughs — just the model each level is bending.</a:t>
            </a:r>
          </a:p>
        </p:txBody>
      </p:sp>
      <p:sp>
        <p:nvSpPr>
          <p:cNvPr id="6" name="TextBox 5"/>
          <p:cNvSpPr txBox="1"/>
          <p:nvPr/>
        </p:nvSpPr>
        <p:spPr>
          <a:xfrm>
            <a:off x="548640" y="3977640"/>
            <a:ext cx="411480" cy="402590"/>
          </a:xfrm>
          <a:prstGeom prst="rect">
            <a:avLst/>
          </a:prstGeom>
          <a:noFill/>
        </p:spPr>
        <p:txBody>
          <a:bodyPr wrap="square" lIns="0" rIns="0" tIns="0" bIns="0" anchor="ctr">
            <a:spAutoFit/>
          </a:bodyPr>
          <a:lstStyle/>
          <a:p>
            <a:pPr algn="l"/>
            <a:r>
              <a:rPr sz="1200" b="1" i="0">
                <a:solidFill>
                  <a:srgbClr val="E0559E"/>
                </a:solidFill>
                <a:latin typeface="Cambria"/>
              </a:rPr>
              <a:t>01</a:t>
            </a:r>
          </a:p>
        </p:txBody>
      </p:sp>
      <p:sp>
        <p:nvSpPr>
          <p:cNvPr id="7" name="TextBox 6"/>
          <p:cNvSpPr txBox="1"/>
          <p:nvPr/>
        </p:nvSpPr>
        <p:spPr>
          <a:xfrm>
            <a:off x="1005840" y="3977640"/>
            <a:ext cx="4663440" cy="402590"/>
          </a:xfrm>
          <a:prstGeom prst="rect">
            <a:avLst/>
          </a:prstGeom>
          <a:noFill/>
        </p:spPr>
        <p:txBody>
          <a:bodyPr wrap="square" lIns="0" rIns="0" tIns="0" bIns="0" anchor="ctr">
            <a:spAutoFit/>
          </a:bodyPr>
          <a:lstStyle/>
          <a:p>
            <a:pPr algn="l"/>
            <a:r>
              <a:rPr sz="1300" b="0" i="0">
                <a:solidFill>
                  <a:srgbClr val="F4F6FB"/>
                </a:solidFill>
                <a:latin typeface="Calibri"/>
              </a:rPr>
              <a:t>Request and response</a:t>
            </a:r>
          </a:p>
        </p:txBody>
      </p:sp>
      <p:sp>
        <p:nvSpPr>
          <p:cNvPr id="8" name="TextBox 7"/>
          <p:cNvSpPr txBox="1"/>
          <p:nvPr/>
        </p:nvSpPr>
        <p:spPr>
          <a:xfrm>
            <a:off x="548640" y="4536440"/>
            <a:ext cx="411480" cy="402590"/>
          </a:xfrm>
          <a:prstGeom prst="rect">
            <a:avLst/>
          </a:prstGeom>
          <a:noFill/>
        </p:spPr>
        <p:txBody>
          <a:bodyPr wrap="square" lIns="0" rIns="0" tIns="0" bIns="0" anchor="ctr">
            <a:spAutoFit/>
          </a:bodyPr>
          <a:lstStyle/>
          <a:p>
            <a:pPr algn="l"/>
            <a:r>
              <a:rPr sz="1200" b="1" i="0">
                <a:solidFill>
                  <a:srgbClr val="E0559E"/>
                </a:solidFill>
                <a:latin typeface="Cambria"/>
              </a:rPr>
              <a:t>02</a:t>
            </a:r>
          </a:p>
        </p:txBody>
      </p:sp>
      <p:sp>
        <p:nvSpPr>
          <p:cNvPr id="9" name="TextBox 8"/>
          <p:cNvSpPr txBox="1"/>
          <p:nvPr/>
        </p:nvSpPr>
        <p:spPr>
          <a:xfrm>
            <a:off x="1005840" y="4536440"/>
            <a:ext cx="4663440" cy="402590"/>
          </a:xfrm>
          <a:prstGeom prst="rect">
            <a:avLst/>
          </a:prstGeom>
          <a:noFill/>
        </p:spPr>
        <p:txBody>
          <a:bodyPr wrap="square" lIns="0" rIns="0" tIns="0" bIns="0" anchor="ctr">
            <a:spAutoFit/>
          </a:bodyPr>
          <a:lstStyle/>
          <a:p>
            <a:pPr algn="l"/>
            <a:r>
              <a:rPr sz="1300" b="0" i="0">
                <a:solidFill>
                  <a:srgbClr val="F4F6FB"/>
                </a:solidFill>
                <a:latin typeface="Calibri"/>
              </a:rPr>
              <a:t>The client is not a boundary</a:t>
            </a:r>
          </a:p>
        </p:txBody>
      </p:sp>
      <p:sp>
        <p:nvSpPr>
          <p:cNvPr id="10" name="TextBox 9"/>
          <p:cNvSpPr txBox="1"/>
          <p:nvPr/>
        </p:nvSpPr>
        <p:spPr>
          <a:xfrm>
            <a:off x="548640" y="5095240"/>
            <a:ext cx="411480" cy="402590"/>
          </a:xfrm>
          <a:prstGeom prst="rect">
            <a:avLst/>
          </a:prstGeom>
          <a:noFill/>
        </p:spPr>
        <p:txBody>
          <a:bodyPr wrap="square" lIns="0" rIns="0" tIns="0" bIns="0" anchor="ctr">
            <a:spAutoFit/>
          </a:bodyPr>
          <a:lstStyle/>
          <a:p>
            <a:pPr algn="l"/>
            <a:r>
              <a:rPr sz="1200" b="1" i="0">
                <a:solidFill>
                  <a:srgbClr val="E0559E"/>
                </a:solidFill>
                <a:latin typeface="Cambria"/>
              </a:rPr>
              <a:t>03</a:t>
            </a:r>
          </a:p>
        </p:txBody>
      </p:sp>
      <p:sp>
        <p:nvSpPr>
          <p:cNvPr id="11" name="TextBox 10"/>
          <p:cNvSpPr txBox="1"/>
          <p:nvPr/>
        </p:nvSpPr>
        <p:spPr>
          <a:xfrm>
            <a:off x="1005840" y="5095240"/>
            <a:ext cx="4663440" cy="402590"/>
          </a:xfrm>
          <a:prstGeom prst="rect">
            <a:avLst/>
          </a:prstGeom>
          <a:noFill/>
        </p:spPr>
        <p:txBody>
          <a:bodyPr wrap="square" lIns="0" rIns="0" tIns="0" bIns="0" anchor="ctr">
            <a:spAutoFit/>
          </a:bodyPr>
          <a:lstStyle/>
          <a:p>
            <a:pPr algn="l"/>
            <a:r>
              <a:rPr sz="1300" b="0" i="0">
                <a:solidFill>
                  <a:srgbClr val="F4F6FB"/>
                </a:solidFill>
                <a:latin typeface="Calibri"/>
              </a:rPr>
              <a:t>Paths and traversal</a:t>
            </a:r>
          </a:p>
        </p:txBody>
      </p:sp>
      <p:sp>
        <p:nvSpPr>
          <p:cNvPr id="12" name="TextBox 11"/>
          <p:cNvSpPr txBox="1"/>
          <p:nvPr/>
        </p:nvSpPr>
        <p:spPr>
          <a:xfrm>
            <a:off x="548640" y="5654040"/>
            <a:ext cx="411480" cy="402590"/>
          </a:xfrm>
          <a:prstGeom prst="rect">
            <a:avLst/>
          </a:prstGeom>
          <a:noFill/>
        </p:spPr>
        <p:txBody>
          <a:bodyPr wrap="square" lIns="0" rIns="0" tIns="0" bIns="0" anchor="ctr">
            <a:spAutoFit/>
          </a:bodyPr>
          <a:lstStyle/>
          <a:p>
            <a:pPr algn="l"/>
            <a:r>
              <a:rPr sz="1200" b="1" i="0">
                <a:solidFill>
                  <a:srgbClr val="E0559E"/>
                </a:solidFill>
                <a:latin typeface="Cambria"/>
              </a:rPr>
              <a:t>04</a:t>
            </a:r>
          </a:p>
        </p:txBody>
      </p:sp>
      <p:sp>
        <p:nvSpPr>
          <p:cNvPr id="13" name="TextBox 12"/>
          <p:cNvSpPr txBox="1"/>
          <p:nvPr/>
        </p:nvSpPr>
        <p:spPr>
          <a:xfrm>
            <a:off x="1005840" y="5654040"/>
            <a:ext cx="4663440" cy="402590"/>
          </a:xfrm>
          <a:prstGeom prst="rect">
            <a:avLst/>
          </a:prstGeom>
          <a:noFill/>
        </p:spPr>
        <p:txBody>
          <a:bodyPr wrap="square" lIns="0" rIns="0" tIns="0" bIns="0" anchor="ctr">
            <a:spAutoFit/>
          </a:bodyPr>
          <a:lstStyle/>
          <a:p>
            <a:pPr algn="l"/>
            <a:r>
              <a:rPr sz="1300" b="0" i="0">
                <a:solidFill>
                  <a:srgbClr val="F4F6FB"/>
                </a:solidFill>
                <a:latin typeface="Calibri"/>
              </a:rPr>
              <a:t>Cookies, headers and sessions</a:t>
            </a:r>
          </a:p>
        </p:txBody>
      </p:sp>
      <p:sp>
        <p:nvSpPr>
          <p:cNvPr id="14" name="TextBox 13"/>
          <p:cNvSpPr txBox="1"/>
          <p:nvPr/>
        </p:nvSpPr>
        <p:spPr>
          <a:xfrm>
            <a:off x="6126480" y="3977640"/>
            <a:ext cx="411480" cy="402590"/>
          </a:xfrm>
          <a:prstGeom prst="rect">
            <a:avLst/>
          </a:prstGeom>
          <a:noFill/>
        </p:spPr>
        <p:txBody>
          <a:bodyPr wrap="square" lIns="0" rIns="0" tIns="0" bIns="0" anchor="ctr">
            <a:spAutoFit/>
          </a:bodyPr>
          <a:lstStyle/>
          <a:p>
            <a:pPr algn="l"/>
            <a:r>
              <a:rPr sz="1200" b="1" i="0">
                <a:solidFill>
                  <a:srgbClr val="E0559E"/>
                </a:solidFill>
                <a:latin typeface="Cambria"/>
              </a:rPr>
              <a:t>05</a:t>
            </a:r>
          </a:p>
        </p:txBody>
      </p:sp>
      <p:sp>
        <p:nvSpPr>
          <p:cNvPr id="15" name="TextBox 14"/>
          <p:cNvSpPr txBox="1"/>
          <p:nvPr/>
        </p:nvSpPr>
        <p:spPr>
          <a:xfrm>
            <a:off x="6583680" y="3977640"/>
            <a:ext cx="4663440" cy="402590"/>
          </a:xfrm>
          <a:prstGeom prst="rect">
            <a:avLst/>
          </a:prstGeom>
          <a:noFill/>
        </p:spPr>
        <p:txBody>
          <a:bodyPr wrap="square" lIns="0" rIns="0" tIns="0" bIns="0" anchor="ctr">
            <a:spAutoFit/>
          </a:bodyPr>
          <a:lstStyle/>
          <a:p>
            <a:pPr algn="l"/>
            <a:r>
              <a:rPr sz="1300" b="0" i="0">
                <a:solidFill>
                  <a:srgbClr val="F4F6FB"/>
                </a:solidFill>
                <a:latin typeface="Calibri"/>
              </a:rPr>
              <a:t>Input that becomes instruction</a:t>
            </a:r>
          </a:p>
        </p:txBody>
      </p:sp>
      <p:sp>
        <p:nvSpPr>
          <p:cNvPr id="16" name="TextBox 15"/>
          <p:cNvSpPr txBox="1"/>
          <p:nvPr/>
        </p:nvSpPr>
        <p:spPr>
          <a:xfrm>
            <a:off x="6126480" y="4536440"/>
            <a:ext cx="411480" cy="402590"/>
          </a:xfrm>
          <a:prstGeom prst="rect">
            <a:avLst/>
          </a:prstGeom>
          <a:noFill/>
        </p:spPr>
        <p:txBody>
          <a:bodyPr wrap="square" lIns="0" rIns="0" tIns="0" bIns="0" anchor="ctr">
            <a:spAutoFit/>
          </a:bodyPr>
          <a:lstStyle/>
          <a:p>
            <a:pPr algn="l"/>
            <a:r>
              <a:rPr sz="1200" b="1" i="0">
                <a:solidFill>
                  <a:srgbClr val="E0559E"/>
                </a:solidFill>
                <a:latin typeface="Cambria"/>
              </a:rPr>
              <a:t>06</a:t>
            </a:r>
          </a:p>
        </p:txBody>
      </p:sp>
      <p:sp>
        <p:nvSpPr>
          <p:cNvPr id="17" name="TextBox 16"/>
          <p:cNvSpPr txBox="1"/>
          <p:nvPr/>
        </p:nvSpPr>
        <p:spPr>
          <a:xfrm>
            <a:off x="6583680" y="4536440"/>
            <a:ext cx="4663440" cy="402590"/>
          </a:xfrm>
          <a:prstGeom prst="rect">
            <a:avLst/>
          </a:prstGeom>
          <a:noFill/>
        </p:spPr>
        <p:txBody>
          <a:bodyPr wrap="square" lIns="0" rIns="0" tIns="0" bIns="0" anchor="ctr">
            <a:spAutoFit/>
          </a:bodyPr>
          <a:lstStyle/>
          <a:p>
            <a:pPr algn="l"/>
            <a:r>
              <a:rPr sz="1300" b="0" i="0">
                <a:solidFill>
                  <a:srgbClr val="F4F6FB"/>
                </a:solidFill>
                <a:latin typeface="Calibri"/>
              </a:rPr>
              <a:t>Reversible is not secret</a:t>
            </a:r>
          </a:p>
        </p:txBody>
      </p:sp>
      <p:sp>
        <p:nvSpPr>
          <p:cNvPr id="18" name="TextBox 17"/>
          <p:cNvSpPr txBox="1"/>
          <p:nvPr/>
        </p:nvSpPr>
        <p:spPr>
          <a:xfrm>
            <a:off x="6126480" y="5095240"/>
            <a:ext cx="411480" cy="402590"/>
          </a:xfrm>
          <a:prstGeom prst="rect">
            <a:avLst/>
          </a:prstGeom>
          <a:noFill/>
        </p:spPr>
        <p:txBody>
          <a:bodyPr wrap="square" lIns="0" rIns="0" tIns="0" bIns="0" anchor="ctr">
            <a:spAutoFit/>
          </a:bodyPr>
          <a:lstStyle/>
          <a:p>
            <a:pPr algn="l"/>
            <a:r>
              <a:rPr sz="1200" b="1" i="0">
                <a:solidFill>
                  <a:srgbClr val="E0559E"/>
                </a:solidFill>
                <a:latin typeface="Cambria"/>
              </a:rPr>
              <a:t>07</a:t>
            </a:r>
          </a:p>
        </p:txBody>
      </p:sp>
      <p:sp>
        <p:nvSpPr>
          <p:cNvPr id="19" name="TextBox 18"/>
          <p:cNvSpPr txBox="1"/>
          <p:nvPr/>
        </p:nvSpPr>
        <p:spPr>
          <a:xfrm>
            <a:off x="6583680" y="5095240"/>
            <a:ext cx="4663440" cy="402590"/>
          </a:xfrm>
          <a:prstGeom prst="rect">
            <a:avLst/>
          </a:prstGeom>
          <a:noFill/>
        </p:spPr>
        <p:txBody>
          <a:bodyPr wrap="square" lIns="0" rIns="0" tIns="0" bIns="0" anchor="ctr">
            <a:spAutoFit/>
          </a:bodyPr>
          <a:lstStyle/>
          <a:p>
            <a:pPr algn="l"/>
            <a:r>
              <a:rPr sz="1300" b="0" i="0">
                <a:solidFill>
                  <a:srgbClr val="F4F6FB"/>
                </a:solidFill>
                <a:latin typeface="Calibri"/>
              </a:rPr>
              <a:t>The data layer</a:t>
            </a:r>
          </a:p>
        </p:txBody>
      </p:sp>
      <p:sp>
        <p:nvSpPr>
          <p:cNvPr id="20" name="TextBox 19"/>
          <p:cNvSpPr txBox="1"/>
          <p:nvPr/>
        </p:nvSpPr>
        <p:spPr>
          <a:xfrm>
            <a:off x="548640" y="6446520"/>
            <a:ext cx="40640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03 / 04</a:t>
            </a:r>
          </a:p>
        </p:txBody>
      </p:sp>
      <p:sp>
        <p:nvSpPr>
          <p:cNvPr id="21" name="TextBox 20"/>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E0559E"/>
                </a:solidFill>
                <a:latin typeface="Calibri"/>
              </a:rPr>
              <a:t>THEORY  01 / 07</a:t>
            </a:r>
          </a:p>
        </p:txBody>
      </p:sp>
      <p:sp>
        <p:nvSpPr>
          <p:cNvPr id="3" name="TextBox 2"/>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Request and response</a:t>
            </a:r>
          </a:p>
        </p:txBody>
      </p:sp>
      <p:sp>
        <p:nvSpPr>
          <p:cNvPr id="4" name="TextBox 3"/>
          <p:cNvSpPr txBox="1"/>
          <p:nvPr/>
        </p:nvSpPr>
        <p:spPr>
          <a:xfrm>
            <a:off x="548640" y="1389380"/>
            <a:ext cx="9814560" cy="47498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HTTP is one request, one reply, and no memory of either afterwards.</a:t>
            </a:r>
          </a:p>
        </p:txBody>
      </p:sp>
      <p:sp>
        <p:nvSpPr>
          <p:cNvPr id="5" name="Rounded Rectangle 4"/>
          <p:cNvSpPr/>
          <p:nvPr/>
        </p:nvSpPr>
        <p:spPr>
          <a:xfrm>
            <a:off x="548640" y="2148840"/>
            <a:ext cx="5577840" cy="3683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790" y="2423160"/>
            <a:ext cx="4955540" cy="237490"/>
          </a:xfrm>
          <a:prstGeom prst="rect">
            <a:avLst/>
          </a:prstGeom>
          <a:noFill/>
        </p:spPr>
        <p:txBody>
          <a:bodyPr wrap="square" lIns="0" rIns="0" tIns="0" bIns="0" anchor="ctr">
            <a:spAutoFit/>
          </a:bodyPr>
          <a:lstStyle/>
          <a:p>
            <a:pPr algn="l"/>
            <a:r>
              <a:rPr sz="950" b="1" i="0" spc="110">
                <a:solidFill>
                  <a:srgbClr val="E0559E"/>
                </a:solidFill>
                <a:latin typeface="Calibri"/>
              </a:rPr>
              <a:t>WHAT IT IS</a:t>
            </a:r>
          </a:p>
        </p:txBody>
      </p:sp>
      <p:sp>
        <p:nvSpPr>
          <p:cNvPr id="7" name="TextBox 6"/>
          <p:cNvSpPr txBox="1"/>
          <p:nvPr/>
        </p:nvSpPr>
        <p:spPr>
          <a:xfrm>
            <a:off x="859790" y="2697480"/>
            <a:ext cx="4955540" cy="1371600"/>
          </a:xfrm>
          <a:prstGeom prst="rect">
            <a:avLst/>
          </a:prstGeom>
          <a:noFill/>
        </p:spPr>
        <p:txBody>
          <a:bodyPr wrap="square" lIns="0" rIns="0" tIns="0" bIns="0" anchor="t">
            <a:spAutoFit/>
          </a:bodyPr>
          <a:lstStyle/>
          <a:p>
            <a:pPr algn="l"/>
            <a:r>
              <a:rPr sz="1200" b="0" i="0">
                <a:solidFill>
                  <a:srgbClr val="B8C7E4"/>
                </a:solidFill>
                <a:latin typeface="Calibri"/>
              </a:rPr>
              <a:t>A browser sends a request: a method, a path, a set of headers and sometimes a body. The server replies with a status, its own headers and some content. Then it forgets you entirely. Anything the server needs to know next time has to be carried along in the next request.</a:t>
            </a:r>
          </a:p>
        </p:txBody>
      </p:sp>
      <p:sp>
        <p:nvSpPr>
          <p:cNvPr id="8" name="TextBox 7"/>
          <p:cNvSpPr txBox="1"/>
          <p:nvPr/>
        </p:nvSpPr>
        <p:spPr>
          <a:xfrm>
            <a:off x="859790" y="4213860"/>
            <a:ext cx="4955540" cy="237490"/>
          </a:xfrm>
          <a:prstGeom prst="rect">
            <a:avLst/>
          </a:prstGeom>
          <a:noFill/>
        </p:spPr>
        <p:txBody>
          <a:bodyPr wrap="square" lIns="0" rIns="0" tIns="0" bIns="0" anchor="ctr">
            <a:spAutoFit/>
          </a:bodyPr>
          <a:lstStyle/>
          <a:p>
            <a:pPr algn="l"/>
            <a:r>
              <a:rPr sz="950" b="1" i="0" spc="110">
                <a:solidFill>
                  <a:srgbClr val="E0559E"/>
                </a:solidFill>
                <a:latin typeface="Calibri"/>
              </a:rPr>
              <a:t>WHY IT MATTERS HERE</a:t>
            </a:r>
          </a:p>
        </p:txBody>
      </p:sp>
      <p:sp>
        <p:nvSpPr>
          <p:cNvPr id="9" name="TextBox 8"/>
          <p:cNvSpPr txBox="1"/>
          <p:nvPr/>
        </p:nvSpPr>
        <p:spPr>
          <a:xfrm>
            <a:off x="859790" y="4488180"/>
            <a:ext cx="4955540" cy="1371600"/>
          </a:xfrm>
          <a:prstGeom prst="rect">
            <a:avLst/>
          </a:prstGeom>
          <a:noFill/>
        </p:spPr>
        <p:txBody>
          <a:bodyPr wrap="square" lIns="0" rIns="0" tIns="0" bIns="0" anchor="t">
            <a:spAutoFit/>
          </a:bodyPr>
          <a:lstStyle/>
          <a:p>
            <a:pPr algn="l"/>
            <a:r>
              <a:rPr sz="1200" b="0" i="0">
                <a:solidFill>
                  <a:srgbClr val="B8C7E4"/>
                </a:solidFill>
                <a:latin typeface="Calibri"/>
              </a:rPr>
              <a:t>Every input on this track arrives inside one of those parts. Being able to say exactly where a value lives — in the path, a header, a cookie or the body — is most of the work on most levels.</a:t>
            </a:r>
          </a:p>
        </p:txBody>
      </p:sp>
      <p:sp>
        <p:nvSpPr>
          <p:cNvPr id="10" name="Rounded Rectangle 9"/>
          <p:cNvSpPr/>
          <p:nvPr/>
        </p:nvSpPr>
        <p:spPr>
          <a:xfrm>
            <a:off x="6383020" y="2148840"/>
            <a:ext cx="5260340" cy="3683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57340" y="2405380"/>
            <a:ext cx="4711700" cy="3175000"/>
          </a:xfrm>
          <a:prstGeom prst="rect">
            <a:avLst/>
          </a:prstGeom>
          <a:noFill/>
        </p:spPr>
        <p:txBody>
          <a:bodyPr wrap="square" lIns="0" rIns="0" tIns="0" bIns="0" anchor="t">
            <a:spAutoFit/>
          </a:bodyPr>
          <a:lstStyle/>
          <a:p>
            <a:pPr algn="l">
              <a:lnSpc>
                <a:spcPct val="112000"/>
              </a:lnSpc>
            </a:pPr>
            <a:r>
              <a:rPr sz="1050" b="0" i="0">
                <a:solidFill>
                  <a:srgbClr val="F4F6FB"/>
                </a:solidFill>
                <a:latin typeface="Courier New"/>
              </a:rPr>
              <a:t>GET /index.php HTTP/1.1      &lt;- method, path</a:t>
            </a:r>
          </a:p>
          <a:p>
            <a:pPr algn="l">
              <a:lnSpc>
                <a:spcPct val="112000"/>
              </a:lnSpc>
            </a:pPr>
            <a:r>
              <a:rPr sz="1050" b="0" i="0">
                <a:solidFill>
                  <a:srgbClr val="F4F6FB"/>
                </a:solidFill>
                <a:latin typeface="Courier New"/>
              </a:rPr>
              <a:t>Host: target                 &lt;- headers</a:t>
            </a:r>
          </a:p>
          <a:p>
            <a:pPr algn="l">
              <a:lnSpc>
                <a:spcPct val="112000"/>
              </a:lnSpc>
            </a:pPr>
            <a:r>
              <a:rPr sz="1050" b="0" i="0">
                <a:solidFill>
                  <a:srgbClr val="F4F6FB"/>
                </a:solidFill>
                <a:latin typeface="Courier New"/>
              </a:rPr>
              <a:t>Cookie: session=abc123</a:t>
            </a:r>
          </a:p>
          <a:p>
            <a:pPr algn="l">
              <a:lnSpc>
                <a:spcPct val="112000"/>
              </a:lnSpc>
            </a:pPr>
            <a:r>
              <a:rPr sz="1050" b="0" i="0">
                <a:solidFill>
                  <a:srgbClr val="F4F6FB"/>
                </a:solidFill>
                <a:latin typeface="Courier New"/>
              </a:rPr>
              <a:t>Referer: http://example/</a:t>
            </a:r>
          </a:p>
          <a:p>
            <a:pPr algn="l">
              <a:lnSpc>
                <a:spcPct val="112000"/>
              </a:lnSpc>
            </a:pPr>
            <a:r>
              <a:rPr sz="1050" b="0" i="0">
                <a:solidFill>
                  <a:srgbClr val="F4F6FB"/>
                </a:solidFill>
                <a:latin typeface="Courier New"/>
              </a:rPr>
              <a:t>User-Agent: Mozilla/5.0</a:t>
            </a:r>
          </a:p>
          <a:p>
            <a:pPr algn="l">
              <a:lnSpc>
                <a:spcPct val="112000"/>
              </a:lnSpc>
            </a:pPr>
            <a:r>
              <a:rPr sz="1050" b="0" i="0">
                <a:solidFill>
                  <a:srgbClr val="F4F6FB"/>
                </a:solidFill>
                <a:latin typeface="Courier New"/>
              </a:rPr>
              <a:t>                             &lt;- blank line</a:t>
            </a:r>
          </a:p>
          <a:p>
            <a:pPr algn="l">
              <a:lnSpc>
                <a:spcPct val="112000"/>
              </a:lnSpc>
            </a:pPr>
            <a:r>
              <a:rPr sz="1050" b="0" i="0">
                <a:solidFill>
                  <a:srgbClr val="F4F6FB"/>
                </a:solidFill>
                <a:latin typeface="Courier New"/>
              </a:rPr>
              <a:t> </a:t>
            </a:r>
          </a:p>
          <a:p>
            <a:pPr algn="l">
              <a:lnSpc>
                <a:spcPct val="112000"/>
              </a:lnSpc>
            </a:pPr>
            <a:r>
              <a:rPr sz="1050" b="0" i="0">
                <a:solidFill>
                  <a:srgbClr val="F4F6FB"/>
                </a:solidFill>
                <a:latin typeface="Courier New"/>
              </a:rPr>
              <a:t>HTTP/1.1 200 OK              &lt;- status</a:t>
            </a:r>
          </a:p>
          <a:p>
            <a:pPr algn="l">
              <a:lnSpc>
                <a:spcPct val="112000"/>
              </a:lnSpc>
            </a:pPr>
            <a:r>
              <a:rPr sz="1050" b="0" i="0">
                <a:solidFill>
                  <a:srgbClr val="F4F6FB"/>
                </a:solidFill>
                <a:latin typeface="Courier New"/>
              </a:rPr>
              <a:t>Content-Type: text/html      &lt;- headers</a:t>
            </a:r>
          </a:p>
          <a:p>
            <a:pPr algn="l">
              <a:lnSpc>
                <a:spcPct val="112000"/>
              </a:lnSpc>
            </a:pPr>
            <a:r>
              <a:rPr sz="1050" b="0" i="0">
                <a:solidFill>
                  <a:srgbClr val="F4F6FB"/>
                </a:solidFill>
                <a:latin typeface="Courier New"/>
              </a:rPr>
              <a:t> </a:t>
            </a:r>
          </a:p>
          <a:p>
            <a:pPr algn="l">
              <a:lnSpc>
                <a:spcPct val="112000"/>
              </a:lnSpc>
            </a:pPr>
            <a:r>
              <a:rPr sz="1050" b="0" i="0">
                <a:solidFill>
                  <a:srgbClr val="F4F6FB"/>
                </a:solidFill>
                <a:latin typeface="Courier New"/>
              </a:rPr>
              <a:t>&lt;html&gt;...&lt;/html&gt;             &lt;- body</a:t>
            </a:r>
          </a:p>
        </p:txBody>
      </p:sp>
      <p:sp>
        <p:nvSpPr>
          <p:cNvPr id="12" name="TextBox 11"/>
          <p:cNvSpPr txBox="1"/>
          <p:nvPr/>
        </p:nvSpPr>
        <p:spPr>
          <a:xfrm>
            <a:off x="548640" y="6070600"/>
            <a:ext cx="11094720" cy="274320"/>
          </a:xfrm>
          <a:prstGeom prst="rect">
            <a:avLst/>
          </a:prstGeom>
          <a:noFill/>
        </p:spPr>
        <p:txBody>
          <a:bodyPr wrap="square" lIns="0" rIns="0" tIns="0" bIns="0" anchor="ctr">
            <a:spAutoFit/>
          </a:bodyPr>
          <a:lstStyle/>
          <a:p>
            <a:pPr algn="l"/>
            <a:r>
              <a:rPr sz="1250" b="0" i="1">
                <a:solidFill>
                  <a:srgbClr val="E0559E"/>
                </a:solidFill>
                <a:latin typeface="Calibri"/>
              </a:rPr>
              <a:t>Name the part a value lives in, and you have named where to change it.</a:t>
            </a:r>
          </a:p>
        </p:txBody>
      </p:sp>
      <p:sp>
        <p:nvSpPr>
          <p:cNvPr id="13" name="TextBox 12"/>
          <p:cNvSpPr txBox="1"/>
          <p:nvPr/>
        </p:nvSpPr>
        <p:spPr>
          <a:xfrm>
            <a:off x="548640" y="6446520"/>
            <a:ext cx="40640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03 / 04</a:t>
            </a:r>
          </a:p>
        </p:txBody>
      </p:sp>
      <p:sp>
        <p:nvSpPr>
          <p:cNvPr id="14" name="TextBox 13"/>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E0559E"/>
                </a:solidFill>
                <a:latin typeface="Calibri"/>
              </a:rPr>
              <a:t>THEORY  02 / 07</a:t>
            </a:r>
          </a:p>
        </p:txBody>
      </p:sp>
      <p:sp>
        <p:nvSpPr>
          <p:cNvPr id="3" name="TextBox 2"/>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The client is not a boundary</a:t>
            </a:r>
          </a:p>
        </p:txBody>
      </p:sp>
      <p:sp>
        <p:nvSpPr>
          <p:cNvPr id="4" name="TextBox 3"/>
          <p:cNvSpPr txBox="1"/>
          <p:nvPr/>
        </p:nvSpPr>
        <p:spPr>
          <a:xfrm>
            <a:off x="548640" y="1389380"/>
            <a:ext cx="9814560" cy="47498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Everything the browser does happens on your machine, under your control.</a:t>
            </a:r>
          </a:p>
        </p:txBody>
      </p:sp>
      <p:sp>
        <p:nvSpPr>
          <p:cNvPr id="5" name="Rounded Rectangle 4"/>
          <p:cNvSpPr/>
          <p:nvPr/>
        </p:nvSpPr>
        <p:spPr>
          <a:xfrm>
            <a:off x="548640" y="2148840"/>
            <a:ext cx="5577840" cy="3683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790" y="2423160"/>
            <a:ext cx="4955540" cy="237490"/>
          </a:xfrm>
          <a:prstGeom prst="rect">
            <a:avLst/>
          </a:prstGeom>
          <a:noFill/>
        </p:spPr>
        <p:txBody>
          <a:bodyPr wrap="square" lIns="0" rIns="0" tIns="0" bIns="0" anchor="ctr">
            <a:spAutoFit/>
          </a:bodyPr>
          <a:lstStyle/>
          <a:p>
            <a:pPr algn="l"/>
            <a:r>
              <a:rPr sz="950" b="1" i="0" spc="110">
                <a:solidFill>
                  <a:srgbClr val="E0559E"/>
                </a:solidFill>
                <a:latin typeface="Calibri"/>
              </a:rPr>
              <a:t>WHAT IT IS</a:t>
            </a:r>
          </a:p>
        </p:txBody>
      </p:sp>
      <p:sp>
        <p:nvSpPr>
          <p:cNvPr id="7" name="TextBox 6"/>
          <p:cNvSpPr txBox="1"/>
          <p:nvPr/>
        </p:nvSpPr>
        <p:spPr>
          <a:xfrm>
            <a:off x="859790" y="2697480"/>
            <a:ext cx="4955540" cy="1371600"/>
          </a:xfrm>
          <a:prstGeom prst="rect">
            <a:avLst/>
          </a:prstGeom>
          <a:noFill/>
        </p:spPr>
        <p:txBody>
          <a:bodyPr wrap="square" lIns="0" rIns="0" tIns="0" bIns="0" anchor="t">
            <a:spAutoFit/>
          </a:bodyPr>
          <a:lstStyle/>
          <a:p>
            <a:pPr algn="l"/>
            <a:r>
              <a:rPr sz="1200" b="0" i="0">
                <a:solidFill>
                  <a:srgbClr val="B8C7E4"/>
                </a:solidFill>
                <a:latin typeface="Calibri"/>
              </a:rPr>
              <a:t>The page source, the scripts, the hidden fields, the disabled buttons and the validation messages are all delivered to you and run by you. You can read every byte of it, and you can decline to run any of it. A request does not even have to come from a browser.</a:t>
            </a:r>
          </a:p>
        </p:txBody>
      </p:sp>
      <p:sp>
        <p:nvSpPr>
          <p:cNvPr id="8" name="TextBox 7"/>
          <p:cNvSpPr txBox="1"/>
          <p:nvPr/>
        </p:nvSpPr>
        <p:spPr>
          <a:xfrm>
            <a:off x="859790" y="4213860"/>
            <a:ext cx="4955540" cy="237490"/>
          </a:xfrm>
          <a:prstGeom prst="rect">
            <a:avLst/>
          </a:prstGeom>
          <a:noFill/>
        </p:spPr>
        <p:txBody>
          <a:bodyPr wrap="square" lIns="0" rIns="0" tIns="0" bIns="0" anchor="ctr">
            <a:spAutoFit/>
          </a:bodyPr>
          <a:lstStyle/>
          <a:p>
            <a:pPr algn="l"/>
            <a:r>
              <a:rPr sz="950" b="1" i="0" spc="110">
                <a:solidFill>
                  <a:srgbClr val="E0559E"/>
                </a:solidFill>
                <a:latin typeface="Calibri"/>
              </a:rPr>
              <a:t>WHY IT MATTERS HERE</a:t>
            </a:r>
          </a:p>
        </p:txBody>
      </p:sp>
      <p:sp>
        <p:nvSpPr>
          <p:cNvPr id="9" name="TextBox 8"/>
          <p:cNvSpPr txBox="1"/>
          <p:nvPr/>
        </p:nvSpPr>
        <p:spPr>
          <a:xfrm>
            <a:off x="859790" y="4488180"/>
            <a:ext cx="4955540" cy="1371600"/>
          </a:xfrm>
          <a:prstGeom prst="rect">
            <a:avLst/>
          </a:prstGeom>
          <a:noFill/>
        </p:spPr>
        <p:txBody>
          <a:bodyPr wrap="square" lIns="0" rIns="0" tIns="0" bIns="0" anchor="t">
            <a:spAutoFit/>
          </a:bodyPr>
          <a:lstStyle/>
          <a:p>
            <a:pPr algn="l"/>
            <a:r>
              <a:rPr sz="1200" b="0" i="0">
                <a:solidFill>
                  <a:srgbClr val="B8C7E4"/>
                </a:solidFill>
                <a:latin typeface="Calibri"/>
              </a:rPr>
              <a:t>A lot of web software confuses "the interface won't let you" with "it cannot happen". Only a check that runs on the server is a check at all. This one idea unlocks the whole track.</a:t>
            </a:r>
          </a:p>
        </p:txBody>
      </p:sp>
      <p:sp>
        <p:nvSpPr>
          <p:cNvPr id="10" name="Rounded Rectangle 9"/>
          <p:cNvSpPr/>
          <p:nvPr/>
        </p:nvSpPr>
        <p:spPr>
          <a:xfrm>
            <a:off x="6383020" y="2148840"/>
            <a:ext cx="5260340" cy="3683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57340" y="2405380"/>
            <a:ext cx="4711700" cy="3175000"/>
          </a:xfrm>
          <a:prstGeom prst="rect">
            <a:avLst/>
          </a:prstGeom>
          <a:noFill/>
        </p:spPr>
        <p:txBody>
          <a:bodyPr wrap="square" lIns="0" rIns="0" tIns="0" bIns="0" anchor="t">
            <a:spAutoFit/>
          </a:bodyPr>
          <a:lstStyle/>
          <a:p>
            <a:pPr algn="l">
              <a:lnSpc>
                <a:spcPct val="112000"/>
              </a:lnSpc>
            </a:pPr>
            <a:r>
              <a:rPr sz="1050" b="0" i="1">
                <a:solidFill>
                  <a:srgbClr val="8FA3C8"/>
                </a:solidFill>
                <a:latin typeface="Courier New"/>
              </a:rPr>
              <a:t>what the server sent to you</a:t>
            </a:r>
          </a:p>
          <a:p>
            <a:pPr algn="l">
              <a:lnSpc>
                <a:spcPct val="112000"/>
              </a:lnSpc>
            </a:pPr>
            <a:r>
              <a:rPr sz="1050" b="0" i="0">
                <a:solidFill>
                  <a:srgbClr val="F4F6FB"/>
                </a:solidFill>
                <a:latin typeface="Courier New"/>
              </a:rPr>
              <a:t>&lt;input type=hidden name=price value=10&gt;</a:t>
            </a:r>
          </a:p>
          <a:p>
            <a:pPr algn="l">
              <a:lnSpc>
                <a:spcPct val="112000"/>
              </a:lnSpc>
            </a:pPr>
            <a:r>
              <a:rPr sz="1050" b="0" i="0">
                <a:solidFill>
                  <a:srgbClr val="F4F6FB"/>
                </a:solidFill>
                <a:latin typeface="Courier New"/>
              </a:rPr>
              <a:t>&lt;button disabled&gt;Submit&lt;/button&gt;</a:t>
            </a:r>
          </a:p>
          <a:p>
            <a:pPr algn="l">
              <a:lnSpc>
                <a:spcPct val="112000"/>
              </a:lnSpc>
            </a:pPr>
            <a:r>
              <a:rPr sz="1050" b="0" i="0">
                <a:solidFill>
                  <a:srgbClr val="F4F6FB"/>
                </a:solidFill>
                <a:latin typeface="Courier New"/>
              </a:rPr>
              <a:t>&lt;script&gt;if (!valid()) return;&lt;/script&gt;</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what you may do about it</a:t>
            </a:r>
          </a:p>
          <a:p>
            <a:pPr algn="l">
              <a:lnSpc>
                <a:spcPct val="112000"/>
              </a:lnSpc>
            </a:pPr>
            <a:r>
              <a:rPr sz="1050" b="0" i="0">
                <a:solidFill>
                  <a:srgbClr val="F4F6FB"/>
                </a:solidFill>
                <a:latin typeface="Courier New"/>
              </a:rPr>
              <a:t>- read all of the source, not the page</a:t>
            </a:r>
          </a:p>
          <a:p>
            <a:pPr algn="l">
              <a:lnSpc>
                <a:spcPct val="112000"/>
              </a:lnSpc>
            </a:pPr>
            <a:r>
              <a:rPr sz="1050" b="0" i="0">
                <a:solidFill>
                  <a:srgbClr val="F4F6FB"/>
                </a:solidFill>
                <a:latin typeface="Courier New"/>
              </a:rPr>
              <a:t>- change any value before sending it</a:t>
            </a:r>
          </a:p>
          <a:p>
            <a:pPr algn="l">
              <a:lnSpc>
                <a:spcPct val="112000"/>
              </a:lnSpc>
            </a:pPr>
            <a:r>
              <a:rPr sz="1050" b="0" i="0">
                <a:solidFill>
                  <a:srgbClr val="F4F6FB"/>
                </a:solidFill>
                <a:latin typeface="Courier New"/>
              </a:rPr>
              <a:t>- ignore the script completely</a:t>
            </a:r>
          </a:p>
          <a:p>
            <a:pPr algn="l">
              <a:lnSpc>
                <a:spcPct val="112000"/>
              </a:lnSpc>
            </a:pPr>
            <a:r>
              <a:rPr sz="1050" b="0" i="0">
                <a:solidFill>
                  <a:srgbClr val="F4F6FB"/>
                </a:solidFill>
                <a:latin typeface="Courier New"/>
              </a:rPr>
              <a:t>- send the request without a browser</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none of the above is an exploit.</a:t>
            </a:r>
          </a:p>
          <a:p>
            <a:pPr algn="l">
              <a:lnSpc>
                <a:spcPct val="112000"/>
              </a:lnSpc>
            </a:pPr>
            <a:r>
              <a:rPr sz="1050" b="0" i="1">
                <a:solidFill>
                  <a:srgbClr val="8FA3C8"/>
                </a:solidFill>
                <a:latin typeface="Courier New"/>
              </a:rPr>
              <a:t>it is just using your own computer.</a:t>
            </a:r>
          </a:p>
        </p:txBody>
      </p:sp>
      <p:sp>
        <p:nvSpPr>
          <p:cNvPr id="12" name="TextBox 11"/>
          <p:cNvSpPr txBox="1"/>
          <p:nvPr/>
        </p:nvSpPr>
        <p:spPr>
          <a:xfrm>
            <a:off x="548640" y="6070600"/>
            <a:ext cx="11094720" cy="274320"/>
          </a:xfrm>
          <a:prstGeom prst="rect">
            <a:avLst/>
          </a:prstGeom>
          <a:noFill/>
        </p:spPr>
        <p:txBody>
          <a:bodyPr wrap="square" lIns="0" rIns="0" tIns="0" bIns="0" anchor="ctr">
            <a:spAutoFit/>
          </a:bodyPr>
          <a:lstStyle/>
          <a:p>
            <a:pPr algn="l"/>
            <a:r>
              <a:rPr sz="1250" b="0" i="1">
                <a:solidFill>
                  <a:srgbClr val="E0559E"/>
                </a:solidFill>
                <a:latin typeface="Calibri"/>
              </a:rPr>
              <a:t>The page is a suggestion. The request is what counts.</a:t>
            </a:r>
          </a:p>
        </p:txBody>
      </p:sp>
      <p:sp>
        <p:nvSpPr>
          <p:cNvPr id="13" name="TextBox 12"/>
          <p:cNvSpPr txBox="1"/>
          <p:nvPr/>
        </p:nvSpPr>
        <p:spPr>
          <a:xfrm>
            <a:off x="548640" y="6446520"/>
            <a:ext cx="40640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03 / 04</a:t>
            </a:r>
          </a:p>
        </p:txBody>
      </p:sp>
      <p:sp>
        <p:nvSpPr>
          <p:cNvPr id="14" name="TextBox 13"/>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E0559E"/>
                </a:solidFill>
                <a:latin typeface="Calibri"/>
              </a:rPr>
              <a:t>THEORY  03 / 07</a:t>
            </a:r>
          </a:p>
        </p:txBody>
      </p:sp>
      <p:sp>
        <p:nvSpPr>
          <p:cNvPr id="3" name="TextBox 2"/>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Paths and traversal</a:t>
            </a:r>
          </a:p>
        </p:txBody>
      </p:sp>
      <p:sp>
        <p:nvSpPr>
          <p:cNvPr id="4" name="TextBox 3"/>
          <p:cNvSpPr txBox="1"/>
          <p:nvPr/>
        </p:nvSpPr>
        <p:spPr>
          <a:xfrm>
            <a:off x="548640" y="1389380"/>
            <a:ext cx="9814560" cy="47498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A path is a string the server turns into a location on disk.</a:t>
            </a:r>
          </a:p>
        </p:txBody>
      </p:sp>
      <p:sp>
        <p:nvSpPr>
          <p:cNvPr id="5" name="Rounded Rectangle 4"/>
          <p:cNvSpPr/>
          <p:nvPr/>
        </p:nvSpPr>
        <p:spPr>
          <a:xfrm>
            <a:off x="548640" y="2148840"/>
            <a:ext cx="5577840" cy="3683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790" y="2423160"/>
            <a:ext cx="4955540" cy="237490"/>
          </a:xfrm>
          <a:prstGeom prst="rect">
            <a:avLst/>
          </a:prstGeom>
          <a:noFill/>
        </p:spPr>
        <p:txBody>
          <a:bodyPr wrap="square" lIns="0" rIns="0" tIns="0" bIns="0" anchor="ctr">
            <a:spAutoFit/>
          </a:bodyPr>
          <a:lstStyle/>
          <a:p>
            <a:pPr algn="l"/>
            <a:r>
              <a:rPr sz="950" b="1" i="0" spc="110">
                <a:solidFill>
                  <a:srgbClr val="E0559E"/>
                </a:solidFill>
                <a:latin typeface="Calibri"/>
              </a:rPr>
              <a:t>WHAT IT IS</a:t>
            </a:r>
          </a:p>
        </p:txBody>
      </p:sp>
      <p:sp>
        <p:nvSpPr>
          <p:cNvPr id="7" name="TextBox 6"/>
          <p:cNvSpPr txBox="1"/>
          <p:nvPr/>
        </p:nvSpPr>
        <p:spPr>
          <a:xfrm>
            <a:off x="859790" y="2697480"/>
            <a:ext cx="4955540" cy="1371600"/>
          </a:xfrm>
          <a:prstGeom prst="rect">
            <a:avLst/>
          </a:prstGeom>
          <a:noFill/>
        </p:spPr>
        <p:txBody>
          <a:bodyPr wrap="square" lIns="0" rIns="0" tIns="0" bIns="0" anchor="t">
            <a:spAutoFit/>
          </a:bodyPr>
          <a:lstStyle/>
          <a:p>
            <a:pPr algn="l"/>
            <a:r>
              <a:rPr sz="1200" b="0" i="0">
                <a:solidFill>
                  <a:srgbClr val="B8C7E4"/>
                </a:solidFill>
                <a:latin typeface="Calibri"/>
              </a:rPr>
              <a:t>When a value taken from the request is used to build a filename, the server is trusting that value to stay where it was meant to. Path syntax includes a component meaning "go up one level", so a value meant to name a file can instead point somewhere outside the intended directory.</a:t>
            </a:r>
          </a:p>
        </p:txBody>
      </p:sp>
      <p:sp>
        <p:nvSpPr>
          <p:cNvPr id="8" name="TextBox 7"/>
          <p:cNvSpPr txBox="1"/>
          <p:nvPr/>
        </p:nvSpPr>
        <p:spPr>
          <a:xfrm>
            <a:off x="859790" y="4213860"/>
            <a:ext cx="4955540" cy="237490"/>
          </a:xfrm>
          <a:prstGeom prst="rect">
            <a:avLst/>
          </a:prstGeom>
          <a:noFill/>
        </p:spPr>
        <p:txBody>
          <a:bodyPr wrap="square" lIns="0" rIns="0" tIns="0" bIns="0" anchor="ctr">
            <a:spAutoFit/>
          </a:bodyPr>
          <a:lstStyle/>
          <a:p>
            <a:pPr algn="l"/>
            <a:r>
              <a:rPr sz="950" b="1" i="0" spc="110">
                <a:solidFill>
                  <a:srgbClr val="E0559E"/>
                </a:solidFill>
                <a:latin typeface="Calibri"/>
              </a:rPr>
              <a:t>WHY IT MATTERS HERE</a:t>
            </a:r>
          </a:p>
        </p:txBody>
      </p:sp>
      <p:sp>
        <p:nvSpPr>
          <p:cNvPr id="9" name="TextBox 8"/>
          <p:cNvSpPr txBox="1"/>
          <p:nvPr/>
        </p:nvSpPr>
        <p:spPr>
          <a:xfrm>
            <a:off x="859790" y="4488180"/>
            <a:ext cx="4955540" cy="1371600"/>
          </a:xfrm>
          <a:prstGeom prst="rect">
            <a:avLst/>
          </a:prstGeom>
          <a:noFill/>
        </p:spPr>
        <p:txBody>
          <a:bodyPr wrap="square" lIns="0" rIns="0" tIns="0" bIns="0" anchor="t">
            <a:spAutoFit/>
          </a:bodyPr>
          <a:lstStyle/>
          <a:p>
            <a:pPr algn="l"/>
            <a:r>
              <a:rPr sz="1200" b="0" i="0">
                <a:solidFill>
                  <a:srgbClr val="B8C7E4"/>
                </a:solidFill>
                <a:latin typeface="Calibri"/>
              </a:rPr>
              <a:t>The flaw is not the syntax — the syntax is doing exactly what it says. The flaw is building a filesystem path out of user input and never checking where it ends up.</a:t>
            </a:r>
          </a:p>
        </p:txBody>
      </p:sp>
      <p:sp>
        <p:nvSpPr>
          <p:cNvPr id="10" name="Rounded Rectangle 9"/>
          <p:cNvSpPr/>
          <p:nvPr/>
        </p:nvSpPr>
        <p:spPr>
          <a:xfrm>
            <a:off x="6383020" y="2148840"/>
            <a:ext cx="5260340" cy="3683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57340" y="2405380"/>
            <a:ext cx="4711700" cy="3175000"/>
          </a:xfrm>
          <a:prstGeom prst="rect">
            <a:avLst/>
          </a:prstGeom>
          <a:noFill/>
        </p:spPr>
        <p:txBody>
          <a:bodyPr wrap="square" lIns="0" rIns="0" tIns="0" bIns="0" anchor="t">
            <a:spAutoFit/>
          </a:bodyPr>
          <a:lstStyle/>
          <a:p>
            <a:pPr algn="l">
              <a:lnSpc>
                <a:spcPct val="112000"/>
              </a:lnSpc>
            </a:pPr>
            <a:r>
              <a:rPr sz="1050" b="0" i="1">
                <a:solidFill>
                  <a:srgbClr val="8FA3C8"/>
                </a:solidFill>
                <a:latin typeface="Courier New"/>
              </a:rPr>
              <a:t>what the developer pictured</a:t>
            </a:r>
          </a:p>
          <a:p>
            <a:pPr algn="l">
              <a:lnSpc>
                <a:spcPct val="112000"/>
              </a:lnSpc>
            </a:pPr>
            <a:r>
              <a:rPr sz="1050" b="0" i="0">
                <a:solidFill>
                  <a:srgbClr val="F4F6FB"/>
                </a:solidFill>
                <a:latin typeface="Courier New"/>
              </a:rPr>
              <a:t>/var/www/files/  +  report.txt</a:t>
            </a:r>
          </a:p>
          <a:p>
            <a:pPr algn="l">
              <a:lnSpc>
                <a:spcPct val="112000"/>
              </a:lnSpc>
            </a:pPr>
            <a:r>
              <a:rPr sz="1050" b="0" i="0">
                <a:solidFill>
                  <a:srgbClr val="F4F6FB"/>
                </a:solidFill>
                <a:latin typeface="Courier New"/>
              </a:rPr>
              <a:t>=  /var/www/files/report.txt</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what the same syntax also permits</a:t>
            </a:r>
          </a:p>
          <a:p>
            <a:pPr algn="l">
              <a:lnSpc>
                <a:spcPct val="112000"/>
              </a:lnSpc>
            </a:pPr>
            <a:r>
              <a:rPr sz="1050" b="0" i="0">
                <a:solidFill>
                  <a:srgbClr val="F4F6FB"/>
                </a:solidFill>
                <a:latin typeface="Courier New"/>
              </a:rPr>
              <a:t>/var/www/files/  +  ../../etc/hostname</a:t>
            </a:r>
          </a:p>
          <a:p>
            <a:pPr algn="l">
              <a:lnSpc>
                <a:spcPct val="112000"/>
              </a:lnSpc>
            </a:pPr>
            <a:r>
              <a:rPr sz="1050" b="0" i="0">
                <a:solidFill>
                  <a:srgbClr val="F4F6FB"/>
                </a:solidFill>
                <a:latin typeface="Courier New"/>
              </a:rPr>
              <a:t>=  /etc/hostname</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 means 'up one directory'</a:t>
            </a:r>
          </a:p>
          <a:p>
            <a:pPr algn="l">
              <a:lnSpc>
                <a:spcPct val="112000"/>
              </a:lnSpc>
            </a:pPr>
            <a:r>
              <a:rPr sz="1050" b="0" i="1">
                <a:solidFill>
                  <a:srgbClr val="8FA3C8"/>
                </a:solidFill>
                <a:latin typeface="Courier New"/>
              </a:rPr>
              <a:t>the server resolved it exactly as asked</a:t>
            </a:r>
          </a:p>
          <a:p>
            <a:pPr algn="l">
              <a:lnSpc>
                <a:spcPct val="112000"/>
              </a:lnSpc>
            </a:pPr>
            <a:r>
              <a:rPr sz="1050" b="0" i="1">
                <a:solidFill>
                  <a:srgbClr val="8FA3C8"/>
                </a:solidFill>
                <a:latin typeface="Courier New"/>
              </a:rPr>
              <a:t>and never checked the destination</a:t>
            </a:r>
          </a:p>
        </p:txBody>
      </p:sp>
      <p:sp>
        <p:nvSpPr>
          <p:cNvPr id="12" name="TextBox 11"/>
          <p:cNvSpPr txBox="1"/>
          <p:nvPr/>
        </p:nvSpPr>
        <p:spPr>
          <a:xfrm>
            <a:off x="548640" y="6070600"/>
            <a:ext cx="11094720" cy="274320"/>
          </a:xfrm>
          <a:prstGeom prst="rect">
            <a:avLst/>
          </a:prstGeom>
          <a:noFill/>
        </p:spPr>
        <p:txBody>
          <a:bodyPr wrap="square" lIns="0" rIns="0" tIns="0" bIns="0" anchor="ctr">
            <a:spAutoFit/>
          </a:bodyPr>
          <a:lstStyle/>
          <a:p>
            <a:pPr algn="l"/>
            <a:r>
              <a:rPr sz="1250" b="0" i="1">
                <a:solidFill>
                  <a:srgbClr val="E0559E"/>
                </a:solidFill>
                <a:latin typeface="Calibri"/>
              </a:rPr>
              <a:t>The server did nothing wrong. It did exactly what it was told.</a:t>
            </a:r>
          </a:p>
        </p:txBody>
      </p:sp>
      <p:sp>
        <p:nvSpPr>
          <p:cNvPr id="13" name="TextBox 12"/>
          <p:cNvSpPr txBox="1"/>
          <p:nvPr/>
        </p:nvSpPr>
        <p:spPr>
          <a:xfrm>
            <a:off x="548640" y="6446520"/>
            <a:ext cx="40640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03 / 04</a:t>
            </a:r>
          </a:p>
        </p:txBody>
      </p:sp>
      <p:sp>
        <p:nvSpPr>
          <p:cNvPr id="14" name="TextBox 13"/>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E0559E"/>
                </a:solidFill>
                <a:latin typeface="Calibri"/>
              </a:rPr>
              <a:t>THEORY  04 / 07</a:t>
            </a:r>
          </a:p>
        </p:txBody>
      </p:sp>
      <p:sp>
        <p:nvSpPr>
          <p:cNvPr id="3" name="TextBox 2"/>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Cookies, headers and sessions</a:t>
            </a:r>
          </a:p>
        </p:txBody>
      </p:sp>
      <p:sp>
        <p:nvSpPr>
          <p:cNvPr id="4" name="TextBox 3"/>
          <p:cNvSpPr txBox="1"/>
          <p:nvPr/>
        </p:nvSpPr>
        <p:spPr>
          <a:xfrm>
            <a:off x="548640" y="1389380"/>
            <a:ext cx="9814560" cy="47498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A forgetful protocol remembers you by handing you something to give back.</a:t>
            </a:r>
          </a:p>
        </p:txBody>
      </p:sp>
      <p:sp>
        <p:nvSpPr>
          <p:cNvPr id="5" name="Rounded Rectangle 4"/>
          <p:cNvSpPr/>
          <p:nvPr/>
        </p:nvSpPr>
        <p:spPr>
          <a:xfrm>
            <a:off x="548640" y="2148840"/>
            <a:ext cx="5577840" cy="3683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790" y="2423160"/>
            <a:ext cx="4955540" cy="237490"/>
          </a:xfrm>
          <a:prstGeom prst="rect">
            <a:avLst/>
          </a:prstGeom>
          <a:noFill/>
        </p:spPr>
        <p:txBody>
          <a:bodyPr wrap="square" lIns="0" rIns="0" tIns="0" bIns="0" anchor="ctr">
            <a:spAutoFit/>
          </a:bodyPr>
          <a:lstStyle/>
          <a:p>
            <a:pPr algn="l"/>
            <a:r>
              <a:rPr sz="950" b="1" i="0" spc="110">
                <a:solidFill>
                  <a:srgbClr val="E0559E"/>
                </a:solidFill>
                <a:latin typeface="Calibri"/>
              </a:rPr>
              <a:t>WHAT IT IS</a:t>
            </a:r>
          </a:p>
        </p:txBody>
      </p:sp>
      <p:sp>
        <p:nvSpPr>
          <p:cNvPr id="7" name="TextBox 6"/>
          <p:cNvSpPr txBox="1"/>
          <p:nvPr/>
        </p:nvSpPr>
        <p:spPr>
          <a:xfrm>
            <a:off x="859790" y="2697480"/>
            <a:ext cx="4955540" cy="1371600"/>
          </a:xfrm>
          <a:prstGeom prst="rect">
            <a:avLst/>
          </a:prstGeom>
          <a:noFill/>
        </p:spPr>
        <p:txBody>
          <a:bodyPr wrap="square" lIns="0" rIns="0" tIns="0" bIns="0" anchor="t">
            <a:spAutoFit/>
          </a:bodyPr>
          <a:lstStyle/>
          <a:p>
            <a:pPr algn="l"/>
            <a:r>
              <a:rPr sz="1200" b="0" i="0">
                <a:solidFill>
                  <a:srgbClr val="B8C7E4"/>
                </a:solidFill>
                <a:latin typeface="Calibri"/>
              </a:rPr>
              <a:t>The server sets a cookie; your browser returns it on every later request. Other headers carry similar claims — where you came from, what browser you are, what you will accept. All of them are just text, stored on your machine, and sent by your machine.</a:t>
            </a:r>
          </a:p>
        </p:txBody>
      </p:sp>
      <p:sp>
        <p:nvSpPr>
          <p:cNvPr id="8" name="TextBox 7"/>
          <p:cNvSpPr txBox="1"/>
          <p:nvPr/>
        </p:nvSpPr>
        <p:spPr>
          <a:xfrm>
            <a:off x="859790" y="4213860"/>
            <a:ext cx="4955540" cy="237490"/>
          </a:xfrm>
          <a:prstGeom prst="rect">
            <a:avLst/>
          </a:prstGeom>
          <a:noFill/>
        </p:spPr>
        <p:txBody>
          <a:bodyPr wrap="square" lIns="0" rIns="0" tIns="0" bIns="0" anchor="ctr">
            <a:spAutoFit/>
          </a:bodyPr>
          <a:lstStyle/>
          <a:p>
            <a:pPr algn="l"/>
            <a:r>
              <a:rPr sz="950" b="1" i="0" spc="110">
                <a:solidFill>
                  <a:srgbClr val="E0559E"/>
                </a:solidFill>
                <a:latin typeface="Calibri"/>
              </a:rPr>
              <a:t>WHY IT MATTERS HERE</a:t>
            </a:r>
          </a:p>
        </p:txBody>
      </p:sp>
      <p:sp>
        <p:nvSpPr>
          <p:cNvPr id="9" name="TextBox 8"/>
          <p:cNvSpPr txBox="1"/>
          <p:nvPr/>
        </p:nvSpPr>
        <p:spPr>
          <a:xfrm>
            <a:off x="859790" y="4488180"/>
            <a:ext cx="4955540" cy="1371600"/>
          </a:xfrm>
          <a:prstGeom prst="rect">
            <a:avLst/>
          </a:prstGeom>
          <a:noFill/>
        </p:spPr>
        <p:txBody>
          <a:bodyPr wrap="square" lIns="0" rIns="0" tIns="0" bIns="0" anchor="t">
            <a:spAutoFit/>
          </a:bodyPr>
          <a:lstStyle/>
          <a:p>
            <a:pPr algn="l"/>
            <a:r>
              <a:rPr sz="1200" b="0" i="0">
                <a:solidFill>
                  <a:srgbClr val="B8C7E4"/>
                </a:solidFill>
                <a:latin typeface="Calibri"/>
              </a:rPr>
              <a:t>Anything travelling with the request can be inspected and altered. A value is trustworthy only if the server can verify it independently, not just because the server received it.</a:t>
            </a:r>
          </a:p>
        </p:txBody>
      </p:sp>
      <p:sp>
        <p:nvSpPr>
          <p:cNvPr id="10" name="Rounded Rectangle 9"/>
          <p:cNvSpPr/>
          <p:nvPr/>
        </p:nvSpPr>
        <p:spPr>
          <a:xfrm>
            <a:off x="6383020" y="2148840"/>
            <a:ext cx="5260340" cy="3683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57340" y="2405380"/>
            <a:ext cx="4711700" cy="3175000"/>
          </a:xfrm>
          <a:prstGeom prst="rect">
            <a:avLst/>
          </a:prstGeom>
          <a:noFill/>
        </p:spPr>
        <p:txBody>
          <a:bodyPr wrap="square" lIns="0" rIns="0" tIns="0" bIns="0" anchor="t">
            <a:spAutoFit/>
          </a:bodyPr>
          <a:lstStyle/>
          <a:p>
            <a:pPr algn="l">
              <a:lnSpc>
                <a:spcPct val="112000"/>
              </a:lnSpc>
            </a:pPr>
            <a:r>
              <a:rPr sz="1050" b="0" i="1">
                <a:solidFill>
                  <a:srgbClr val="8FA3C8"/>
                </a:solidFill>
                <a:latin typeface="Courier New"/>
              </a:rPr>
              <a:t>the server hands you something</a:t>
            </a:r>
          </a:p>
          <a:p>
            <a:pPr algn="l">
              <a:lnSpc>
                <a:spcPct val="112000"/>
              </a:lnSpc>
            </a:pPr>
            <a:r>
              <a:rPr sz="1050" b="0" i="0">
                <a:solidFill>
                  <a:srgbClr val="F4F6FB"/>
                </a:solidFill>
                <a:latin typeface="Courier New"/>
              </a:rPr>
              <a:t>Set-Cookie: role=guest; loggedin=0</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your browser gives it back, every time</a:t>
            </a:r>
          </a:p>
          <a:p>
            <a:pPr algn="l">
              <a:lnSpc>
                <a:spcPct val="112000"/>
              </a:lnSpc>
            </a:pPr>
            <a:r>
              <a:rPr sz="1050" b="0" i="0">
                <a:solidFill>
                  <a:srgbClr val="F4F6FB"/>
                </a:solidFill>
                <a:latin typeface="Courier New"/>
              </a:rPr>
              <a:t>Cookie: role=guest; loggedin=0</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but it is your file, on your disk</a:t>
            </a:r>
          </a:p>
          <a:p>
            <a:pPr algn="l">
              <a:lnSpc>
                <a:spcPct val="112000"/>
              </a:lnSpc>
            </a:pPr>
            <a:r>
              <a:rPr sz="1050" b="0" i="0">
                <a:solidFill>
                  <a:srgbClr val="F4F6FB"/>
                </a:solidFill>
                <a:latin typeface="Courier New"/>
              </a:rPr>
              <a:t>Cookie: role=admin; loggedin=1</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other headers make claims too</a:t>
            </a:r>
          </a:p>
          <a:p>
            <a:pPr algn="l">
              <a:lnSpc>
                <a:spcPct val="112000"/>
              </a:lnSpc>
            </a:pPr>
            <a:r>
              <a:rPr sz="1050" b="0" i="0">
                <a:solidFill>
                  <a:srgbClr val="F4F6FB"/>
                </a:solidFill>
                <a:latin typeface="Courier New"/>
              </a:rPr>
              <a:t>Referer     says where you came from</a:t>
            </a:r>
          </a:p>
          <a:p>
            <a:pPr algn="l">
              <a:lnSpc>
                <a:spcPct val="112000"/>
              </a:lnSpc>
            </a:pPr>
            <a:r>
              <a:rPr sz="1050" b="0" i="0">
                <a:solidFill>
                  <a:srgbClr val="F4F6FB"/>
                </a:solidFill>
                <a:latin typeface="Courier New"/>
              </a:rPr>
              <a:t>User-Agent  says what you are</a:t>
            </a:r>
          </a:p>
          <a:p>
            <a:pPr algn="l">
              <a:lnSpc>
                <a:spcPct val="112000"/>
              </a:lnSpc>
            </a:pPr>
            <a:r>
              <a:rPr sz="1050" b="0" i="1">
                <a:solidFill>
                  <a:srgbClr val="8FA3C8"/>
                </a:solidFill>
                <a:latin typeface="Courier New"/>
              </a:rPr>
              <a:t>neither of them is proof of anything</a:t>
            </a:r>
          </a:p>
        </p:txBody>
      </p:sp>
      <p:sp>
        <p:nvSpPr>
          <p:cNvPr id="12" name="TextBox 11"/>
          <p:cNvSpPr txBox="1"/>
          <p:nvPr/>
        </p:nvSpPr>
        <p:spPr>
          <a:xfrm>
            <a:off x="548640" y="6070600"/>
            <a:ext cx="11094720" cy="274320"/>
          </a:xfrm>
          <a:prstGeom prst="rect">
            <a:avLst/>
          </a:prstGeom>
          <a:noFill/>
        </p:spPr>
        <p:txBody>
          <a:bodyPr wrap="square" lIns="0" rIns="0" tIns="0" bIns="0" anchor="ctr">
            <a:spAutoFit/>
          </a:bodyPr>
          <a:lstStyle/>
          <a:p>
            <a:pPr algn="l"/>
            <a:r>
              <a:rPr sz="1250" b="0" i="1">
                <a:solidFill>
                  <a:srgbClr val="E0559E"/>
                </a:solidFill>
                <a:latin typeface="Calibri"/>
              </a:rPr>
              <a:t>Received is not the same as verified.</a:t>
            </a:r>
          </a:p>
        </p:txBody>
      </p:sp>
      <p:sp>
        <p:nvSpPr>
          <p:cNvPr id="13" name="TextBox 12"/>
          <p:cNvSpPr txBox="1"/>
          <p:nvPr/>
        </p:nvSpPr>
        <p:spPr>
          <a:xfrm>
            <a:off x="548640" y="6446520"/>
            <a:ext cx="40640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03 / 04</a:t>
            </a:r>
          </a:p>
        </p:txBody>
      </p:sp>
      <p:sp>
        <p:nvSpPr>
          <p:cNvPr id="14" name="TextBox 13"/>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E0559E"/>
                </a:solidFill>
                <a:latin typeface="Calibri"/>
              </a:rPr>
              <a:t>THEORY  05 / 07</a:t>
            </a:r>
          </a:p>
        </p:txBody>
      </p:sp>
      <p:sp>
        <p:nvSpPr>
          <p:cNvPr id="3" name="TextBox 2"/>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Input that becomes instruction</a:t>
            </a:r>
          </a:p>
        </p:txBody>
      </p:sp>
      <p:sp>
        <p:nvSpPr>
          <p:cNvPr id="4" name="TextBox 3"/>
          <p:cNvSpPr txBox="1"/>
          <p:nvPr/>
        </p:nvSpPr>
        <p:spPr>
          <a:xfrm>
            <a:off x="548640" y="1389380"/>
            <a:ext cx="9814560" cy="47498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The bug appears when a value supplied as data gets executed as a command.</a:t>
            </a:r>
          </a:p>
        </p:txBody>
      </p:sp>
      <p:sp>
        <p:nvSpPr>
          <p:cNvPr id="5" name="Rounded Rectangle 4"/>
          <p:cNvSpPr/>
          <p:nvPr/>
        </p:nvSpPr>
        <p:spPr>
          <a:xfrm>
            <a:off x="548640" y="2148840"/>
            <a:ext cx="5577840" cy="3683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790" y="2423160"/>
            <a:ext cx="4955540" cy="237490"/>
          </a:xfrm>
          <a:prstGeom prst="rect">
            <a:avLst/>
          </a:prstGeom>
          <a:noFill/>
        </p:spPr>
        <p:txBody>
          <a:bodyPr wrap="square" lIns="0" rIns="0" tIns="0" bIns="0" anchor="ctr">
            <a:spAutoFit/>
          </a:bodyPr>
          <a:lstStyle/>
          <a:p>
            <a:pPr algn="l"/>
            <a:r>
              <a:rPr sz="950" b="1" i="0" spc="110">
                <a:solidFill>
                  <a:srgbClr val="E0559E"/>
                </a:solidFill>
                <a:latin typeface="Calibri"/>
              </a:rPr>
              <a:t>WHAT IT IS</a:t>
            </a:r>
          </a:p>
        </p:txBody>
      </p:sp>
      <p:sp>
        <p:nvSpPr>
          <p:cNvPr id="7" name="TextBox 6"/>
          <p:cNvSpPr txBox="1"/>
          <p:nvPr/>
        </p:nvSpPr>
        <p:spPr>
          <a:xfrm>
            <a:off x="859790" y="2697480"/>
            <a:ext cx="4955540" cy="1371600"/>
          </a:xfrm>
          <a:prstGeom prst="rect">
            <a:avLst/>
          </a:prstGeom>
          <a:noFill/>
        </p:spPr>
        <p:txBody>
          <a:bodyPr wrap="square" lIns="0" rIns="0" tIns="0" bIns="0" anchor="t">
            <a:spAutoFit/>
          </a:bodyPr>
          <a:lstStyle/>
          <a:p>
            <a:pPr algn="l"/>
            <a:r>
              <a:rPr sz="1200" b="0" i="0">
                <a:solidFill>
                  <a:srgbClr val="B8C7E4"/>
                </a:solidFill>
                <a:latin typeface="Calibri"/>
              </a:rPr>
              <a:t>A program builds a command or a query by pasting a value into the middle of a string. To the program it is one piece of text. To whatever reads that text afterwards, part of it is a value and part is syntax — so if the supplied value contains syntax, it stops being data.</a:t>
            </a:r>
          </a:p>
        </p:txBody>
      </p:sp>
      <p:sp>
        <p:nvSpPr>
          <p:cNvPr id="8" name="TextBox 7"/>
          <p:cNvSpPr txBox="1"/>
          <p:nvPr/>
        </p:nvSpPr>
        <p:spPr>
          <a:xfrm>
            <a:off x="859790" y="4213860"/>
            <a:ext cx="4955540" cy="237490"/>
          </a:xfrm>
          <a:prstGeom prst="rect">
            <a:avLst/>
          </a:prstGeom>
          <a:noFill/>
        </p:spPr>
        <p:txBody>
          <a:bodyPr wrap="square" lIns="0" rIns="0" tIns="0" bIns="0" anchor="ctr">
            <a:spAutoFit/>
          </a:bodyPr>
          <a:lstStyle/>
          <a:p>
            <a:pPr algn="l"/>
            <a:r>
              <a:rPr sz="950" b="1" i="0" spc="110">
                <a:solidFill>
                  <a:srgbClr val="E0559E"/>
                </a:solidFill>
                <a:latin typeface="Calibri"/>
              </a:rPr>
              <a:t>WHY IT MATTERS HERE</a:t>
            </a:r>
          </a:p>
        </p:txBody>
      </p:sp>
      <p:sp>
        <p:nvSpPr>
          <p:cNvPr id="9" name="TextBox 8"/>
          <p:cNvSpPr txBox="1"/>
          <p:nvPr/>
        </p:nvSpPr>
        <p:spPr>
          <a:xfrm>
            <a:off x="859790" y="4488180"/>
            <a:ext cx="4955540" cy="1371600"/>
          </a:xfrm>
          <a:prstGeom prst="rect">
            <a:avLst/>
          </a:prstGeom>
          <a:noFill/>
        </p:spPr>
        <p:txBody>
          <a:bodyPr wrap="square" lIns="0" rIns="0" tIns="0" bIns="0" anchor="t">
            <a:spAutoFit/>
          </a:bodyPr>
          <a:lstStyle/>
          <a:p>
            <a:pPr algn="l"/>
            <a:r>
              <a:rPr sz="1200" b="0" i="0">
                <a:solidFill>
                  <a:srgbClr val="B8C7E4"/>
                </a:solidFill>
                <a:latin typeface="Calibri"/>
              </a:rPr>
              <a:t>This single shape explains command injection, SQL injection and most of the second half of this track. Filtering particular characters is a patch on the symptom; not building instructions out of input at all is the actual fix.</a:t>
            </a:r>
          </a:p>
        </p:txBody>
      </p:sp>
      <p:sp>
        <p:nvSpPr>
          <p:cNvPr id="10" name="Rounded Rectangle 9"/>
          <p:cNvSpPr/>
          <p:nvPr/>
        </p:nvSpPr>
        <p:spPr>
          <a:xfrm>
            <a:off x="6383020" y="2148840"/>
            <a:ext cx="5260340" cy="3683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57340" y="2405380"/>
            <a:ext cx="4711700" cy="3175000"/>
          </a:xfrm>
          <a:prstGeom prst="rect">
            <a:avLst/>
          </a:prstGeom>
          <a:noFill/>
        </p:spPr>
        <p:txBody>
          <a:bodyPr wrap="square" lIns="0" rIns="0" tIns="0" bIns="0" anchor="t">
            <a:spAutoFit/>
          </a:bodyPr>
          <a:lstStyle/>
          <a:p>
            <a:pPr algn="l">
              <a:lnSpc>
                <a:spcPct val="112000"/>
              </a:lnSpc>
            </a:pPr>
            <a:r>
              <a:rPr sz="1050" b="0" i="1">
                <a:solidFill>
                  <a:srgbClr val="8FA3C8"/>
                </a:solidFill>
                <a:latin typeface="Courier New"/>
              </a:rPr>
              <a:t>the developer's mental model</a:t>
            </a:r>
          </a:p>
          <a:p>
            <a:pPr algn="l">
              <a:lnSpc>
                <a:spcPct val="112000"/>
              </a:lnSpc>
            </a:pPr>
            <a:r>
              <a:rPr sz="1050" b="0" i="0">
                <a:solidFill>
                  <a:srgbClr val="F4F6FB"/>
                </a:solidFill>
                <a:latin typeface="Courier New"/>
              </a:rPr>
              <a:t>run("ping " + userInput)</a:t>
            </a:r>
          </a:p>
          <a:p>
            <a:pPr algn="l">
              <a:lnSpc>
                <a:spcPct val="112000"/>
              </a:lnSpc>
            </a:pPr>
            <a:r>
              <a:rPr sz="1050" b="0" i="0">
                <a:solidFill>
                  <a:srgbClr val="F4F6FB"/>
                </a:solidFill>
                <a:latin typeface="Courier New"/>
              </a:rPr>
              <a:t>     command       a hostname</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what usually runs</a:t>
            </a:r>
          </a:p>
          <a:p>
            <a:pPr algn="l">
              <a:lnSpc>
                <a:spcPct val="112000"/>
              </a:lnSpc>
            </a:pPr>
            <a:r>
              <a:rPr sz="1050" b="0" i="0">
                <a:solidFill>
                  <a:srgbClr val="F4F6FB"/>
                </a:solidFill>
                <a:latin typeface="Courier New"/>
              </a:rPr>
              <a:t>ping 127.0.0.1</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what a shell also understands</a:t>
            </a:r>
          </a:p>
          <a:p>
            <a:pPr algn="l">
              <a:lnSpc>
                <a:spcPct val="112000"/>
              </a:lnSpc>
            </a:pPr>
            <a:r>
              <a:rPr sz="1050" b="0" i="0">
                <a:solidFill>
                  <a:srgbClr val="F4F6FB"/>
                </a:solidFill>
                <a:latin typeface="Courier New"/>
              </a:rPr>
              <a:t>ping 127.0.0.1 ; whoami</a:t>
            </a:r>
          </a:p>
          <a:p>
            <a:pPr algn="l">
              <a:lnSpc>
                <a:spcPct val="112000"/>
              </a:lnSpc>
            </a:pPr>
            <a:r>
              <a:rPr sz="1050" b="0" i="0">
                <a:solidFill>
                  <a:srgbClr val="F4F6FB"/>
                </a:solidFill>
                <a:latin typeface="Courier New"/>
              </a:rPr>
              <a:t>               ^ no longer a hostname</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same shape, different interpreter</a:t>
            </a:r>
          </a:p>
          <a:p>
            <a:pPr algn="l">
              <a:lnSpc>
                <a:spcPct val="112000"/>
              </a:lnSpc>
            </a:pPr>
            <a:r>
              <a:rPr sz="1050" b="0" i="0">
                <a:solidFill>
                  <a:srgbClr val="F4F6FB"/>
                </a:solidFill>
                <a:latin typeface="Courier New"/>
              </a:rPr>
              <a:t>SELECT * FROM t WHERE n = 'value'</a:t>
            </a:r>
          </a:p>
        </p:txBody>
      </p:sp>
      <p:sp>
        <p:nvSpPr>
          <p:cNvPr id="12" name="TextBox 11"/>
          <p:cNvSpPr txBox="1"/>
          <p:nvPr/>
        </p:nvSpPr>
        <p:spPr>
          <a:xfrm>
            <a:off x="548640" y="6070600"/>
            <a:ext cx="11094720" cy="274320"/>
          </a:xfrm>
          <a:prstGeom prst="rect">
            <a:avLst/>
          </a:prstGeom>
          <a:noFill/>
        </p:spPr>
        <p:txBody>
          <a:bodyPr wrap="square" lIns="0" rIns="0" tIns="0" bIns="0" anchor="ctr">
            <a:spAutoFit/>
          </a:bodyPr>
          <a:lstStyle/>
          <a:p>
            <a:pPr algn="l"/>
            <a:r>
              <a:rPr sz="1250" b="0" i="1">
                <a:solidFill>
                  <a:srgbClr val="E0559E"/>
                </a:solidFill>
                <a:latin typeface="Calibri"/>
              </a:rPr>
              <a:t>Ask on every level: where does my text stop being text?</a:t>
            </a:r>
          </a:p>
        </p:txBody>
      </p:sp>
      <p:sp>
        <p:nvSpPr>
          <p:cNvPr id="13" name="TextBox 12"/>
          <p:cNvSpPr txBox="1"/>
          <p:nvPr/>
        </p:nvSpPr>
        <p:spPr>
          <a:xfrm>
            <a:off x="548640" y="6446520"/>
            <a:ext cx="40640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03 / 04</a:t>
            </a:r>
          </a:p>
        </p:txBody>
      </p:sp>
      <p:sp>
        <p:nvSpPr>
          <p:cNvPr id="14" name="TextBox 13"/>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E0559E"/>
                </a:solidFill>
                <a:latin typeface="Calibri"/>
              </a:rPr>
              <a:t>THEORY  06 / 07</a:t>
            </a:r>
          </a:p>
        </p:txBody>
      </p:sp>
      <p:sp>
        <p:nvSpPr>
          <p:cNvPr id="3" name="TextBox 2"/>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Reversible is not secret</a:t>
            </a:r>
          </a:p>
        </p:txBody>
      </p:sp>
      <p:sp>
        <p:nvSpPr>
          <p:cNvPr id="4" name="TextBox 3"/>
          <p:cNvSpPr txBox="1"/>
          <p:nvPr/>
        </p:nvSpPr>
        <p:spPr>
          <a:xfrm>
            <a:off x="548640" y="1389380"/>
            <a:ext cx="9814560" cy="47498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If it can be undone with what you already hold, it protects nothing.</a:t>
            </a:r>
          </a:p>
        </p:txBody>
      </p:sp>
      <p:sp>
        <p:nvSpPr>
          <p:cNvPr id="5" name="Rounded Rectangle 4"/>
          <p:cNvSpPr/>
          <p:nvPr/>
        </p:nvSpPr>
        <p:spPr>
          <a:xfrm>
            <a:off x="548640" y="2148840"/>
            <a:ext cx="5577840" cy="3683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790" y="2423160"/>
            <a:ext cx="4955540" cy="237490"/>
          </a:xfrm>
          <a:prstGeom prst="rect">
            <a:avLst/>
          </a:prstGeom>
          <a:noFill/>
        </p:spPr>
        <p:txBody>
          <a:bodyPr wrap="square" lIns="0" rIns="0" tIns="0" bIns="0" anchor="ctr">
            <a:spAutoFit/>
          </a:bodyPr>
          <a:lstStyle/>
          <a:p>
            <a:pPr algn="l"/>
            <a:r>
              <a:rPr sz="950" b="1" i="0" spc="110">
                <a:solidFill>
                  <a:srgbClr val="E0559E"/>
                </a:solidFill>
                <a:latin typeface="Calibri"/>
              </a:rPr>
              <a:t>WHAT IT IS</a:t>
            </a:r>
          </a:p>
        </p:txBody>
      </p:sp>
      <p:sp>
        <p:nvSpPr>
          <p:cNvPr id="7" name="TextBox 6"/>
          <p:cNvSpPr txBox="1"/>
          <p:nvPr/>
        </p:nvSpPr>
        <p:spPr>
          <a:xfrm>
            <a:off x="859790" y="2697480"/>
            <a:ext cx="4955540" cy="1371600"/>
          </a:xfrm>
          <a:prstGeom prst="rect">
            <a:avLst/>
          </a:prstGeom>
          <a:noFill/>
        </p:spPr>
        <p:txBody>
          <a:bodyPr wrap="square" lIns="0" rIns="0" tIns="0" bIns="0" anchor="t">
            <a:spAutoFit/>
          </a:bodyPr>
          <a:lstStyle/>
          <a:p>
            <a:pPr algn="l"/>
            <a:r>
              <a:rPr sz="1200" b="0" i="0">
                <a:solidFill>
                  <a:srgbClr val="B8C7E4"/>
                </a:solidFill>
                <a:latin typeface="Calibri"/>
              </a:rPr>
              <a:t>Encoding, compression and XOR against a fixed value all transform data without keeping a secret. XOR is its own inverse, so if you can obtain a single matching pair of before and after, the key falls straight out.</a:t>
            </a:r>
          </a:p>
        </p:txBody>
      </p:sp>
      <p:sp>
        <p:nvSpPr>
          <p:cNvPr id="8" name="TextBox 7"/>
          <p:cNvSpPr txBox="1"/>
          <p:nvPr/>
        </p:nvSpPr>
        <p:spPr>
          <a:xfrm>
            <a:off x="859790" y="4213860"/>
            <a:ext cx="4955540" cy="237490"/>
          </a:xfrm>
          <a:prstGeom prst="rect">
            <a:avLst/>
          </a:prstGeom>
          <a:noFill/>
        </p:spPr>
        <p:txBody>
          <a:bodyPr wrap="square" lIns="0" rIns="0" tIns="0" bIns="0" anchor="ctr">
            <a:spAutoFit/>
          </a:bodyPr>
          <a:lstStyle/>
          <a:p>
            <a:pPr algn="l"/>
            <a:r>
              <a:rPr sz="950" b="1" i="0" spc="110">
                <a:solidFill>
                  <a:srgbClr val="E0559E"/>
                </a:solidFill>
                <a:latin typeface="Calibri"/>
              </a:rPr>
              <a:t>WHY IT MATTERS HERE</a:t>
            </a:r>
          </a:p>
        </p:txBody>
      </p:sp>
      <p:sp>
        <p:nvSpPr>
          <p:cNvPr id="9" name="TextBox 8"/>
          <p:cNvSpPr txBox="1"/>
          <p:nvPr/>
        </p:nvSpPr>
        <p:spPr>
          <a:xfrm>
            <a:off x="859790" y="4488180"/>
            <a:ext cx="4955540" cy="1371600"/>
          </a:xfrm>
          <a:prstGeom prst="rect">
            <a:avLst/>
          </a:prstGeom>
          <a:noFill/>
        </p:spPr>
        <p:txBody>
          <a:bodyPr wrap="square" lIns="0" rIns="0" tIns="0" bIns="0" anchor="t">
            <a:spAutoFit/>
          </a:bodyPr>
          <a:lstStyle/>
          <a:p>
            <a:pPr algn="l"/>
            <a:r>
              <a:rPr sz="1200" b="0" i="0">
                <a:solidFill>
                  <a:srgbClr val="B8C7E4"/>
                </a:solidFill>
                <a:latin typeface="Calibri"/>
              </a:rPr>
              <a:t>Home-made "encryption" in web applications is nearly always one of these. If you can spot a reversible transformation, you won't treat it as a wall and burn an hour on it.</a:t>
            </a:r>
          </a:p>
        </p:txBody>
      </p:sp>
      <p:sp>
        <p:nvSpPr>
          <p:cNvPr id="10" name="Rounded Rectangle 9"/>
          <p:cNvSpPr/>
          <p:nvPr/>
        </p:nvSpPr>
        <p:spPr>
          <a:xfrm>
            <a:off x="6383020" y="2148840"/>
            <a:ext cx="5260340" cy="3683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57340" y="2405380"/>
            <a:ext cx="4711700" cy="3175000"/>
          </a:xfrm>
          <a:prstGeom prst="rect">
            <a:avLst/>
          </a:prstGeom>
          <a:noFill/>
        </p:spPr>
        <p:txBody>
          <a:bodyPr wrap="square" lIns="0" rIns="0" tIns="0" bIns="0" anchor="t">
            <a:spAutoFit/>
          </a:bodyPr>
          <a:lstStyle/>
          <a:p>
            <a:pPr algn="l">
              <a:lnSpc>
                <a:spcPct val="112000"/>
              </a:lnSpc>
            </a:pPr>
            <a:r>
              <a:rPr sz="1050" b="0" i="1">
                <a:solidFill>
                  <a:srgbClr val="8FA3C8"/>
                </a:solidFill>
                <a:latin typeface="Courier New"/>
              </a:rPr>
              <a:t>XOR is its own inverse</a:t>
            </a:r>
          </a:p>
          <a:p>
            <a:pPr algn="l">
              <a:lnSpc>
                <a:spcPct val="112000"/>
              </a:lnSpc>
            </a:pPr>
            <a:r>
              <a:rPr sz="1050" b="0" i="0">
                <a:solidFill>
                  <a:srgbClr val="F4F6FB"/>
                </a:solidFill>
                <a:latin typeface="Courier New"/>
              </a:rPr>
              <a:t>data      XOR key  =  scrambled</a:t>
            </a:r>
          </a:p>
          <a:p>
            <a:pPr algn="l">
              <a:lnSpc>
                <a:spcPct val="112000"/>
              </a:lnSpc>
            </a:pPr>
            <a:r>
              <a:rPr sz="1050" b="0" i="0">
                <a:solidFill>
                  <a:srgbClr val="F4F6FB"/>
                </a:solidFill>
                <a:latin typeface="Courier New"/>
              </a:rPr>
              <a:t>scrambled XOR key  =  data</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and given any matching pair</a:t>
            </a:r>
          </a:p>
          <a:p>
            <a:pPr algn="l">
              <a:lnSpc>
                <a:spcPct val="112000"/>
              </a:lnSpc>
            </a:pPr>
            <a:r>
              <a:rPr sz="1050" b="0" i="0">
                <a:solidFill>
                  <a:srgbClr val="F4F6FB"/>
                </a:solidFill>
                <a:latin typeface="Courier New"/>
              </a:rPr>
              <a:t>data XOR scrambled =  key</a:t>
            </a:r>
          </a:p>
          <a:p>
            <a:pPr algn="l">
              <a:lnSpc>
                <a:spcPct val="112000"/>
              </a:lnSpc>
            </a:pPr>
            <a:r>
              <a:rPr sz="1050" b="0" i="0">
                <a:solidFill>
                  <a:srgbClr val="F4F6FB"/>
                </a:solidFill>
                <a:latin typeface="Courier New"/>
              </a:rPr>
              <a:t>                      ^ the key itself</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signs there is no real secret</a:t>
            </a:r>
          </a:p>
          <a:p>
            <a:pPr algn="l">
              <a:lnSpc>
                <a:spcPct val="112000"/>
              </a:lnSpc>
            </a:pPr>
            <a:r>
              <a:rPr sz="1050" b="0" i="0">
                <a:solidFill>
                  <a:srgbClr val="F4F6FB"/>
                </a:solidFill>
                <a:latin typeface="Courier New"/>
              </a:rPr>
              <a:t>- output length equals input length</a:t>
            </a:r>
          </a:p>
          <a:p>
            <a:pPr algn="l">
              <a:lnSpc>
                <a:spcPct val="112000"/>
              </a:lnSpc>
            </a:pPr>
            <a:r>
              <a:rPr sz="1050" b="0" i="0">
                <a:solidFill>
                  <a:srgbClr val="F4F6FB"/>
                </a:solidFill>
                <a:latin typeface="Courier New"/>
              </a:rPr>
              <a:t>- the same input always gives the same</a:t>
            </a:r>
          </a:p>
          <a:p>
            <a:pPr algn="l">
              <a:lnSpc>
                <a:spcPct val="112000"/>
              </a:lnSpc>
            </a:pPr>
            <a:r>
              <a:rPr sz="1050" b="0" i="0">
                <a:solidFill>
                  <a:srgbClr val="F4F6FB"/>
                </a:solidFill>
                <a:latin typeface="Courier New"/>
              </a:rPr>
              <a:t>- the transformation is in the source</a:t>
            </a:r>
          </a:p>
        </p:txBody>
      </p:sp>
      <p:sp>
        <p:nvSpPr>
          <p:cNvPr id="12" name="TextBox 11"/>
          <p:cNvSpPr txBox="1"/>
          <p:nvPr/>
        </p:nvSpPr>
        <p:spPr>
          <a:xfrm>
            <a:off x="548640" y="6070600"/>
            <a:ext cx="11094720" cy="274320"/>
          </a:xfrm>
          <a:prstGeom prst="rect">
            <a:avLst/>
          </a:prstGeom>
          <a:noFill/>
        </p:spPr>
        <p:txBody>
          <a:bodyPr wrap="square" lIns="0" rIns="0" tIns="0" bIns="0" anchor="ctr">
            <a:spAutoFit/>
          </a:bodyPr>
          <a:lstStyle/>
          <a:p>
            <a:pPr algn="l"/>
            <a:r>
              <a:rPr sz="1250" b="0" i="1">
                <a:solidFill>
                  <a:srgbClr val="E0559E"/>
                </a:solidFill>
                <a:latin typeface="Calibri"/>
              </a:rPr>
              <a:t>Scrambled and secret are not the same property.</a:t>
            </a:r>
          </a:p>
        </p:txBody>
      </p:sp>
      <p:sp>
        <p:nvSpPr>
          <p:cNvPr id="13" name="TextBox 12"/>
          <p:cNvSpPr txBox="1"/>
          <p:nvPr/>
        </p:nvSpPr>
        <p:spPr>
          <a:xfrm>
            <a:off x="548640" y="6446520"/>
            <a:ext cx="40640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03 / 04</a:t>
            </a:r>
          </a:p>
        </p:txBody>
      </p:sp>
      <p:sp>
        <p:nvSpPr>
          <p:cNvPr id="14" name="TextBox 13"/>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E0559E"/>
                </a:solidFill>
                <a:latin typeface="Calibri"/>
              </a:rPr>
              <a:t>THEORY  07 / 07</a:t>
            </a:r>
          </a:p>
        </p:txBody>
      </p:sp>
      <p:sp>
        <p:nvSpPr>
          <p:cNvPr id="3" name="TextBox 2"/>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The data layer</a:t>
            </a:r>
          </a:p>
        </p:txBody>
      </p:sp>
      <p:sp>
        <p:nvSpPr>
          <p:cNvPr id="4" name="TextBox 3"/>
          <p:cNvSpPr txBox="1"/>
          <p:nvPr/>
        </p:nvSpPr>
        <p:spPr>
          <a:xfrm>
            <a:off x="548640" y="1389380"/>
            <a:ext cx="9814560" cy="47498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Behind most of the web sits a database, answering questions written as text.</a:t>
            </a:r>
          </a:p>
        </p:txBody>
      </p:sp>
      <p:sp>
        <p:nvSpPr>
          <p:cNvPr id="5" name="Rounded Rectangle 4"/>
          <p:cNvSpPr/>
          <p:nvPr/>
        </p:nvSpPr>
        <p:spPr>
          <a:xfrm>
            <a:off x="548640" y="2148840"/>
            <a:ext cx="5577840" cy="3683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790" y="2423160"/>
            <a:ext cx="4955540" cy="237490"/>
          </a:xfrm>
          <a:prstGeom prst="rect">
            <a:avLst/>
          </a:prstGeom>
          <a:noFill/>
        </p:spPr>
        <p:txBody>
          <a:bodyPr wrap="square" lIns="0" rIns="0" tIns="0" bIns="0" anchor="ctr">
            <a:spAutoFit/>
          </a:bodyPr>
          <a:lstStyle/>
          <a:p>
            <a:pPr algn="l"/>
            <a:r>
              <a:rPr sz="950" b="1" i="0" spc="110">
                <a:solidFill>
                  <a:srgbClr val="E0559E"/>
                </a:solidFill>
                <a:latin typeface="Calibri"/>
              </a:rPr>
              <a:t>WHAT IT IS</a:t>
            </a:r>
          </a:p>
        </p:txBody>
      </p:sp>
      <p:sp>
        <p:nvSpPr>
          <p:cNvPr id="7" name="TextBox 6"/>
          <p:cNvSpPr txBox="1"/>
          <p:nvPr/>
        </p:nvSpPr>
        <p:spPr>
          <a:xfrm>
            <a:off x="859790" y="2697480"/>
            <a:ext cx="4955540" cy="1371600"/>
          </a:xfrm>
          <a:prstGeom prst="rect">
            <a:avLst/>
          </a:prstGeom>
          <a:noFill/>
        </p:spPr>
        <p:txBody>
          <a:bodyPr wrap="square" lIns="0" rIns="0" tIns="0" bIns="0" anchor="t">
            <a:spAutoFit/>
          </a:bodyPr>
          <a:lstStyle/>
          <a:p>
            <a:pPr algn="l"/>
            <a:r>
              <a:rPr sz="1200" b="0" i="0">
                <a:solidFill>
                  <a:srgbClr val="B8C7E4"/>
                </a:solidFill>
                <a:latin typeface="Calibri"/>
              </a:rPr>
              <a:t>A query is a sentence: which columns, from which table, matching which condition. Applications build these sentences while running, often by joining fragments and user input into one string. The database cannot tell which part the developer wrote and which part arrived from outside.</a:t>
            </a:r>
          </a:p>
        </p:txBody>
      </p:sp>
      <p:sp>
        <p:nvSpPr>
          <p:cNvPr id="8" name="TextBox 7"/>
          <p:cNvSpPr txBox="1"/>
          <p:nvPr/>
        </p:nvSpPr>
        <p:spPr>
          <a:xfrm>
            <a:off x="859790" y="4213860"/>
            <a:ext cx="4955540" cy="237490"/>
          </a:xfrm>
          <a:prstGeom prst="rect">
            <a:avLst/>
          </a:prstGeom>
          <a:noFill/>
        </p:spPr>
        <p:txBody>
          <a:bodyPr wrap="square" lIns="0" rIns="0" tIns="0" bIns="0" anchor="ctr">
            <a:spAutoFit/>
          </a:bodyPr>
          <a:lstStyle/>
          <a:p>
            <a:pPr algn="l"/>
            <a:r>
              <a:rPr sz="950" b="1" i="0" spc="110">
                <a:solidFill>
                  <a:srgbClr val="E0559E"/>
                </a:solidFill>
                <a:latin typeface="Calibri"/>
              </a:rPr>
              <a:t>WHY IT MATTERS HERE</a:t>
            </a:r>
          </a:p>
        </p:txBody>
      </p:sp>
      <p:sp>
        <p:nvSpPr>
          <p:cNvPr id="9" name="TextBox 8"/>
          <p:cNvSpPr txBox="1"/>
          <p:nvPr/>
        </p:nvSpPr>
        <p:spPr>
          <a:xfrm>
            <a:off x="859790" y="4488180"/>
            <a:ext cx="4955540" cy="1371600"/>
          </a:xfrm>
          <a:prstGeom prst="rect">
            <a:avLst/>
          </a:prstGeom>
          <a:noFill/>
        </p:spPr>
        <p:txBody>
          <a:bodyPr wrap="square" lIns="0" rIns="0" tIns="0" bIns="0" anchor="t">
            <a:spAutoFit/>
          </a:bodyPr>
          <a:lstStyle/>
          <a:p>
            <a:pPr algn="l"/>
            <a:r>
              <a:rPr sz="1200" b="0" i="0">
                <a:solidFill>
                  <a:srgbClr val="B8C7E4"/>
                </a:solidFill>
                <a:latin typeface="Calibri"/>
              </a:rPr>
              <a:t>It is the deepest floor of this track for a reason: the records are the point of the whole building. Every level above it is a route towards here.</a:t>
            </a:r>
          </a:p>
        </p:txBody>
      </p:sp>
      <p:sp>
        <p:nvSpPr>
          <p:cNvPr id="10" name="Rounded Rectangle 9"/>
          <p:cNvSpPr/>
          <p:nvPr/>
        </p:nvSpPr>
        <p:spPr>
          <a:xfrm>
            <a:off x="6383020" y="2148840"/>
            <a:ext cx="5260340" cy="3683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57340" y="2405380"/>
            <a:ext cx="4711700" cy="3175000"/>
          </a:xfrm>
          <a:prstGeom prst="rect">
            <a:avLst/>
          </a:prstGeom>
          <a:noFill/>
        </p:spPr>
        <p:txBody>
          <a:bodyPr wrap="square" lIns="0" rIns="0" tIns="0" bIns="0" anchor="t">
            <a:spAutoFit/>
          </a:bodyPr>
          <a:lstStyle/>
          <a:p>
            <a:pPr algn="l">
              <a:lnSpc>
                <a:spcPct val="112000"/>
              </a:lnSpc>
            </a:pPr>
            <a:r>
              <a:rPr sz="1050" b="0" i="1">
                <a:solidFill>
                  <a:srgbClr val="8FA3C8"/>
                </a:solidFill>
                <a:latin typeface="Courier New"/>
              </a:rPr>
              <a:t>the shape of a query</a:t>
            </a:r>
          </a:p>
          <a:p>
            <a:pPr algn="l">
              <a:lnSpc>
                <a:spcPct val="112000"/>
              </a:lnSpc>
            </a:pPr>
            <a:r>
              <a:rPr sz="1050" b="0" i="0">
                <a:solidFill>
                  <a:srgbClr val="F4F6FB"/>
                </a:solidFill>
                <a:latin typeface="Courier New"/>
              </a:rPr>
              <a:t>SELECT  column    the fields you want</a:t>
            </a:r>
          </a:p>
          <a:p>
            <a:pPr algn="l">
              <a:lnSpc>
                <a:spcPct val="112000"/>
              </a:lnSpc>
            </a:pPr>
            <a:r>
              <a:rPr sz="1050" b="0" i="0">
                <a:solidFill>
                  <a:srgbClr val="F4F6FB"/>
                </a:solidFill>
                <a:latin typeface="Courier New"/>
              </a:rPr>
              <a:t>FROM    table     where they live</a:t>
            </a:r>
          </a:p>
          <a:p>
            <a:pPr algn="l">
              <a:lnSpc>
                <a:spcPct val="112000"/>
              </a:lnSpc>
            </a:pPr>
            <a:r>
              <a:rPr sz="1050" b="0" i="0">
                <a:solidFill>
                  <a:srgbClr val="F4F6FB"/>
                </a:solidFill>
                <a:latin typeface="Courier New"/>
              </a:rPr>
              <a:t>WHERE   name = 'value'    the condition</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built by joining strings together</a:t>
            </a:r>
          </a:p>
          <a:p>
            <a:pPr algn="l">
              <a:lnSpc>
                <a:spcPct val="112000"/>
              </a:lnSpc>
            </a:pPr>
            <a:r>
              <a:rPr sz="1050" b="0" i="0">
                <a:solidFill>
                  <a:srgbClr val="F4F6FB"/>
                </a:solidFill>
                <a:latin typeface="Courier New"/>
              </a:rPr>
              <a:t>"... WHERE name = '"  +  input  +  "'"</a:t>
            </a:r>
          </a:p>
          <a:p>
            <a:pPr algn="l">
              <a:lnSpc>
                <a:spcPct val="112000"/>
              </a:lnSpc>
            </a:pPr>
            <a:r>
              <a:rPr sz="1050" b="0" i="0">
                <a:solidFill>
                  <a:srgbClr val="F4F6FB"/>
                </a:solidFill>
                <a:latin typeface="Courier New"/>
              </a:rPr>
              <a:t> </a:t>
            </a:r>
          </a:p>
          <a:p>
            <a:pPr algn="l">
              <a:lnSpc>
                <a:spcPct val="112000"/>
              </a:lnSpc>
            </a:pPr>
            <a:r>
              <a:rPr sz="1050" b="0" i="1">
                <a:solidFill>
                  <a:srgbClr val="8FA3C8"/>
                </a:solidFill>
                <a:latin typeface="Courier New"/>
              </a:rPr>
              <a:t>the quote character ends the value.</a:t>
            </a:r>
          </a:p>
          <a:p>
            <a:pPr algn="l">
              <a:lnSpc>
                <a:spcPct val="112000"/>
              </a:lnSpc>
            </a:pPr>
            <a:r>
              <a:rPr sz="1050" b="0" i="1">
                <a:solidFill>
                  <a:srgbClr val="8FA3C8"/>
                </a:solidFill>
                <a:latin typeface="Courier New"/>
              </a:rPr>
              <a:t>anything after it is read as more</a:t>
            </a:r>
          </a:p>
          <a:p>
            <a:pPr algn="l">
              <a:lnSpc>
                <a:spcPct val="112000"/>
              </a:lnSpc>
            </a:pPr>
            <a:r>
              <a:rPr sz="1050" b="0" i="1">
                <a:solidFill>
                  <a:srgbClr val="8FA3C8"/>
                </a:solidFill>
                <a:latin typeface="Courier New"/>
              </a:rPr>
              <a:t>query, not as more data.</a:t>
            </a:r>
          </a:p>
        </p:txBody>
      </p:sp>
      <p:sp>
        <p:nvSpPr>
          <p:cNvPr id="12" name="TextBox 11"/>
          <p:cNvSpPr txBox="1"/>
          <p:nvPr/>
        </p:nvSpPr>
        <p:spPr>
          <a:xfrm>
            <a:off x="548640" y="6070600"/>
            <a:ext cx="11094720" cy="274320"/>
          </a:xfrm>
          <a:prstGeom prst="rect">
            <a:avLst/>
          </a:prstGeom>
          <a:noFill/>
        </p:spPr>
        <p:txBody>
          <a:bodyPr wrap="square" lIns="0" rIns="0" tIns="0" bIns="0" anchor="ctr">
            <a:spAutoFit/>
          </a:bodyPr>
          <a:lstStyle/>
          <a:p>
            <a:pPr algn="l"/>
            <a:r>
              <a:rPr sz="1250" b="0" i="1">
                <a:solidFill>
                  <a:srgbClr val="E0559E"/>
                </a:solidFill>
                <a:latin typeface="Calibri"/>
              </a:rPr>
              <a:t>The database is not fooled. It was never told there was a difference.</a:t>
            </a:r>
          </a:p>
        </p:txBody>
      </p:sp>
      <p:sp>
        <p:nvSpPr>
          <p:cNvPr id="13" name="TextBox 12"/>
          <p:cNvSpPr txBox="1"/>
          <p:nvPr/>
        </p:nvSpPr>
        <p:spPr>
          <a:xfrm>
            <a:off x="548640" y="6446520"/>
            <a:ext cx="40640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03 / 04</a:t>
            </a:r>
          </a:p>
        </p:txBody>
      </p:sp>
      <p:sp>
        <p:nvSpPr>
          <p:cNvPr id="14" name="TextBox 13"/>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pic>
        <p:nvPicPr>
          <p:cNvPr id="2" name="Picture 1" descr="image-10.png"/>
          <p:cNvPicPr>
            <a:picLocks noChangeAspect="1"/>
          </p:cNvPicPr>
          <p:nvPr/>
        </p:nvPicPr>
        <p:blipFill>
          <a:blip r:embed="rId2">
            <a:alphaModFix amt="28000"/>
          </a:blip>
          <a:stretch>
            <a:fillRect/>
          </a:stretch>
        </p:blipFill>
        <p:spPr>
          <a:xfrm>
            <a:off x="8549640" y="109220"/>
            <a:ext cx="3291840" cy="1902460"/>
          </a:xfrm>
          <a:prstGeom prst="rect">
            <a:avLst/>
          </a:prstGeom>
        </p:spPr>
      </p:pic>
      <p:sp>
        <p:nvSpPr>
          <p:cNvPr id="3" name="TextBox 2"/>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E0559E"/>
                </a:solidFill>
                <a:latin typeface="Calibri"/>
              </a:rPr>
              <a:t>GETTING IN</a:t>
            </a:r>
          </a:p>
        </p:txBody>
      </p:sp>
      <p:sp>
        <p:nvSpPr>
          <p:cNvPr id="4" name="TextBox 3"/>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No SSH required</a:t>
            </a:r>
          </a:p>
        </p:txBody>
      </p:sp>
      <p:sp>
        <p:nvSpPr>
          <p:cNvPr id="5" name="TextBox 4"/>
          <p:cNvSpPr txBox="1"/>
          <p:nvPr/>
        </p:nvSpPr>
        <p:spPr>
          <a:xfrm>
            <a:off x="548640" y="1389380"/>
            <a:ext cx="9814560" cy="47498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Natas is the one track that needs nothing installed. One click gives you a full Linux desktop inside your browser.</a:t>
            </a:r>
          </a:p>
        </p:txBody>
      </p:sp>
      <p:sp>
        <p:nvSpPr>
          <p:cNvPr id="6" name="Rounded Rectangle 5"/>
          <p:cNvSpPr/>
          <p:nvPr/>
        </p:nvSpPr>
        <p:spPr>
          <a:xfrm>
            <a:off x="548640" y="2148840"/>
            <a:ext cx="5577840" cy="3556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790" y="2405380"/>
            <a:ext cx="4955540" cy="237490"/>
          </a:xfrm>
          <a:prstGeom prst="rect">
            <a:avLst/>
          </a:prstGeom>
          <a:noFill/>
        </p:spPr>
        <p:txBody>
          <a:bodyPr wrap="square" lIns="0" rIns="0" tIns="0" bIns="0" anchor="ctr">
            <a:spAutoFit/>
          </a:bodyPr>
          <a:lstStyle/>
          <a:p>
            <a:pPr algn="l"/>
            <a:r>
              <a:rPr sz="950" b="1" i="0" spc="110">
                <a:solidFill>
                  <a:srgbClr val="E0559E"/>
                </a:solidFill>
                <a:latin typeface="Calibri"/>
              </a:rPr>
              <a:t>STEP BY STEP</a:t>
            </a:r>
          </a:p>
        </p:txBody>
      </p:sp>
      <p:sp>
        <p:nvSpPr>
          <p:cNvPr id="8" name="TextBox 7"/>
          <p:cNvSpPr txBox="1"/>
          <p:nvPr/>
        </p:nvSpPr>
        <p:spPr>
          <a:xfrm>
            <a:off x="859790" y="2771140"/>
            <a:ext cx="365760" cy="622300"/>
          </a:xfrm>
          <a:prstGeom prst="rect">
            <a:avLst/>
          </a:prstGeom>
          <a:noFill/>
        </p:spPr>
        <p:txBody>
          <a:bodyPr wrap="square" lIns="0" rIns="0" tIns="0" bIns="0" anchor="ctr">
            <a:spAutoFit/>
          </a:bodyPr>
          <a:lstStyle/>
          <a:p>
            <a:pPr algn="l"/>
            <a:r>
              <a:rPr sz="1600" b="1" i="0">
                <a:solidFill>
                  <a:srgbClr val="E0559E"/>
                </a:solidFill>
                <a:latin typeface="Cambria"/>
              </a:rPr>
              <a:t>1</a:t>
            </a:r>
          </a:p>
        </p:txBody>
      </p:sp>
      <p:sp>
        <p:nvSpPr>
          <p:cNvPr id="9" name="TextBox 8"/>
          <p:cNvSpPr txBox="1"/>
          <p:nvPr/>
        </p:nvSpPr>
        <p:spPr>
          <a:xfrm>
            <a:off x="1280160" y="2806700"/>
            <a:ext cx="4480560" cy="256540"/>
          </a:xfrm>
          <a:prstGeom prst="rect">
            <a:avLst/>
          </a:prstGeom>
          <a:noFill/>
        </p:spPr>
        <p:txBody>
          <a:bodyPr wrap="square" lIns="0" rIns="0" tIns="0" bIns="0" anchor="ctr">
            <a:spAutoFit/>
          </a:bodyPr>
          <a:lstStyle/>
          <a:p>
            <a:pPr algn="l"/>
            <a:r>
              <a:rPr sz="1250" b="1" i="0">
                <a:solidFill>
                  <a:srgbClr val="F4F6FB"/>
                </a:solidFill>
                <a:latin typeface="Calibri"/>
              </a:rPr>
              <a:t>Launch Environment</a:t>
            </a:r>
          </a:p>
        </p:txBody>
      </p:sp>
      <p:sp>
        <p:nvSpPr>
          <p:cNvPr id="10" name="TextBox 9"/>
          <p:cNvSpPr txBox="1"/>
          <p:nvPr/>
        </p:nvSpPr>
        <p:spPr>
          <a:xfrm>
            <a:off x="1280160" y="3045460"/>
            <a:ext cx="4480560" cy="274320"/>
          </a:xfrm>
          <a:prstGeom prst="rect">
            <a:avLst/>
          </a:prstGeom>
          <a:noFill/>
        </p:spPr>
        <p:txBody>
          <a:bodyPr wrap="square" lIns="0" rIns="0" tIns="0" bIns="0" anchor="ctr">
            <a:spAutoFit/>
          </a:bodyPr>
          <a:lstStyle/>
          <a:p>
            <a:pPr algn="l"/>
            <a:r>
              <a:rPr sz="1100" b="0" i="0">
                <a:solidFill>
                  <a:srgbClr val="B8C7E4"/>
                </a:solidFill>
                <a:latin typeface="Calibri"/>
              </a:rPr>
              <a:t>You get an attacker workstation plus this track's shared target.</a:t>
            </a:r>
          </a:p>
        </p:txBody>
      </p:sp>
      <p:sp>
        <p:nvSpPr>
          <p:cNvPr id="11" name="TextBox 10"/>
          <p:cNvSpPr txBox="1"/>
          <p:nvPr/>
        </p:nvSpPr>
        <p:spPr>
          <a:xfrm>
            <a:off x="859790" y="3392170"/>
            <a:ext cx="365760" cy="622300"/>
          </a:xfrm>
          <a:prstGeom prst="rect">
            <a:avLst/>
          </a:prstGeom>
          <a:noFill/>
        </p:spPr>
        <p:txBody>
          <a:bodyPr wrap="square" lIns="0" rIns="0" tIns="0" bIns="0" anchor="ctr">
            <a:spAutoFit/>
          </a:bodyPr>
          <a:lstStyle/>
          <a:p>
            <a:pPr algn="l"/>
            <a:r>
              <a:rPr sz="1600" b="1" i="0">
                <a:solidFill>
                  <a:srgbClr val="E0559E"/>
                </a:solidFill>
                <a:latin typeface="Cambria"/>
              </a:rPr>
              <a:t>2</a:t>
            </a:r>
          </a:p>
        </p:txBody>
      </p:sp>
      <p:sp>
        <p:nvSpPr>
          <p:cNvPr id="12" name="TextBox 11"/>
          <p:cNvSpPr txBox="1"/>
          <p:nvPr/>
        </p:nvSpPr>
        <p:spPr>
          <a:xfrm>
            <a:off x="1280160" y="3429000"/>
            <a:ext cx="4480560" cy="256540"/>
          </a:xfrm>
          <a:prstGeom prst="rect">
            <a:avLst/>
          </a:prstGeom>
          <a:noFill/>
        </p:spPr>
        <p:txBody>
          <a:bodyPr wrap="square" lIns="0" rIns="0" tIns="0" bIns="0" anchor="ctr">
            <a:spAutoFit/>
          </a:bodyPr>
          <a:lstStyle/>
          <a:p>
            <a:pPr algn="l"/>
            <a:r>
              <a:rPr sz="1250" b="1" i="0">
                <a:solidFill>
                  <a:srgbClr val="F4F6FB"/>
                </a:solidFill>
                <a:latin typeface="Calibri"/>
              </a:rPr>
              <a:t>Open noVNC</a:t>
            </a:r>
          </a:p>
        </p:txBody>
      </p:sp>
      <p:sp>
        <p:nvSpPr>
          <p:cNvPr id="13" name="TextBox 12"/>
          <p:cNvSpPr txBox="1"/>
          <p:nvPr/>
        </p:nvSpPr>
        <p:spPr>
          <a:xfrm>
            <a:off x="1280160" y="3666490"/>
            <a:ext cx="4480560" cy="274320"/>
          </a:xfrm>
          <a:prstGeom prst="rect">
            <a:avLst/>
          </a:prstGeom>
          <a:noFill/>
        </p:spPr>
        <p:txBody>
          <a:bodyPr wrap="square" lIns="0" rIns="0" tIns="0" bIns="0" anchor="ctr">
            <a:spAutoFit/>
          </a:bodyPr>
          <a:lstStyle/>
          <a:p>
            <a:pPr algn="l"/>
            <a:r>
              <a:rPr sz="1100" b="0" i="0">
                <a:solidFill>
                  <a:srgbClr val="B8C7E4"/>
                </a:solidFill>
                <a:latin typeface="Calibri"/>
              </a:rPr>
              <a:t>A full desktop in a browser tab. SSH is offered too.</a:t>
            </a:r>
          </a:p>
        </p:txBody>
      </p:sp>
      <p:sp>
        <p:nvSpPr>
          <p:cNvPr id="14" name="TextBox 13"/>
          <p:cNvSpPr txBox="1"/>
          <p:nvPr/>
        </p:nvSpPr>
        <p:spPr>
          <a:xfrm>
            <a:off x="859790" y="4014470"/>
            <a:ext cx="365760" cy="622300"/>
          </a:xfrm>
          <a:prstGeom prst="rect">
            <a:avLst/>
          </a:prstGeom>
          <a:noFill/>
        </p:spPr>
        <p:txBody>
          <a:bodyPr wrap="square" lIns="0" rIns="0" tIns="0" bIns="0" anchor="ctr">
            <a:spAutoFit/>
          </a:bodyPr>
          <a:lstStyle/>
          <a:p>
            <a:pPr algn="l"/>
            <a:r>
              <a:rPr sz="1600" b="1" i="0">
                <a:solidFill>
                  <a:srgbClr val="E0559E"/>
                </a:solidFill>
                <a:latin typeface="Cambria"/>
              </a:rPr>
              <a:t>3</a:t>
            </a:r>
          </a:p>
        </p:txBody>
      </p:sp>
      <p:sp>
        <p:nvSpPr>
          <p:cNvPr id="15" name="TextBox 14"/>
          <p:cNvSpPr txBox="1"/>
          <p:nvPr/>
        </p:nvSpPr>
        <p:spPr>
          <a:xfrm>
            <a:off x="1280160" y="4051300"/>
            <a:ext cx="4480560" cy="256540"/>
          </a:xfrm>
          <a:prstGeom prst="rect">
            <a:avLst/>
          </a:prstGeom>
          <a:noFill/>
        </p:spPr>
        <p:txBody>
          <a:bodyPr wrap="square" lIns="0" rIns="0" tIns="0" bIns="0" anchor="ctr">
            <a:spAutoFit/>
          </a:bodyPr>
          <a:lstStyle/>
          <a:p>
            <a:pPr algn="l"/>
            <a:r>
              <a:rPr sz="1250" b="1" i="0">
                <a:solidFill>
                  <a:srgbClr val="F4F6FB"/>
                </a:solidFill>
                <a:latin typeface="Calibri"/>
              </a:rPr>
              <a:t>Work from inside</a:t>
            </a:r>
          </a:p>
        </p:txBody>
      </p:sp>
      <p:sp>
        <p:nvSpPr>
          <p:cNvPr id="16" name="TextBox 15"/>
          <p:cNvSpPr txBox="1"/>
          <p:nvPr/>
        </p:nvSpPr>
        <p:spPr>
          <a:xfrm>
            <a:off x="1280160" y="4288790"/>
            <a:ext cx="4480560" cy="274320"/>
          </a:xfrm>
          <a:prstGeom prst="rect">
            <a:avLst/>
          </a:prstGeom>
          <a:noFill/>
        </p:spPr>
        <p:txBody>
          <a:bodyPr wrap="square" lIns="0" rIns="0" tIns="0" bIns="0" anchor="ctr">
            <a:spAutoFit/>
          </a:bodyPr>
          <a:lstStyle/>
          <a:p>
            <a:pPr algn="l"/>
            <a:r>
              <a:rPr sz="1100" b="0" i="0">
                <a:solidFill>
                  <a:srgbClr val="B8C7E4"/>
                </a:solidFill>
                <a:latin typeface="Calibri"/>
              </a:rPr>
              <a:t>Browse to the target from the workstation, not from your own laptop.</a:t>
            </a:r>
          </a:p>
        </p:txBody>
      </p:sp>
      <p:sp>
        <p:nvSpPr>
          <p:cNvPr id="17" name="TextBox 16"/>
          <p:cNvSpPr txBox="1"/>
          <p:nvPr/>
        </p:nvSpPr>
        <p:spPr>
          <a:xfrm>
            <a:off x="859790" y="4635500"/>
            <a:ext cx="365760" cy="622300"/>
          </a:xfrm>
          <a:prstGeom prst="rect">
            <a:avLst/>
          </a:prstGeom>
          <a:noFill/>
        </p:spPr>
        <p:txBody>
          <a:bodyPr wrap="square" lIns="0" rIns="0" tIns="0" bIns="0" anchor="ctr">
            <a:spAutoFit/>
          </a:bodyPr>
          <a:lstStyle/>
          <a:p>
            <a:pPr algn="l"/>
            <a:r>
              <a:rPr sz="1600" b="1" i="0">
                <a:solidFill>
                  <a:srgbClr val="E0559E"/>
                </a:solidFill>
                <a:latin typeface="Cambria"/>
              </a:rPr>
              <a:t>4</a:t>
            </a:r>
          </a:p>
        </p:txBody>
      </p:sp>
      <p:sp>
        <p:nvSpPr>
          <p:cNvPr id="18" name="TextBox 17"/>
          <p:cNvSpPr txBox="1"/>
          <p:nvPr/>
        </p:nvSpPr>
        <p:spPr>
          <a:xfrm>
            <a:off x="1280160" y="4672330"/>
            <a:ext cx="4480560" cy="256540"/>
          </a:xfrm>
          <a:prstGeom prst="rect">
            <a:avLst/>
          </a:prstGeom>
          <a:noFill/>
        </p:spPr>
        <p:txBody>
          <a:bodyPr wrap="square" lIns="0" rIns="0" tIns="0" bIns="0" anchor="ctr">
            <a:spAutoFit/>
          </a:bodyPr>
          <a:lstStyle/>
          <a:p>
            <a:pPr algn="l"/>
            <a:r>
              <a:rPr sz="1250" b="1" i="0">
                <a:solidFill>
                  <a:srgbClr val="F4F6FB"/>
                </a:solidFill>
                <a:latin typeface="Calibri"/>
              </a:rPr>
              <a:t>Submit the flag</a:t>
            </a:r>
          </a:p>
        </p:txBody>
      </p:sp>
      <p:sp>
        <p:nvSpPr>
          <p:cNvPr id="19" name="TextBox 18"/>
          <p:cNvSpPr txBox="1"/>
          <p:nvPr/>
        </p:nvSpPr>
        <p:spPr>
          <a:xfrm>
            <a:off x="1280160" y="4909820"/>
            <a:ext cx="4480560" cy="274320"/>
          </a:xfrm>
          <a:prstGeom prst="rect">
            <a:avLst/>
          </a:prstGeom>
          <a:noFill/>
        </p:spPr>
        <p:txBody>
          <a:bodyPr wrap="square" lIns="0" rIns="0" tIns="0" bIns="0" anchor="ctr">
            <a:spAutoFit/>
          </a:bodyPr>
          <a:lstStyle/>
          <a:p>
            <a:pPr algn="l"/>
            <a:r>
              <a:rPr sz="1100" b="0" i="0">
                <a:solidFill>
                  <a:srgbClr val="B8C7E4"/>
                </a:solidFill>
                <a:latin typeface="Calibri"/>
              </a:rPr>
              <a:t>Each level's password is the login for the next level's page.</a:t>
            </a:r>
          </a:p>
        </p:txBody>
      </p:sp>
      <p:sp>
        <p:nvSpPr>
          <p:cNvPr id="20" name="Rounded Rectangle 19"/>
          <p:cNvSpPr/>
          <p:nvPr/>
        </p:nvSpPr>
        <p:spPr>
          <a:xfrm>
            <a:off x="6383020" y="2148840"/>
            <a:ext cx="5260340" cy="3556000"/>
          </a:xfrm>
          <a:prstGeom prst="roundRect">
            <a:avLst>
              <a:gd name="adj" fmla="val 263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57340" y="2405380"/>
            <a:ext cx="4711700" cy="237490"/>
          </a:xfrm>
          <a:prstGeom prst="rect">
            <a:avLst/>
          </a:prstGeom>
          <a:noFill/>
        </p:spPr>
        <p:txBody>
          <a:bodyPr wrap="square" lIns="0" rIns="0" tIns="0" bIns="0" anchor="ctr">
            <a:spAutoFit/>
          </a:bodyPr>
          <a:lstStyle/>
          <a:p>
            <a:pPr algn="l"/>
            <a:r>
              <a:rPr sz="950" b="1" i="0" spc="110">
                <a:solidFill>
                  <a:srgbClr val="E0559E"/>
                </a:solidFill>
                <a:latin typeface="Calibri"/>
              </a:rPr>
              <a:t>THE LAUNCH PANEL</a:t>
            </a:r>
          </a:p>
        </p:txBody>
      </p:sp>
      <p:sp>
        <p:nvSpPr>
          <p:cNvPr id="22" name="Oval 21"/>
          <p:cNvSpPr/>
          <p:nvPr/>
        </p:nvSpPr>
        <p:spPr>
          <a:xfrm>
            <a:off x="6657340" y="2843530"/>
            <a:ext cx="402590" cy="402590"/>
          </a:xfrm>
          <a:prstGeom prst="ellipse">
            <a:avLst/>
          </a:prstGeom>
          <a:solidFill>
            <a:srgbClr val="E05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11.png"/>
          <p:cNvPicPr>
            <a:picLocks noChangeAspect="1"/>
          </p:cNvPicPr>
          <p:nvPr/>
        </p:nvPicPr>
        <p:blipFill>
          <a:blip r:embed="rId3"/>
          <a:stretch>
            <a:fillRect/>
          </a:stretch>
        </p:blipFill>
        <p:spPr>
          <a:xfrm>
            <a:off x="6761480" y="2948940"/>
            <a:ext cx="193040" cy="193040"/>
          </a:xfrm>
          <a:prstGeom prst="rect">
            <a:avLst/>
          </a:prstGeom>
        </p:spPr>
      </p:pic>
      <p:sp>
        <p:nvSpPr>
          <p:cNvPr id="24" name="TextBox 23"/>
          <p:cNvSpPr txBox="1"/>
          <p:nvPr/>
        </p:nvSpPr>
        <p:spPr>
          <a:xfrm>
            <a:off x="7223759" y="2788920"/>
            <a:ext cx="4117340" cy="256540"/>
          </a:xfrm>
          <a:prstGeom prst="rect">
            <a:avLst/>
          </a:prstGeom>
          <a:noFill/>
        </p:spPr>
        <p:txBody>
          <a:bodyPr wrap="square" lIns="0" rIns="0" tIns="0" bIns="0" anchor="ctr">
            <a:spAutoFit/>
          </a:bodyPr>
          <a:lstStyle/>
          <a:p>
            <a:pPr algn="l"/>
            <a:r>
              <a:rPr sz="1250" b="1" i="0">
                <a:solidFill>
                  <a:srgbClr val="F4F6FB"/>
                </a:solidFill>
                <a:latin typeface="Calibri"/>
              </a:rPr>
              <a:t>Launch Environment</a:t>
            </a:r>
          </a:p>
        </p:txBody>
      </p:sp>
      <p:sp>
        <p:nvSpPr>
          <p:cNvPr id="25" name="TextBox 24"/>
          <p:cNvSpPr txBox="1"/>
          <p:nvPr/>
        </p:nvSpPr>
        <p:spPr>
          <a:xfrm>
            <a:off x="7223759" y="3026410"/>
            <a:ext cx="4117340" cy="292100"/>
          </a:xfrm>
          <a:prstGeom prst="rect">
            <a:avLst/>
          </a:prstGeom>
          <a:noFill/>
        </p:spPr>
        <p:txBody>
          <a:bodyPr wrap="square" lIns="0" rIns="0" tIns="0" bIns="0" anchor="ctr">
            <a:spAutoFit/>
          </a:bodyPr>
          <a:lstStyle/>
          <a:p>
            <a:pPr algn="l"/>
            <a:r>
              <a:rPr sz="1100" b="0" i="0">
                <a:solidFill>
                  <a:srgbClr val="B8C7E4"/>
                </a:solidFill>
                <a:latin typeface="Calibri"/>
              </a:rPr>
              <a:t>Starts your box, or reconnects you to one already running.</a:t>
            </a:r>
          </a:p>
        </p:txBody>
      </p:sp>
      <p:sp>
        <p:nvSpPr>
          <p:cNvPr id="26" name="Oval 25"/>
          <p:cNvSpPr/>
          <p:nvPr/>
        </p:nvSpPr>
        <p:spPr>
          <a:xfrm>
            <a:off x="6657340" y="3465829"/>
            <a:ext cx="402590" cy="402590"/>
          </a:xfrm>
          <a:prstGeom prst="ellipse">
            <a:avLst/>
          </a:prstGeom>
          <a:solidFill>
            <a:srgbClr val="E05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12.png"/>
          <p:cNvPicPr>
            <a:picLocks noChangeAspect="1"/>
          </p:cNvPicPr>
          <p:nvPr/>
        </p:nvPicPr>
        <p:blipFill>
          <a:blip r:embed="rId4"/>
          <a:stretch>
            <a:fillRect/>
          </a:stretch>
        </p:blipFill>
        <p:spPr>
          <a:xfrm>
            <a:off x="6761480" y="3569970"/>
            <a:ext cx="193040" cy="193040"/>
          </a:xfrm>
          <a:prstGeom prst="rect">
            <a:avLst/>
          </a:prstGeom>
        </p:spPr>
      </p:pic>
      <p:sp>
        <p:nvSpPr>
          <p:cNvPr id="28" name="TextBox 27"/>
          <p:cNvSpPr txBox="1"/>
          <p:nvPr/>
        </p:nvSpPr>
        <p:spPr>
          <a:xfrm>
            <a:off x="7223759" y="3411220"/>
            <a:ext cx="4117340" cy="256540"/>
          </a:xfrm>
          <a:prstGeom prst="rect">
            <a:avLst/>
          </a:prstGeom>
          <a:noFill/>
        </p:spPr>
        <p:txBody>
          <a:bodyPr wrap="square" lIns="0" rIns="0" tIns="0" bIns="0" anchor="ctr">
            <a:spAutoFit/>
          </a:bodyPr>
          <a:lstStyle/>
          <a:p>
            <a:pPr algn="l"/>
            <a:r>
              <a:rPr sz="1250" b="1" i="0">
                <a:solidFill>
                  <a:srgbClr val="F4F6FB"/>
                </a:solidFill>
                <a:latin typeface="Calibri"/>
              </a:rPr>
              <a:t>Reboot Host</a:t>
            </a:r>
          </a:p>
        </p:txBody>
      </p:sp>
      <p:sp>
        <p:nvSpPr>
          <p:cNvPr id="29" name="TextBox 28"/>
          <p:cNvSpPr txBox="1"/>
          <p:nvPr/>
        </p:nvSpPr>
        <p:spPr>
          <a:xfrm>
            <a:off x="7223759" y="3648710"/>
            <a:ext cx="4117340" cy="292100"/>
          </a:xfrm>
          <a:prstGeom prst="rect">
            <a:avLst/>
          </a:prstGeom>
          <a:noFill/>
        </p:spPr>
        <p:txBody>
          <a:bodyPr wrap="square" lIns="0" rIns="0" tIns="0" bIns="0" anchor="ctr">
            <a:spAutoFit/>
          </a:bodyPr>
          <a:lstStyle/>
          <a:p>
            <a:pPr algn="l"/>
            <a:r>
              <a:rPr sz="1100" b="0" i="0">
                <a:solidFill>
                  <a:srgbClr val="B8C7E4"/>
                </a:solidFill>
                <a:latin typeface="Calibri"/>
              </a:rPr>
              <a:t>Restarts it in place. Same connection details afterward.</a:t>
            </a:r>
          </a:p>
        </p:txBody>
      </p:sp>
      <p:sp>
        <p:nvSpPr>
          <p:cNvPr id="30" name="Oval 29"/>
          <p:cNvSpPr/>
          <p:nvPr/>
        </p:nvSpPr>
        <p:spPr>
          <a:xfrm>
            <a:off x="6657340" y="4086860"/>
            <a:ext cx="402590" cy="402590"/>
          </a:xfrm>
          <a:prstGeom prst="ellipse">
            <a:avLst/>
          </a:prstGeom>
          <a:solidFill>
            <a:srgbClr val="E05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13.png"/>
          <p:cNvPicPr>
            <a:picLocks noChangeAspect="1"/>
          </p:cNvPicPr>
          <p:nvPr/>
        </p:nvPicPr>
        <p:blipFill>
          <a:blip r:embed="rId5"/>
          <a:stretch>
            <a:fillRect/>
          </a:stretch>
        </p:blipFill>
        <p:spPr>
          <a:xfrm>
            <a:off x="6761480" y="4192270"/>
            <a:ext cx="193040" cy="193040"/>
          </a:xfrm>
          <a:prstGeom prst="rect">
            <a:avLst/>
          </a:prstGeom>
        </p:spPr>
      </p:pic>
      <p:sp>
        <p:nvSpPr>
          <p:cNvPr id="32" name="TextBox 31"/>
          <p:cNvSpPr txBox="1"/>
          <p:nvPr/>
        </p:nvSpPr>
        <p:spPr>
          <a:xfrm>
            <a:off x="7223759" y="4032250"/>
            <a:ext cx="4117340" cy="256540"/>
          </a:xfrm>
          <a:prstGeom prst="rect">
            <a:avLst/>
          </a:prstGeom>
          <a:noFill/>
        </p:spPr>
        <p:txBody>
          <a:bodyPr wrap="square" lIns="0" rIns="0" tIns="0" bIns="0" anchor="ctr">
            <a:spAutoFit/>
          </a:bodyPr>
          <a:lstStyle/>
          <a:p>
            <a:pPr algn="l"/>
            <a:r>
              <a:rPr sz="1250" b="1" i="0">
                <a:solidFill>
                  <a:srgbClr val="F4F6FB"/>
                </a:solidFill>
                <a:latin typeface="Calibri"/>
              </a:rPr>
              <a:t>Relaunch Environment</a:t>
            </a:r>
          </a:p>
        </p:txBody>
      </p:sp>
      <p:sp>
        <p:nvSpPr>
          <p:cNvPr id="33" name="TextBox 32"/>
          <p:cNvSpPr txBox="1"/>
          <p:nvPr/>
        </p:nvSpPr>
        <p:spPr>
          <a:xfrm>
            <a:off x="7223759" y="4269740"/>
            <a:ext cx="4117340" cy="292100"/>
          </a:xfrm>
          <a:prstGeom prst="rect">
            <a:avLst/>
          </a:prstGeom>
          <a:noFill/>
        </p:spPr>
        <p:txBody>
          <a:bodyPr wrap="square" lIns="0" rIns="0" tIns="0" bIns="0" anchor="ctr">
            <a:spAutoFit/>
          </a:bodyPr>
          <a:lstStyle/>
          <a:p>
            <a:pPr algn="l"/>
            <a:r>
              <a:rPr sz="1100" b="0" i="0">
                <a:solidFill>
                  <a:srgbClr val="B8C7E4"/>
                </a:solidFill>
                <a:latin typeface="Calibri"/>
              </a:rPr>
              <a:t>Rebuilds from scratch. Anything you changed inside is lost.</a:t>
            </a:r>
          </a:p>
        </p:txBody>
      </p:sp>
      <p:sp>
        <p:nvSpPr>
          <p:cNvPr id="34" name="Oval 33"/>
          <p:cNvSpPr/>
          <p:nvPr/>
        </p:nvSpPr>
        <p:spPr>
          <a:xfrm>
            <a:off x="6657340" y="4709160"/>
            <a:ext cx="402590" cy="402590"/>
          </a:xfrm>
          <a:prstGeom prst="ellipse">
            <a:avLst/>
          </a:prstGeom>
          <a:solidFill>
            <a:srgbClr val="E055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mage-14.png"/>
          <p:cNvPicPr>
            <a:picLocks noChangeAspect="1"/>
          </p:cNvPicPr>
          <p:nvPr/>
        </p:nvPicPr>
        <p:blipFill>
          <a:blip r:embed="rId6"/>
          <a:stretch>
            <a:fillRect/>
          </a:stretch>
        </p:blipFill>
        <p:spPr>
          <a:xfrm>
            <a:off x="6761480" y="4813300"/>
            <a:ext cx="193040" cy="193040"/>
          </a:xfrm>
          <a:prstGeom prst="rect">
            <a:avLst/>
          </a:prstGeom>
        </p:spPr>
      </p:pic>
      <p:sp>
        <p:nvSpPr>
          <p:cNvPr id="36" name="TextBox 35"/>
          <p:cNvSpPr txBox="1"/>
          <p:nvPr/>
        </p:nvSpPr>
        <p:spPr>
          <a:xfrm>
            <a:off x="7223759" y="4654550"/>
            <a:ext cx="4117340" cy="256540"/>
          </a:xfrm>
          <a:prstGeom prst="rect">
            <a:avLst/>
          </a:prstGeom>
          <a:noFill/>
        </p:spPr>
        <p:txBody>
          <a:bodyPr wrap="square" lIns="0" rIns="0" tIns="0" bIns="0" anchor="ctr">
            <a:spAutoFit/>
          </a:bodyPr>
          <a:lstStyle/>
          <a:p>
            <a:pPr algn="l"/>
            <a:r>
              <a:rPr sz="1250" b="1" i="0">
                <a:solidFill>
                  <a:srgbClr val="F4F6FB"/>
                </a:solidFill>
                <a:latin typeface="Calibri"/>
              </a:rPr>
              <a:t>+5 more minutes</a:t>
            </a:r>
          </a:p>
        </p:txBody>
      </p:sp>
      <p:sp>
        <p:nvSpPr>
          <p:cNvPr id="37" name="TextBox 36"/>
          <p:cNvSpPr txBox="1"/>
          <p:nvPr/>
        </p:nvSpPr>
        <p:spPr>
          <a:xfrm>
            <a:off x="7223759" y="4892040"/>
            <a:ext cx="4117340" cy="292100"/>
          </a:xfrm>
          <a:prstGeom prst="rect">
            <a:avLst/>
          </a:prstGeom>
          <a:noFill/>
        </p:spPr>
        <p:txBody>
          <a:bodyPr wrap="square" lIns="0" rIns="0" tIns="0" bIns="0" anchor="ctr">
            <a:spAutoFit/>
          </a:bodyPr>
          <a:lstStyle/>
          <a:p>
            <a:pPr algn="l"/>
            <a:r>
              <a:rPr sz="1100" b="0" i="0">
                <a:solidFill>
                  <a:srgbClr val="B8C7E4"/>
                </a:solidFill>
                <a:latin typeface="Calibri"/>
              </a:rPr>
              <a:t>Appears only once the track is solved and a shutdown has started.</a:t>
            </a:r>
          </a:p>
        </p:txBody>
      </p:sp>
      <p:sp>
        <p:nvSpPr>
          <p:cNvPr id="38" name="TextBox 37"/>
          <p:cNvSpPr txBox="1"/>
          <p:nvPr/>
        </p:nvSpPr>
        <p:spPr>
          <a:xfrm>
            <a:off x="548640" y="5816600"/>
            <a:ext cx="11094720" cy="274320"/>
          </a:xfrm>
          <a:prstGeom prst="rect">
            <a:avLst/>
          </a:prstGeom>
          <a:noFill/>
        </p:spPr>
        <p:txBody>
          <a:bodyPr wrap="square" lIns="0" rIns="0" tIns="0" bIns="0" anchor="ctr">
            <a:spAutoFit/>
          </a:bodyPr>
          <a:lstStyle/>
          <a:p>
            <a:pPr algn="l"/>
            <a:r>
              <a:rPr sz="1250" b="0" i="1">
                <a:solidFill>
                  <a:srgbClr val="E0559E"/>
                </a:solidFill>
                <a:latin typeface="Calibri"/>
              </a:rPr>
              <a:t>This is the track to pick if you're on a locked-down laptop with no terminal.</a:t>
            </a:r>
          </a:p>
        </p:txBody>
      </p:sp>
      <p:sp>
        <p:nvSpPr>
          <p:cNvPr id="39" name="TextBox 38"/>
          <p:cNvSpPr txBox="1"/>
          <p:nvPr/>
        </p:nvSpPr>
        <p:spPr>
          <a:xfrm>
            <a:off x="548640" y="6121400"/>
            <a:ext cx="11094720" cy="228600"/>
          </a:xfrm>
          <a:prstGeom prst="rect">
            <a:avLst/>
          </a:prstGeom>
          <a:noFill/>
        </p:spPr>
        <p:txBody>
          <a:bodyPr wrap="square" lIns="0" rIns="0" tIns="0" bIns="0" anchor="ctr">
            <a:spAutoFit/>
          </a:bodyPr>
          <a:lstStyle/>
          <a:p>
            <a:pPr algn="l"/>
            <a:r>
              <a:rPr sz="1050" b="1" i="0" spc="80">
                <a:solidFill>
                  <a:srgbClr val="E0559E"/>
                </a:solidFill>
                <a:latin typeface="Calibri"/>
              </a:rPr>
              <a:t>Want a coach while you play? The AI Copilot track (Guide 04) is the event's one sanctioned AI helper — set it up early.</a:t>
            </a:r>
          </a:p>
        </p:txBody>
      </p:sp>
      <p:sp>
        <p:nvSpPr>
          <p:cNvPr id="40" name="TextBox 39"/>
          <p:cNvSpPr txBox="1"/>
          <p:nvPr/>
        </p:nvSpPr>
        <p:spPr>
          <a:xfrm>
            <a:off x="548640" y="6446520"/>
            <a:ext cx="40640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03 / 04</a:t>
            </a:r>
          </a:p>
        </p:txBody>
      </p:sp>
      <p:sp>
        <p:nvSpPr>
          <p:cNvPr id="41" name="TextBox 40"/>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pic>
        <p:nvPicPr>
          <p:cNvPr id="2" name="Picture 1" descr="image-10.png"/>
          <p:cNvPicPr>
            <a:picLocks noChangeAspect="1"/>
          </p:cNvPicPr>
          <p:nvPr/>
        </p:nvPicPr>
        <p:blipFill>
          <a:blip r:embed="rId2">
            <a:alphaModFix amt="28000"/>
          </a:blip>
          <a:stretch>
            <a:fillRect/>
          </a:stretch>
        </p:blipFill>
        <p:spPr>
          <a:xfrm>
            <a:off x="8549640" y="109220"/>
            <a:ext cx="3291840" cy="1902460"/>
          </a:xfrm>
          <a:prstGeom prst="rect">
            <a:avLst/>
          </a:prstGeom>
        </p:spPr>
      </p:pic>
      <p:sp>
        <p:nvSpPr>
          <p:cNvPr id="3" name="TextBox 2"/>
          <p:cNvSpPr txBox="1"/>
          <p:nvPr/>
        </p:nvSpPr>
        <p:spPr>
          <a:xfrm>
            <a:off x="548640" y="457200"/>
            <a:ext cx="11094720" cy="274320"/>
          </a:xfrm>
          <a:prstGeom prst="rect">
            <a:avLst/>
          </a:prstGeom>
          <a:noFill/>
        </p:spPr>
        <p:txBody>
          <a:bodyPr wrap="square" lIns="0" rIns="0" tIns="0" bIns="0" anchor="ctr">
            <a:spAutoFit/>
          </a:bodyPr>
          <a:lstStyle/>
          <a:p>
            <a:pPr algn="l"/>
            <a:r>
              <a:rPr sz="1100" b="1" i="0" spc="120">
                <a:solidFill>
                  <a:srgbClr val="E0559E"/>
                </a:solidFill>
                <a:latin typeface="Calibri"/>
              </a:rPr>
              <a:t>YOUR FIRST FLAG</a:t>
            </a:r>
          </a:p>
        </p:txBody>
      </p:sp>
      <p:sp>
        <p:nvSpPr>
          <p:cNvPr id="4" name="TextBox 3"/>
          <p:cNvSpPr txBox="1"/>
          <p:nvPr/>
        </p:nvSpPr>
        <p:spPr>
          <a:xfrm>
            <a:off x="548640" y="749300"/>
            <a:ext cx="11094720" cy="566420"/>
          </a:xfrm>
          <a:prstGeom prst="rect">
            <a:avLst/>
          </a:prstGeom>
          <a:noFill/>
        </p:spPr>
        <p:txBody>
          <a:bodyPr wrap="square" lIns="0" rIns="0" tIns="0" bIns="0" anchor="ctr">
            <a:spAutoFit/>
          </a:bodyPr>
          <a:lstStyle/>
          <a:p>
            <a:pPr algn="l"/>
            <a:r>
              <a:rPr sz="3200" b="1" i="0">
                <a:solidFill>
                  <a:srgbClr val="F4F6FB"/>
                </a:solidFill>
                <a:latin typeface="Cambria"/>
              </a:rPr>
              <a:t>Start Here, step by step</a:t>
            </a:r>
          </a:p>
        </p:txBody>
      </p:sp>
      <p:sp>
        <p:nvSpPr>
          <p:cNvPr id="5" name="TextBox 4"/>
          <p:cNvSpPr txBox="1"/>
          <p:nvPr/>
        </p:nvSpPr>
        <p:spPr>
          <a:xfrm>
            <a:off x="548640" y="1389380"/>
            <a:ext cx="9814560" cy="474980"/>
          </a:xfrm>
          <a:prstGeom prst="rect">
            <a:avLst/>
          </a:prstGeom>
          <a:noFill/>
        </p:spPr>
        <p:txBody>
          <a:bodyPr wrap="square" lIns="0" rIns="0" tIns="0" bIns="0" anchor="ctr">
            <a:spAutoFit/>
          </a:bodyPr>
          <a:lstStyle/>
          <a:p>
            <a:pPr algn="l">
              <a:lnSpc>
                <a:spcPct val="115000"/>
              </a:lnSpc>
            </a:pPr>
            <a:r>
              <a:rPr sz="1400" b="0" i="0">
                <a:solidFill>
                  <a:srgbClr val="B8C7E4"/>
                </a:solidFill>
                <a:latin typeface="Calibri"/>
              </a:rPr>
              <a:t>Ten points, and it proves the part people actually get stuck on: that targets live behind the workstation.</a:t>
            </a:r>
          </a:p>
        </p:txBody>
      </p:sp>
      <p:sp>
        <p:nvSpPr>
          <p:cNvPr id="6" name="Rounded Rectangle 5"/>
          <p:cNvSpPr/>
          <p:nvPr/>
        </p:nvSpPr>
        <p:spPr>
          <a:xfrm>
            <a:off x="548640" y="2194560"/>
            <a:ext cx="2430780" cy="2788920"/>
          </a:xfrm>
          <a:prstGeom prst="roundRect">
            <a:avLst>
              <a:gd name="adj" fmla="val 3386"/>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0740" y="2432050"/>
            <a:ext cx="548640" cy="457200"/>
          </a:xfrm>
          <a:prstGeom prst="rect">
            <a:avLst/>
          </a:prstGeom>
          <a:noFill/>
        </p:spPr>
        <p:txBody>
          <a:bodyPr wrap="square" lIns="0" rIns="0" tIns="0" bIns="0" anchor="ctr">
            <a:spAutoFit/>
          </a:bodyPr>
          <a:lstStyle/>
          <a:p>
            <a:pPr algn="l"/>
            <a:r>
              <a:rPr sz="2600" b="1" i="0">
                <a:solidFill>
                  <a:srgbClr val="E0559E"/>
                </a:solidFill>
                <a:latin typeface="Cambria"/>
              </a:rPr>
              <a:t>1</a:t>
            </a:r>
          </a:p>
        </p:txBody>
      </p:sp>
      <p:sp>
        <p:nvSpPr>
          <p:cNvPr id="8" name="TextBox 7"/>
          <p:cNvSpPr txBox="1"/>
          <p:nvPr/>
        </p:nvSpPr>
        <p:spPr>
          <a:xfrm>
            <a:off x="840740" y="2926080"/>
            <a:ext cx="1845310" cy="548640"/>
          </a:xfrm>
          <a:prstGeom prst="rect">
            <a:avLst/>
          </a:prstGeom>
          <a:noFill/>
        </p:spPr>
        <p:txBody>
          <a:bodyPr wrap="square" lIns="0" rIns="0" tIns="0" bIns="0" anchor="t">
            <a:spAutoFit/>
          </a:bodyPr>
          <a:lstStyle/>
          <a:p>
            <a:pPr algn="l"/>
            <a:r>
              <a:rPr sz="1500" b="1" i="0">
                <a:solidFill>
                  <a:srgbClr val="F4F6FB"/>
                </a:solidFill>
                <a:latin typeface="Cambria"/>
              </a:rPr>
              <a:t>Click Launch</a:t>
            </a:r>
          </a:p>
        </p:txBody>
      </p:sp>
      <p:sp>
        <p:nvSpPr>
          <p:cNvPr id="9" name="TextBox 8"/>
          <p:cNvSpPr txBox="1"/>
          <p:nvPr/>
        </p:nvSpPr>
        <p:spPr>
          <a:xfrm>
            <a:off x="840740" y="3492500"/>
            <a:ext cx="1845310" cy="1216660"/>
          </a:xfrm>
          <a:prstGeom prst="rect">
            <a:avLst/>
          </a:prstGeom>
          <a:noFill/>
        </p:spPr>
        <p:txBody>
          <a:bodyPr wrap="square" lIns="0" rIns="0" tIns="0" bIns="0" anchor="t">
            <a:spAutoFit/>
          </a:bodyPr>
          <a:lstStyle/>
          <a:p>
            <a:pPr algn="l">
              <a:lnSpc>
                <a:spcPct val="115000"/>
              </a:lnSpc>
            </a:pPr>
            <a:r>
              <a:rPr sz="1200" b="0" i="0">
                <a:solidFill>
                  <a:srgbClr val="B8C7E4"/>
                </a:solidFill>
                <a:latin typeface="Calibri"/>
              </a:rPr>
              <a:t>On the "Natas: Start Here" challenge in CTFd.</a:t>
            </a:r>
          </a:p>
        </p:txBody>
      </p:sp>
      <p:sp>
        <p:nvSpPr>
          <p:cNvPr id="10" name="TextBox 9"/>
          <p:cNvSpPr txBox="1"/>
          <p:nvPr/>
        </p:nvSpPr>
        <p:spPr>
          <a:xfrm>
            <a:off x="2979420" y="3388360"/>
            <a:ext cx="457200" cy="402590"/>
          </a:xfrm>
          <a:prstGeom prst="rect">
            <a:avLst/>
          </a:prstGeom>
          <a:noFill/>
        </p:spPr>
        <p:txBody>
          <a:bodyPr wrap="square" lIns="0" rIns="0" tIns="0" bIns="0" anchor="ctr">
            <a:spAutoFit/>
          </a:bodyPr>
          <a:lstStyle/>
          <a:p>
            <a:pPr algn="ctr"/>
            <a:r>
              <a:rPr sz="1800" b="0" i="0">
                <a:solidFill>
                  <a:srgbClr val="8FA3C8"/>
                </a:solidFill>
                <a:latin typeface="Calibri"/>
              </a:rPr>
              <a:t>→</a:t>
            </a:r>
          </a:p>
        </p:txBody>
      </p:sp>
      <p:sp>
        <p:nvSpPr>
          <p:cNvPr id="11" name="Rounded Rectangle 10"/>
          <p:cNvSpPr/>
          <p:nvPr/>
        </p:nvSpPr>
        <p:spPr>
          <a:xfrm>
            <a:off x="3436620" y="2194560"/>
            <a:ext cx="2430780" cy="2788920"/>
          </a:xfrm>
          <a:prstGeom prst="roundRect">
            <a:avLst>
              <a:gd name="adj" fmla="val 3386"/>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28720" y="2432050"/>
            <a:ext cx="548640" cy="457200"/>
          </a:xfrm>
          <a:prstGeom prst="rect">
            <a:avLst/>
          </a:prstGeom>
          <a:noFill/>
        </p:spPr>
        <p:txBody>
          <a:bodyPr wrap="square" lIns="0" rIns="0" tIns="0" bIns="0" anchor="ctr">
            <a:spAutoFit/>
          </a:bodyPr>
          <a:lstStyle/>
          <a:p>
            <a:pPr algn="l"/>
            <a:r>
              <a:rPr sz="2600" b="1" i="0">
                <a:solidFill>
                  <a:srgbClr val="E0559E"/>
                </a:solidFill>
                <a:latin typeface="Cambria"/>
              </a:rPr>
              <a:t>2</a:t>
            </a:r>
          </a:p>
        </p:txBody>
      </p:sp>
      <p:sp>
        <p:nvSpPr>
          <p:cNvPr id="13" name="TextBox 12"/>
          <p:cNvSpPr txBox="1"/>
          <p:nvPr/>
        </p:nvSpPr>
        <p:spPr>
          <a:xfrm>
            <a:off x="3728720" y="2926080"/>
            <a:ext cx="1845310" cy="548640"/>
          </a:xfrm>
          <a:prstGeom prst="rect">
            <a:avLst/>
          </a:prstGeom>
          <a:noFill/>
        </p:spPr>
        <p:txBody>
          <a:bodyPr wrap="square" lIns="0" rIns="0" tIns="0" bIns="0" anchor="t">
            <a:spAutoFit/>
          </a:bodyPr>
          <a:lstStyle/>
          <a:p>
            <a:pPr algn="l"/>
            <a:r>
              <a:rPr sz="1500" b="1" i="0">
                <a:solidFill>
                  <a:srgbClr val="F4F6FB"/>
                </a:solidFill>
                <a:latin typeface="Cambria"/>
              </a:rPr>
              <a:t>Open the workstation</a:t>
            </a:r>
          </a:p>
        </p:txBody>
      </p:sp>
      <p:sp>
        <p:nvSpPr>
          <p:cNvPr id="14" name="TextBox 13"/>
          <p:cNvSpPr txBox="1"/>
          <p:nvPr/>
        </p:nvSpPr>
        <p:spPr>
          <a:xfrm>
            <a:off x="3728720" y="3492500"/>
            <a:ext cx="1845310" cy="1216660"/>
          </a:xfrm>
          <a:prstGeom prst="rect">
            <a:avLst/>
          </a:prstGeom>
          <a:noFill/>
        </p:spPr>
        <p:txBody>
          <a:bodyPr wrap="square" lIns="0" rIns="0" tIns="0" bIns="0" anchor="t">
            <a:spAutoFit/>
          </a:bodyPr>
          <a:lstStyle/>
          <a:p>
            <a:pPr algn="l">
              <a:lnSpc>
                <a:spcPct val="115000"/>
              </a:lnSpc>
            </a:pPr>
            <a:r>
              <a:rPr sz="1200" b="0" i="0">
                <a:solidFill>
                  <a:srgbClr val="B8C7E4"/>
                </a:solidFill>
                <a:latin typeface="Calibri"/>
              </a:rPr>
              <a:t>noVNC in your browser, or SSH — your choice.</a:t>
            </a:r>
          </a:p>
        </p:txBody>
      </p:sp>
      <p:sp>
        <p:nvSpPr>
          <p:cNvPr id="15" name="TextBox 14"/>
          <p:cNvSpPr txBox="1"/>
          <p:nvPr/>
        </p:nvSpPr>
        <p:spPr>
          <a:xfrm>
            <a:off x="5867400" y="3388360"/>
            <a:ext cx="457200" cy="402590"/>
          </a:xfrm>
          <a:prstGeom prst="rect">
            <a:avLst/>
          </a:prstGeom>
          <a:noFill/>
        </p:spPr>
        <p:txBody>
          <a:bodyPr wrap="square" lIns="0" rIns="0" tIns="0" bIns="0" anchor="ctr">
            <a:spAutoFit/>
          </a:bodyPr>
          <a:lstStyle/>
          <a:p>
            <a:pPr algn="ctr"/>
            <a:r>
              <a:rPr sz="1800" b="0" i="0">
                <a:solidFill>
                  <a:srgbClr val="8FA3C8"/>
                </a:solidFill>
                <a:latin typeface="Calibri"/>
              </a:rPr>
              <a:t>→</a:t>
            </a:r>
          </a:p>
        </p:txBody>
      </p:sp>
      <p:sp>
        <p:nvSpPr>
          <p:cNvPr id="16" name="Rounded Rectangle 15"/>
          <p:cNvSpPr/>
          <p:nvPr/>
        </p:nvSpPr>
        <p:spPr>
          <a:xfrm>
            <a:off x="6324600" y="2194560"/>
            <a:ext cx="2430780" cy="2788920"/>
          </a:xfrm>
          <a:prstGeom prst="roundRect">
            <a:avLst>
              <a:gd name="adj" fmla="val 3386"/>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16700" y="2432050"/>
            <a:ext cx="548640" cy="457200"/>
          </a:xfrm>
          <a:prstGeom prst="rect">
            <a:avLst/>
          </a:prstGeom>
          <a:noFill/>
        </p:spPr>
        <p:txBody>
          <a:bodyPr wrap="square" lIns="0" rIns="0" tIns="0" bIns="0" anchor="ctr">
            <a:spAutoFit/>
          </a:bodyPr>
          <a:lstStyle/>
          <a:p>
            <a:pPr algn="l"/>
            <a:r>
              <a:rPr sz="2600" b="1" i="0">
                <a:solidFill>
                  <a:srgbClr val="E0559E"/>
                </a:solidFill>
                <a:latin typeface="Cambria"/>
              </a:rPr>
              <a:t>3</a:t>
            </a:r>
          </a:p>
        </p:txBody>
      </p:sp>
      <p:sp>
        <p:nvSpPr>
          <p:cNvPr id="18" name="TextBox 17"/>
          <p:cNvSpPr txBox="1"/>
          <p:nvPr/>
        </p:nvSpPr>
        <p:spPr>
          <a:xfrm>
            <a:off x="6616700" y="2926080"/>
            <a:ext cx="1845310" cy="548640"/>
          </a:xfrm>
          <a:prstGeom prst="rect">
            <a:avLst/>
          </a:prstGeom>
          <a:noFill/>
        </p:spPr>
        <p:txBody>
          <a:bodyPr wrap="square" lIns="0" rIns="0" tIns="0" bIns="0" anchor="t">
            <a:spAutoFit/>
          </a:bodyPr>
          <a:lstStyle/>
          <a:p>
            <a:pPr algn="l"/>
            <a:r>
              <a:rPr sz="1500" b="1" i="0">
                <a:solidFill>
                  <a:srgbClr val="F4F6FB"/>
                </a:solidFill>
                <a:latin typeface="Cambria"/>
              </a:rPr>
              <a:t>Browse from inside it</a:t>
            </a:r>
          </a:p>
        </p:txBody>
      </p:sp>
      <p:sp>
        <p:nvSpPr>
          <p:cNvPr id="19" name="TextBox 18"/>
          <p:cNvSpPr txBox="1"/>
          <p:nvPr/>
        </p:nvSpPr>
        <p:spPr>
          <a:xfrm>
            <a:off x="6616700" y="3492500"/>
            <a:ext cx="1845310" cy="1216660"/>
          </a:xfrm>
          <a:prstGeom prst="rect">
            <a:avLst/>
          </a:prstGeom>
          <a:noFill/>
        </p:spPr>
        <p:txBody>
          <a:bodyPr wrap="square" lIns="0" rIns="0" tIns="0" bIns="0" anchor="t">
            <a:spAutoFit/>
          </a:bodyPr>
          <a:lstStyle/>
          <a:p>
            <a:pPr algn="l">
              <a:lnSpc>
                <a:spcPct val="115000"/>
              </a:lnSpc>
            </a:pPr>
            <a:r>
              <a:rPr sz="1200" b="0" i="0">
                <a:solidFill>
                  <a:srgbClr val="B8C7E4"/>
                </a:solidFill>
                <a:latin typeface="Calibri"/>
              </a:rPr>
              <a:t>Open the target host on port 8000 and read welcome.txt.</a:t>
            </a:r>
          </a:p>
        </p:txBody>
      </p:sp>
      <p:sp>
        <p:nvSpPr>
          <p:cNvPr id="20" name="TextBox 19"/>
          <p:cNvSpPr txBox="1"/>
          <p:nvPr/>
        </p:nvSpPr>
        <p:spPr>
          <a:xfrm>
            <a:off x="8755380" y="3388360"/>
            <a:ext cx="457200" cy="402590"/>
          </a:xfrm>
          <a:prstGeom prst="rect">
            <a:avLst/>
          </a:prstGeom>
          <a:noFill/>
        </p:spPr>
        <p:txBody>
          <a:bodyPr wrap="square" lIns="0" rIns="0" tIns="0" bIns="0" anchor="ctr">
            <a:spAutoFit/>
          </a:bodyPr>
          <a:lstStyle/>
          <a:p>
            <a:pPr algn="ctr"/>
            <a:r>
              <a:rPr sz="1800" b="0" i="0">
                <a:solidFill>
                  <a:srgbClr val="8FA3C8"/>
                </a:solidFill>
                <a:latin typeface="Calibri"/>
              </a:rPr>
              <a:t>→</a:t>
            </a:r>
          </a:p>
        </p:txBody>
      </p:sp>
      <p:sp>
        <p:nvSpPr>
          <p:cNvPr id="21" name="Rounded Rectangle 20"/>
          <p:cNvSpPr/>
          <p:nvPr/>
        </p:nvSpPr>
        <p:spPr>
          <a:xfrm>
            <a:off x="9212580" y="2194560"/>
            <a:ext cx="2430780" cy="2788920"/>
          </a:xfrm>
          <a:prstGeom prst="roundRect">
            <a:avLst>
              <a:gd name="adj" fmla="val 3386"/>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04680" y="2432050"/>
            <a:ext cx="548640" cy="457200"/>
          </a:xfrm>
          <a:prstGeom prst="rect">
            <a:avLst/>
          </a:prstGeom>
          <a:noFill/>
        </p:spPr>
        <p:txBody>
          <a:bodyPr wrap="square" lIns="0" rIns="0" tIns="0" bIns="0" anchor="ctr">
            <a:spAutoFit/>
          </a:bodyPr>
          <a:lstStyle/>
          <a:p>
            <a:pPr algn="l"/>
            <a:r>
              <a:rPr sz="2600" b="1" i="0">
                <a:solidFill>
                  <a:srgbClr val="E0559E"/>
                </a:solidFill>
                <a:latin typeface="Cambria"/>
              </a:rPr>
              <a:t>4</a:t>
            </a:r>
          </a:p>
        </p:txBody>
      </p:sp>
      <p:sp>
        <p:nvSpPr>
          <p:cNvPr id="23" name="TextBox 22"/>
          <p:cNvSpPr txBox="1"/>
          <p:nvPr/>
        </p:nvSpPr>
        <p:spPr>
          <a:xfrm>
            <a:off x="9504680" y="2926080"/>
            <a:ext cx="1845310" cy="548640"/>
          </a:xfrm>
          <a:prstGeom prst="rect">
            <a:avLst/>
          </a:prstGeom>
          <a:noFill/>
        </p:spPr>
        <p:txBody>
          <a:bodyPr wrap="square" lIns="0" rIns="0" tIns="0" bIns="0" anchor="t">
            <a:spAutoFit/>
          </a:bodyPr>
          <a:lstStyle/>
          <a:p>
            <a:pPr algn="l"/>
            <a:r>
              <a:rPr sz="1500" b="1" i="0">
                <a:solidFill>
                  <a:srgbClr val="F4F6FB"/>
                </a:solidFill>
                <a:latin typeface="Cambria"/>
              </a:rPr>
              <a:t>Submit it</a:t>
            </a:r>
          </a:p>
        </p:txBody>
      </p:sp>
      <p:sp>
        <p:nvSpPr>
          <p:cNvPr id="24" name="TextBox 23"/>
          <p:cNvSpPr txBox="1"/>
          <p:nvPr/>
        </p:nvSpPr>
        <p:spPr>
          <a:xfrm>
            <a:off x="9504680" y="3492500"/>
            <a:ext cx="1845310" cy="1216660"/>
          </a:xfrm>
          <a:prstGeom prst="rect">
            <a:avLst/>
          </a:prstGeom>
          <a:noFill/>
        </p:spPr>
        <p:txBody>
          <a:bodyPr wrap="square" lIns="0" rIns="0" tIns="0" bIns="0" anchor="t">
            <a:spAutoFit/>
          </a:bodyPr>
          <a:lstStyle/>
          <a:p>
            <a:pPr algn="l">
              <a:lnSpc>
                <a:spcPct val="115000"/>
              </a:lnSpc>
            </a:pPr>
            <a:r>
              <a:rPr sz="1200" b="0" i="0">
                <a:solidFill>
                  <a:srgbClr val="B8C7E4"/>
                </a:solidFill>
                <a:latin typeface="Calibri"/>
              </a:rPr>
              <a:t>Then begin Natas 0: View Source.</a:t>
            </a:r>
          </a:p>
        </p:txBody>
      </p:sp>
      <p:sp>
        <p:nvSpPr>
          <p:cNvPr id="25" name="TextBox 24"/>
          <p:cNvSpPr txBox="1"/>
          <p:nvPr/>
        </p:nvSpPr>
        <p:spPr>
          <a:xfrm>
            <a:off x="548640" y="5349240"/>
            <a:ext cx="11094720" cy="274320"/>
          </a:xfrm>
          <a:prstGeom prst="rect">
            <a:avLst/>
          </a:prstGeom>
          <a:noFill/>
        </p:spPr>
        <p:txBody>
          <a:bodyPr wrap="square" lIns="0" rIns="0" tIns="0" bIns="0" anchor="ctr">
            <a:spAutoFit/>
          </a:bodyPr>
          <a:lstStyle/>
          <a:p>
            <a:pPr algn="l"/>
            <a:r>
              <a:rPr sz="1250" b="0" i="1">
                <a:solidFill>
                  <a:srgbClr val="E0559E"/>
                </a:solidFill>
                <a:latin typeface="Calibri"/>
              </a:rPr>
              <a:t>If the target won't load, check you're browsing from the workstation and not your own machine.</a:t>
            </a:r>
          </a:p>
        </p:txBody>
      </p:sp>
      <p:sp>
        <p:nvSpPr>
          <p:cNvPr id="26" name="TextBox 25"/>
          <p:cNvSpPr txBox="1"/>
          <p:nvPr/>
        </p:nvSpPr>
        <p:spPr>
          <a:xfrm>
            <a:off x="548640" y="6446520"/>
            <a:ext cx="40640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03 / 04</a:t>
            </a:r>
          </a:p>
        </p:txBody>
      </p:sp>
      <p:sp>
        <p:nvSpPr>
          <p:cNvPr id="27" name="TextBox 26"/>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pic>
        <p:nvPicPr>
          <p:cNvPr id="2" name="Picture 1" descr="image-16.png"/>
          <p:cNvPicPr>
            <a:picLocks noChangeAspect="1"/>
          </p:cNvPicPr>
          <p:nvPr/>
        </p:nvPicPr>
        <p:blipFill>
          <a:blip r:embed="rId2"/>
          <a:stretch>
            <a:fillRect/>
          </a:stretch>
        </p:blipFill>
        <p:spPr>
          <a:xfrm>
            <a:off x="7881620" y="2286000"/>
            <a:ext cx="3749040" cy="3072130"/>
          </a:xfrm>
          <a:prstGeom prst="rect">
            <a:avLst/>
          </a:prstGeom>
        </p:spPr>
      </p:pic>
      <p:sp>
        <p:nvSpPr>
          <p:cNvPr id="3" name="TextBox 2"/>
          <p:cNvSpPr txBox="1"/>
          <p:nvPr/>
        </p:nvSpPr>
        <p:spPr>
          <a:xfrm>
            <a:off x="548640" y="1143000"/>
            <a:ext cx="7315200" cy="731520"/>
          </a:xfrm>
          <a:prstGeom prst="rect">
            <a:avLst/>
          </a:prstGeom>
          <a:noFill/>
        </p:spPr>
        <p:txBody>
          <a:bodyPr wrap="square" lIns="0" rIns="0" tIns="0" bIns="0" anchor="ctr">
            <a:spAutoFit/>
          </a:bodyPr>
          <a:lstStyle/>
          <a:p>
            <a:pPr algn="l"/>
            <a:r>
              <a:rPr sz="4000" b="1" i="0">
                <a:solidFill>
                  <a:srgbClr val="F4F6FB"/>
                </a:solidFill>
                <a:latin typeface="Cambria"/>
              </a:rPr>
              <a:t>Ready to play.</a:t>
            </a:r>
          </a:p>
        </p:txBody>
      </p:sp>
      <p:sp>
        <p:nvSpPr>
          <p:cNvPr id="4" name="TextBox 3"/>
          <p:cNvSpPr txBox="1"/>
          <p:nvPr/>
        </p:nvSpPr>
        <p:spPr>
          <a:xfrm>
            <a:off x="548640" y="1920239"/>
            <a:ext cx="7680959" cy="365760"/>
          </a:xfrm>
          <a:prstGeom prst="rect">
            <a:avLst/>
          </a:prstGeom>
          <a:noFill/>
        </p:spPr>
        <p:txBody>
          <a:bodyPr wrap="square" lIns="0" rIns="0" tIns="0" bIns="0" anchor="ctr">
            <a:spAutoFit/>
          </a:bodyPr>
          <a:lstStyle/>
          <a:p>
            <a:pPr algn="l"/>
            <a:r>
              <a:rPr sz="1350" b="0" i="0">
                <a:solidFill>
                  <a:srgbClr val="B8C7E4"/>
                </a:solidFill>
                <a:latin typeface="Calibri"/>
              </a:rPr>
              <a:t>Natas needs nothing installed — just a browser.</a:t>
            </a:r>
          </a:p>
        </p:txBody>
      </p:sp>
      <p:sp>
        <p:nvSpPr>
          <p:cNvPr id="5" name="Rounded Rectangle 4"/>
          <p:cNvSpPr/>
          <p:nvPr/>
        </p:nvSpPr>
        <p:spPr>
          <a:xfrm>
            <a:off x="548640" y="2540000"/>
            <a:ext cx="6614159" cy="635000"/>
          </a:xfrm>
          <a:prstGeom prst="roundRect">
            <a:avLst>
              <a:gd name="adj" fmla="val 1184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180" y="2540000"/>
            <a:ext cx="457200" cy="635000"/>
          </a:xfrm>
          <a:prstGeom prst="rect">
            <a:avLst/>
          </a:prstGeom>
          <a:noFill/>
        </p:spPr>
        <p:txBody>
          <a:bodyPr wrap="square" lIns="0" rIns="0" tIns="0" bIns="0" anchor="ctr">
            <a:spAutoFit/>
          </a:bodyPr>
          <a:lstStyle/>
          <a:p>
            <a:pPr algn="l"/>
            <a:r>
              <a:rPr sz="1900" b="1" i="0">
                <a:solidFill>
                  <a:srgbClr val="E0559E"/>
                </a:solidFill>
                <a:latin typeface="Cambria"/>
              </a:rPr>
              <a:t>1</a:t>
            </a:r>
          </a:p>
        </p:txBody>
      </p:sp>
      <p:sp>
        <p:nvSpPr>
          <p:cNvPr id="7" name="TextBox 6"/>
          <p:cNvSpPr txBox="1"/>
          <p:nvPr/>
        </p:nvSpPr>
        <p:spPr>
          <a:xfrm>
            <a:off x="1554480" y="2540000"/>
            <a:ext cx="5334000" cy="635000"/>
          </a:xfrm>
          <a:prstGeom prst="rect">
            <a:avLst/>
          </a:prstGeom>
          <a:noFill/>
        </p:spPr>
        <p:txBody>
          <a:bodyPr wrap="square" lIns="0" rIns="0" tIns="0" bIns="0" anchor="ctr">
            <a:spAutoFit/>
          </a:bodyPr>
          <a:lstStyle/>
          <a:p>
            <a:pPr algn="l"/>
            <a:r>
              <a:rPr sz="1400" b="0" i="0">
                <a:solidFill>
                  <a:srgbClr val="F4F6FB"/>
                </a:solidFill>
                <a:latin typeface="Calibri"/>
              </a:rPr>
              <a:t>Log in to CTFd and open the Web Security category</a:t>
            </a:r>
          </a:p>
        </p:txBody>
      </p:sp>
      <p:sp>
        <p:nvSpPr>
          <p:cNvPr id="8" name="Rounded Rectangle 7"/>
          <p:cNvSpPr/>
          <p:nvPr/>
        </p:nvSpPr>
        <p:spPr>
          <a:xfrm>
            <a:off x="548640" y="3225800"/>
            <a:ext cx="6614159" cy="635000"/>
          </a:xfrm>
          <a:prstGeom prst="roundRect">
            <a:avLst>
              <a:gd name="adj" fmla="val 11842"/>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180" y="3225800"/>
            <a:ext cx="457200" cy="635000"/>
          </a:xfrm>
          <a:prstGeom prst="rect">
            <a:avLst/>
          </a:prstGeom>
          <a:noFill/>
        </p:spPr>
        <p:txBody>
          <a:bodyPr wrap="square" lIns="0" rIns="0" tIns="0" bIns="0" anchor="ctr">
            <a:spAutoFit/>
          </a:bodyPr>
          <a:lstStyle/>
          <a:p>
            <a:pPr algn="l"/>
            <a:r>
              <a:rPr sz="1900" b="1" i="0">
                <a:solidFill>
                  <a:srgbClr val="E0559E"/>
                </a:solidFill>
                <a:latin typeface="Cambria"/>
              </a:rPr>
              <a:t>2</a:t>
            </a:r>
          </a:p>
        </p:txBody>
      </p:sp>
      <p:sp>
        <p:nvSpPr>
          <p:cNvPr id="10" name="TextBox 9"/>
          <p:cNvSpPr txBox="1"/>
          <p:nvPr/>
        </p:nvSpPr>
        <p:spPr>
          <a:xfrm>
            <a:off x="1554480" y="3225800"/>
            <a:ext cx="5334000" cy="635000"/>
          </a:xfrm>
          <a:prstGeom prst="rect">
            <a:avLst/>
          </a:prstGeom>
          <a:noFill/>
        </p:spPr>
        <p:txBody>
          <a:bodyPr wrap="square" lIns="0" rIns="0" tIns="0" bIns="0" anchor="ctr">
            <a:spAutoFit/>
          </a:bodyPr>
          <a:lstStyle/>
          <a:p>
            <a:pPr algn="l"/>
            <a:r>
              <a:rPr sz="1400" b="0" i="0">
                <a:solidFill>
                  <a:srgbClr val="F4F6FB"/>
                </a:solidFill>
                <a:latin typeface="Calibri"/>
              </a:rPr>
              <a:t>Solve "Natas: Start Here" to reach the workstation</a:t>
            </a:r>
          </a:p>
        </p:txBody>
      </p:sp>
      <p:sp>
        <p:nvSpPr>
          <p:cNvPr id="11" name="Rounded Rectangle 10"/>
          <p:cNvSpPr/>
          <p:nvPr/>
        </p:nvSpPr>
        <p:spPr>
          <a:xfrm>
            <a:off x="548640" y="3911600"/>
            <a:ext cx="6614159" cy="635000"/>
          </a:xfrm>
          <a:prstGeom prst="roundRect">
            <a:avLst>
              <a:gd name="adj" fmla="val 1184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180" y="3911600"/>
            <a:ext cx="457200" cy="635000"/>
          </a:xfrm>
          <a:prstGeom prst="rect">
            <a:avLst/>
          </a:prstGeom>
          <a:noFill/>
        </p:spPr>
        <p:txBody>
          <a:bodyPr wrap="square" lIns="0" rIns="0" tIns="0" bIns="0" anchor="ctr">
            <a:spAutoFit/>
          </a:bodyPr>
          <a:lstStyle/>
          <a:p>
            <a:pPr algn="l"/>
            <a:r>
              <a:rPr sz="1900" b="1" i="0">
                <a:solidFill>
                  <a:srgbClr val="E0559E"/>
                </a:solidFill>
                <a:latin typeface="Cambria"/>
              </a:rPr>
              <a:t>3</a:t>
            </a:r>
          </a:p>
        </p:txBody>
      </p:sp>
      <p:sp>
        <p:nvSpPr>
          <p:cNvPr id="13" name="TextBox 12"/>
          <p:cNvSpPr txBox="1"/>
          <p:nvPr/>
        </p:nvSpPr>
        <p:spPr>
          <a:xfrm>
            <a:off x="1554480" y="3911600"/>
            <a:ext cx="5334000" cy="635000"/>
          </a:xfrm>
          <a:prstGeom prst="rect">
            <a:avLst/>
          </a:prstGeom>
          <a:noFill/>
        </p:spPr>
        <p:txBody>
          <a:bodyPr wrap="square" lIns="0" rIns="0" tIns="0" bIns="0" anchor="ctr">
            <a:spAutoFit/>
          </a:bodyPr>
          <a:lstStyle/>
          <a:p>
            <a:pPr algn="l"/>
            <a:r>
              <a:rPr sz="1400" b="0" i="0">
                <a:solidFill>
                  <a:srgbClr val="F4F6FB"/>
                </a:solidFill>
                <a:latin typeface="Calibri"/>
              </a:rPr>
              <a:t>Open noVNC and browse to the target from inside it</a:t>
            </a:r>
          </a:p>
        </p:txBody>
      </p:sp>
      <p:sp>
        <p:nvSpPr>
          <p:cNvPr id="14" name="Rounded Rectangle 13"/>
          <p:cNvSpPr/>
          <p:nvPr/>
        </p:nvSpPr>
        <p:spPr>
          <a:xfrm>
            <a:off x="548640" y="4597400"/>
            <a:ext cx="6614159" cy="635000"/>
          </a:xfrm>
          <a:prstGeom prst="roundRect">
            <a:avLst>
              <a:gd name="adj" fmla="val 11842"/>
            </a:avLst>
          </a:prstGeom>
          <a:solidFill>
            <a:srgbClr val="1B27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180" y="4597400"/>
            <a:ext cx="457200" cy="635000"/>
          </a:xfrm>
          <a:prstGeom prst="rect">
            <a:avLst/>
          </a:prstGeom>
          <a:noFill/>
        </p:spPr>
        <p:txBody>
          <a:bodyPr wrap="square" lIns="0" rIns="0" tIns="0" bIns="0" anchor="ctr">
            <a:spAutoFit/>
          </a:bodyPr>
          <a:lstStyle/>
          <a:p>
            <a:pPr algn="l"/>
            <a:r>
              <a:rPr sz="1900" b="1" i="0">
                <a:solidFill>
                  <a:srgbClr val="E0559E"/>
                </a:solidFill>
                <a:latin typeface="Cambria"/>
              </a:rPr>
              <a:t>4</a:t>
            </a:r>
          </a:p>
        </p:txBody>
      </p:sp>
      <p:sp>
        <p:nvSpPr>
          <p:cNvPr id="16" name="TextBox 15"/>
          <p:cNvSpPr txBox="1"/>
          <p:nvPr/>
        </p:nvSpPr>
        <p:spPr>
          <a:xfrm>
            <a:off x="1554480" y="4597400"/>
            <a:ext cx="5334000" cy="635000"/>
          </a:xfrm>
          <a:prstGeom prst="rect">
            <a:avLst/>
          </a:prstGeom>
          <a:noFill/>
        </p:spPr>
        <p:txBody>
          <a:bodyPr wrap="square" lIns="0" rIns="0" tIns="0" bIns="0" anchor="ctr">
            <a:spAutoFit/>
          </a:bodyPr>
          <a:lstStyle/>
          <a:p>
            <a:pPr algn="l"/>
            <a:r>
              <a:rPr sz="1400" b="0" i="0">
                <a:solidFill>
                  <a:srgbClr val="F4F6FB"/>
                </a:solidFill>
                <a:latin typeface="Calibri"/>
              </a:rPr>
              <a:t>Work level 0 downward; view source before anything else</a:t>
            </a:r>
          </a:p>
        </p:txBody>
      </p:sp>
      <p:sp>
        <p:nvSpPr>
          <p:cNvPr id="17" name="Rounded Rectangle 16"/>
          <p:cNvSpPr/>
          <p:nvPr/>
        </p:nvSpPr>
        <p:spPr>
          <a:xfrm>
            <a:off x="548640" y="5283200"/>
            <a:ext cx="6614159" cy="635000"/>
          </a:xfrm>
          <a:prstGeom prst="roundRect">
            <a:avLst>
              <a:gd name="adj" fmla="val 11842"/>
            </a:avLst>
          </a:prstGeom>
          <a:solidFill>
            <a:srgbClr val="141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180" y="5283200"/>
            <a:ext cx="457200" cy="635000"/>
          </a:xfrm>
          <a:prstGeom prst="rect">
            <a:avLst/>
          </a:prstGeom>
          <a:noFill/>
        </p:spPr>
        <p:txBody>
          <a:bodyPr wrap="square" lIns="0" rIns="0" tIns="0" bIns="0" anchor="ctr">
            <a:spAutoFit/>
          </a:bodyPr>
          <a:lstStyle/>
          <a:p>
            <a:pPr algn="l"/>
            <a:r>
              <a:rPr sz="1900" b="1" i="0">
                <a:solidFill>
                  <a:srgbClr val="E0559E"/>
                </a:solidFill>
                <a:latin typeface="Cambria"/>
              </a:rPr>
              <a:t>5</a:t>
            </a:r>
          </a:p>
        </p:txBody>
      </p:sp>
      <p:sp>
        <p:nvSpPr>
          <p:cNvPr id="19" name="TextBox 18"/>
          <p:cNvSpPr txBox="1"/>
          <p:nvPr/>
        </p:nvSpPr>
        <p:spPr>
          <a:xfrm>
            <a:off x="1554480" y="5283200"/>
            <a:ext cx="5334000" cy="635000"/>
          </a:xfrm>
          <a:prstGeom prst="rect">
            <a:avLst/>
          </a:prstGeom>
          <a:noFill/>
        </p:spPr>
        <p:txBody>
          <a:bodyPr wrap="square" lIns="0" rIns="0" tIns="0" bIns="0" anchor="ctr">
            <a:spAutoFit/>
          </a:bodyPr>
          <a:lstStyle/>
          <a:p>
            <a:pPr algn="l"/>
            <a:r>
              <a:rPr sz="1400" b="0" i="0">
                <a:solidFill>
                  <a:srgbClr val="F4F6FB"/>
                </a:solidFill>
                <a:latin typeface="Calibri"/>
              </a:rPr>
              <a:t>Stuck? Find a staff member. Hints cost a share of the challenge's points — the cost is shown before you open one.</a:t>
            </a:r>
          </a:p>
        </p:txBody>
      </p:sp>
      <p:sp>
        <p:nvSpPr>
          <p:cNvPr id="20" name="TextBox 19"/>
          <p:cNvSpPr txBox="1"/>
          <p:nvPr/>
        </p:nvSpPr>
        <p:spPr>
          <a:xfrm>
            <a:off x="548640" y="6070600"/>
            <a:ext cx="5486400" cy="320040"/>
          </a:xfrm>
          <a:prstGeom prst="rect">
            <a:avLst/>
          </a:prstGeom>
          <a:noFill/>
        </p:spPr>
        <p:txBody>
          <a:bodyPr wrap="square" lIns="0" rIns="0" tIns="0" bIns="0" anchor="ctr">
            <a:spAutoFit/>
          </a:bodyPr>
          <a:lstStyle/>
          <a:p>
            <a:pPr algn="l"/>
            <a:r>
              <a:rPr sz="1400" b="0" i="1">
                <a:solidFill>
                  <a:srgbClr val="E0559E"/>
                </a:solidFill>
                <a:latin typeface="Calibri"/>
              </a:rPr>
              <a:t>Good luck.</a:t>
            </a:r>
          </a:p>
        </p:txBody>
      </p:sp>
      <p:sp>
        <p:nvSpPr>
          <p:cNvPr id="21" name="TextBox 20"/>
          <p:cNvSpPr txBox="1"/>
          <p:nvPr/>
        </p:nvSpPr>
        <p:spPr>
          <a:xfrm>
            <a:off x="548640" y="6446520"/>
            <a:ext cx="4064000" cy="274320"/>
          </a:xfrm>
          <a:prstGeom prst="rect">
            <a:avLst/>
          </a:prstGeom>
          <a:noFill/>
        </p:spPr>
        <p:txBody>
          <a:bodyPr wrap="square" lIns="0" rIns="0" tIns="0" bIns="0" anchor="ctr">
            <a:spAutoFit/>
          </a:bodyPr>
          <a:lstStyle/>
          <a:p>
            <a:pPr algn="l"/>
            <a:r>
              <a:rPr sz="1000" b="0" i="0" spc="150">
                <a:solidFill>
                  <a:srgbClr val="8FA3C8"/>
                </a:solidFill>
                <a:latin typeface="Calibri"/>
              </a:rPr>
              <a:t>CEI LABS CTF — GUIDE 03 / 04</a:t>
            </a:r>
          </a:p>
        </p:txBody>
      </p:sp>
      <p:sp>
        <p:nvSpPr>
          <p:cNvPr id="22" name="TextBox 21"/>
          <p:cNvSpPr txBox="1"/>
          <p:nvPr/>
        </p:nvSpPr>
        <p:spPr>
          <a:xfrm>
            <a:off x="10728960" y="6446520"/>
            <a:ext cx="914400" cy="274320"/>
          </a:xfrm>
          <a:prstGeom prst="rect">
            <a:avLst/>
          </a:prstGeom>
          <a:noFill/>
        </p:spPr>
        <p:txBody>
          <a:bodyPr wrap="square" lIns="0" rIns="0" tIns="0" bIns="0" anchor="ctr">
            <a:spAutoFit/>
          </a:bodyPr>
          <a:lstStyle/>
          <a:p>
            <a:pPr algn="r"/>
            <a:r>
              <a:rPr sz="1000" b="0" i="0">
                <a:solidFill>
                  <a:srgbClr val="8FA3C8"/>
                </a:solidFill>
                <a:latin typeface="Calibri"/>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