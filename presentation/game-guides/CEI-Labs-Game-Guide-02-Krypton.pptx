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notesMasterIdLst>
    <p:notesMasterId r:id="rId15"/>
  </p:notesMasterIdLst>
  <p:sldSz cx="12192000" cy="6858000" type="custom"/>
  <p:notesSz cx="12192000" cy="6858000"/>
</p:presentation>
</file>

<file path=ppt/presProps.xml><?xml version="1.0" encoding="utf-8"?>
<p:presentationPr xmlns:p="http://schemas.openxmlformats.org/presentationml/2006/main" xmlns:a="http://schemas.openxmlformats.org/drawingml/2006/main" xmlns:r="http://schemas.openxmlformats.org/officeDocument/2006/relationships"/>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xmlns:r="http://schemas.openxmlformats.org/officeDocument/2006/relationships">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p:nvPr>
            <p:ph type="body" idx="1"/>
          </p:nvPr>
        </p:nvSpPr>
        <p:spPr/>
        <p:txBody>
          <a:bodyPr/>
          <a:lstStyle/>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Krypton is the shortest track and the most self-contained: seven levels that walk the entire history of classical cryptography, from an encoding that isn't really a cipher at all up to a stream cipher. It is a good second track — it needs far less Linux than Bandit, so it rewards people who found Bandit heavy going.</a:t>
            </a:r>
          </a:p>
          <a:p>
            <a:r>
              <a:rPr lang="en-US" sz="1200" noProof="1"/>
              <a:t>1</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Each level is a single named technique. Nothing here needs deep Linux — if Bandit felt heavy, start with this track.</a:t>
            </a:r>
          </a:p>
          <a:p>
            <a:r>
              <a:rPr lang="en-US" sz="1200" noProof="1"/>
              <a:t>2</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A deliberate pause. Say what is coming and roughly how long it will take, then work through the topics. None of them is a level and none is a method — it is the shared vocabulary the track assumes. If you are running short, this list is also the menu: cut topics from it rather than rushing all of them.</a:t>
            </a:r>
          </a:p>
          <a:p>
            <a:r>
              <a:rPr lang="en-US" sz="1200" noProof="1"/>
              <a:t>3</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Encoding is not encryption. Base64 changes how bytes look. It keeps no secret at all.</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No key means no secret. It is a costume, not a lock.</a:t>
            </a:r>
          </a:p>
          <a:p>
            <a:r>
              <a:rPr lang="en-US" sz="1200" noProof="1"/>
              <a:t>4</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Substitution and the shift. Replace every letter with another by a fixed rule. The rule is the key.</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Twenty-five possible numbers is not a secret, it is a short wait.</a:t>
            </a:r>
          </a:p>
          <a:p>
            <a:r>
              <a:rPr lang="en-US" sz="1200" noProof="1"/>
              <a:t>5</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Frequency analysis. Real language is lopsided, and substitution preserves the lopsidedness.</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You are not reading the letters. You are counting them.</a:t>
            </a:r>
          </a:p>
          <a:p>
            <a:r>
              <a:rPr lang="en-US" sz="1200" noProof="1"/>
              <a:t>6</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Polyalphabetic ciphers. Use several shifts in rotation, and the frequency counts flatten out.</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One key letter per position. The key is short; the message is not.</a:t>
            </a:r>
          </a:p>
          <a:p>
            <a:r>
              <a:rPr lang="en-US" sz="1200" noProof="1"/>
              <a:t>7</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Finding the key length. If the key repeats, the ciphertext repeats — and the gaps betray the period.</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Two techniques, in order: find the period, then count the letters.</a:t>
            </a:r>
          </a:p>
          <a:p>
            <a:r>
              <a:rPr lang="en-US" sz="1200" noProof="1"/>
              <a:t>8</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Stream ciphers and XOR. Generate a long key rather than writing one down, and combine bit by bit.</a:t>
            </a:r>
          </a:p>
          <a:p>
            <a:r>
              <a:rPr lang="en-US" sz="1200" noProof="1"/>
              <a:t/>
            </a:r>
          </a:p>
          <a:p>
            <a:r>
              <a:rPr lang="en-US" sz="1200" noProof="1"/>
              <a:t>The left column is the explanation; the right is a worked example you can talk through line by line. The example is a generic illustration of the concept — it is not a payload, path or command for any actual level, so it can be shown in full without spoiling anything.</a:t>
            </a:r>
          </a:p>
          <a:p>
            <a:r>
              <a:rPr lang="en-US" sz="1200" noProof="1"/>
              <a:t/>
            </a:r>
          </a:p>
          <a:p>
            <a:r>
              <a:rPr lang="en-US" sz="1200" noProof="1"/>
              <a:t>Land this: Encrypting and decrypting stop being opposites. They become the same act.</a:t>
            </a:r>
          </a:p>
          <a:p>
            <a:r>
              <a:rPr lang="en-US" sz="1200" noProof="1"/>
              <a:t>9</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Identical mechanics to Bandit, so if the room has already seen that deck you can move quickly here. The one addition worth naming is krypton-tools --help: the tools they need are already on the box, and people waste time installing their own.</a:t>
            </a:r>
          </a:p>
          <a:p>
            <a:r>
              <a:rPr lang="en-US" sz="1200" noProof="1"/>
              <a:t>10</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Ten points to confirm you can reach the box and read a file, before any cipher is involved.</a:t>
            </a:r>
          </a:p>
          <a:p>
            <a:r>
              <a:rPr lang="en-US" sz="1200" noProof="1"/>
              <a:t>11</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p:sp>
        <p:nvSpPr>
          <p:cNvPr id="2" name="Notes Placeholder 1"/>
          <p:cNvSpPr txBox="1"/>
          <p:nvPr>
            <p:ph type="body"/>
          </p:nvPr>
        </p:nvSpPr>
        <p:spPr>
          <a:xfrm>
            <a:off x="0" y="0"/>
            <a:ext cx="0" cy="0"/>
          </a:xfrm>
          <a:prstGeom prst="rect">
            <a:avLst/>
          </a:prstGeom>
          <a:noFill/>
        </p:spPr>
        <p:txBody>
          <a:bodyPr/>
          <a:lstStyle/>
          <a:p>
            <a:r>
              <a:rPr lang="en-US" sz="1200" noProof="1"/>
              <a:t>Closing slide — leave it up while people get started.</a:t>
            </a:r>
          </a:p>
          <a:p>
            <a:r>
              <a:rPr lang="en-US" sz="1200" noProof="1"/>
              <a:t>12</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_1.png"/><Relationship Id="rId3" Type="http://schemas.openxmlformats.org/officeDocument/2006/relationships/image" Target="../media/image1_2.png"/><Relationship Id="rId4"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_1.png"/><Relationship Id="rId3" Type="http://schemas.openxmlformats.org/officeDocument/2006/relationships/image" Target="../media/image2_2.png"/><Relationship Id="rId4" Type="http://schemas.openxmlformats.org/officeDocument/2006/relationships/image" Target="../media/image2_3.png"/><Relationship Id="rId5" Type="http://schemas.openxmlformats.org/officeDocument/2006/relationships/image" Target="../media/image2_4.png"/><Relationship Id="rId6" Type="http://schemas.openxmlformats.org/officeDocument/2006/relationships/image" Target="../media/image2_5.png"/><Relationship Id="rId7" Type="http://schemas.openxmlformats.org/officeDocument/2006/relationships/image" Target="../media/image2_6.png"/><Relationship Id="rId8" Type="http://schemas.openxmlformats.org/officeDocument/2006/relationships/image" Target="../media/image2_7.png"/><Relationship Id="rId9"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_1.png"/><Relationship Id="rId3" Type="http://schemas.openxmlformats.org/officeDocument/2006/relationships/image" Target="../media/image10_2.png"/><Relationship Id="rId4" Type="http://schemas.openxmlformats.org/officeDocument/2006/relationships/image" Target="../media/image10_3.png"/><Relationship Id="rId5" Type="http://schemas.openxmlformats.org/officeDocument/2006/relationships/image" Target="../media/image10_4.png"/><Relationship Id="rId6" Type="http://schemas.openxmlformats.org/officeDocument/2006/relationships/image" Target="../media/image10_5.png"/><Relationship Id="rId7"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_1.png"/><Relationship Id="rId3"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_1.png"/><Relationship Id="rId3" Type="http://schemas.openxmlformats.org/officeDocument/2006/relationships/notesSlide" Target="../notesSlides/notesSlide12.xml"/></Relationships>
</file>

<file path=ppt/slides/slide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2194560" y="4480560"/>
            <a:ext cx="4206240" cy="4206240"/>
          </a:xfrm>
          <a:prstGeom prst="ellipse">
            <a:avLst/>
          </a:prstGeom>
          <a:solidFill>
            <a:srgbClr val="141F30"/>
          </a:solidFill>
          <a:ln>
            <a:noFill/>
          </a:ln>
        </p:spPr>
      </p:sp>
      <p:pic>
        <p:nvPicPr>
          <p:cNvPr id="3" name="Image 0"/>
          <p:cNvPicPr/>
          <p:nvPr/>
        </p:nvPicPr>
        <p:blipFill>
          <a:blip r:embed="rId2"/>
          <a:stretch>
            <a:fillRect/>
          </a:stretch>
        </p:blipFill>
        <p:spPr>
          <a:xfrm>
            <a:off x="6903720" y="1051560"/>
            <a:ext cx="4800600" cy="3931920"/>
          </a:xfrm>
          <a:prstGeom prst="rect">
            <a:avLst/>
          </a:prstGeom>
          <a:ln>
            <a:noFill/>
          </a:ln>
        </p:spPr>
      </p:pic>
      <p:sp>
        <p:nvSpPr>
          <p:cNvPr id="4" name="Shape 1"/>
          <p:cNvSpPr/>
          <p:nvPr/>
        </p:nvSpPr>
        <p:spPr>
          <a:xfrm>
            <a:off x="548640" y="960120"/>
            <a:ext cx="786130" cy="786130"/>
          </a:xfrm>
          <a:prstGeom prst="ellipse">
            <a:avLst/>
          </a:prstGeom>
          <a:solidFill>
            <a:srgbClr val="4CC9F0"/>
          </a:solidFill>
          <a:ln>
            <a:noFill/>
          </a:ln>
        </p:spPr>
      </p:sp>
      <p:pic>
        <p:nvPicPr>
          <p:cNvPr id="5" name="Image 1"/>
          <p:cNvPicPr/>
          <p:nvPr/>
        </p:nvPicPr>
        <p:blipFill>
          <a:blip r:embed="rId3"/>
          <a:stretch>
            <a:fillRect/>
          </a:stretch>
        </p:blipFill>
        <p:spPr>
          <a:xfrm>
            <a:off x="753110" y="1164590"/>
            <a:ext cx="377190" cy="377190"/>
          </a:xfrm>
          <a:prstGeom prst="rect">
            <a:avLst/>
          </a:prstGeom>
          <a:ln>
            <a:noFill/>
          </a:ln>
        </p:spPr>
      </p:pic>
      <p:sp>
        <p:nvSpPr>
          <p:cNvPr id="6" name="Text 2"/>
          <p:cNvSpPr txBox="1"/>
          <p:nvPr/>
        </p:nvSpPr>
        <p:spPr>
          <a:xfrm>
            <a:off x="548640" y="3017520"/>
            <a:ext cx="6126480" cy="822960"/>
          </a:xfrm>
          <a:prstGeom prst="rect">
            <a:avLst/>
          </a:prstGeom>
          <a:noFill/>
          <a:ln>
            <a:noFill/>
          </a:ln>
        </p:spPr>
        <p:txBody>
          <a:bodyPr lIns="0" rIns="0" tIns="0" bIns="0" wrap="square" rtlCol="0" anchor="ctr"/>
          <a:lstStyle/>
          <a:p>
            <a:pPr algn="l" marL="0">
              <a:lnSpc>
                <a:spcPct val="120000"/>
              </a:lnSpc>
            </a:pPr>
            <a:r>
              <a:rPr lang="en-US" sz="4400" noProof="1" b="1">
                <a:solidFill>
                  <a:srgbClr val="F4F6FB"/>
                </a:solidFill>
                <a:latin typeface="Cambria"/>
                <a:ea typeface="Cambria"/>
              </a:rPr>
              <a:t>KRYPTON</a:t>
            </a:r>
            <a:endParaRPr lang="en-US" sz="4400" noProof="1"/>
          </a:p>
        </p:txBody>
      </p:sp>
      <p:sp>
        <p:nvSpPr>
          <p:cNvPr id="7" name="Text 3"/>
          <p:cNvSpPr txBox="1"/>
          <p:nvPr/>
        </p:nvSpPr>
        <p:spPr>
          <a:xfrm>
            <a:off x="548640" y="3886200"/>
            <a:ext cx="6126480" cy="411480"/>
          </a:xfrm>
          <a:prstGeom prst="rect">
            <a:avLst/>
          </a:prstGeom>
          <a:noFill/>
          <a:ln>
            <a:noFill/>
          </a:ln>
        </p:spPr>
        <p:txBody>
          <a:bodyPr lIns="0" rIns="0" tIns="0" bIns="0" wrap="square" rtlCol="0" anchor="ctr"/>
          <a:lstStyle/>
          <a:p>
            <a:pPr algn="l" marL="0">
              <a:lnSpc>
                <a:spcPct val="120000"/>
              </a:lnSpc>
            </a:pPr>
            <a:r>
              <a:rPr lang="en-US" sz="2200" noProof="1" b="1" i="1">
                <a:solidFill>
                  <a:srgbClr val="4CC9F0"/>
                </a:solidFill>
                <a:latin typeface="Cambria"/>
                <a:ea typeface="Cambria"/>
              </a:rPr>
              <a:t>Signal from the Dark</a:t>
            </a:r>
            <a:endParaRPr lang="en-US" sz="2200" noProof="1"/>
          </a:p>
        </p:txBody>
      </p:sp>
      <p:sp>
        <p:nvSpPr>
          <p:cNvPr id="8" name="Text 4"/>
          <p:cNvSpPr txBox="1"/>
          <p:nvPr/>
        </p:nvSpPr>
        <p:spPr>
          <a:xfrm>
            <a:off x="548640" y="4389120"/>
            <a:ext cx="6217920" cy="566420"/>
          </a:xfrm>
          <a:prstGeom prst="rect">
            <a:avLst/>
          </a:prstGeom>
          <a:noFill/>
          <a:ln>
            <a:noFill/>
          </a:ln>
        </p:spPr>
        <p:txBody>
          <a:bodyPr lIns="0" rIns="0" tIns="0" bIns="0" wrap="square" rtlCol="0" anchor="ctr"/>
          <a:lstStyle/>
          <a:p>
            <a:pPr algn="l" marL="0">
              <a:lnSpc>
                <a:spcPct val="115000"/>
              </a:lnSpc>
            </a:pPr>
            <a:r>
              <a:rPr lang="en-US" sz="1350" noProof="1">
                <a:solidFill>
                  <a:srgbClr val="B8C7E4"/>
                </a:solidFill>
                <a:latin typeface="Calibri"/>
                <a:ea typeface="Calibri"/>
              </a:rPr>
              <a:t>Seven levels of classical cryptography, played as one long night shift on a deep-space listening post.</a:t>
            </a:r>
            <a:endParaRPr lang="en-US" sz="1350" noProof="1"/>
          </a:p>
        </p:txBody>
      </p:sp>
      <p:sp>
        <p:nvSpPr>
          <p:cNvPr id="9" name="Text 5"/>
          <p:cNvSpPr txBox="1"/>
          <p:nvPr/>
        </p:nvSpPr>
        <p:spPr>
          <a:xfrm>
            <a:off x="548640" y="5029200"/>
            <a:ext cx="6217920" cy="1188720"/>
          </a:xfrm>
          <a:prstGeom prst="rect">
            <a:avLst/>
          </a:prstGeom>
          <a:noFill/>
          <a:ln>
            <a:noFill/>
          </a:ln>
        </p:spPr>
        <p:txBody>
          <a:bodyPr lIns="0" rIns="0" tIns="0" bIns="0" wrap="square" rtlCol="0" anchor="ctr"/>
          <a:lstStyle/>
          <a:p>
            <a:pPr algn="l" marL="0">
              <a:lnSpc>
                <a:spcPct val="122000"/>
              </a:lnSpc>
            </a:pPr>
            <a:r>
              <a:rPr lang="en-US" sz="1300" noProof="1" i="1">
                <a:solidFill>
                  <a:srgbClr val="93A5C7"/>
                </a:solidFill>
                <a:latin typeface="Calibri"/>
                <a:ea typeface="Calibri"/>
              </a:rPr>
              <a:t>A deep-space listening post catches a faint transmission no one can place. Over one long night shift the operator peels back layer after layer, watching the signal grow stranger — less like noise, more like something reaching back — until the last layer reveals a pattern that never quite repeats.</a:t>
            </a:r>
            <a:endParaRPr lang="en-US" sz="1300" noProof="1"/>
          </a:p>
        </p:txBody>
      </p:sp>
      <p:sp>
        <p:nvSpPr>
          <p:cNvPr id="10" name="Text 6"/>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11" name="Text 7"/>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01</a:t>
            </a:r>
            <a:endParaRPr lang="en-US" sz="1000" noProof="1"/>
          </a:p>
        </p:txBody>
      </p:sp>
    </p:spTree>
  </p:cSld>
  <p:clrMapOvr>
    <a:masterClrMapping/>
  </p:clrMapOvr>
  <p:transition spd="fast" advClick="1">
    <p:fade/>
  </p:transition>
</p:sld>
</file>

<file path=ppt/slides/slide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4CC9F0"/>
                </a:solidFill>
                <a:latin typeface="Calibri"/>
                <a:ea typeface="Calibri"/>
              </a:rPr>
              <a:t>THE MAP</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Seven levels, one night shift</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Each level is a single named technique. Nothing here needs deep Linux — if Bandit felt heavy, start with this track.</a:t>
            </a:r>
            <a:endParaRPr lang="en-US" sz="1400" noProof="1"/>
          </a:p>
        </p:txBody>
      </p:sp>
      <p:sp>
        <p:nvSpPr>
          <p:cNvPr id="5" name="Text 2b"/>
          <p:cNvSpPr txBox="1"/>
          <p:nvPr/>
        </p:nvSpPr>
        <p:spPr>
          <a:xfrm>
            <a:off x="548640" y="1905000"/>
            <a:ext cx="9814560" cy="228600"/>
          </a:xfrm>
          <a:prstGeom prst="rect">
            <a:avLst/>
          </a:prstGeom>
          <a:noFill/>
          <a:ln>
            <a:noFill/>
          </a:ln>
        </p:spPr>
        <p:txBody>
          <a:bodyPr lIns="0" rIns="0" tIns="0" bIns="0" wrap="square" rtlCol="0" anchor="ctr"/>
          <a:lstStyle/>
          <a:p>
            <a:pPr algn="l" marL="0">
              <a:lnSpc>
                <a:spcPct val="115000"/>
              </a:lnSpc>
            </a:pPr>
            <a:r>
              <a:rPr lang="en-US" sz="1150" noProof="1">
                <a:solidFill>
                  <a:srgbClr val="B8C7E4"/>
                </a:solidFill>
                <a:latin typeface="Calibri"/>
                <a:ea typeface="Calibri"/>
              </a:rPr>
              <a:t>Points run 200 up to 500 across the seven levels — 2,450 in total. Theory section below: about ten minutes of reading.</a:t>
            </a:r>
            <a:endParaRPr lang="en-US" sz="1150" noProof="1"/>
          </a:p>
        </p:txBody>
      </p:sp>
      <p:sp>
        <p:nvSpPr>
          <p:cNvPr id="6" name="Shape 3"/>
          <p:cNvSpPr/>
          <p:nvPr/>
        </p:nvSpPr>
        <p:spPr>
          <a:xfrm>
            <a:off x="548640" y="2184400"/>
            <a:ext cx="2581910" cy="1874520"/>
          </a:xfrm>
          <a:prstGeom prst="roundRect">
            <a:avLst>
              <a:gd name="adj" fmla="val 4390"/>
            </a:avLst>
          </a:prstGeom>
          <a:solidFill>
            <a:srgbClr val="141F30"/>
          </a:solidFill>
          <a:ln>
            <a:noFill/>
          </a:ln>
        </p:spPr>
      </p:sp>
      <p:pic>
        <p:nvPicPr>
          <p:cNvPr id="7" name="Image 0"/>
          <p:cNvPicPr/>
          <p:nvPr/>
        </p:nvPicPr>
        <p:blipFill>
          <a:blip r:embed="rId2"/>
          <a:stretch>
            <a:fillRect/>
          </a:stretch>
        </p:blipFill>
        <p:spPr>
          <a:xfrm>
            <a:off x="676910" y="2312670"/>
            <a:ext cx="2325370" cy="640080"/>
          </a:xfrm>
          <a:prstGeom prst="rect">
            <a:avLst/>
          </a:prstGeom>
          <a:ln>
            <a:noFill/>
          </a:ln>
        </p:spPr>
      </p:pic>
      <p:sp>
        <p:nvSpPr>
          <p:cNvPr id="8" name="Text 4"/>
          <p:cNvSpPr txBox="1"/>
          <p:nvPr/>
        </p:nvSpPr>
        <p:spPr>
          <a:xfrm>
            <a:off x="786130" y="308991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4CC9F0"/>
                </a:solidFill>
                <a:latin typeface="Calibri"/>
                <a:ea typeface="Calibri"/>
              </a:rPr>
              <a:t>00</a:t>
            </a:r>
            <a:endParaRPr lang="en-US" sz="1050" noProof="1"/>
          </a:p>
        </p:txBody>
      </p:sp>
      <p:sp>
        <p:nvSpPr>
          <p:cNvPr id="9" name="Text 5"/>
          <p:cNvSpPr txBox="1"/>
          <p:nvPr/>
        </p:nvSpPr>
        <p:spPr>
          <a:xfrm>
            <a:off x="786130" y="332740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Base64</a:t>
            </a:r>
            <a:endParaRPr lang="en-US" sz="1400" noProof="1"/>
          </a:p>
        </p:txBody>
      </p:sp>
      <p:sp>
        <p:nvSpPr>
          <p:cNvPr id="10" name="Text 6"/>
          <p:cNvSpPr txBox="1"/>
          <p:nvPr/>
        </p:nvSpPr>
        <p:spPr>
          <a:xfrm>
            <a:off x="786130" y="36106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Not a cipher at all — an encoding. No key, no secret.</a:t>
            </a:r>
            <a:endParaRPr lang="en-US" sz="1000" noProof="1"/>
          </a:p>
        </p:txBody>
      </p:sp>
      <p:sp>
        <p:nvSpPr>
          <p:cNvPr id="11" name="Shape 7"/>
          <p:cNvSpPr/>
          <p:nvPr/>
        </p:nvSpPr>
        <p:spPr>
          <a:xfrm>
            <a:off x="3385820" y="2184400"/>
            <a:ext cx="2581910" cy="1874520"/>
          </a:xfrm>
          <a:prstGeom prst="roundRect">
            <a:avLst>
              <a:gd name="adj" fmla="val 4390"/>
            </a:avLst>
          </a:prstGeom>
          <a:solidFill>
            <a:srgbClr val="141F30"/>
          </a:solidFill>
          <a:ln>
            <a:noFill/>
          </a:ln>
        </p:spPr>
      </p:sp>
      <p:pic>
        <p:nvPicPr>
          <p:cNvPr id="12" name="Image 1"/>
          <p:cNvPicPr/>
          <p:nvPr/>
        </p:nvPicPr>
        <p:blipFill>
          <a:blip r:embed="rId3"/>
          <a:stretch>
            <a:fillRect/>
          </a:stretch>
        </p:blipFill>
        <p:spPr>
          <a:xfrm>
            <a:off x="3514090" y="2312670"/>
            <a:ext cx="2325370" cy="640080"/>
          </a:xfrm>
          <a:prstGeom prst="rect">
            <a:avLst/>
          </a:prstGeom>
          <a:ln>
            <a:noFill/>
          </a:ln>
        </p:spPr>
      </p:pic>
      <p:sp>
        <p:nvSpPr>
          <p:cNvPr id="13" name="Text 8"/>
          <p:cNvSpPr txBox="1"/>
          <p:nvPr/>
        </p:nvSpPr>
        <p:spPr>
          <a:xfrm>
            <a:off x="3624580" y="308991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4CC9F0"/>
                </a:solidFill>
                <a:latin typeface="Calibri"/>
                <a:ea typeface="Calibri"/>
              </a:rPr>
              <a:t>01</a:t>
            </a:r>
            <a:endParaRPr lang="en-US" sz="1050" noProof="1"/>
          </a:p>
        </p:txBody>
      </p:sp>
      <p:sp>
        <p:nvSpPr>
          <p:cNvPr id="14" name="Text 9"/>
          <p:cNvSpPr txBox="1"/>
          <p:nvPr/>
        </p:nvSpPr>
        <p:spPr>
          <a:xfrm>
            <a:off x="3624580" y="332740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ROT13</a:t>
            </a:r>
            <a:endParaRPr lang="en-US" sz="1400" noProof="1"/>
          </a:p>
        </p:txBody>
      </p:sp>
      <p:sp>
        <p:nvSpPr>
          <p:cNvPr id="15" name="Text 10"/>
          <p:cNvSpPr txBox="1"/>
          <p:nvPr/>
        </p:nvSpPr>
        <p:spPr>
          <a:xfrm>
            <a:off x="3624580" y="36106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A fixed rotation. Apply it twice and you are back.</a:t>
            </a:r>
            <a:endParaRPr lang="en-US" sz="1000" noProof="1"/>
          </a:p>
        </p:txBody>
      </p:sp>
      <p:sp>
        <p:nvSpPr>
          <p:cNvPr id="16" name="Shape 11"/>
          <p:cNvSpPr/>
          <p:nvPr/>
        </p:nvSpPr>
        <p:spPr>
          <a:xfrm>
            <a:off x="6224270" y="2184400"/>
            <a:ext cx="2581910" cy="1874520"/>
          </a:xfrm>
          <a:prstGeom prst="roundRect">
            <a:avLst>
              <a:gd name="adj" fmla="val 4390"/>
            </a:avLst>
          </a:prstGeom>
          <a:solidFill>
            <a:srgbClr val="141F30"/>
          </a:solidFill>
          <a:ln>
            <a:noFill/>
          </a:ln>
        </p:spPr>
      </p:sp>
      <p:pic>
        <p:nvPicPr>
          <p:cNvPr id="17" name="Image 2"/>
          <p:cNvPicPr/>
          <p:nvPr/>
        </p:nvPicPr>
        <p:blipFill>
          <a:blip r:embed="rId4"/>
          <a:stretch>
            <a:fillRect/>
          </a:stretch>
        </p:blipFill>
        <p:spPr>
          <a:xfrm>
            <a:off x="6351270" y="2312670"/>
            <a:ext cx="2325370" cy="640080"/>
          </a:xfrm>
          <a:prstGeom prst="rect">
            <a:avLst/>
          </a:prstGeom>
          <a:ln>
            <a:noFill/>
          </a:ln>
        </p:spPr>
      </p:pic>
      <p:sp>
        <p:nvSpPr>
          <p:cNvPr id="18" name="Text 12"/>
          <p:cNvSpPr txBox="1"/>
          <p:nvPr/>
        </p:nvSpPr>
        <p:spPr>
          <a:xfrm>
            <a:off x="6461760" y="308991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4CC9F0"/>
                </a:solidFill>
                <a:latin typeface="Calibri"/>
                <a:ea typeface="Calibri"/>
              </a:rPr>
              <a:t>02</a:t>
            </a:r>
            <a:endParaRPr lang="en-US" sz="1050" noProof="1"/>
          </a:p>
        </p:txBody>
      </p:sp>
      <p:sp>
        <p:nvSpPr>
          <p:cNvPr id="19" name="Text 13"/>
          <p:cNvSpPr txBox="1"/>
          <p:nvPr/>
        </p:nvSpPr>
        <p:spPr>
          <a:xfrm>
            <a:off x="6461760" y="332740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Caesar Shift</a:t>
            </a:r>
            <a:endParaRPr lang="en-US" sz="1400" noProof="1"/>
          </a:p>
        </p:txBody>
      </p:sp>
      <p:sp>
        <p:nvSpPr>
          <p:cNvPr id="20" name="Text 14"/>
          <p:cNvSpPr txBox="1"/>
          <p:nvPr/>
        </p:nvSpPr>
        <p:spPr>
          <a:xfrm>
            <a:off x="6461760" y="36106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Same idea, but nobody tells you the number.</a:t>
            </a:r>
            <a:endParaRPr lang="en-US" sz="1000" noProof="1"/>
          </a:p>
        </p:txBody>
      </p:sp>
      <p:sp>
        <p:nvSpPr>
          <p:cNvPr id="21" name="Shape 15"/>
          <p:cNvSpPr/>
          <p:nvPr/>
        </p:nvSpPr>
        <p:spPr>
          <a:xfrm>
            <a:off x="9061450" y="2184400"/>
            <a:ext cx="2581910" cy="1874520"/>
          </a:xfrm>
          <a:prstGeom prst="roundRect">
            <a:avLst>
              <a:gd name="adj" fmla="val 4390"/>
            </a:avLst>
          </a:prstGeom>
          <a:solidFill>
            <a:srgbClr val="141F30"/>
          </a:solidFill>
          <a:ln>
            <a:noFill/>
          </a:ln>
        </p:spPr>
      </p:sp>
      <p:pic>
        <p:nvPicPr>
          <p:cNvPr id="22" name="Image 3"/>
          <p:cNvPicPr/>
          <p:nvPr/>
        </p:nvPicPr>
        <p:blipFill>
          <a:blip r:embed="rId5"/>
          <a:stretch>
            <a:fillRect/>
          </a:stretch>
        </p:blipFill>
        <p:spPr>
          <a:xfrm>
            <a:off x="9189720" y="2312670"/>
            <a:ext cx="2325370" cy="640080"/>
          </a:xfrm>
          <a:prstGeom prst="rect">
            <a:avLst/>
          </a:prstGeom>
          <a:ln>
            <a:noFill/>
          </a:ln>
        </p:spPr>
      </p:pic>
      <p:sp>
        <p:nvSpPr>
          <p:cNvPr id="23" name="Text 16"/>
          <p:cNvSpPr txBox="1"/>
          <p:nvPr/>
        </p:nvSpPr>
        <p:spPr>
          <a:xfrm>
            <a:off x="9298940" y="308991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4CC9F0"/>
                </a:solidFill>
                <a:latin typeface="Calibri"/>
                <a:ea typeface="Calibri"/>
              </a:rPr>
              <a:t>03</a:t>
            </a:r>
            <a:endParaRPr lang="en-US" sz="1050" noProof="1"/>
          </a:p>
        </p:txBody>
      </p:sp>
      <p:sp>
        <p:nvSpPr>
          <p:cNvPr id="24" name="Text 17"/>
          <p:cNvSpPr txBox="1"/>
          <p:nvPr/>
        </p:nvSpPr>
        <p:spPr>
          <a:xfrm>
            <a:off x="9298940" y="332740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Frequency</a:t>
            </a:r>
            <a:endParaRPr lang="en-US" sz="1400" noProof="1"/>
          </a:p>
        </p:txBody>
      </p:sp>
      <p:sp>
        <p:nvSpPr>
          <p:cNvPr id="25" name="Text 18"/>
          <p:cNvSpPr txBox="1"/>
          <p:nvPr/>
        </p:nvSpPr>
        <p:spPr>
          <a:xfrm>
            <a:off x="9298940" y="36106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Letters aren't evenly used. That imbalance is a crowbar.</a:t>
            </a:r>
            <a:endParaRPr lang="en-US" sz="1000" noProof="1"/>
          </a:p>
        </p:txBody>
      </p:sp>
      <p:sp>
        <p:nvSpPr>
          <p:cNvPr id="26" name="Shape 19"/>
          <p:cNvSpPr/>
          <p:nvPr/>
        </p:nvSpPr>
        <p:spPr>
          <a:xfrm>
            <a:off x="548640" y="4165600"/>
            <a:ext cx="2581910" cy="1874520"/>
          </a:xfrm>
          <a:prstGeom prst="roundRect">
            <a:avLst>
              <a:gd name="adj" fmla="val 4390"/>
            </a:avLst>
          </a:prstGeom>
          <a:solidFill>
            <a:srgbClr val="1B2740"/>
          </a:solidFill>
          <a:ln>
            <a:noFill/>
          </a:ln>
        </p:spPr>
      </p:sp>
      <p:pic>
        <p:nvPicPr>
          <p:cNvPr id="27" name="Image 4"/>
          <p:cNvPicPr/>
          <p:nvPr/>
        </p:nvPicPr>
        <p:blipFill>
          <a:blip r:embed="rId6"/>
          <a:stretch>
            <a:fillRect/>
          </a:stretch>
        </p:blipFill>
        <p:spPr>
          <a:xfrm>
            <a:off x="676910" y="4293870"/>
            <a:ext cx="2325370" cy="640080"/>
          </a:xfrm>
          <a:prstGeom prst="rect">
            <a:avLst/>
          </a:prstGeom>
          <a:ln>
            <a:noFill/>
          </a:ln>
        </p:spPr>
      </p:pic>
      <p:sp>
        <p:nvSpPr>
          <p:cNvPr id="28" name="Text 20"/>
          <p:cNvSpPr txBox="1"/>
          <p:nvPr/>
        </p:nvSpPr>
        <p:spPr>
          <a:xfrm>
            <a:off x="786130" y="507111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4CC9F0"/>
                </a:solidFill>
                <a:latin typeface="Calibri"/>
                <a:ea typeface="Calibri"/>
              </a:rPr>
              <a:t>04</a:t>
            </a:r>
            <a:endParaRPr lang="en-US" sz="1050" noProof="1"/>
          </a:p>
        </p:txBody>
      </p:sp>
      <p:sp>
        <p:nvSpPr>
          <p:cNvPr id="29" name="Text 21"/>
          <p:cNvSpPr txBox="1"/>
          <p:nvPr/>
        </p:nvSpPr>
        <p:spPr>
          <a:xfrm>
            <a:off x="786130" y="530860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Vigenère</a:t>
            </a:r>
            <a:endParaRPr lang="en-US" sz="1400" noProof="1"/>
          </a:p>
        </p:txBody>
      </p:sp>
      <p:sp>
        <p:nvSpPr>
          <p:cNvPr id="30" name="Text 22"/>
          <p:cNvSpPr txBox="1"/>
          <p:nvPr/>
        </p:nvSpPr>
        <p:spPr>
          <a:xfrm>
            <a:off x="786130" y="55918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A shift that changes per position — period given.</a:t>
            </a:r>
            <a:endParaRPr lang="en-US" sz="1000" noProof="1"/>
          </a:p>
        </p:txBody>
      </p:sp>
      <p:sp>
        <p:nvSpPr>
          <p:cNvPr id="31" name="Shape 23"/>
          <p:cNvSpPr/>
          <p:nvPr/>
        </p:nvSpPr>
        <p:spPr>
          <a:xfrm>
            <a:off x="3385820" y="4165600"/>
            <a:ext cx="2581910" cy="1874520"/>
          </a:xfrm>
          <a:prstGeom prst="roundRect">
            <a:avLst>
              <a:gd name="adj" fmla="val 4390"/>
            </a:avLst>
          </a:prstGeom>
          <a:solidFill>
            <a:srgbClr val="1B2740"/>
          </a:solidFill>
          <a:ln>
            <a:noFill/>
          </a:ln>
        </p:spPr>
      </p:sp>
      <p:pic>
        <p:nvPicPr>
          <p:cNvPr id="32" name="Image 5"/>
          <p:cNvPicPr/>
          <p:nvPr/>
        </p:nvPicPr>
        <p:blipFill>
          <a:blip r:embed="rId7"/>
          <a:stretch>
            <a:fillRect/>
          </a:stretch>
        </p:blipFill>
        <p:spPr>
          <a:xfrm>
            <a:off x="3514090" y="4293870"/>
            <a:ext cx="2325370" cy="640080"/>
          </a:xfrm>
          <a:prstGeom prst="rect">
            <a:avLst/>
          </a:prstGeom>
          <a:ln>
            <a:noFill/>
          </a:ln>
        </p:spPr>
      </p:pic>
      <p:sp>
        <p:nvSpPr>
          <p:cNvPr id="33" name="Text 24"/>
          <p:cNvSpPr txBox="1"/>
          <p:nvPr/>
        </p:nvSpPr>
        <p:spPr>
          <a:xfrm>
            <a:off x="3624580" y="507111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4CC9F0"/>
                </a:solidFill>
                <a:latin typeface="Calibri"/>
                <a:ea typeface="Calibri"/>
              </a:rPr>
              <a:t>05</a:t>
            </a:r>
            <a:endParaRPr lang="en-US" sz="1050" noProof="1"/>
          </a:p>
        </p:txBody>
      </p:sp>
      <p:sp>
        <p:nvSpPr>
          <p:cNvPr id="34" name="Text 25"/>
          <p:cNvSpPr txBox="1"/>
          <p:nvPr/>
        </p:nvSpPr>
        <p:spPr>
          <a:xfrm>
            <a:off x="3624580" y="530860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Kasiski Test</a:t>
            </a:r>
            <a:endParaRPr lang="en-US" sz="1400" noProof="1"/>
          </a:p>
        </p:txBody>
      </p:sp>
      <p:sp>
        <p:nvSpPr>
          <p:cNvPr id="35" name="Text 26"/>
          <p:cNvSpPr txBox="1"/>
          <p:nvPr/>
        </p:nvSpPr>
        <p:spPr>
          <a:xfrm>
            <a:off x="3624580" y="55918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The period isn't given. Repeats give it away.</a:t>
            </a:r>
            <a:endParaRPr lang="en-US" sz="1000" noProof="1"/>
          </a:p>
        </p:txBody>
      </p:sp>
      <p:sp>
        <p:nvSpPr>
          <p:cNvPr id="36" name="Shape 27"/>
          <p:cNvSpPr/>
          <p:nvPr/>
        </p:nvSpPr>
        <p:spPr>
          <a:xfrm>
            <a:off x="6224270" y="4165600"/>
            <a:ext cx="2581910" cy="1874520"/>
          </a:xfrm>
          <a:prstGeom prst="roundRect">
            <a:avLst>
              <a:gd name="adj" fmla="val 4390"/>
            </a:avLst>
          </a:prstGeom>
          <a:solidFill>
            <a:srgbClr val="1B2740"/>
          </a:solidFill>
          <a:ln>
            <a:noFill/>
          </a:ln>
        </p:spPr>
      </p:sp>
      <p:pic>
        <p:nvPicPr>
          <p:cNvPr id="37" name="Image 6"/>
          <p:cNvPicPr/>
          <p:nvPr/>
        </p:nvPicPr>
        <p:blipFill>
          <a:blip r:embed="rId8"/>
          <a:stretch>
            <a:fillRect/>
          </a:stretch>
        </p:blipFill>
        <p:spPr>
          <a:xfrm>
            <a:off x="6351270" y="4293870"/>
            <a:ext cx="2325370" cy="640080"/>
          </a:xfrm>
          <a:prstGeom prst="rect">
            <a:avLst/>
          </a:prstGeom>
          <a:ln>
            <a:noFill/>
          </a:ln>
        </p:spPr>
      </p:pic>
      <p:sp>
        <p:nvSpPr>
          <p:cNvPr id="38" name="Text 28"/>
          <p:cNvSpPr txBox="1"/>
          <p:nvPr/>
        </p:nvSpPr>
        <p:spPr>
          <a:xfrm>
            <a:off x="6461760" y="5071110"/>
            <a:ext cx="2105660" cy="219710"/>
          </a:xfrm>
          <a:prstGeom prst="rect">
            <a:avLst/>
          </a:prstGeom>
          <a:noFill/>
          <a:ln>
            <a:noFill/>
          </a:ln>
        </p:spPr>
        <p:txBody>
          <a:bodyPr lIns="0" rIns="0" tIns="0" bIns="0" wrap="square" rtlCol="0" anchor="t"/>
          <a:lstStyle/>
          <a:p>
            <a:pPr algn="l" marL="0">
              <a:lnSpc>
                <a:spcPct val="120000"/>
              </a:lnSpc>
            </a:pPr>
            <a:r>
              <a:rPr lang="en-US" sz="1050" noProof="1" b="1" spc="80" kern="0">
                <a:solidFill>
                  <a:srgbClr val="4CC9F0"/>
                </a:solidFill>
                <a:latin typeface="Calibri"/>
                <a:ea typeface="Calibri"/>
              </a:rPr>
              <a:t>06</a:t>
            </a:r>
            <a:endParaRPr lang="en-US" sz="1050" noProof="1"/>
          </a:p>
        </p:txBody>
      </p:sp>
      <p:sp>
        <p:nvSpPr>
          <p:cNvPr id="39" name="Text 29"/>
          <p:cNvSpPr txBox="1"/>
          <p:nvPr/>
        </p:nvSpPr>
        <p:spPr>
          <a:xfrm>
            <a:off x="6461760" y="5308600"/>
            <a:ext cx="2105660" cy="274320"/>
          </a:xfrm>
          <a:prstGeom prst="rect">
            <a:avLst/>
          </a:prstGeom>
          <a:noFill/>
          <a:ln>
            <a:noFill/>
          </a:ln>
        </p:spPr>
        <p:txBody>
          <a:bodyPr lIns="0" rIns="0" tIns="0" bIns="0" wrap="square" rtlCol="0" anchor="t"/>
          <a:lstStyle/>
          <a:p>
            <a:pPr algn="l" marL="0">
              <a:lnSpc>
                <a:spcPct val="120000"/>
              </a:lnSpc>
            </a:pPr>
            <a:r>
              <a:rPr lang="en-US" sz="1400" noProof="1" b="1">
                <a:solidFill>
                  <a:srgbClr val="F4F6FB"/>
                </a:solidFill>
                <a:latin typeface="Cambria"/>
                <a:ea typeface="Cambria"/>
              </a:rPr>
              <a:t>Stream Cipher</a:t>
            </a:r>
            <a:endParaRPr lang="en-US" sz="1400" noProof="1"/>
          </a:p>
        </p:txBody>
      </p:sp>
      <p:sp>
        <p:nvSpPr>
          <p:cNvPr id="40" name="Text 30"/>
          <p:cNvSpPr txBox="1"/>
          <p:nvPr/>
        </p:nvSpPr>
        <p:spPr>
          <a:xfrm>
            <a:off x="6461760" y="5591810"/>
            <a:ext cx="2105660" cy="365760"/>
          </a:xfrm>
          <a:prstGeom prst="rect">
            <a:avLst/>
          </a:prstGeom>
          <a:noFill/>
          <a:ln>
            <a:noFill/>
          </a:ln>
        </p:spPr>
        <p:txBody>
          <a:bodyPr lIns="0" rIns="0" tIns="0" bIns="0" wrap="square" rtlCol="0" anchor="t"/>
          <a:lstStyle/>
          <a:p>
            <a:pPr algn="l" marL="0">
              <a:lnSpc>
                <a:spcPct val="110000"/>
              </a:lnSpc>
            </a:pPr>
            <a:r>
              <a:rPr lang="en-US" sz="1000" noProof="1">
                <a:solidFill>
                  <a:srgbClr val="B8C7E4"/>
                </a:solidFill>
                <a:latin typeface="Calibri"/>
                <a:ea typeface="Calibri"/>
              </a:rPr>
              <a:t>A keystream that never quite repeats.</a:t>
            </a:r>
            <a:endParaRPr lang="en-US" sz="1000" noProof="1"/>
          </a:p>
        </p:txBody>
      </p:sp>
      <p:sp>
        <p:nvSpPr>
          <p:cNvPr id="41" name="Text 31"/>
          <p:cNvSpPr txBox="1"/>
          <p:nvPr/>
        </p:nvSpPr>
        <p:spPr>
          <a:xfrm>
            <a:off x="548640" y="61468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4CC9F0"/>
                </a:solidFill>
                <a:latin typeface="Calibri"/>
                <a:ea typeface="Calibri"/>
              </a:rPr>
              <a:t>Levels 0–6 share one box. Krypton has no environment of its own beyond that.</a:t>
            </a:r>
            <a:endParaRPr lang="en-US" sz="1250" noProof="1"/>
          </a:p>
        </p:txBody>
      </p:sp>
      <p:sp>
        <p:nvSpPr>
          <p:cNvPr id="42" name="Text 32"/>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43" name="Text 33"/>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02</a:t>
            </a:r>
            <a:endParaRPr lang="en-US" sz="1000" noProof="1"/>
          </a:p>
        </p:txBody>
      </p:sp>
    </p:spTree>
  </p:cSld>
  <p:clrMapOvr>
    <a:masterClrMapping/>
  </p:clrMapOvr>
  <p:transition spd="fast" advClick="1">
    <p:fade/>
  </p:transition>
</p:sld>
</file>

<file path=ppt/slides/slide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595360" y="-2194560"/>
            <a:ext cx="6035040" cy="6035040"/>
          </a:xfrm>
          <a:prstGeom prst="ellipse">
            <a:avLst/>
          </a:prstGeom>
          <a:solidFill>
            <a:srgbClr val="141F30"/>
          </a:solidFill>
          <a:ln>
            <a:noFill/>
          </a:ln>
        </p:spPr>
      </p:sp>
      <p:sp>
        <p:nvSpPr>
          <p:cNvPr id="3" name="Text 1"/>
          <p:cNvSpPr txBox="1"/>
          <p:nvPr/>
        </p:nvSpPr>
        <p:spPr>
          <a:xfrm>
            <a:off x="548640" y="1783080"/>
            <a:ext cx="5486400" cy="292100"/>
          </a:xfrm>
          <a:prstGeom prst="rect">
            <a:avLst/>
          </a:prstGeom>
          <a:noFill/>
          <a:ln>
            <a:noFill/>
          </a:ln>
        </p:spPr>
        <p:txBody>
          <a:bodyPr lIns="0" rIns="0" tIns="0" bIns="0" wrap="square" rtlCol="0" anchor="ctr"/>
          <a:lstStyle/>
          <a:p>
            <a:pPr algn="l" marL="0">
              <a:lnSpc>
                <a:spcPct val="120000"/>
              </a:lnSpc>
            </a:pPr>
            <a:r>
              <a:rPr lang="en-US" sz="1100" noProof="1" b="1" spc="140" kern="0">
                <a:solidFill>
                  <a:srgbClr val="4CC9F0"/>
                </a:solidFill>
                <a:latin typeface="Calibri"/>
                <a:ea typeface="Calibri"/>
              </a:rPr>
              <a:t>THE IDEAS</a:t>
            </a:r>
            <a:endParaRPr lang="en-US" sz="1100" noProof="1"/>
          </a:p>
        </p:txBody>
      </p:sp>
      <p:sp>
        <p:nvSpPr>
          <p:cNvPr id="4" name="Text 2"/>
          <p:cNvSpPr txBox="1"/>
          <p:nvPr/>
        </p:nvSpPr>
        <p:spPr>
          <a:xfrm>
            <a:off x="548640" y="2103120"/>
            <a:ext cx="8595360" cy="960120"/>
          </a:xfrm>
          <a:prstGeom prst="rect">
            <a:avLst/>
          </a:prstGeom>
          <a:noFill/>
          <a:ln>
            <a:noFill/>
          </a:ln>
        </p:spPr>
        <p:txBody>
          <a:bodyPr lIns="0" rIns="0" tIns="0" bIns="0" wrap="square" rtlCol="0" anchor="t"/>
          <a:lstStyle/>
          <a:p>
            <a:pPr algn="l" marL="0">
              <a:lnSpc>
                <a:spcPct val="120000"/>
              </a:lnSpc>
            </a:pPr>
            <a:r>
              <a:rPr lang="en-US" sz="3800" noProof="1" b="1">
                <a:solidFill>
                  <a:srgbClr val="F4F6FB"/>
                </a:solidFill>
                <a:latin typeface="Cambria"/>
                <a:ea typeface="Cambria"/>
              </a:rPr>
              <a:t>Six ideas every cipher rests on</a:t>
            </a:r>
            <a:endParaRPr lang="en-US" sz="3800" noProof="1"/>
          </a:p>
        </p:txBody>
      </p:sp>
      <p:sp>
        <p:nvSpPr>
          <p:cNvPr id="5" name="Text 3"/>
          <p:cNvSpPr txBox="1"/>
          <p:nvPr/>
        </p:nvSpPr>
        <p:spPr>
          <a:xfrm>
            <a:off x="548640" y="3017520"/>
            <a:ext cx="6949440" cy="548640"/>
          </a:xfrm>
          <a:prstGeom prst="rect">
            <a:avLst/>
          </a:prstGeom>
          <a:noFill/>
          <a:ln>
            <a:noFill/>
          </a:ln>
        </p:spPr>
        <p:txBody>
          <a:bodyPr lIns="0" rIns="0" tIns="0" bIns="0" wrap="square" rtlCol="0" anchor="ctr"/>
          <a:lstStyle/>
          <a:p>
            <a:pPr algn="l" marL="0">
              <a:lnSpc>
                <a:spcPct val="118000"/>
              </a:lnSpc>
            </a:pPr>
            <a:r>
              <a:rPr lang="en-US" sz="1350" noProof="1">
                <a:solidFill>
                  <a:srgbClr val="B8C7E4"/>
                </a:solidFill>
                <a:latin typeface="Calibri"/>
                <a:ea typeface="Calibri"/>
              </a:rPr>
              <a:t>The vocabulary the levels are written in. Each one is a technique this track will ask you to recognise, explained here without being applied to anything you have to solve.</a:t>
            </a:r>
            <a:endParaRPr lang="en-US" sz="1350" noProof="1"/>
          </a:p>
        </p:txBody>
      </p:sp>
      <p:sp>
        <p:nvSpPr>
          <p:cNvPr id="6" name="Text 4"/>
          <p:cNvSpPr txBox="1"/>
          <p:nvPr/>
        </p:nvSpPr>
        <p:spPr>
          <a:xfrm>
            <a:off x="548640" y="397764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4CC9F0"/>
                </a:solidFill>
                <a:latin typeface="Cambria"/>
                <a:ea typeface="Cambria"/>
              </a:rPr>
              <a:t>01</a:t>
            </a:r>
            <a:endParaRPr lang="en-US" sz="1200" noProof="1"/>
          </a:p>
        </p:txBody>
      </p:sp>
      <p:sp>
        <p:nvSpPr>
          <p:cNvPr id="7" name="Text 5"/>
          <p:cNvSpPr txBox="1"/>
          <p:nvPr/>
        </p:nvSpPr>
        <p:spPr>
          <a:xfrm>
            <a:off x="1005840" y="3977640"/>
            <a:ext cx="4663440" cy="40259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Encoding is not encryption</a:t>
            </a:r>
            <a:endParaRPr lang="en-US" sz="1400" noProof="1"/>
          </a:p>
        </p:txBody>
      </p:sp>
      <p:sp>
        <p:nvSpPr>
          <p:cNvPr id="8" name="Text 6"/>
          <p:cNvSpPr txBox="1"/>
          <p:nvPr/>
        </p:nvSpPr>
        <p:spPr>
          <a:xfrm>
            <a:off x="548640" y="471678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4CC9F0"/>
                </a:solidFill>
                <a:latin typeface="Cambria"/>
                <a:ea typeface="Cambria"/>
              </a:rPr>
              <a:t>02</a:t>
            </a:r>
            <a:endParaRPr lang="en-US" sz="1200" noProof="1"/>
          </a:p>
        </p:txBody>
      </p:sp>
      <p:sp>
        <p:nvSpPr>
          <p:cNvPr id="9" name="Text 7"/>
          <p:cNvSpPr txBox="1"/>
          <p:nvPr/>
        </p:nvSpPr>
        <p:spPr>
          <a:xfrm>
            <a:off x="1005840" y="4716780"/>
            <a:ext cx="4663440" cy="40259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Substitution and the shift</a:t>
            </a:r>
            <a:endParaRPr lang="en-US" sz="1400" noProof="1"/>
          </a:p>
        </p:txBody>
      </p:sp>
      <p:sp>
        <p:nvSpPr>
          <p:cNvPr id="10" name="Text 8"/>
          <p:cNvSpPr txBox="1"/>
          <p:nvPr/>
        </p:nvSpPr>
        <p:spPr>
          <a:xfrm>
            <a:off x="548640" y="545592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4CC9F0"/>
                </a:solidFill>
                <a:latin typeface="Cambria"/>
                <a:ea typeface="Cambria"/>
              </a:rPr>
              <a:t>03</a:t>
            </a:r>
            <a:endParaRPr lang="en-US" sz="1200" noProof="1"/>
          </a:p>
        </p:txBody>
      </p:sp>
      <p:sp>
        <p:nvSpPr>
          <p:cNvPr id="11" name="Text 9"/>
          <p:cNvSpPr txBox="1"/>
          <p:nvPr/>
        </p:nvSpPr>
        <p:spPr>
          <a:xfrm>
            <a:off x="1005840" y="5455920"/>
            <a:ext cx="4663440" cy="40259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Frequency analysis</a:t>
            </a:r>
            <a:endParaRPr lang="en-US" sz="1400" noProof="1"/>
          </a:p>
        </p:txBody>
      </p:sp>
      <p:sp>
        <p:nvSpPr>
          <p:cNvPr id="12" name="Text 10"/>
          <p:cNvSpPr txBox="1"/>
          <p:nvPr/>
        </p:nvSpPr>
        <p:spPr>
          <a:xfrm>
            <a:off x="6126480" y="397764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4CC9F0"/>
                </a:solidFill>
                <a:latin typeface="Cambria"/>
                <a:ea typeface="Cambria"/>
              </a:rPr>
              <a:t>04</a:t>
            </a:r>
            <a:endParaRPr lang="en-US" sz="1200" noProof="1"/>
          </a:p>
        </p:txBody>
      </p:sp>
      <p:sp>
        <p:nvSpPr>
          <p:cNvPr id="13" name="Text 11"/>
          <p:cNvSpPr txBox="1"/>
          <p:nvPr/>
        </p:nvSpPr>
        <p:spPr>
          <a:xfrm>
            <a:off x="6583680" y="3977640"/>
            <a:ext cx="4663440" cy="40259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Polyalphabetic ciphers</a:t>
            </a:r>
            <a:endParaRPr lang="en-US" sz="1400" noProof="1"/>
          </a:p>
        </p:txBody>
      </p:sp>
      <p:sp>
        <p:nvSpPr>
          <p:cNvPr id="14" name="Text 12"/>
          <p:cNvSpPr txBox="1"/>
          <p:nvPr/>
        </p:nvSpPr>
        <p:spPr>
          <a:xfrm>
            <a:off x="6126480" y="471678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4CC9F0"/>
                </a:solidFill>
                <a:latin typeface="Cambria"/>
                <a:ea typeface="Cambria"/>
              </a:rPr>
              <a:t>05</a:t>
            </a:r>
            <a:endParaRPr lang="en-US" sz="1200" noProof="1"/>
          </a:p>
        </p:txBody>
      </p:sp>
      <p:sp>
        <p:nvSpPr>
          <p:cNvPr id="15" name="Text 13"/>
          <p:cNvSpPr txBox="1"/>
          <p:nvPr/>
        </p:nvSpPr>
        <p:spPr>
          <a:xfrm>
            <a:off x="6583680" y="4716780"/>
            <a:ext cx="4663440" cy="40259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Finding the key length</a:t>
            </a:r>
            <a:endParaRPr lang="en-US" sz="1400" noProof="1"/>
          </a:p>
        </p:txBody>
      </p:sp>
      <p:sp>
        <p:nvSpPr>
          <p:cNvPr id="16" name="Text 14"/>
          <p:cNvSpPr txBox="1"/>
          <p:nvPr/>
        </p:nvSpPr>
        <p:spPr>
          <a:xfrm>
            <a:off x="6126480" y="5455920"/>
            <a:ext cx="411480" cy="402590"/>
          </a:xfrm>
          <a:prstGeom prst="rect">
            <a:avLst/>
          </a:prstGeom>
          <a:noFill/>
          <a:ln>
            <a:noFill/>
          </a:ln>
        </p:spPr>
        <p:txBody>
          <a:bodyPr lIns="0" rIns="0" tIns="0" bIns="0" wrap="square" rtlCol="0" anchor="ctr"/>
          <a:lstStyle/>
          <a:p>
            <a:pPr algn="l" marL="0">
              <a:lnSpc>
                <a:spcPct val="120000"/>
              </a:lnSpc>
            </a:pPr>
            <a:r>
              <a:rPr lang="en-US" sz="1200" noProof="1" b="1">
                <a:solidFill>
                  <a:srgbClr val="4CC9F0"/>
                </a:solidFill>
                <a:latin typeface="Cambria"/>
                <a:ea typeface="Cambria"/>
              </a:rPr>
              <a:t>06</a:t>
            </a:r>
            <a:endParaRPr lang="en-US" sz="1200" noProof="1"/>
          </a:p>
        </p:txBody>
      </p:sp>
      <p:sp>
        <p:nvSpPr>
          <p:cNvPr id="17" name="Text 15"/>
          <p:cNvSpPr txBox="1"/>
          <p:nvPr/>
        </p:nvSpPr>
        <p:spPr>
          <a:xfrm>
            <a:off x="6583680" y="5455920"/>
            <a:ext cx="4663440" cy="40259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Stream ciphers and XOR</a:t>
            </a:r>
            <a:endParaRPr lang="en-US" sz="1400" noProof="1"/>
          </a:p>
        </p:txBody>
      </p:sp>
      <p:sp>
        <p:nvSpPr>
          <p:cNvPr id="18" name="Text 16"/>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19" name="Text 17"/>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03</a:t>
            </a:r>
            <a:endParaRPr lang="en-US" sz="1000" noProof="1"/>
          </a:p>
        </p:txBody>
      </p:sp>
    </p:spTree>
  </p:cSld>
  <p:clrMapOvr>
    <a:masterClrMapping/>
  </p:clrMapOvr>
  <p:transition spd="fast" advClick="1">
    <p:fade/>
  </p:transition>
</p:sld>
</file>

<file path=ppt/slides/slide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4CC9F0"/>
                </a:solidFill>
                <a:latin typeface="Calibri"/>
                <a:ea typeface="Calibri"/>
              </a:rPr>
              <a:t>THEORY  01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Encoding is not encryption</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Base64 changes how bytes look. It keeps no secret at all.</a:t>
            </a:r>
            <a:endParaRPr lang="en-US" sz="1400" noProof="1"/>
          </a:p>
        </p:txBody>
      </p:sp>
      <p:sp>
        <p:nvSpPr>
          <p:cNvPr id="5" name="Shape 3"/>
          <p:cNvSpPr/>
          <p:nvPr/>
        </p:nvSpPr>
        <p:spPr>
          <a:xfrm>
            <a:off x="548640" y="2148840"/>
            <a:ext cx="5577840" cy="3810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WHAT IT IS</a:t>
            </a:r>
            <a:endParaRPr lang="en-US" sz="950" noProof="1"/>
          </a:p>
        </p:txBody>
      </p:sp>
      <p:sp>
        <p:nvSpPr>
          <p:cNvPr id="7" name="Text 5"/>
          <p:cNvSpPr txBox="1"/>
          <p:nvPr/>
        </p:nvSpPr>
        <p:spPr>
          <a:xfrm>
            <a:off x="859790" y="2697480"/>
            <a:ext cx="4955540" cy="1498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Encoding converts data into a different alphabet so that it survives transport — text using only safe characters, for instance. The transformation is fixed and public. There is no key, so anyone can undo it. Base64 turns every three bytes into four printable characters, which is why encoded text runs about a third longer and often ends in an equals sign.</a:t>
            </a:r>
            <a:endParaRPr lang="en-US" sz="1200" noProof="1"/>
          </a:p>
        </p:txBody>
      </p:sp>
      <p:sp>
        <p:nvSpPr>
          <p:cNvPr id="8" name="Text 6"/>
          <p:cNvSpPr txBox="1"/>
          <p:nvPr/>
        </p:nvSpPr>
        <p:spPr>
          <a:xfrm>
            <a:off x="859790" y="43307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WHY IT MATTERS HERE</a:t>
            </a:r>
            <a:endParaRPr lang="en-US" sz="950" noProof="1"/>
          </a:p>
        </p:txBody>
      </p:sp>
      <p:sp>
        <p:nvSpPr>
          <p:cNvPr id="9" name="Text 7"/>
          <p:cNvSpPr txBox="1"/>
          <p:nvPr/>
        </p:nvSpPr>
        <p:spPr>
          <a:xfrm>
            <a:off x="859790" y="4605020"/>
            <a:ext cx="4955540" cy="12192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Encoded data looks scrambled, so it is often mistaken for encrypted data. Telling them apart saves you from attacking something that was never locked.</a:t>
            </a:r>
            <a:endParaRPr lang="en-US" sz="1200" noProof="1"/>
          </a:p>
        </p:txBody>
      </p:sp>
      <p:sp>
        <p:nvSpPr>
          <p:cNvPr id="10" name="Shape 8"/>
          <p:cNvSpPr/>
          <p:nvPr/>
        </p:nvSpPr>
        <p:spPr>
          <a:xfrm>
            <a:off x="6383020" y="2148840"/>
            <a:ext cx="5260340" cy="3810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base64, both directions</a:t>
            </a:r>
            <a:endParaRPr lang="en-US" sz="1050" noProof="1"/>
          </a:p>
          <a:p>
            <a:pPr algn="l" marL="0">
              <a:lnSpc>
                <a:spcPct val="112000"/>
              </a:lnSpc>
            </a:pPr>
            <a:r>
              <a:rPr lang="en-US" sz="1050" noProof="1">
                <a:solidFill>
                  <a:srgbClr val="F4F6FB"/>
                </a:solidFill>
                <a:latin typeface="Courier New"/>
                <a:ea typeface="Courier New"/>
              </a:rPr>
              <a:t>plain     HELLO</a:t>
            </a:r>
            <a:endParaRPr lang="en-US" sz="1050" noProof="1"/>
          </a:p>
          <a:p>
            <a:pPr algn="l" marL="0">
              <a:lnSpc>
                <a:spcPct val="112000"/>
              </a:lnSpc>
            </a:pPr>
            <a:r>
              <a:rPr lang="en-US" sz="1050" noProof="1">
                <a:solidFill>
                  <a:srgbClr val="F4F6FB"/>
                </a:solidFill>
                <a:latin typeface="Courier New"/>
                <a:ea typeface="Courier New"/>
              </a:rPr>
              <a:t>encoded   SEVMTE8=</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how to recognise it</a:t>
            </a:r>
            <a:endParaRPr lang="en-US" sz="1050" noProof="1"/>
          </a:p>
          <a:p>
            <a:pPr algn="l" marL="0">
              <a:lnSpc>
                <a:spcPct val="112000"/>
              </a:lnSpc>
            </a:pPr>
            <a:r>
              <a:rPr lang="en-US" sz="1050" noProof="1">
                <a:solidFill>
                  <a:srgbClr val="F4F6FB"/>
                </a:solidFill>
                <a:latin typeface="Courier New"/>
                <a:ea typeface="Courier New"/>
              </a:rPr>
              <a:t>- alphabet is A-Z a-z 0-9 + /</a:t>
            </a:r>
            <a:endParaRPr lang="en-US" sz="1050" noProof="1"/>
          </a:p>
          <a:p>
            <a:pPr algn="l" marL="0">
              <a:lnSpc>
                <a:spcPct val="112000"/>
              </a:lnSpc>
            </a:pPr>
            <a:r>
              <a:rPr lang="en-US" sz="1050" noProof="1">
                <a:solidFill>
                  <a:srgbClr val="F4F6FB"/>
                </a:solidFill>
                <a:latin typeface="Courier New"/>
                <a:ea typeface="Courier New"/>
              </a:rPr>
              <a:t>- length is a multiple of 4</a:t>
            </a:r>
            <a:endParaRPr lang="en-US" sz="1050" noProof="1"/>
          </a:p>
          <a:p>
            <a:pPr algn="l" marL="0">
              <a:lnSpc>
                <a:spcPct val="112000"/>
              </a:lnSpc>
            </a:pPr>
            <a:r>
              <a:rPr lang="en-US" sz="1050" noProof="1">
                <a:solidFill>
                  <a:srgbClr val="F4F6FB"/>
                </a:solidFill>
                <a:latin typeface="Courier New"/>
                <a:ea typeface="Courier New"/>
              </a:rPr>
              <a:t>- padded at the end with = or ==</a:t>
            </a:r>
            <a:endParaRPr lang="en-US" sz="1050" noProof="1"/>
          </a:p>
          <a:p>
            <a:pPr algn="l" marL="0">
              <a:lnSpc>
                <a:spcPct val="112000"/>
              </a:lnSpc>
            </a:pPr>
            <a:r>
              <a:rPr lang="en-US" sz="1050" noProof="1">
                <a:solidFill>
                  <a:srgbClr val="F4F6FB"/>
                </a:solidFill>
                <a:latin typeface="Courier New"/>
                <a:ea typeface="Courier New"/>
              </a:rPr>
              <a:t>- roughly a third longer than the input</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there is no key,</a:t>
            </a:r>
            <a:endParaRPr lang="en-US" sz="1050" noProof="1"/>
          </a:p>
          <a:p>
            <a:pPr algn="l" marL="0">
              <a:lnSpc>
                <a:spcPct val="112000"/>
              </a:lnSpc>
            </a:pPr>
            <a:r>
              <a:rPr lang="en-US" sz="1050" noProof="1" i="1">
                <a:solidFill>
                  <a:srgbClr val="8FA3C8"/>
                </a:solidFill>
                <a:latin typeface="Courier New"/>
                <a:ea typeface="Courier New"/>
              </a:rPr>
              <a:t>so there is nothing to break</a:t>
            </a:r>
            <a:endParaRPr lang="en-US" sz="1050" noProof="1"/>
          </a:p>
        </p:txBody>
      </p:sp>
      <p:sp>
        <p:nvSpPr>
          <p:cNvPr id="12" name="Text 10"/>
          <p:cNvSpPr txBox="1"/>
          <p:nvPr/>
        </p:nvSpPr>
        <p:spPr>
          <a:xfrm>
            <a:off x="548640" y="61087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4CC9F0"/>
                </a:solidFill>
                <a:latin typeface="Calibri"/>
                <a:ea typeface="Calibri"/>
              </a:rPr>
              <a:t>No key means no secret. It is a costume, not a lock.</a:t>
            </a:r>
            <a:endParaRPr lang="en-US" sz="1250" noProof="1"/>
          </a:p>
        </p:txBody>
      </p:sp>
      <p:sp>
        <p:nvSpPr>
          <p:cNvPr id="13" name="Text 11"/>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04</a:t>
            </a:r>
            <a:endParaRPr lang="en-US" sz="1000" noProof="1"/>
          </a:p>
        </p:txBody>
      </p:sp>
    </p:spTree>
  </p:cSld>
  <p:clrMapOvr>
    <a:masterClrMapping/>
  </p:clrMapOvr>
  <p:transition spd="fast" advClick="1">
    <p:fade/>
  </p:transition>
</p:sld>
</file>

<file path=ppt/slides/slide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4CC9F0"/>
                </a:solidFill>
                <a:latin typeface="Calibri"/>
                <a:ea typeface="Calibri"/>
              </a:rPr>
              <a:t>THEORY  02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Substitution and the shift</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Replace every letter with another by a fixed rule. The rule is the key.</a:t>
            </a:r>
            <a:endParaRPr lang="en-US" sz="1400" noProof="1"/>
          </a:p>
        </p:txBody>
      </p:sp>
      <p:sp>
        <p:nvSpPr>
          <p:cNvPr id="5" name="Shape 3"/>
          <p:cNvSpPr/>
          <p:nvPr/>
        </p:nvSpPr>
        <p:spPr>
          <a:xfrm>
            <a:off x="548640" y="2148840"/>
            <a:ext cx="5577840" cy="3810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WHAT IT IS</a:t>
            </a:r>
            <a:endParaRPr lang="en-US" sz="950" noProof="1"/>
          </a:p>
        </p:txBody>
      </p:sp>
      <p:sp>
        <p:nvSpPr>
          <p:cNvPr id="7" name="Text 5"/>
          <p:cNvSpPr txBox="1"/>
          <p:nvPr/>
        </p:nvSpPr>
        <p:spPr>
          <a:xfrm>
            <a:off x="859790" y="2697480"/>
            <a:ext cx="4955540" cy="1498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The oldest family of ciphers replaces each symbol with a different one. In a shift cipher the rule is simply "move along the alphabet by a fixed number", wrapping round at the end. Encrypting and decrypting are the same operation in opposite directions, and the entire secret is that one number.</a:t>
            </a:r>
            <a:endParaRPr lang="en-US" sz="1200" noProof="1"/>
          </a:p>
        </p:txBody>
      </p:sp>
      <p:sp>
        <p:nvSpPr>
          <p:cNvPr id="8" name="Text 6"/>
          <p:cNvSpPr txBox="1"/>
          <p:nvPr/>
        </p:nvSpPr>
        <p:spPr>
          <a:xfrm>
            <a:off x="859790" y="43307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WHY IT MATTERS HERE</a:t>
            </a:r>
            <a:endParaRPr lang="en-US" sz="950" noProof="1"/>
          </a:p>
        </p:txBody>
      </p:sp>
      <p:sp>
        <p:nvSpPr>
          <p:cNvPr id="9" name="Text 7"/>
          <p:cNvSpPr txBox="1"/>
          <p:nvPr/>
        </p:nvSpPr>
        <p:spPr>
          <a:xfrm>
            <a:off x="859790" y="4605020"/>
            <a:ext cx="4955540" cy="12192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Everything else on this track builds on this idea or reacts against it. A rotation of 13 is the same mechanism with the number fixed and published; the interesting case is when nobody tells you the number.</a:t>
            </a:r>
            <a:endParaRPr lang="en-US" sz="1200" noProof="1"/>
          </a:p>
        </p:txBody>
      </p:sp>
      <p:sp>
        <p:nvSpPr>
          <p:cNvPr id="10" name="Shape 8"/>
          <p:cNvSpPr/>
          <p:nvPr/>
        </p:nvSpPr>
        <p:spPr>
          <a:xfrm>
            <a:off x="6383020" y="2148840"/>
            <a:ext cx="5260340" cy="3810000"/>
          </a:xfrm>
          <a:prstGeom prst="roundRect">
            <a:avLst>
              <a:gd name="adj" fmla="val 2308"/>
            </a:avLst>
          </a:prstGeom>
          <a:solidFill>
            <a:srgbClr val="141F30"/>
          </a:solidFill>
          <a:ln>
            <a:noFill/>
          </a:ln>
        </p:spPr>
      </p:sp>
      <p:sp>
        <p:nvSpPr>
          <p:cNvPr id="11" name="Text 9"/>
          <p:cNvSpPr txBox="1"/>
          <p:nvPr/>
        </p:nvSpPr>
        <p:spPr>
          <a:xfrm>
            <a:off x="6657340" y="2386330"/>
            <a:ext cx="1828800" cy="219710"/>
          </a:xfrm>
          <a:prstGeom prst="rect">
            <a:avLst/>
          </a:prstGeom>
          <a:noFill/>
          <a:ln>
            <a:noFill/>
          </a:ln>
        </p:spPr>
        <p:txBody>
          <a:bodyPr lIns="0" rIns="0" tIns="0" bIns="0" wrap="square" rtlCol="0" anchor="ctr"/>
          <a:lstStyle/>
          <a:p>
            <a:pPr algn="l" marL="0">
              <a:lnSpc>
                <a:spcPct val="120000"/>
              </a:lnSpc>
            </a:pPr>
            <a:r>
              <a:rPr lang="en-US" sz="1000" noProof="1" b="1" spc="100" kern="0">
                <a:solidFill>
                  <a:srgbClr val="8FA3C8"/>
                </a:solidFill>
                <a:latin typeface="Calibri"/>
                <a:ea typeface="Calibri"/>
              </a:rPr>
              <a:t>PLAIN</a:t>
            </a:r>
            <a:endParaRPr lang="en-US" sz="1000" noProof="1"/>
          </a:p>
        </p:txBody>
      </p:sp>
      <p:sp>
        <p:nvSpPr>
          <p:cNvPr id="12" name="Text 10"/>
          <p:cNvSpPr txBox="1"/>
          <p:nvPr/>
        </p:nvSpPr>
        <p:spPr>
          <a:xfrm>
            <a:off x="665734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A</a:t>
            </a:r>
            <a:endParaRPr lang="en-US" sz="1000" noProof="1"/>
          </a:p>
        </p:txBody>
      </p:sp>
      <p:sp>
        <p:nvSpPr>
          <p:cNvPr id="13" name="Text 11"/>
          <p:cNvSpPr txBox="1"/>
          <p:nvPr/>
        </p:nvSpPr>
        <p:spPr>
          <a:xfrm>
            <a:off x="683768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B</a:t>
            </a:r>
            <a:endParaRPr lang="en-US" sz="1000" noProof="1"/>
          </a:p>
        </p:txBody>
      </p:sp>
      <p:sp>
        <p:nvSpPr>
          <p:cNvPr id="14" name="Text 12"/>
          <p:cNvSpPr txBox="1"/>
          <p:nvPr/>
        </p:nvSpPr>
        <p:spPr>
          <a:xfrm>
            <a:off x="701929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C</a:t>
            </a:r>
            <a:endParaRPr lang="en-US" sz="1000" noProof="1"/>
          </a:p>
        </p:txBody>
      </p:sp>
      <p:sp>
        <p:nvSpPr>
          <p:cNvPr id="15" name="Text 13"/>
          <p:cNvSpPr txBox="1"/>
          <p:nvPr/>
        </p:nvSpPr>
        <p:spPr>
          <a:xfrm>
            <a:off x="720090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D</a:t>
            </a:r>
            <a:endParaRPr lang="en-US" sz="1000" noProof="1"/>
          </a:p>
        </p:txBody>
      </p:sp>
      <p:sp>
        <p:nvSpPr>
          <p:cNvPr id="16" name="Text 14"/>
          <p:cNvSpPr txBox="1"/>
          <p:nvPr/>
        </p:nvSpPr>
        <p:spPr>
          <a:xfrm>
            <a:off x="738124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E</a:t>
            </a:r>
            <a:endParaRPr lang="en-US" sz="1000" noProof="1"/>
          </a:p>
        </p:txBody>
      </p:sp>
      <p:sp>
        <p:nvSpPr>
          <p:cNvPr id="17" name="Text 15"/>
          <p:cNvSpPr txBox="1"/>
          <p:nvPr/>
        </p:nvSpPr>
        <p:spPr>
          <a:xfrm>
            <a:off x="756285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F</a:t>
            </a:r>
            <a:endParaRPr lang="en-US" sz="1000" noProof="1"/>
          </a:p>
        </p:txBody>
      </p:sp>
      <p:sp>
        <p:nvSpPr>
          <p:cNvPr id="18" name="Text 16"/>
          <p:cNvSpPr txBox="1"/>
          <p:nvPr/>
        </p:nvSpPr>
        <p:spPr>
          <a:xfrm>
            <a:off x="774446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G</a:t>
            </a:r>
            <a:endParaRPr lang="en-US" sz="1000" noProof="1"/>
          </a:p>
        </p:txBody>
      </p:sp>
      <p:sp>
        <p:nvSpPr>
          <p:cNvPr id="19" name="Text 17"/>
          <p:cNvSpPr txBox="1"/>
          <p:nvPr/>
        </p:nvSpPr>
        <p:spPr>
          <a:xfrm>
            <a:off x="792480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H</a:t>
            </a:r>
            <a:endParaRPr lang="en-US" sz="1000" noProof="1"/>
          </a:p>
        </p:txBody>
      </p:sp>
      <p:sp>
        <p:nvSpPr>
          <p:cNvPr id="20" name="Text 18"/>
          <p:cNvSpPr txBox="1"/>
          <p:nvPr/>
        </p:nvSpPr>
        <p:spPr>
          <a:xfrm>
            <a:off x="810641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I</a:t>
            </a:r>
            <a:endParaRPr lang="en-US" sz="1000" noProof="1"/>
          </a:p>
        </p:txBody>
      </p:sp>
      <p:sp>
        <p:nvSpPr>
          <p:cNvPr id="21" name="Text 19"/>
          <p:cNvSpPr txBox="1"/>
          <p:nvPr/>
        </p:nvSpPr>
        <p:spPr>
          <a:xfrm>
            <a:off x="828802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J</a:t>
            </a:r>
            <a:endParaRPr lang="en-US" sz="1000" noProof="1"/>
          </a:p>
        </p:txBody>
      </p:sp>
      <p:sp>
        <p:nvSpPr>
          <p:cNvPr id="22" name="Text 20"/>
          <p:cNvSpPr txBox="1"/>
          <p:nvPr/>
        </p:nvSpPr>
        <p:spPr>
          <a:xfrm>
            <a:off x="846963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K</a:t>
            </a:r>
            <a:endParaRPr lang="en-US" sz="1000" noProof="1"/>
          </a:p>
        </p:txBody>
      </p:sp>
      <p:sp>
        <p:nvSpPr>
          <p:cNvPr id="23" name="Text 21"/>
          <p:cNvSpPr txBox="1"/>
          <p:nvPr/>
        </p:nvSpPr>
        <p:spPr>
          <a:xfrm>
            <a:off x="864997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L</a:t>
            </a:r>
            <a:endParaRPr lang="en-US" sz="1000" noProof="1"/>
          </a:p>
        </p:txBody>
      </p:sp>
      <p:sp>
        <p:nvSpPr>
          <p:cNvPr id="24" name="Text 22"/>
          <p:cNvSpPr txBox="1"/>
          <p:nvPr/>
        </p:nvSpPr>
        <p:spPr>
          <a:xfrm>
            <a:off x="883158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M</a:t>
            </a:r>
            <a:endParaRPr lang="en-US" sz="1000" noProof="1"/>
          </a:p>
        </p:txBody>
      </p:sp>
      <p:sp>
        <p:nvSpPr>
          <p:cNvPr id="25" name="Text 23"/>
          <p:cNvSpPr txBox="1"/>
          <p:nvPr/>
        </p:nvSpPr>
        <p:spPr>
          <a:xfrm>
            <a:off x="901319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N</a:t>
            </a:r>
            <a:endParaRPr lang="en-US" sz="1000" noProof="1"/>
          </a:p>
        </p:txBody>
      </p:sp>
      <p:sp>
        <p:nvSpPr>
          <p:cNvPr id="26" name="Text 24"/>
          <p:cNvSpPr txBox="1"/>
          <p:nvPr/>
        </p:nvSpPr>
        <p:spPr>
          <a:xfrm>
            <a:off x="919353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O</a:t>
            </a:r>
            <a:endParaRPr lang="en-US" sz="1000" noProof="1"/>
          </a:p>
        </p:txBody>
      </p:sp>
      <p:sp>
        <p:nvSpPr>
          <p:cNvPr id="27" name="Text 25"/>
          <p:cNvSpPr txBox="1"/>
          <p:nvPr/>
        </p:nvSpPr>
        <p:spPr>
          <a:xfrm>
            <a:off x="937514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P</a:t>
            </a:r>
            <a:endParaRPr lang="en-US" sz="1000" noProof="1"/>
          </a:p>
        </p:txBody>
      </p:sp>
      <p:sp>
        <p:nvSpPr>
          <p:cNvPr id="28" name="Text 26"/>
          <p:cNvSpPr txBox="1"/>
          <p:nvPr/>
        </p:nvSpPr>
        <p:spPr>
          <a:xfrm>
            <a:off x="955675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Q</a:t>
            </a:r>
            <a:endParaRPr lang="en-US" sz="1000" noProof="1"/>
          </a:p>
        </p:txBody>
      </p:sp>
      <p:sp>
        <p:nvSpPr>
          <p:cNvPr id="29" name="Text 27"/>
          <p:cNvSpPr txBox="1"/>
          <p:nvPr/>
        </p:nvSpPr>
        <p:spPr>
          <a:xfrm>
            <a:off x="973709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R</a:t>
            </a:r>
            <a:endParaRPr lang="en-US" sz="1000" noProof="1"/>
          </a:p>
        </p:txBody>
      </p:sp>
      <p:sp>
        <p:nvSpPr>
          <p:cNvPr id="30" name="Text 28"/>
          <p:cNvSpPr txBox="1"/>
          <p:nvPr/>
        </p:nvSpPr>
        <p:spPr>
          <a:xfrm>
            <a:off x="991870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S</a:t>
            </a:r>
            <a:endParaRPr lang="en-US" sz="1000" noProof="1"/>
          </a:p>
        </p:txBody>
      </p:sp>
      <p:sp>
        <p:nvSpPr>
          <p:cNvPr id="31" name="Text 29"/>
          <p:cNvSpPr txBox="1"/>
          <p:nvPr/>
        </p:nvSpPr>
        <p:spPr>
          <a:xfrm>
            <a:off x="1010031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T</a:t>
            </a:r>
            <a:endParaRPr lang="en-US" sz="1000" noProof="1"/>
          </a:p>
        </p:txBody>
      </p:sp>
      <p:sp>
        <p:nvSpPr>
          <p:cNvPr id="32" name="Text 30"/>
          <p:cNvSpPr txBox="1"/>
          <p:nvPr/>
        </p:nvSpPr>
        <p:spPr>
          <a:xfrm>
            <a:off x="1028192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U</a:t>
            </a:r>
            <a:endParaRPr lang="en-US" sz="1000" noProof="1"/>
          </a:p>
        </p:txBody>
      </p:sp>
      <p:sp>
        <p:nvSpPr>
          <p:cNvPr id="33" name="Text 31"/>
          <p:cNvSpPr txBox="1"/>
          <p:nvPr/>
        </p:nvSpPr>
        <p:spPr>
          <a:xfrm>
            <a:off x="1046226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V</a:t>
            </a:r>
            <a:endParaRPr lang="en-US" sz="1000" noProof="1"/>
          </a:p>
        </p:txBody>
      </p:sp>
      <p:sp>
        <p:nvSpPr>
          <p:cNvPr id="34" name="Text 32"/>
          <p:cNvSpPr txBox="1"/>
          <p:nvPr/>
        </p:nvSpPr>
        <p:spPr>
          <a:xfrm>
            <a:off x="1064387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W</a:t>
            </a:r>
            <a:endParaRPr lang="en-US" sz="1000" noProof="1"/>
          </a:p>
        </p:txBody>
      </p:sp>
      <p:sp>
        <p:nvSpPr>
          <p:cNvPr id="35" name="Text 33"/>
          <p:cNvSpPr txBox="1"/>
          <p:nvPr/>
        </p:nvSpPr>
        <p:spPr>
          <a:xfrm>
            <a:off x="1082548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X</a:t>
            </a:r>
            <a:endParaRPr lang="en-US" sz="1000" noProof="1"/>
          </a:p>
        </p:txBody>
      </p:sp>
      <p:sp>
        <p:nvSpPr>
          <p:cNvPr id="36" name="Text 34"/>
          <p:cNvSpPr txBox="1"/>
          <p:nvPr/>
        </p:nvSpPr>
        <p:spPr>
          <a:xfrm>
            <a:off x="1100582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Y</a:t>
            </a:r>
            <a:endParaRPr lang="en-US" sz="1000" noProof="1"/>
          </a:p>
        </p:txBody>
      </p:sp>
      <p:sp>
        <p:nvSpPr>
          <p:cNvPr id="37" name="Text 35"/>
          <p:cNvSpPr txBox="1"/>
          <p:nvPr/>
        </p:nvSpPr>
        <p:spPr>
          <a:xfrm>
            <a:off x="11187430" y="2651760"/>
            <a:ext cx="181610" cy="274320"/>
          </a:xfrm>
          <a:prstGeom prst="rect">
            <a:avLst/>
          </a:prstGeom>
          <a:noFill/>
          <a:ln>
            <a:noFill/>
          </a:ln>
        </p:spPr>
        <p:txBody>
          <a:bodyPr lIns="0" rIns="0" tIns="0" bIns="0" wrap="square" rtlCol="0" anchor="ctr"/>
          <a:lstStyle/>
          <a:p>
            <a:pPr algn="ctr" marL="0">
              <a:lnSpc>
                <a:spcPct val="120000"/>
              </a:lnSpc>
            </a:pPr>
            <a:r>
              <a:rPr lang="en-US" sz="1000" noProof="1">
                <a:solidFill>
                  <a:srgbClr val="B8C7E4"/>
                </a:solidFill>
                <a:latin typeface="Courier New"/>
                <a:ea typeface="Courier New"/>
              </a:rPr>
              <a:t>Z</a:t>
            </a:r>
            <a:endParaRPr lang="en-US" sz="1000" noProof="1"/>
          </a:p>
        </p:txBody>
      </p:sp>
      <p:sp>
        <p:nvSpPr>
          <p:cNvPr id="38" name="Text 36"/>
          <p:cNvSpPr txBox="1"/>
          <p:nvPr/>
        </p:nvSpPr>
        <p:spPr>
          <a:xfrm>
            <a:off x="6657340" y="3017520"/>
            <a:ext cx="2011680" cy="219710"/>
          </a:xfrm>
          <a:prstGeom prst="rect">
            <a:avLst/>
          </a:prstGeom>
          <a:noFill/>
          <a:ln>
            <a:noFill/>
          </a:ln>
        </p:spPr>
        <p:txBody>
          <a:bodyPr lIns="0" rIns="0" tIns="0" bIns="0" wrap="square" rtlCol="0" anchor="ctr"/>
          <a:lstStyle/>
          <a:p>
            <a:pPr algn="l" marL="0">
              <a:lnSpc>
                <a:spcPct val="120000"/>
              </a:lnSpc>
            </a:pPr>
            <a:r>
              <a:rPr lang="en-US" sz="900" noProof="1" b="1" spc="100" kern="0">
                <a:solidFill>
                  <a:srgbClr val="4CC9F0"/>
                </a:solidFill>
                <a:latin typeface="Calibri"/>
                <a:ea typeface="Calibri"/>
              </a:rPr>
              <a:t>SHIFTED BY 3</a:t>
            </a:r>
            <a:endParaRPr lang="en-US" sz="900" noProof="1"/>
          </a:p>
        </p:txBody>
      </p:sp>
      <p:sp>
        <p:nvSpPr>
          <p:cNvPr id="39" name="Text 37"/>
          <p:cNvSpPr txBox="1"/>
          <p:nvPr/>
        </p:nvSpPr>
        <p:spPr>
          <a:xfrm>
            <a:off x="665734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D</a:t>
            </a:r>
            <a:endParaRPr lang="en-US" sz="1000" noProof="1"/>
          </a:p>
        </p:txBody>
      </p:sp>
      <p:sp>
        <p:nvSpPr>
          <p:cNvPr id="40" name="Text 38"/>
          <p:cNvSpPr txBox="1"/>
          <p:nvPr/>
        </p:nvSpPr>
        <p:spPr>
          <a:xfrm>
            <a:off x="683768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E</a:t>
            </a:r>
            <a:endParaRPr lang="en-US" sz="1000" noProof="1"/>
          </a:p>
        </p:txBody>
      </p:sp>
      <p:sp>
        <p:nvSpPr>
          <p:cNvPr id="41" name="Text 39"/>
          <p:cNvSpPr txBox="1"/>
          <p:nvPr/>
        </p:nvSpPr>
        <p:spPr>
          <a:xfrm>
            <a:off x="701929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F</a:t>
            </a:r>
            <a:endParaRPr lang="en-US" sz="1000" noProof="1"/>
          </a:p>
        </p:txBody>
      </p:sp>
      <p:sp>
        <p:nvSpPr>
          <p:cNvPr id="42" name="Text 40"/>
          <p:cNvSpPr txBox="1"/>
          <p:nvPr/>
        </p:nvSpPr>
        <p:spPr>
          <a:xfrm>
            <a:off x="720090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G</a:t>
            </a:r>
            <a:endParaRPr lang="en-US" sz="1000" noProof="1"/>
          </a:p>
        </p:txBody>
      </p:sp>
      <p:sp>
        <p:nvSpPr>
          <p:cNvPr id="43" name="Text 41"/>
          <p:cNvSpPr txBox="1"/>
          <p:nvPr/>
        </p:nvSpPr>
        <p:spPr>
          <a:xfrm>
            <a:off x="738124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H</a:t>
            </a:r>
            <a:endParaRPr lang="en-US" sz="1000" noProof="1"/>
          </a:p>
        </p:txBody>
      </p:sp>
      <p:sp>
        <p:nvSpPr>
          <p:cNvPr id="44" name="Text 42"/>
          <p:cNvSpPr txBox="1"/>
          <p:nvPr/>
        </p:nvSpPr>
        <p:spPr>
          <a:xfrm>
            <a:off x="756285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I</a:t>
            </a:r>
            <a:endParaRPr lang="en-US" sz="1000" noProof="1"/>
          </a:p>
        </p:txBody>
      </p:sp>
      <p:sp>
        <p:nvSpPr>
          <p:cNvPr id="45" name="Text 43"/>
          <p:cNvSpPr txBox="1"/>
          <p:nvPr/>
        </p:nvSpPr>
        <p:spPr>
          <a:xfrm>
            <a:off x="774446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J</a:t>
            </a:r>
            <a:endParaRPr lang="en-US" sz="1000" noProof="1"/>
          </a:p>
        </p:txBody>
      </p:sp>
      <p:sp>
        <p:nvSpPr>
          <p:cNvPr id="46" name="Text 44"/>
          <p:cNvSpPr txBox="1"/>
          <p:nvPr/>
        </p:nvSpPr>
        <p:spPr>
          <a:xfrm>
            <a:off x="792480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K</a:t>
            </a:r>
            <a:endParaRPr lang="en-US" sz="1000" noProof="1"/>
          </a:p>
        </p:txBody>
      </p:sp>
      <p:sp>
        <p:nvSpPr>
          <p:cNvPr id="47" name="Text 45"/>
          <p:cNvSpPr txBox="1"/>
          <p:nvPr/>
        </p:nvSpPr>
        <p:spPr>
          <a:xfrm>
            <a:off x="810641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L</a:t>
            </a:r>
            <a:endParaRPr lang="en-US" sz="1000" noProof="1"/>
          </a:p>
        </p:txBody>
      </p:sp>
      <p:sp>
        <p:nvSpPr>
          <p:cNvPr id="48" name="Text 46"/>
          <p:cNvSpPr txBox="1"/>
          <p:nvPr/>
        </p:nvSpPr>
        <p:spPr>
          <a:xfrm>
            <a:off x="828802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M</a:t>
            </a:r>
            <a:endParaRPr lang="en-US" sz="1000" noProof="1"/>
          </a:p>
        </p:txBody>
      </p:sp>
      <p:sp>
        <p:nvSpPr>
          <p:cNvPr id="49" name="Text 47"/>
          <p:cNvSpPr txBox="1"/>
          <p:nvPr/>
        </p:nvSpPr>
        <p:spPr>
          <a:xfrm>
            <a:off x="846963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N</a:t>
            </a:r>
            <a:endParaRPr lang="en-US" sz="1000" noProof="1"/>
          </a:p>
        </p:txBody>
      </p:sp>
      <p:sp>
        <p:nvSpPr>
          <p:cNvPr id="50" name="Text 48"/>
          <p:cNvSpPr txBox="1"/>
          <p:nvPr/>
        </p:nvSpPr>
        <p:spPr>
          <a:xfrm>
            <a:off x="864997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O</a:t>
            </a:r>
            <a:endParaRPr lang="en-US" sz="1000" noProof="1"/>
          </a:p>
        </p:txBody>
      </p:sp>
      <p:sp>
        <p:nvSpPr>
          <p:cNvPr id="51" name="Text 49"/>
          <p:cNvSpPr txBox="1"/>
          <p:nvPr/>
        </p:nvSpPr>
        <p:spPr>
          <a:xfrm>
            <a:off x="883158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P</a:t>
            </a:r>
            <a:endParaRPr lang="en-US" sz="1000" noProof="1"/>
          </a:p>
        </p:txBody>
      </p:sp>
      <p:sp>
        <p:nvSpPr>
          <p:cNvPr id="52" name="Text 50"/>
          <p:cNvSpPr txBox="1"/>
          <p:nvPr/>
        </p:nvSpPr>
        <p:spPr>
          <a:xfrm>
            <a:off x="901319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Q</a:t>
            </a:r>
            <a:endParaRPr lang="en-US" sz="1000" noProof="1"/>
          </a:p>
        </p:txBody>
      </p:sp>
      <p:sp>
        <p:nvSpPr>
          <p:cNvPr id="53" name="Text 51"/>
          <p:cNvSpPr txBox="1"/>
          <p:nvPr/>
        </p:nvSpPr>
        <p:spPr>
          <a:xfrm>
            <a:off x="919353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R</a:t>
            </a:r>
            <a:endParaRPr lang="en-US" sz="1000" noProof="1"/>
          </a:p>
        </p:txBody>
      </p:sp>
      <p:sp>
        <p:nvSpPr>
          <p:cNvPr id="54" name="Text 52"/>
          <p:cNvSpPr txBox="1"/>
          <p:nvPr/>
        </p:nvSpPr>
        <p:spPr>
          <a:xfrm>
            <a:off x="937514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S</a:t>
            </a:r>
            <a:endParaRPr lang="en-US" sz="1000" noProof="1"/>
          </a:p>
        </p:txBody>
      </p:sp>
      <p:sp>
        <p:nvSpPr>
          <p:cNvPr id="55" name="Text 53"/>
          <p:cNvSpPr txBox="1"/>
          <p:nvPr/>
        </p:nvSpPr>
        <p:spPr>
          <a:xfrm>
            <a:off x="955675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T</a:t>
            </a:r>
            <a:endParaRPr lang="en-US" sz="1000" noProof="1"/>
          </a:p>
        </p:txBody>
      </p:sp>
      <p:sp>
        <p:nvSpPr>
          <p:cNvPr id="56" name="Text 54"/>
          <p:cNvSpPr txBox="1"/>
          <p:nvPr/>
        </p:nvSpPr>
        <p:spPr>
          <a:xfrm>
            <a:off x="973709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U</a:t>
            </a:r>
            <a:endParaRPr lang="en-US" sz="1000" noProof="1"/>
          </a:p>
        </p:txBody>
      </p:sp>
      <p:sp>
        <p:nvSpPr>
          <p:cNvPr id="57" name="Text 55"/>
          <p:cNvSpPr txBox="1"/>
          <p:nvPr/>
        </p:nvSpPr>
        <p:spPr>
          <a:xfrm>
            <a:off x="991870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V</a:t>
            </a:r>
            <a:endParaRPr lang="en-US" sz="1000" noProof="1"/>
          </a:p>
        </p:txBody>
      </p:sp>
      <p:sp>
        <p:nvSpPr>
          <p:cNvPr id="58" name="Text 56"/>
          <p:cNvSpPr txBox="1"/>
          <p:nvPr/>
        </p:nvSpPr>
        <p:spPr>
          <a:xfrm>
            <a:off x="1010031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W</a:t>
            </a:r>
            <a:endParaRPr lang="en-US" sz="1000" noProof="1"/>
          </a:p>
        </p:txBody>
      </p:sp>
      <p:sp>
        <p:nvSpPr>
          <p:cNvPr id="59" name="Text 57"/>
          <p:cNvSpPr txBox="1"/>
          <p:nvPr/>
        </p:nvSpPr>
        <p:spPr>
          <a:xfrm>
            <a:off x="1028192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X</a:t>
            </a:r>
            <a:endParaRPr lang="en-US" sz="1000" noProof="1"/>
          </a:p>
        </p:txBody>
      </p:sp>
      <p:sp>
        <p:nvSpPr>
          <p:cNvPr id="60" name="Text 58"/>
          <p:cNvSpPr txBox="1"/>
          <p:nvPr/>
        </p:nvSpPr>
        <p:spPr>
          <a:xfrm>
            <a:off x="1046226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Y</a:t>
            </a:r>
            <a:endParaRPr lang="en-US" sz="1000" noProof="1"/>
          </a:p>
        </p:txBody>
      </p:sp>
      <p:sp>
        <p:nvSpPr>
          <p:cNvPr id="61" name="Text 59"/>
          <p:cNvSpPr txBox="1"/>
          <p:nvPr/>
        </p:nvSpPr>
        <p:spPr>
          <a:xfrm>
            <a:off x="1064387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Z</a:t>
            </a:r>
            <a:endParaRPr lang="en-US" sz="1000" noProof="1"/>
          </a:p>
        </p:txBody>
      </p:sp>
      <p:sp>
        <p:nvSpPr>
          <p:cNvPr id="62" name="Text 60"/>
          <p:cNvSpPr txBox="1"/>
          <p:nvPr/>
        </p:nvSpPr>
        <p:spPr>
          <a:xfrm>
            <a:off x="1082548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A</a:t>
            </a:r>
            <a:endParaRPr lang="en-US" sz="1000" noProof="1"/>
          </a:p>
        </p:txBody>
      </p:sp>
      <p:sp>
        <p:nvSpPr>
          <p:cNvPr id="63" name="Text 61"/>
          <p:cNvSpPr txBox="1"/>
          <p:nvPr/>
        </p:nvSpPr>
        <p:spPr>
          <a:xfrm>
            <a:off x="1100582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B</a:t>
            </a:r>
            <a:endParaRPr lang="en-US" sz="1000" noProof="1"/>
          </a:p>
        </p:txBody>
      </p:sp>
      <p:sp>
        <p:nvSpPr>
          <p:cNvPr id="64" name="Text 62"/>
          <p:cNvSpPr txBox="1"/>
          <p:nvPr/>
        </p:nvSpPr>
        <p:spPr>
          <a:xfrm>
            <a:off x="11187430" y="3282950"/>
            <a:ext cx="181610" cy="274320"/>
          </a:xfrm>
          <a:prstGeom prst="rect">
            <a:avLst/>
          </a:prstGeom>
          <a:noFill/>
          <a:ln>
            <a:noFill/>
          </a:ln>
        </p:spPr>
        <p:txBody>
          <a:bodyPr lIns="0" rIns="0" tIns="0" bIns="0" wrap="square" rtlCol="0" anchor="ctr"/>
          <a:lstStyle/>
          <a:p>
            <a:pPr algn="ctr" marL="0">
              <a:lnSpc>
                <a:spcPct val="120000"/>
              </a:lnSpc>
            </a:pPr>
            <a:r>
              <a:rPr lang="en-US" sz="1000" noProof="1" b="1">
                <a:solidFill>
                  <a:srgbClr val="4CC9F0"/>
                </a:solidFill>
                <a:latin typeface="Courier New"/>
                <a:ea typeface="Courier New"/>
              </a:rPr>
              <a:t>C</a:t>
            </a:r>
            <a:endParaRPr lang="en-US" sz="1000" noProof="1"/>
          </a:p>
        </p:txBody>
      </p:sp>
      <p:sp>
        <p:nvSpPr>
          <p:cNvPr id="65" name="Text 63"/>
          <p:cNvSpPr txBox="1"/>
          <p:nvPr/>
        </p:nvSpPr>
        <p:spPr>
          <a:xfrm>
            <a:off x="6657340" y="3840480"/>
            <a:ext cx="1371600" cy="256540"/>
          </a:xfrm>
          <a:prstGeom prst="rect">
            <a:avLst/>
          </a:prstGeom>
          <a:noFill/>
          <a:ln>
            <a:noFill/>
          </a:ln>
        </p:spPr>
        <p:txBody>
          <a:bodyPr lIns="0" rIns="0" tIns="0" bIns="0" wrap="square" rtlCol="0" anchor="ctr"/>
          <a:lstStyle/>
          <a:p>
            <a:pPr algn="l" marL="0">
              <a:lnSpc>
                <a:spcPct val="120000"/>
              </a:lnSpc>
            </a:pPr>
            <a:r>
              <a:rPr lang="en-US" sz="1000" noProof="1" b="1" spc="100" kern="0">
                <a:solidFill>
                  <a:srgbClr val="8FA3C8"/>
                </a:solidFill>
                <a:latin typeface="Calibri"/>
                <a:ea typeface="Calibri"/>
              </a:rPr>
              <a:t>CIPHERTEXT</a:t>
            </a:r>
            <a:endParaRPr lang="en-US" sz="1000" noProof="1"/>
          </a:p>
        </p:txBody>
      </p:sp>
      <p:sp>
        <p:nvSpPr>
          <p:cNvPr id="66" name="Text 64"/>
          <p:cNvSpPr txBox="1"/>
          <p:nvPr/>
        </p:nvSpPr>
        <p:spPr>
          <a:xfrm>
            <a:off x="6657340" y="4077970"/>
            <a:ext cx="4711700" cy="311150"/>
          </a:xfrm>
          <a:prstGeom prst="rect">
            <a:avLst/>
          </a:prstGeom>
          <a:noFill/>
          <a:ln>
            <a:noFill/>
          </a:ln>
        </p:spPr>
        <p:txBody>
          <a:bodyPr lIns="0" rIns="0" tIns="0" bIns="0" wrap="square" rtlCol="0" anchor="ctr"/>
          <a:lstStyle/>
          <a:p>
            <a:pPr algn="l" marL="0">
              <a:lnSpc>
                <a:spcPct val="120000"/>
              </a:lnSpc>
            </a:pPr>
            <a:r>
              <a:rPr lang="en-US" sz="1400" noProof="1">
                <a:solidFill>
                  <a:srgbClr val="B8C7E4"/>
                </a:solidFill>
                <a:latin typeface="Courier New"/>
                <a:ea typeface="Courier New"/>
              </a:rPr>
              <a:t>WKH VLJQDO LV IDLQW</a:t>
            </a:r>
            <a:endParaRPr lang="en-US" sz="1400" noProof="1"/>
          </a:p>
        </p:txBody>
      </p:sp>
      <p:sp>
        <p:nvSpPr>
          <p:cNvPr id="67" name="Text 65"/>
          <p:cNvSpPr txBox="1"/>
          <p:nvPr/>
        </p:nvSpPr>
        <p:spPr>
          <a:xfrm>
            <a:off x="6657340" y="4498340"/>
            <a:ext cx="1371600" cy="256540"/>
          </a:xfrm>
          <a:prstGeom prst="rect">
            <a:avLst/>
          </a:prstGeom>
          <a:noFill/>
          <a:ln>
            <a:noFill/>
          </a:ln>
        </p:spPr>
        <p:txBody>
          <a:bodyPr lIns="0" rIns="0" tIns="0" bIns="0" wrap="square" rtlCol="0" anchor="ctr"/>
          <a:lstStyle/>
          <a:p>
            <a:pPr algn="l" marL="0">
              <a:lnSpc>
                <a:spcPct val="120000"/>
              </a:lnSpc>
            </a:pPr>
            <a:r>
              <a:rPr lang="en-US" sz="1000" noProof="1" b="1" spc="100" kern="0">
                <a:solidFill>
                  <a:srgbClr val="8FA3C8"/>
                </a:solidFill>
                <a:latin typeface="Calibri"/>
                <a:ea typeface="Calibri"/>
              </a:rPr>
              <a:t>SHIFTED BACK</a:t>
            </a:r>
            <a:endParaRPr lang="en-US" sz="1000" noProof="1"/>
          </a:p>
        </p:txBody>
      </p:sp>
      <p:sp>
        <p:nvSpPr>
          <p:cNvPr id="68" name="Text 66"/>
          <p:cNvSpPr txBox="1"/>
          <p:nvPr/>
        </p:nvSpPr>
        <p:spPr>
          <a:xfrm>
            <a:off x="6657340" y="4737100"/>
            <a:ext cx="4711700" cy="311150"/>
          </a:xfrm>
          <a:prstGeom prst="rect">
            <a:avLst/>
          </a:prstGeom>
          <a:noFill/>
          <a:ln>
            <a:noFill/>
          </a:ln>
        </p:spPr>
        <p:txBody>
          <a:bodyPr lIns="0" rIns="0" tIns="0" bIns="0" wrap="square" rtlCol="0" anchor="ctr"/>
          <a:lstStyle/>
          <a:p>
            <a:pPr algn="l" marL="0">
              <a:lnSpc>
                <a:spcPct val="120000"/>
              </a:lnSpc>
            </a:pPr>
            <a:r>
              <a:rPr lang="en-US" sz="1400" noProof="1" b="1">
                <a:solidFill>
                  <a:srgbClr val="4CC9F0"/>
                </a:solidFill>
                <a:latin typeface="Courier New"/>
                <a:ea typeface="Courier New"/>
              </a:rPr>
              <a:t>THE SIGNAL IS FAINT</a:t>
            </a:r>
            <a:endParaRPr lang="en-US" sz="1400" noProof="1"/>
          </a:p>
        </p:txBody>
      </p:sp>
      <p:sp>
        <p:nvSpPr>
          <p:cNvPr id="69" name="Text 67"/>
          <p:cNvSpPr txBox="1"/>
          <p:nvPr/>
        </p:nvSpPr>
        <p:spPr>
          <a:xfrm>
            <a:off x="6657340" y="5384800"/>
            <a:ext cx="4711700" cy="457200"/>
          </a:xfrm>
          <a:prstGeom prst="rect">
            <a:avLst/>
          </a:prstGeom>
          <a:noFill/>
          <a:ln>
            <a:noFill/>
          </a:ln>
        </p:spPr>
        <p:txBody>
          <a:bodyPr lIns="0" rIns="0" tIns="0" bIns="0" wrap="square" rtlCol="0" anchor="ctr"/>
          <a:lstStyle/>
          <a:p>
            <a:pPr algn="l" marL="0">
              <a:lnSpc>
                <a:spcPct val="115000"/>
              </a:lnSpc>
            </a:pPr>
            <a:r>
              <a:rPr lang="en-US" sz="1100" noProof="1">
                <a:solidFill>
                  <a:srgbClr val="B8C7E4"/>
                </a:solidFill>
                <a:latin typeface="Calibri"/>
                <a:ea typeface="Calibri"/>
              </a:rPr>
              <a:t>Encrypting and decrypting are the same move, in opposite directions.</a:t>
            </a:r>
            <a:endParaRPr lang="en-US" sz="1100" noProof="1"/>
          </a:p>
        </p:txBody>
      </p:sp>
      <p:sp>
        <p:nvSpPr>
          <p:cNvPr id="70" name="Text 68"/>
          <p:cNvSpPr txBox="1"/>
          <p:nvPr/>
        </p:nvSpPr>
        <p:spPr>
          <a:xfrm>
            <a:off x="548640" y="61087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4CC9F0"/>
                </a:solidFill>
                <a:latin typeface="Calibri"/>
                <a:ea typeface="Calibri"/>
              </a:rPr>
              <a:t>Twenty-five possible numbers is not a secret, it is a short wait.</a:t>
            </a:r>
            <a:endParaRPr lang="en-US" sz="1250" noProof="1"/>
          </a:p>
        </p:txBody>
      </p:sp>
      <p:sp>
        <p:nvSpPr>
          <p:cNvPr id="71" name="Text 69"/>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72" name="Text 70"/>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05</a:t>
            </a:r>
            <a:endParaRPr lang="en-US" sz="1000" noProof="1"/>
          </a:p>
        </p:txBody>
      </p:sp>
    </p:spTree>
  </p:cSld>
  <p:clrMapOvr>
    <a:masterClrMapping/>
  </p:clrMapOvr>
  <p:transition spd="fast" advClick="1">
    <p:fade/>
  </p:transition>
</p:sld>
</file>

<file path=ppt/slides/slide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4CC9F0"/>
                </a:solidFill>
                <a:latin typeface="Calibri"/>
                <a:ea typeface="Calibri"/>
              </a:rPr>
              <a:t>THEORY  03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Frequency analysis</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Real language is lopsided, and substitution preserves the lopsidedness.</a:t>
            </a:r>
            <a:endParaRPr lang="en-US" sz="1400" noProof="1"/>
          </a:p>
        </p:txBody>
      </p:sp>
      <p:sp>
        <p:nvSpPr>
          <p:cNvPr id="5" name="Shape 3"/>
          <p:cNvSpPr/>
          <p:nvPr/>
        </p:nvSpPr>
        <p:spPr>
          <a:xfrm>
            <a:off x="548640" y="2148840"/>
            <a:ext cx="5577840" cy="3810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WHAT IT IS</a:t>
            </a:r>
            <a:endParaRPr lang="en-US" sz="950" noProof="1"/>
          </a:p>
        </p:txBody>
      </p:sp>
      <p:sp>
        <p:nvSpPr>
          <p:cNvPr id="7" name="Text 5"/>
          <p:cNvSpPr txBox="1"/>
          <p:nvPr/>
        </p:nvSpPr>
        <p:spPr>
          <a:xfrm>
            <a:off x="859790" y="2697480"/>
            <a:ext cx="4955540" cy="1498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In English some letters appear far more often than others: E and T at the top, Q and Z at the bottom. A substitution cipher renames the letters but does nothing to how often each one occurs. Count the symbols in the ciphertext: the commonest one is probably E.</a:t>
            </a:r>
            <a:endParaRPr lang="en-US" sz="1200" noProof="1"/>
          </a:p>
        </p:txBody>
      </p:sp>
      <p:sp>
        <p:nvSpPr>
          <p:cNvPr id="8" name="Text 6"/>
          <p:cNvSpPr txBox="1"/>
          <p:nvPr/>
        </p:nvSpPr>
        <p:spPr>
          <a:xfrm>
            <a:off x="859790" y="43307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WHY IT MATTERS HERE</a:t>
            </a:r>
            <a:endParaRPr lang="en-US" sz="950" noProof="1"/>
          </a:p>
        </p:txBody>
      </p:sp>
      <p:sp>
        <p:nvSpPr>
          <p:cNvPr id="9" name="Text 7"/>
          <p:cNvSpPr txBox="1"/>
          <p:nvPr/>
        </p:nvSpPr>
        <p:spPr>
          <a:xfrm>
            <a:off x="859790" y="4605020"/>
            <a:ext cx="4955540" cy="12192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This one idea ended simple substitution as a serious method. It also explains why a short message is safer than a long one: counts need volume before they mean anything.</a:t>
            </a:r>
            <a:endParaRPr lang="en-US" sz="1200" noProof="1"/>
          </a:p>
        </p:txBody>
      </p:sp>
      <p:sp>
        <p:nvSpPr>
          <p:cNvPr id="10" name="Shape 8"/>
          <p:cNvSpPr/>
          <p:nvPr/>
        </p:nvSpPr>
        <p:spPr>
          <a:xfrm>
            <a:off x="6383020" y="2148840"/>
            <a:ext cx="5260340" cy="3810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English letter frequency, roughly</a:t>
            </a:r>
            <a:endParaRPr lang="en-US" sz="1050" noProof="1"/>
          </a:p>
          <a:p>
            <a:pPr algn="l" marL="0">
              <a:lnSpc>
                <a:spcPct val="112000"/>
              </a:lnSpc>
            </a:pPr>
            <a:r>
              <a:rPr lang="en-US" sz="1050" noProof="1">
                <a:solidFill>
                  <a:srgbClr val="F4F6FB"/>
                </a:solidFill>
                <a:latin typeface="Courier New"/>
                <a:ea typeface="Courier New"/>
              </a:rPr>
              <a:t>E  ############   12.7%</a:t>
            </a:r>
            <a:endParaRPr lang="en-US" sz="1050" noProof="1"/>
          </a:p>
          <a:p>
            <a:pPr algn="l" marL="0">
              <a:lnSpc>
                <a:spcPct val="112000"/>
              </a:lnSpc>
            </a:pPr>
            <a:r>
              <a:rPr lang="en-US" sz="1050" noProof="1">
                <a:solidFill>
                  <a:srgbClr val="F4F6FB"/>
                </a:solidFill>
                <a:latin typeface="Courier New"/>
                <a:ea typeface="Courier New"/>
              </a:rPr>
              <a:t>T  #########       9.1%</a:t>
            </a:r>
            <a:endParaRPr lang="en-US" sz="1050" noProof="1"/>
          </a:p>
          <a:p>
            <a:pPr algn="l" marL="0">
              <a:lnSpc>
                <a:spcPct val="112000"/>
              </a:lnSpc>
            </a:pPr>
            <a:r>
              <a:rPr lang="en-US" sz="1050" noProof="1">
                <a:solidFill>
                  <a:srgbClr val="F4F6FB"/>
                </a:solidFill>
                <a:latin typeface="Courier New"/>
                <a:ea typeface="Courier New"/>
              </a:rPr>
              <a:t>A  ########        8.2%</a:t>
            </a:r>
            <a:endParaRPr lang="en-US" sz="1050" noProof="1"/>
          </a:p>
          <a:p>
            <a:pPr algn="l" marL="0">
              <a:lnSpc>
                <a:spcPct val="112000"/>
              </a:lnSpc>
            </a:pPr>
            <a:r>
              <a:rPr lang="en-US" sz="1050" noProof="1">
                <a:solidFill>
                  <a:srgbClr val="F4F6FB"/>
                </a:solidFill>
                <a:latin typeface="Courier New"/>
                <a:ea typeface="Courier New"/>
              </a:rPr>
              <a:t>O  #######         7.5%</a:t>
            </a:r>
            <a:endParaRPr lang="en-US" sz="1050" noProof="1"/>
          </a:p>
          <a:p>
            <a:pPr algn="l" marL="0">
              <a:lnSpc>
                <a:spcPct val="112000"/>
              </a:lnSpc>
            </a:pPr>
            <a:r>
              <a:rPr lang="en-US" sz="1050" noProof="1">
                <a:solidFill>
                  <a:srgbClr val="F4F6FB"/>
                </a:solidFill>
                <a:latin typeface="Courier New"/>
                <a:ea typeface="Courier New"/>
              </a:rPr>
              <a:t>I  #######         7.0%</a:t>
            </a:r>
            <a:endParaRPr lang="en-US" sz="1050" noProof="1"/>
          </a:p>
          <a:p>
            <a:pPr algn="l" marL="0">
              <a:lnSpc>
                <a:spcPct val="112000"/>
              </a:lnSpc>
            </a:pPr>
            <a:r>
              <a:rPr lang="en-US" sz="1050" noProof="1">
                <a:solidFill>
                  <a:srgbClr val="F4F6FB"/>
                </a:solidFill>
                <a:latin typeface="Courier New"/>
                <a:ea typeface="Courier New"/>
              </a:rPr>
              <a:t>...</a:t>
            </a:r>
            <a:endParaRPr lang="en-US" sz="1050" noProof="1"/>
          </a:p>
          <a:p>
            <a:pPr algn="l" marL="0">
              <a:lnSpc>
                <a:spcPct val="112000"/>
              </a:lnSpc>
            </a:pPr>
            <a:r>
              <a:rPr lang="en-US" sz="1050" noProof="1">
                <a:solidFill>
                  <a:srgbClr val="F4F6FB"/>
                </a:solidFill>
                <a:latin typeface="Courier New"/>
                <a:ea typeface="Courier New"/>
              </a:rPr>
              <a:t>Z  #               0.1%</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a substitution changes the NAMES</a:t>
            </a:r>
            <a:endParaRPr lang="en-US" sz="1050" noProof="1"/>
          </a:p>
          <a:p>
            <a:pPr algn="l" marL="0">
              <a:lnSpc>
                <a:spcPct val="112000"/>
              </a:lnSpc>
            </a:pPr>
            <a:r>
              <a:rPr lang="en-US" sz="1050" noProof="1" i="1">
                <a:solidFill>
                  <a:srgbClr val="8FA3C8"/>
                </a:solidFill>
                <a:latin typeface="Courier New"/>
                <a:ea typeface="Courier New"/>
              </a:rPr>
              <a:t>but not the SHAPE of the counts</a:t>
            </a:r>
            <a:endParaRPr lang="en-US" sz="1050" noProof="1"/>
          </a:p>
          <a:p>
            <a:pPr algn="l" marL="0">
              <a:lnSpc>
                <a:spcPct val="112000"/>
              </a:lnSpc>
            </a:pPr>
            <a:r>
              <a:rPr lang="en-US" sz="1050" noProof="1" i="1">
                <a:solidFill>
                  <a:srgbClr val="8FA3C8"/>
                </a:solidFill>
                <a:latin typeface="Courier New"/>
                <a:ea typeface="Courier New"/>
              </a:rPr>
              <a:t>so the tallest bar is probably E</a:t>
            </a:r>
            <a:endParaRPr lang="en-US" sz="1050" noProof="1"/>
          </a:p>
        </p:txBody>
      </p:sp>
      <p:sp>
        <p:nvSpPr>
          <p:cNvPr id="12" name="Text 10"/>
          <p:cNvSpPr txBox="1"/>
          <p:nvPr/>
        </p:nvSpPr>
        <p:spPr>
          <a:xfrm>
            <a:off x="548640" y="61087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4CC9F0"/>
                </a:solidFill>
                <a:latin typeface="Calibri"/>
                <a:ea typeface="Calibri"/>
              </a:rPr>
              <a:t>You are not reading the letters. You are counting them.</a:t>
            </a:r>
            <a:endParaRPr lang="en-US" sz="1250" noProof="1"/>
          </a:p>
        </p:txBody>
      </p:sp>
      <p:sp>
        <p:nvSpPr>
          <p:cNvPr id="13" name="Text 11"/>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06</a:t>
            </a:r>
            <a:endParaRPr lang="en-US" sz="1000" noProof="1"/>
          </a:p>
        </p:txBody>
      </p:sp>
    </p:spTree>
  </p:cSld>
  <p:clrMapOvr>
    <a:masterClrMapping/>
  </p:clrMapOvr>
  <p:transition spd="fast" advClick="1">
    <p:fade/>
  </p:transition>
</p:sld>
</file>

<file path=ppt/slides/slide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4CC9F0"/>
                </a:solidFill>
                <a:latin typeface="Calibri"/>
                <a:ea typeface="Calibri"/>
              </a:rPr>
              <a:t>THEORY  04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Polyalphabetic ciphers</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Use several shifts in rotation, and the frequency counts flatten out.</a:t>
            </a:r>
            <a:endParaRPr lang="en-US" sz="1400" noProof="1"/>
          </a:p>
        </p:txBody>
      </p:sp>
      <p:sp>
        <p:nvSpPr>
          <p:cNvPr id="5" name="Shape 3"/>
          <p:cNvSpPr/>
          <p:nvPr/>
        </p:nvSpPr>
        <p:spPr>
          <a:xfrm>
            <a:off x="548640" y="2148840"/>
            <a:ext cx="5577840" cy="3810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WHAT IT IS</a:t>
            </a:r>
            <a:endParaRPr lang="en-US" sz="950" noProof="1"/>
          </a:p>
        </p:txBody>
      </p:sp>
      <p:sp>
        <p:nvSpPr>
          <p:cNvPr id="7" name="Text 5"/>
          <p:cNvSpPr txBox="1"/>
          <p:nvPr/>
        </p:nvSpPr>
        <p:spPr>
          <a:xfrm>
            <a:off x="859790" y="2697480"/>
            <a:ext cx="4955540" cy="1498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A Vigenere cipher takes a keyword and uses each of its letters as a shift in turn, repeating the keyword across the message. The same plaintext letter therefore encrypts differently depending on where it happens to sit, so counting letters no longer produces one clear answer.</a:t>
            </a:r>
            <a:endParaRPr lang="en-US" sz="1200" noProof="1"/>
          </a:p>
        </p:txBody>
      </p:sp>
      <p:sp>
        <p:nvSpPr>
          <p:cNvPr id="8" name="Text 6"/>
          <p:cNvSpPr txBox="1"/>
          <p:nvPr/>
        </p:nvSpPr>
        <p:spPr>
          <a:xfrm>
            <a:off x="859790" y="43307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WHY IT MATTERS HERE</a:t>
            </a:r>
            <a:endParaRPr lang="en-US" sz="950" noProof="1"/>
          </a:p>
        </p:txBody>
      </p:sp>
      <p:sp>
        <p:nvSpPr>
          <p:cNvPr id="9" name="Text 7"/>
          <p:cNvSpPr txBox="1"/>
          <p:nvPr/>
        </p:nvSpPr>
        <p:spPr>
          <a:xfrm>
            <a:off x="859790" y="4605020"/>
            <a:ext cx="4955540" cy="12192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It defeats the previous idea head-on, and for centuries it looked unbreakable. The new weakness is repetition: the keyword restarts at a fixed interval.</a:t>
            </a:r>
            <a:endParaRPr lang="en-US" sz="1200" noProof="1"/>
          </a:p>
        </p:txBody>
      </p:sp>
      <p:sp>
        <p:nvSpPr>
          <p:cNvPr id="10" name="Shape 8"/>
          <p:cNvSpPr/>
          <p:nvPr/>
        </p:nvSpPr>
        <p:spPr>
          <a:xfrm>
            <a:off x="6383020" y="2148840"/>
            <a:ext cx="5260340" cy="3810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a:solidFill>
                  <a:srgbClr val="F4F6FB"/>
                </a:solidFill>
                <a:latin typeface="Courier New"/>
                <a:ea typeface="Courier New"/>
              </a:rPr>
              <a:t>plaintext   THESIGNALISFAINT</a:t>
            </a:r>
            <a:endParaRPr lang="en-US" sz="1050" noProof="1"/>
          </a:p>
          <a:p>
            <a:pPr algn="l" marL="0">
              <a:lnSpc>
                <a:spcPct val="112000"/>
              </a:lnSpc>
            </a:pPr>
            <a:r>
              <a:rPr lang="en-US" sz="1050" noProof="1">
                <a:solidFill>
                  <a:srgbClr val="F4F6FB"/>
                </a:solidFill>
                <a:latin typeface="Courier New"/>
                <a:ea typeface="Courier New"/>
              </a:rPr>
              <a:t>key         KEYKEYKEYKEYKEYK</a:t>
            </a:r>
            <a:endParaRPr lang="en-US" sz="1050" noProof="1"/>
          </a:p>
          <a:p>
            <a:pPr algn="l" marL="0">
              <a:lnSpc>
                <a:spcPct val="112000"/>
              </a:lnSpc>
            </a:pPr>
            <a:r>
              <a:rPr lang="en-US" sz="1050" noProof="1">
                <a:solidFill>
                  <a:srgbClr val="F4F6FB"/>
                </a:solidFill>
                <a:latin typeface="Courier New"/>
                <a:ea typeface="Courier New"/>
              </a:rPr>
              <a:t>ciphertext  DLCCMEXEJSWDKMLD</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each position uses its own shift</a:t>
            </a:r>
            <a:endParaRPr lang="en-US" sz="1050" noProof="1"/>
          </a:p>
          <a:p>
            <a:pPr algn="l" marL="0">
              <a:lnSpc>
                <a:spcPct val="112000"/>
              </a:lnSpc>
            </a:pPr>
            <a:r>
              <a:rPr lang="en-US" sz="1050" noProof="1">
                <a:solidFill>
                  <a:srgbClr val="F4F6FB"/>
                </a:solidFill>
                <a:latin typeface="Courier New"/>
                <a:ea typeface="Courier New"/>
              </a:rPr>
              <a:t>T + K  -&gt;  D</a:t>
            </a:r>
            <a:endParaRPr lang="en-US" sz="1050" noProof="1"/>
          </a:p>
          <a:p>
            <a:pPr algn="l" marL="0">
              <a:lnSpc>
                <a:spcPct val="112000"/>
              </a:lnSpc>
            </a:pPr>
            <a:r>
              <a:rPr lang="en-US" sz="1050" noProof="1">
                <a:solidFill>
                  <a:srgbClr val="F4F6FB"/>
                </a:solidFill>
                <a:latin typeface="Courier New"/>
                <a:ea typeface="Courier New"/>
              </a:rPr>
              <a:t>H + E  -&gt;  L</a:t>
            </a:r>
            <a:endParaRPr lang="en-US" sz="1050" noProof="1"/>
          </a:p>
          <a:p>
            <a:pPr algn="l" marL="0">
              <a:lnSpc>
                <a:spcPct val="112000"/>
              </a:lnSpc>
            </a:pPr>
            <a:r>
              <a:rPr lang="en-US" sz="1050" noProof="1">
                <a:solidFill>
                  <a:srgbClr val="F4F6FB"/>
                </a:solidFill>
                <a:latin typeface="Courier New"/>
                <a:ea typeface="Courier New"/>
              </a:rPr>
              <a:t>E + Y  -&gt;  C</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note the two Es and the three Is</a:t>
            </a:r>
            <a:endParaRPr lang="en-US" sz="1050" noProof="1"/>
          </a:p>
          <a:p>
            <a:pPr algn="l" marL="0">
              <a:lnSpc>
                <a:spcPct val="112000"/>
              </a:lnSpc>
            </a:pPr>
            <a:r>
              <a:rPr lang="en-US" sz="1050" noProof="1" i="1">
                <a:solidFill>
                  <a:srgbClr val="8FA3C8"/>
                </a:solidFill>
                <a:latin typeface="Courier New"/>
                <a:ea typeface="Courier New"/>
              </a:rPr>
              <a:t>do not become the same letter</a:t>
            </a:r>
            <a:endParaRPr lang="en-US" sz="1050" noProof="1"/>
          </a:p>
          <a:p>
            <a:pPr algn="l" marL="0">
              <a:lnSpc>
                <a:spcPct val="112000"/>
              </a:lnSpc>
            </a:pPr>
            <a:r>
              <a:rPr lang="en-US" sz="1050" noProof="1" i="1">
                <a:solidFill>
                  <a:srgbClr val="8FA3C8"/>
                </a:solidFill>
                <a:latin typeface="Courier New"/>
                <a:ea typeface="Courier New"/>
              </a:rPr>
              <a:t>so counting no longer gives one answer</a:t>
            </a:r>
            <a:endParaRPr lang="en-US" sz="1050" noProof="1"/>
          </a:p>
        </p:txBody>
      </p:sp>
      <p:sp>
        <p:nvSpPr>
          <p:cNvPr id="12" name="Text 10"/>
          <p:cNvSpPr txBox="1"/>
          <p:nvPr/>
        </p:nvSpPr>
        <p:spPr>
          <a:xfrm>
            <a:off x="548640" y="61087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4CC9F0"/>
                </a:solidFill>
                <a:latin typeface="Calibri"/>
                <a:ea typeface="Calibri"/>
              </a:rPr>
              <a:t>One key letter per position. The key is short; the message is not.</a:t>
            </a:r>
            <a:endParaRPr lang="en-US" sz="1250" noProof="1"/>
          </a:p>
        </p:txBody>
      </p:sp>
      <p:sp>
        <p:nvSpPr>
          <p:cNvPr id="13" name="Text 11"/>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07</a:t>
            </a:r>
            <a:endParaRPr lang="en-US" sz="1000" noProof="1"/>
          </a:p>
        </p:txBody>
      </p:sp>
    </p:spTree>
  </p:cSld>
  <p:clrMapOvr>
    <a:masterClrMapping/>
  </p:clrMapOvr>
  <p:transition spd="fast" advClick="1">
    <p:fade/>
  </p:transition>
</p:sld>
</file>

<file path=ppt/slides/slide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4CC9F0"/>
                </a:solidFill>
                <a:latin typeface="Calibri"/>
                <a:ea typeface="Calibri"/>
              </a:rPr>
              <a:t>THEORY  05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Finding the key length</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If the key repeats, the ciphertext repeats — and the gaps betray the period.</a:t>
            </a:r>
            <a:endParaRPr lang="en-US" sz="1400" noProof="1"/>
          </a:p>
        </p:txBody>
      </p:sp>
      <p:sp>
        <p:nvSpPr>
          <p:cNvPr id="5" name="Shape 3"/>
          <p:cNvSpPr/>
          <p:nvPr/>
        </p:nvSpPr>
        <p:spPr>
          <a:xfrm>
            <a:off x="548640" y="2148840"/>
            <a:ext cx="5577840" cy="3810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WHAT IT IS</a:t>
            </a:r>
            <a:endParaRPr lang="en-US" sz="950" noProof="1"/>
          </a:p>
        </p:txBody>
      </p:sp>
      <p:sp>
        <p:nvSpPr>
          <p:cNvPr id="7" name="Text 5"/>
          <p:cNvSpPr txBox="1"/>
          <p:nvPr/>
        </p:nvSpPr>
        <p:spPr>
          <a:xfrm>
            <a:off x="859790" y="2697480"/>
            <a:ext cx="4955540" cy="1498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When the same plaintext fragment lines up with the same part of the keyword, it encrypts to the same ciphertext fragment. Measure the distance between two such repeats and the key length must divide that distance. Do it for several repeats and the common factor stands out.</a:t>
            </a:r>
            <a:endParaRPr lang="en-US" sz="1200" noProof="1"/>
          </a:p>
        </p:txBody>
      </p:sp>
      <p:sp>
        <p:nvSpPr>
          <p:cNvPr id="8" name="Text 6"/>
          <p:cNvSpPr txBox="1"/>
          <p:nvPr/>
        </p:nvSpPr>
        <p:spPr>
          <a:xfrm>
            <a:off x="859790" y="43307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WHY IT MATTERS HERE</a:t>
            </a:r>
            <a:endParaRPr lang="en-US" sz="950" noProof="1"/>
          </a:p>
        </p:txBody>
      </p:sp>
      <p:sp>
        <p:nvSpPr>
          <p:cNvPr id="9" name="Text 7"/>
          <p:cNvSpPr txBox="1"/>
          <p:nvPr/>
        </p:nvSpPr>
        <p:spPr>
          <a:xfrm>
            <a:off x="859790" y="4605020"/>
            <a:ext cx="4955540" cy="12192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Once the length is known the message splits into that many independent columns, and each column is an ordinary single shift — solvable by counting letters. That turns an unbreakable-looking cipher back into one you already know how to attack.</a:t>
            </a:r>
            <a:endParaRPr lang="en-US" sz="1200" noProof="1"/>
          </a:p>
        </p:txBody>
      </p:sp>
      <p:sp>
        <p:nvSpPr>
          <p:cNvPr id="10" name="Shape 8"/>
          <p:cNvSpPr/>
          <p:nvPr/>
        </p:nvSpPr>
        <p:spPr>
          <a:xfrm>
            <a:off x="6383020" y="2148840"/>
            <a:ext cx="5260340" cy="3810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the same fragment, appearing twice</a:t>
            </a:r>
            <a:endParaRPr lang="en-US" sz="1050" noProof="1"/>
          </a:p>
          <a:p>
            <a:pPr algn="l" marL="0">
              <a:lnSpc>
                <a:spcPct val="112000"/>
              </a:lnSpc>
            </a:pPr>
            <a:r>
              <a:rPr lang="en-US" sz="1050" noProof="1">
                <a:solidFill>
                  <a:srgbClr val="F4F6FB"/>
                </a:solidFill>
                <a:latin typeface="Courier New"/>
                <a:ea typeface="Courier New"/>
              </a:rPr>
              <a:t>....WXZ..........WXZ.......</a:t>
            </a:r>
            <a:endParaRPr lang="en-US" sz="1050" noProof="1"/>
          </a:p>
          <a:p>
            <a:pPr algn="l" marL="0">
              <a:lnSpc>
                <a:spcPct val="112000"/>
              </a:lnSpc>
            </a:pPr>
            <a:r>
              <a:rPr lang="en-US" sz="1050" noProof="1">
                <a:solidFill>
                  <a:srgbClr val="F4F6FB"/>
                </a:solidFill>
                <a:latin typeface="Courier New"/>
                <a:ea typeface="Courier New"/>
              </a:rPr>
              <a:t>    ^            ^</a:t>
            </a:r>
            <a:endParaRPr lang="en-US" sz="1050" noProof="1"/>
          </a:p>
          <a:p>
            <a:pPr algn="l" marL="0">
              <a:lnSpc>
                <a:spcPct val="112000"/>
              </a:lnSpc>
            </a:pPr>
            <a:r>
              <a:rPr lang="en-US" sz="1050" noProof="1">
                <a:solidFill>
                  <a:srgbClr val="F4F6FB"/>
                </a:solidFill>
                <a:latin typeface="Courier New"/>
                <a:ea typeface="Courier New"/>
              </a:rPr>
              <a:t>    position 4   position 20</a:t>
            </a:r>
            <a:endParaRPr lang="en-US" sz="1050" noProof="1"/>
          </a:p>
          <a:p>
            <a:pPr algn="l" marL="0">
              <a:lnSpc>
                <a:spcPct val="112000"/>
              </a:lnSpc>
            </a:pPr>
            <a:r>
              <a:rPr lang="en-US" sz="1050" noProof="1">
                <a:solidFill>
                  <a:srgbClr val="F4F6FB"/>
                </a:solidFill>
                <a:latin typeface="Courier New"/>
                <a:ea typeface="Courier New"/>
              </a:rPr>
              <a:t>    distance = 16</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another pair, distance 24</a:t>
            </a:r>
            <a:endParaRPr lang="en-US" sz="1050" noProof="1"/>
          </a:p>
          <a:p>
            <a:pPr algn="l" marL="0">
              <a:lnSpc>
                <a:spcPct val="112000"/>
              </a:lnSpc>
            </a:pPr>
            <a:r>
              <a:rPr lang="en-US" sz="1050" noProof="1" i="1">
                <a:solidFill>
                  <a:srgbClr val="8FA3C8"/>
                </a:solidFill>
                <a:latin typeface="Courier New"/>
                <a:ea typeface="Courier New"/>
              </a:rPr>
              <a:t>common factors of 16 and 24: 2, 4, 8</a:t>
            </a:r>
            <a:endParaRPr lang="en-US" sz="1050" noProof="1"/>
          </a:p>
          <a:p>
            <a:pPr algn="l" marL="0">
              <a:lnSpc>
                <a:spcPct val="112000"/>
              </a:lnSpc>
            </a:pPr>
            <a:r>
              <a:rPr lang="en-US" sz="1050" noProof="1" i="1">
                <a:solidFill>
                  <a:srgbClr val="8FA3C8"/>
                </a:solidFill>
                <a:latin typeface="Courier New"/>
                <a:ea typeface="Courier New"/>
              </a:rPr>
              <a:t>so the key is probably 4 or 8 long</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then split into that many columns</a:t>
            </a:r>
            <a:endParaRPr lang="en-US" sz="1050" noProof="1"/>
          </a:p>
          <a:p>
            <a:pPr algn="l" marL="0">
              <a:lnSpc>
                <a:spcPct val="112000"/>
              </a:lnSpc>
            </a:pPr>
            <a:r>
              <a:rPr lang="en-US" sz="1050" noProof="1" i="1">
                <a:solidFill>
                  <a:srgbClr val="8FA3C8"/>
                </a:solidFill>
                <a:latin typeface="Courier New"/>
                <a:ea typeface="Courier New"/>
              </a:rPr>
              <a:t>each column is one simple shift</a:t>
            </a:r>
            <a:endParaRPr lang="en-US" sz="1050" noProof="1"/>
          </a:p>
        </p:txBody>
      </p:sp>
      <p:sp>
        <p:nvSpPr>
          <p:cNvPr id="12" name="Text 10"/>
          <p:cNvSpPr txBox="1"/>
          <p:nvPr/>
        </p:nvSpPr>
        <p:spPr>
          <a:xfrm>
            <a:off x="548640" y="61087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4CC9F0"/>
                </a:solidFill>
                <a:latin typeface="Calibri"/>
                <a:ea typeface="Calibri"/>
              </a:rPr>
              <a:t>Two techniques, in order: find the period, then count the letters.</a:t>
            </a:r>
            <a:endParaRPr lang="en-US" sz="1250" noProof="1"/>
          </a:p>
        </p:txBody>
      </p:sp>
      <p:sp>
        <p:nvSpPr>
          <p:cNvPr id="13" name="Text 11"/>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08</a:t>
            </a:r>
            <a:endParaRPr lang="en-US" sz="1000" noProof="1"/>
          </a:p>
        </p:txBody>
      </p:sp>
    </p:spTree>
  </p:cSld>
  <p:clrMapOvr>
    <a:masterClrMapping/>
  </p:clrMapOvr>
  <p:transition spd="fast" advClick="1">
    <p:fade/>
  </p:transition>
</p:sld>
</file>

<file path=ppt/slides/slide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4CC9F0"/>
                </a:solidFill>
                <a:latin typeface="Calibri"/>
                <a:ea typeface="Calibri"/>
              </a:rPr>
              <a:t>THEORY  06 / 06</a:t>
            </a:r>
            <a:endParaRPr lang="en-US" sz="1100" noProof="1"/>
          </a:p>
        </p:txBody>
      </p:sp>
      <p:sp>
        <p:nvSpPr>
          <p:cNvPr id="3"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Stream ciphers and XOR</a:t>
            </a:r>
            <a:endParaRPr lang="en-US" sz="3200" noProof="1"/>
          </a:p>
        </p:txBody>
      </p:sp>
      <p:sp>
        <p:nvSpPr>
          <p:cNvPr id="4"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Generate a long key rather than writing one down, and combine bit by bit.</a:t>
            </a:r>
            <a:endParaRPr lang="en-US" sz="1400" noProof="1"/>
          </a:p>
        </p:txBody>
      </p:sp>
      <p:sp>
        <p:nvSpPr>
          <p:cNvPr id="5" name="Shape 3"/>
          <p:cNvSpPr/>
          <p:nvPr/>
        </p:nvSpPr>
        <p:spPr>
          <a:xfrm>
            <a:off x="548640" y="2148840"/>
            <a:ext cx="5577840" cy="3810000"/>
          </a:xfrm>
          <a:prstGeom prst="roundRect">
            <a:avLst>
              <a:gd name="adj" fmla="val 2632"/>
            </a:avLst>
          </a:prstGeom>
          <a:solidFill>
            <a:srgbClr val="141F30"/>
          </a:solidFill>
          <a:ln>
            <a:noFill/>
          </a:ln>
        </p:spPr>
      </p:sp>
      <p:sp>
        <p:nvSpPr>
          <p:cNvPr id="6" name="Text 4"/>
          <p:cNvSpPr txBox="1"/>
          <p:nvPr/>
        </p:nvSpPr>
        <p:spPr>
          <a:xfrm>
            <a:off x="859790" y="242316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WHAT IT IS</a:t>
            </a:r>
            <a:endParaRPr lang="en-US" sz="950" noProof="1"/>
          </a:p>
        </p:txBody>
      </p:sp>
      <p:sp>
        <p:nvSpPr>
          <p:cNvPr id="7" name="Text 5"/>
          <p:cNvSpPr txBox="1"/>
          <p:nvPr/>
        </p:nvSpPr>
        <p:spPr>
          <a:xfrm>
            <a:off x="859790" y="2697480"/>
            <a:ext cx="4955540" cy="14986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A stream cipher produces a keystream from a small seed and combines it with the message using XOR, an operation that is its own inverse — so the identical process both encrypts and decrypts. The generator is deterministic: the same seed always produces the same keystream.</a:t>
            </a:r>
            <a:endParaRPr lang="en-US" sz="1200" noProof="1"/>
          </a:p>
        </p:txBody>
      </p:sp>
      <p:sp>
        <p:nvSpPr>
          <p:cNvPr id="8" name="Text 6"/>
          <p:cNvSpPr txBox="1"/>
          <p:nvPr/>
        </p:nvSpPr>
        <p:spPr>
          <a:xfrm>
            <a:off x="859790" y="433070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WHY IT MATTERS HERE</a:t>
            </a:r>
            <a:endParaRPr lang="en-US" sz="950" noProof="1"/>
          </a:p>
        </p:txBody>
      </p:sp>
      <p:sp>
        <p:nvSpPr>
          <p:cNvPr id="9" name="Text 7"/>
          <p:cNvSpPr txBox="1"/>
          <p:nvPr/>
        </p:nvSpPr>
        <p:spPr>
          <a:xfrm>
            <a:off x="859790" y="4605020"/>
            <a:ext cx="4955540" cy="1219200"/>
          </a:xfrm>
          <a:prstGeom prst="rect">
            <a:avLst/>
          </a:prstGeom>
          <a:noFill/>
          <a:ln>
            <a:noFill/>
          </a:ln>
        </p:spPr>
        <p:txBody>
          <a:bodyPr lIns="0" rIns="0" tIns="0" bIns="0" wrap="square" rtlCol="0" anchor="t"/>
          <a:lstStyle/>
          <a:p>
            <a:pPr algn="l" marL="0">
              <a:lnSpc>
                <a:spcPct val="120000"/>
              </a:lnSpc>
            </a:pPr>
            <a:r>
              <a:rPr lang="en-US" sz="1200" noProof="1">
                <a:solidFill>
                  <a:srgbClr val="B8C7E4"/>
                </a:solidFill>
                <a:latin typeface="Calibri"/>
                <a:ea typeface="Calibri"/>
              </a:rPr>
              <a:t>This is where the classical era ends and the modern one starts. Security no longer rests on keeping a rule hidden. It rests on the keystream being long, non-repeating, and impossible to predict from any piece of it you see.</a:t>
            </a:r>
            <a:endParaRPr lang="en-US" sz="1200" noProof="1"/>
          </a:p>
        </p:txBody>
      </p:sp>
      <p:sp>
        <p:nvSpPr>
          <p:cNvPr id="10" name="Shape 8"/>
          <p:cNvSpPr/>
          <p:nvPr/>
        </p:nvSpPr>
        <p:spPr>
          <a:xfrm>
            <a:off x="6383020" y="2148840"/>
            <a:ext cx="5260340" cy="3810000"/>
          </a:xfrm>
          <a:prstGeom prst="roundRect">
            <a:avLst>
              <a:gd name="adj" fmla="val 2632"/>
            </a:avLst>
          </a:prstGeom>
          <a:solidFill>
            <a:srgbClr val="141F30"/>
          </a:solidFill>
          <a:ln>
            <a:noFill/>
          </a:ln>
        </p:spPr>
      </p:sp>
      <p:sp>
        <p:nvSpPr>
          <p:cNvPr id="11" name="Text 9"/>
          <p:cNvSpPr txBox="1"/>
          <p:nvPr/>
        </p:nvSpPr>
        <p:spPr>
          <a:xfrm>
            <a:off x="6657340" y="2405380"/>
            <a:ext cx="4711700" cy="3175000"/>
          </a:xfrm>
          <a:prstGeom prst="rect">
            <a:avLst/>
          </a:prstGeom>
          <a:noFill/>
          <a:ln>
            <a:noFill/>
          </a:ln>
        </p:spPr>
        <p:txBody>
          <a:bodyPr lIns="0" rIns="0" tIns="0" bIns="0" wrap="square" rtlCol="0" anchor="t"/>
          <a:lstStyle/>
          <a:p>
            <a:pPr algn="l" marL="0">
              <a:lnSpc>
                <a:spcPct val="112000"/>
              </a:lnSpc>
            </a:pPr>
            <a:r>
              <a:rPr lang="en-US" sz="1050" noProof="1" i="1">
                <a:solidFill>
                  <a:srgbClr val="8FA3C8"/>
                </a:solidFill>
                <a:latin typeface="Courier New"/>
                <a:ea typeface="Courier New"/>
              </a:rPr>
              <a:t>XOR applied twice returns the original</a:t>
            </a:r>
            <a:endParaRPr lang="en-US" sz="1050" noProof="1"/>
          </a:p>
          <a:p>
            <a:pPr algn="l" marL="0">
              <a:lnSpc>
                <a:spcPct val="112000"/>
              </a:lnSpc>
            </a:pPr>
            <a:r>
              <a:rPr lang="en-US" sz="1050" noProof="1">
                <a:solidFill>
                  <a:srgbClr val="F4F6FB"/>
                </a:solidFill>
                <a:latin typeface="Courier New"/>
                <a:ea typeface="Courier New"/>
              </a:rPr>
              <a:t>message    1 0 1 1 0 0 1 0</a:t>
            </a:r>
            <a:endParaRPr lang="en-US" sz="1050" noProof="1"/>
          </a:p>
          <a:p>
            <a:pPr algn="l" marL="0">
              <a:lnSpc>
                <a:spcPct val="112000"/>
              </a:lnSpc>
            </a:pPr>
            <a:r>
              <a:rPr lang="en-US" sz="1050" noProof="1">
                <a:solidFill>
                  <a:srgbClr val="F4F6FB"/>
                </a:solidFill>
                <a:latin typeface="Courier New"/>
                <a:ea typeface="Courier New"/>
              </a:rPr>
              <a:t>keystream  1 1 0 1 0 1 1 0</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a:solidFill>
                  <a:srgbClr val="F4F6FB"/>
                </a:solidFill>
                <a:latin typeface="Courier New"/>
                <a:ea typeface="Courier New"/>
              </a:rPr>
              <a:t>cipher     0 1 1 0 0 1 0 0</a:t>
            </a:r>
            <a:endParaRPr lang="en-US" sz="1050" noProof="1"/>
          </a:p>
          <a:p>
            <a:pPr algn="l" marL="0">
              <a:lnSpc>
                <a:spcPct val="112000"/>
              </a:lnSpc>
            </a:pPr>
            <a:r>
              <a:rPr lang="en-US" sz="1050" noProof="1">
                <a:solidFill>
                  <a:srgbClr val="F4F6FB"/>
                </a:solidFill>
                <a:latin typeface="Courier New"/>
                <a:ea typeface="Courier New"/>
              </a:rPr>
              <a:t>keystream  1 1 0 1 0 1 1 0</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a:solidFill>
                  <a:srgbClr val="F4F6FB"/>
                </a:solidFill>
                <a:latin typeface="Courier New"/>
                <a:ea typeface="Courier New"/>
              </a:rPr>
              <a:t>message    1 0 1 1 0 0 1 0   &lt;- back again</a:t>
            </a:r>
            <a:endParaRPr lang="en-US" sz="1050" noProof="1"/>
          </a:p>
          <a:p>
            <a:pPr algn="l" marL="0">
              <a:lnSpc>
                <a:spcPct val="112000"/>
              </a:lnSpc>
            </a:pPr>
            <a:r>
              <a:rPr lang="en-US" sz="1050" noProof="1">
                <a:solidFill>
                  <a:srgbClr val="F4F6FB"/>
                </a:solidFill>
                <a:latin typeface="Courier New"/>
                <a:ea typeface="Courier New"/>
              </a:rPr>
              <a:t> </a:t>
            </a:r>
            <a:endParaRPr lang="en-US" sz="1050" noProof="1"/>
          </a:p>
          <a:p>
            <a:pPr algn="l" marL="0">
              <a:lnSpc>
                <a:spcPct val="112000"/>
              </a:lnSpc>
            </a:pPr>
            <a:r>
              <a:rPr lang="en-US" sz="1050" noProof="1" i="1">
                <a:solidFill>
                  <a:srgbClr val="8FA3C8"/>
                </a:solidFill>
                <a:latin typeface="Courier New"/>
                <a:ea typeface="Courier New"/>
              </a:rPr>
              <a:t>the rule is simply:</a:t>
            </a:r>
            <a:endParaRPr lang="en-US" sz="1050" noProof="1"/>
          </a:p>
          <a:p>
            <a:pPr algn="l" marL="0">
              <a:lnSpc>
                <a:spcPct val="112000"/>
              </a:lnSpc>
            </a:pPr>
            <a:r>
              <a:rPr lang="en-US" sz="1050" noProof="1" i="1">
                <a:solidFill>
                  <a:srgbClr val="8FA3C8"/>
                </a:solidFill>
                <a:latin typeface="Courier New"/>
                <a:ea typeface="Courier New"/>
              </a:rPr>
              <a:t>same bits -&gt; 0 , different bits -&gt; 1</a:t>
            </a:r>
            <a:endParaRPr lang="en-US" sz="1050" noProof="1"/>
          </a:p>
        </p:txBody>
      </p:sp>
      <p:sp>
        <p:nvSpPr>
          <p:cNvPr id="12" name="Text 10"/>
          <p:cNvSpPr txBox="1"/>
          <p:nvPr/>
        </p:nvSpPr>
        <p:spPr>
          <a:xfrm>
            <a:off x="548640" y="610870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4CC9F0"/>
                </a:solidFill>
                <a:latin typeface="Calibri"/>
                <a:ea typeface="Calibri"/>
              </a:rPr>
              <a:t>Encrypting and decrypting stop being opposites. They become the same act.</a:t>
            </a:r>
            <a:endParaRPr lang="en-US" sz="1250" noProof="1"/>
          </a:p>
        </p:txBody>
      </p:sp>
      <p:sp>
        <p:nvSpPr>
          <p:cNvPr id="13" name="Text 11"/>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14" name="Text 12"/>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09</a:t>
            </a:r>
            <a:endParaRPr lang="en-US" sz="1000" noProof="1"/>
          </a:p>
        </p:txBody>
      </p:sp>
    </p:spTree>
  </p:cSld>
  <p:clrMapOvr>
    <a:masterClrMapping/>
  </p:clrMapOvr>
  <p:transition spd="fast" advClick="1">
    <p:fade/>
  </p:transition>
</p:sld>
</file>

<file path=ppt/slides/slide1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pic>
        <p:nvPicPr>
          <p:cNvPr id="2" name="Image 0"/>
          <p:cNvPicPr/>
          <p:nvPr/>
        </p:nvPicPr>
        <p:blipFill>
          <a:blip r:embed="rId2">
            <a:alphaModFix amt="28000"/>
          </a:blip>
          <a:stretch>
            <a:fillRect/>
          </a:stretch>
        </p:blipFill>
        <p:spPr>
          <a:xfrm>
            <a:off x="8549640" y="109220"/>
            <a:ext cx="3291840" cy="1902460"/>
          </a:xfrm>
          <a:prstGeom prst="rect">
            <a:avLst/>
          </a:prstGeom>
          <a:ln>
            <a:noFill/>
          </a:ln>
        </p:spPr>
      </p:pic>
      <p:sp>
        <p:nvSpPr>
          <p:cNvPr id="3"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4CC9F0"/>
                </a:solidFill>
                <a:latin typeface="Calibri"/>
                <a:ea typeface="Calibri"/>
              </a:rPr>
              <a:t>GETTING IN</a:t>
            </a:r>
            <a:endParaRPr lang="en-US" sz="1100" noProof="1"/>
          </a:p>
        </p:txBody>
      </p:sp>
      <p:sp>
        <p:nvSpPr>
          <p:cNvPr id="4"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You connect with SSH</a:t>
            </a:r>
            <a:endParaRPr lang="en-US" sz="3200" noProof="1"/>
          </a:p>
        </p:txBody>
      </p:sp>
      <p:sp>
        <p:nvSpPr>
          <p:cNvPr id="5"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Same as Bandit: a host, a port, and your own terminal. If you've already played Bandit, you already know this part.</a:t>
            </a:r>
            <a:endParaRPr lang="en-US" sz="1400" noProof="1"/>
          </a:p>
        </p:txBody>
      </p:sp>
      <p:sp>
        <p:nvSpPr>
          <p:cNvPr id="6" name="Shape 3"/>
          <p:cNvSpPr/>
          <p:nvPr/>
        </p:nvSpPr>
        <p:spPr>
          <a:xfrm>
            <a:off x="548640" y="2148840"/>
            <a:ext cx="5577840" cy="3126740"/>
          </a:xfrm>
          <a:prstGeom prst="roundRect">
            <a:avLst>
              <a:gd name="adj" fmla="val 2632"/>
            </a:avLst>
          </a:prstGeom>
          <a:solidFill>
            <a:srgbClr val="141F30"/>
          </a:solidFill>
          <a:ln>
            <a:noFill/>
          </a:ln>
        </p:spPr>
      </p:sp>
      <p:sp>
        <p:nvSpPr>
          <p:cNvPr id="7" name="Text 4"/>
          <p:cNvSpPr txBox="1"/>
          <p:nvPr/>
        </p:nvSpPr>
        <p:spPr>
          <a:xfrm>
            <a:off x="859790" y="2405380"/>
            <a:ext cx="495554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STEP BY STEP</a:t>
            </a:r>
            <a:endParaRPr lang="en-US" sz="950" noProof="1"/>
          </a:p>
        </p:txBody>
      </p:sp>
      <p:sp>
        <p:nvSpPr>
          <p:cNvPr id="8" name="Text 5"/>
          <p:cNvSpPr txBox="1"/>
          <p:nvPr/>
        </p:nvSpPr>
        <p:spPr>
          <a:xfrm>
            <a:off x="859790" y="277114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4CC9F0"/>
                </a:solidFill>
                <a:latin typeface="Cambria"/>
                <a:ea typeface="Cambria"/>
              </a:rPr>
              <a:t>1</a:t>
            </a:r>
            <a:endParaRPr lang="en-US" sz="1600" noProof="1"/>
          </a:p>
        </p:txBody>
      </p:sp>
      <p:sp>
        <p:nvSpPr>
          <p:cNvPr id="9" name="Text 6"/>
          <p:cNvSpPr txBox="1"/>
          <p:nvPr/>
        </p:nvSpPr>
        <p:spPr>
          <a:xfrm>
            <a:off x="1280160" y="280670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Launch Environment</a:t>
            </a:r>
            <a:endParaRPr lang="en-US" sz="1250" noProof="1"/>
          </a:p>
        </p:txBody>
      </p:sp>
      <p:sp>
        <p:nvSpPr>
          <p:cNvPr id="10" name="Text 7"/>
          <p:cNvSpPr txBox="1"/>
          <p:nvPr/>
        </p:nvSpPr>
        <p:spPr>
          <a:xfrm>
            <a:off x="1280160" y="304546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On any Krypton challenge. Wait for the host and port.</a:t>
            </a:r>
            <a:endParaRPr lang="en-US" sz="1100" noProof="1"/>
          </a:p>
        </p:txBody>
      </p:sp>
      <p:sp>
        <p:nvSpPr>
          <p:cNvPr id="11" name="Text 8"/>
          <p:cNvSpPr txBox="1"/>
          <p:nvPr/>
        </p:nvSpPr>
        <p:spPr>
          <a:xfrm>
            <a:off x="859790" y="339217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4CC9F0"/>
                </a:solidFill>
                <a:latin typeface="Cambria"/>
                <a:ea typeface="Cambria"/>
              </a:rPr>
              <a:t>2</a:t>
            </a:r>
            <a:endParaRPr lang="en-US" sz="1600" noProof="1"/>
          </a:p>
        </p:txBody>
      </p:sp>
      <p:sp>
        <p:nvSpPr>
          <p:cNvPr id="12" name="Text 9"/>
          <p:cNvSpPr txBox="1"/>
          <p:nvPr/>
        </p:nvSpPr>
        <p:spPr>
          <a:xfrm>
            <a:off x="1280160" y="342900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SSH in</a:t>
            </a:r>
            <a:endParaRPr lang="en-US" sz="1250" noProof="1"/>
          </a:p>
        </p:txBody>
      </p:sp>
      <p:sp>
        <p:nvSpPr>
          <p:cNvPr id="13" name="Text 10"/>
          <p:cNvSpPr txBox="1"/>
          <p:nvPr/>
        </p:nvSpPr>
        <p:spPr>
          <a:xfrm>
            <a:off x="1280160" y="366649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Same idea: the previous level's password is this login.</a:t>
            </a:r>
            <a:endParaRPr lang="en-US" sz="1100" noProof="1"/>
          </a:p>
        </p:txBody>
      </p:sp>
      <p:sp>
        <p:nvSpPr>
          <p:cNvPr id="14" name="Text 11"/>
          <p:cNvSpPr txBox="1"/>
          <p:nvPr/>
        </p:nvSpPr>
        <p:spPr>
          <a:xfrm>
            <a:off x="859790" y="401447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4CC9F0"/>
                </a:solidFill>
                <a:latin typeface="Cambria"/>
                <a:ea typeface="Cambria"/>
              </a:rPr>
              <a:t>3</a:t>
            </a:r>
            <a:endParaRPr lang="en-US" sz="1600" noProof="1"/>
          </a:p>
        </p:txBody>
      </p:sp>
      <p:sp>
        <p:nvSpPr>
          <p:cNvPr id="15" name="Text 12"/>
          <p:cNvSpPr txBox="1"/>
          <p:nvPr/>
        </p:nvSpPr>
        <p:spPr>
          <a:xfrm>
            <a:off x="1280160" y="405130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Break the cipher</a:t>
            </a:r>
            <a:endParaRPr lang="en-US" sz="1250" noProof="1"/>
          </a:p>
        </p:txBody>
      </p:sp>
      <p:sp>
        <p:nvSpPr>
          <p:cNvPr id="16" name="Text 13"/>
          <p:cNvSpPr txBox="1"/>
          <p:nvPr/>
        </p:nvSpPr>
        <p:spPr>
          <a:xfrm>
            <a:off x="1280160" y="428879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Everything you need is in the level's own directory.</a:t>
            </a:r>
            <a:endParaRPr lang="en-US" sz="1100" noProof="1"/>
          </a:p>
        </p:txBody>
      </p:sp>
      <p:sp>
        <p:nvSpPr>
          <p:cNvPr id="17" name="Text 14"/>
          <p:cNvSpPr txBox="1"/>
          <p:nvPr/>
        </p:nvSpPr>
        <p:spPr>
          <a:xfrm>
            <a:off x="859790" y="4635500"/>
            <a:ext cx="365760" cy="622300"/>
          </a:xfrm>
          <a:prstGeom prst="rect">
            <a:avLst/>
          </a:prstGeom>
          <a:noFill/>
          <a:ln>
            <a:noFill/>
          </a:ln>
        </p:spPr>
        <p:txBody>
          <a:bodyPr lIns="0" rIns="0" tIns="0" bIns="0" wrap="square" rtlCol="0" anchor="ctr"/>
          <a:lstStyle/>
          <a:p>
            <a:pPr algn="l" marL="0">
              <a:lnSpc>
                <a:spcPct val="120000"/>
              </a:lnSpc>
            </a:pPr>
            <a:r>
              <a:rPr lang="en-US" sz="1600" noProof="1" b="1">
                <a:solidFill>
                  <a:srgbClr val="4CC9F0"/>
                </a:solidFill>
                <a:latin typeface="Cambria"/>
                <a:ea typeface="Cambria"/>
              </a:rPr>
              <a:t>4</a:t>
            </a:r>
            <a:endParaRPr lang="en-US" sz="1600" noProof="1"/>
          </a:p>
        </p:txBody>
      </p:sp>
      <p:sp>
        <p:nvSpPr>
          <p:cNvPr id="18" name="Text 15"/>
          <p:cNvSpPr txBox="1"/>
          <p:nvPr/>
        </p:nvSpPr>
        <p:spPr>
          <a:xfrm>
            <a:off x="1280160" y="4672330"/>
            <a:ext cx="448056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Submit the flag</a:t>
            </a:r>
            <a:endParaRPr lang="en-US" sz="1250" noProof="1"/>
          </a:p>
        </p:txBody>
      </p:sp>
      <p:sp>
        <p:nvSpPr>
          <p:cNvPr id="19" name="Text 16"/>
          <p:cNvSpPr txBox="1"/>
          <p:nvPr/>
        </p:nvSpPr>
        <p:spPr>
          <a:xfrm>
            <a:off x="1280160" y="4909820"/>
            <a:ext cx="4480560" cy="27432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The recovered password is both the flag and your next login.</a:t>
            </a:r>
            <a:endParaRPr lang="en-US" sz="1100" noProof="1"/>
          </a:p>
        </p:txBody>
      </p:sp>
      <p:sp>
        <p:nvSpPr>
          <p:cNvPr id="20" name="Shape 17"/>
          <p:cNvSpPr/>
          <p:nvPr/>
        </p:nvSpPr>
        <p:spPr>
          <a:xfrm>
            <a:off x="6383020" y="2148840"/>
            <a:ext cx="5260340" cy="3126740"/>
          </a:xfrm>
          <a:prstGeom prst="roundRect">
            <a:avLst>
              <a:gd name="adj" fmla="val 2632"/>
            </a:avLst>
          </a:prstGeom>
          <a:solidFill>
            <a:srgbClr val="141F30"/>
          </a:solidFill>
          <a:ln>
            <a:noFill/>
          </a:ln>
        </p:spPr>
      </p:sp>
      <p:sp>
        <p:nvSpPr>
          <p:cNvPr id="21" name="Text 18"/>
          <p:cNvSpPr txBox="1"/>
          <p:nvPr/>
        </p:nvSpPr>
        <p:spPr>
          <a:xfrm>
            <a:off x="6657340" y="2405380"/>
            <a:ext cx="4711700" cy="237490"/>
          </a:xfrm>
          <a:prstGeom prst="rect">
            <a:avLst/>
          </a:prstGeom>
          <a:noFill/>
          <a:ln>
            <a:noFill/>
          </a:ln>
        </p:spPr>
        <p:txBody>
          <a:bodyPr lIns="0" rIns="0" tIns="0" bIns="0" wrap="square" rtlCol="0" anchor="ctr"/>
          <a:lstStyle/>
          <a:p>
            <a:pPr algn="l" marL="0">
              <a:lnSpc>
                <a:spcPct val="120000"/>
              </a:lnSpc>
            </a:pPr>
            <a:r>
              <a:rPr lang="en-US" sz="950" noProof="1" b="1" spc="110" kern="0">
                <a:solidFill>
                  <a:srgbClr val="4CC9F0"/>
                </a:solidFill>
                <a:latin typeface="Calibri"/>
                <a:ea typeface="Calibri"/>
              </a:rPr>
              <a:t>THE LAUNCH PANEL</a:t>
            </a:r>
            <a:endParaRPr lang="en-US" sz="950" noProof="1"/>
          </a:p>
        </p:txBody>
      </p:sp>
      <p:sp>
        <p:nvSpPr>
          <p:cNvPr id="22" name="Shape 19"/>
          <p:cNvSpPr/>
          <p:nvPr/>
        </p:nvSpPr>
        <p:spPr>
          <a:xfrm>
            <a:off x="6657340" y="2843530"/>
            <a:ext cx="402590" cy="402590"/>
          </a:xfrm>
          <a:prstGeom prst="ellipse">
            <a:avLst/>
          </a:prstGeom>
          <a:solidFill>
            <a:srgbClr val="4CC9F0"/>
          </a:solidFill>
          <a:ln>
            <a:noFill/>
          </a:ln>
        </p:spPr>
      </p:sp>
      <p:pic>
        <p:nvPicPr>
          <p:cNvPr id="23" name="Image 1"/>
          <p:cNvPicPr/>
          <p:nvPr/>
        </p:nvPicPr>
        <p:blipFill>
          <a:blip r:embed="rId3"/>
          <a:stretch>
            <a:fillRect/>
          </a:stretch>
        </p:blipFill>
        <p:spPr>
          <a:xfrm>
            <a:off x="6761480" y="2948940"/>
            <a:ext cx="193040" cy="193040"/>
          </a:xfrm>
          <a:prstGeom prst="rect">
            <a:avLst/>
          </a:prstGeom>
          <a:ln>
            <a:noFill/>
          </a:ln>
        </p:spPr>
      </p:pic>
      <p:sp>
        <p:nvSpPr>
          <p:cNvPr id="24" name="Text 20"/>
          <p:cNvSpPr txBox="1"/>
          <p:nvPr/>
        </p:nvSpPr>
        <p:spPr>
          <a:xfrm>
            <a:off x="7223760" y="278892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Launch Environment</a:t>
            </a:r>
            <a:endParaRPr lang="en-US" sz="1250" noProof="1"/>
          </a:p>
        </p:txBody>
      </p:sp>
      <p:sp>
        <p:nvSpPr>
          <p:cNvPr id="25" name="Text 21"/>
          <p:cNvSpPr txBox="1"/>
          <p:nvPr/>
        </p:nvSpPr>
        <p:spPr>
          <a:xfrm>
            <a:off x="7223760" y="302641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Starts your box, or reconnects you to one already running.</a:t>
            </a:r>
            <a:endParaRPr lang="en-US" sz="1100" noProof="1"/>
          </a:p>
        </p:txBody>
      </p:sp>
      <p:sp>
        <p:nvSpPr>
          <p:cNvPr id="26" name="Shape 22"/>
          <p:cNvSpPr/>
          <p:nvPr/>
        </p:nvSpPr>
        <p:spPr>
          <a:xfrm>
            <a:off x="6657340" y="3465830"/>
            <a:ext cx="402590" cy="402590"/>
          </a:xfrm>
          <a:prstGeom prst="ellipse">
            <a:avLst/>
          </a:prstGeom>
          <a:solidFill>
            <a:srgbClr val="4CC9F0"/>
          </a:solidFill>
          <a:ln>
            <a:noFill/>
          </a:ln>
        </p:spPr>
      </p:sp>
      <p:pic>
        <p:nvPicPr>
          <p:cNvPr id="27" name="Image 2"/>
          <p:cNvPicPr/>
          <p:nvPr/>
        </p:nvPicPr>
        <p:blipFill>
          <a:blip r:embed="rId4"/>
          <a:stretch>
            <a:fillRect/>
          </a:stretch>
        </p:blipFill>
        <p:spPr>
          <a:xfrm>
            <a:off x="6761480" y="3569970"/>
            <a:ext cx="193040" cy="193040"/>
          </a:xfrm>
          <a:prstGeom prst="rect">
            <a:avLst/>
          </a:prstGeom>
          <a:ln>
            <a:noFill/>
          </a:ln>
        </p:spPr>
      </p:pic>
      <p:sp>
        <p:nvSpPr>
          <p:cNvPr id="28" name="Text 23"/>
          <p:cNvSpPr txBox="1"/>
          <p:nvPr/>
        </p:nvSpPr>
        <p:spPr>
          <a:xfrm>
            <a:off x="7223760" y="341122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Reboot Host</a:t>
            </a:r>
            <a:endParaRPr lang="en-US" sz="1250" noProof="1"/>
          </a:p>
        </p:txBody>
      </p:sp>
      <p:sp>
        <p:nvSpPr>
          <p:cNvPr id="29" name="Text 24"/>
          <p:cNvSpPr txBox="1"/>
          <p:nvPr/>
        </p:nvSpPr>
        <p:spPr>
          <a:xfrm>
            <a:off x="7223760" y="364871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Restarts it in place. Same connection details afterward.</a:t>
            </a:r>
            <a:endParaRPr lang="en-US" sz="1100" noProof="1"/>
          </a:p>
        </p:txBody>
      </p:sp>
      <p:sp>
        <p:nvSpPr>
          <p:cNvPr id="30" name="Shape 25"/>
          <p:cNvSpPr/>
          <p:nvPr/>
        </p:nvSpPr>
        <p:spPr>
          <a:xfrm>
            <a:off x="6657340" y="4086860"/>
            <a:ext cx="402590" cy="402590"/>
          </a:xfrm>
          <a:prstGeom prst="ellipse">
            <a:avLst/>
          </a:prstGeom>
          <a:solidFill>
            <a:srgbClr val="4CC9F0"/>
          </a:solidFill>
          <a:ln>
            <a:noFill/>
          </a:ln>
        </p:spPr>
      </p:sp>
      <p:pic>
        <p:nvPicPr>
          <p:cNvPr id="31" name="Image 3"/>
          <p:cNvPicPr/>
          <p:nvPr/>
        </p:nvPicPr>
        <p:blipFill>
          <a:blip r:embed="rId5"/>
          <a:stretch>
            <a:fillRect/>
          </a:stretch>
        </p:blipFill>
        <p:spPr>
          <a:xfrm>
            <a:off x="6761480" y="4192270"/>
            <a:ext cx="193040" cy="193040"/>
          </a:xfrm>
          <a:prstGeom prst="rect">
            <a:avLst/>
          </a:prstGeom>
          <a:ln>
            <a:noFill/>
          </a:ln>
        </p:spPr>
      </p:pic>
      <p:sp>
        <p:nvSpPr>
          <p:cNvPr id="32" name="Text 26"/>
          <p:cNvSpPr txBox="1"/>
          <p:nvPr/>
        </p:nvSpPr>
        <p:spPr>
          <a:xfrm>
            <a:off x="7223760" y="403225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Relaunch Environment</a:t>
            </a:r>
            <a:endParaRPr lang="en-US" sz="1250" noProof="1"/>
          </a:p>
        </p:txBody>
      </p:sp>
      <p:sp>
        <p:nvSpPr>
          <p:cNvPr id="33" name="Text 27"/>
          <p:cNvSpPr txBox="1"/>
          <p:nvPr/>
        </p:nvSpPr>
        <p:spPr>
          <a:xfrm>
            <a:off x="7223760" y="426974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Rebuilds from scratch. Anything you changed inside is lost.</a:t>
            </a:r>
            <a:endParaRPr lang="en-US" sz="1100" noProof="1"/>
          </a:p>
        </p:txBody>
      </p:sp>
      <p:sp>
        <p:nvSpPr>
          <p:cNvPr id="34" name="Shape 28"/>
          <p:cNvSpPr/>
          <p:nvPr/>
        </p:nvSpPr>
        <p:spPr>
          <a:xfrm>
            <a:off x="6657340" y="4709160"/>
            <a:ext cx="402590" cy="402590"/>
          </a:xfrm>
          <a:prstGeom prst="ellipse">
            <a:avLst/>
          </a:prstGeom>
          <a:solidFill>
            <a:srgbClr val="4CC9F0"/>
          </a:solidFill>
          <a:ln>
            <a:noFill/>
          </a:ln>
        </p:spPr>
      </p:sp>
      <p:pic>
        <p:nvPicPr>
          <p:cNvPr id="35" name="Image 4"/>
          <p:cNvPicPr/>
          <p:nvPr/>
        </p:nvPicPr>
        <p:blipFill>
          <a:blip r:embed="rId6"/>
          <a:stretch>
            <a:fillRect/>
          </a:stretch>
        </p:blipFill>
        <p:spPr>
          <a:xfrm>
            <a:off x="6761480" y="4813300"/>
            <a:ext cx="193040" cy="193040"/>
          </a:xfrm>
          <a:prstGeom prst="rect">
            <a:avLst/>
          </a:prstGeom>
          <a:ln>
            <a:noFill/>
          </a:ln>
        </p:spPr>
      </p:pic>
      <p:sp>
        <p:nvSpPr>
          <p:cNvPr id="36" name="Text 29"/>
          <p:cNvSpPr txBox="1"/>
          <p:nvPr/>
        </p:nvSpPr>
        <p:spPr>
          <a:xfrm>
            <a:off x="7223760" y="4654550"/>
            <a:ext cx="4117340" cy="256540"/>
          </a:xfrm>
          <a:prstGeom prst="rect">
            <a:avLst/>
          </a:prstGeom>
          <a:noFill/>
          <a:ln>
            <a:noFill/>
          </a:ln>
        </p:spPr>
        <p:txBody>
          <a:bodyPr lIns="0" rIns="0" tIns="0" bIns="0" wrap="square" rtlCol="0" anchor="ctr"/>
          <a:lstStyle/>
          <a:p>
            <a:pPr algn="l" marL="0">
              <a:lnSpc>
                <a:spcPct val="120000"/>
              </a:lnSpc>
            </a:pPr>
            <a:r>
              <a:rPr lang="en-US" sz="1250" noProof="1" b="1">
                <a:solidFill>
                  <a:srgbClr val="F4F6FB"/>
                </a:solidFill>
                <a:latin typeface="Calibri"/>
                <a:ea typeface="Calibri"/>
              </a:rPr>
              <a:t>+5 more minutes</a:t>
            </a:r>
            <a:endParaRPr lang="en-US" sz="1250" noProof="1"/>
          </a:p>
        </p:txBody>
      </p:sp>
      <p:sp>
        <p:nvSpPr>
          <p:cNvPr id="37" name="Text 30"/>
          <p:cNvSpPr txBox="1"/>
          <p:nvPr/>
        </p:nvSpPr>
        <p:spPr>
          <a:xfrm>
            <a:off x="7223760" y="4892040"/>
            <a:ext cx="4117340" cy="292100"/>
          </a:xfrm>
          <a:prstGeom prst="rect">
            <a:avLst/>
          </a:prstGeom>
          <a:noFill/>
          <a:ln>
            <a:noFill/>
          </a:ln>
        </p:spPr>
        <p:txBody>
          <a:bodyPr lIns="0" rIns="0" tIns="0" bIns="0" wrap="square" rtlCol="0" anchor="ctr"/>
          <a:lstStyle/>
          <a:p>
            <a:pPr algn="l" marL="0">
              <a:lnSpc>
                <a:spcPct val="120000"/>
              </a:lnSpc>
            </a:pPr>
            <a:r>
              <a:rPr lang="en-US" sz="1100" noProof="1">
                <a:solidFill>
                  <a:srgbClr val="B8C7E4"/>
                </a:solidFill>
                <a:latin typeface="Calibri"/>
                <a:ea typeface="Calibri"/>
              </a:rPr>
              <a:t>Appears only once the track is solved and a shutdown has started.</a:t>
            </a:r>
            <a:endParaRPr lang="en-US" sz="1100" noProof="1"/>
          </a:p>
        </p:txBody>
      </p:sp>
      <p:sp>
        <p:nvSpPr>
          <p:cNvPr id="38" name="Text 31"/>
          <p:cNvSpPr txBox="1"/>
          <p:nvPr/>
        </p:nvSpPr>
        <p:spPr>
          <a:xfrm>
            <a:off x="548640" y="553212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4CC9F0"/>
                </a:solidFill>
                <a:latin typeface="Calibri"/>
                <a:ea typeface="Calibri"/>
              </a:rPr>
              <a:t>The command-line tools you need are already installed — run krypton-tools --help on the box.</a:t>
            </a:r>
            <a:endParaRPr lang="en-US" sz="1250" noProof="1"/>
          </a:p>
        </p:txBody>
      </p:sp>
      <p:sp>
        <p:nvSpPr>
          <p:cNvPr id="39" name="Text 31b"/>
          <p:cNvSpPr txBox="1"/>
          <p:nvPr/>
        </p:nvSpPr>
        <p:spPr>
          <a:xfrm>
            <a:off x="548640" y="5897880"/>
            <a:ext cx="11094720" cy="274320"/>
          </a:xfrm>
          <a:prstGeom prst="rect">
            <a:avLst/>
          </a:prstGeom>
          <a:noFill/>
          <a:ln>
            <a:noFill/>
          </a:ln>
        </p:spPr>
        <p:txBody>
          <a:bodyPr lIns="0" rIns="0" tIns="0" bIns="0" wrap="square" rtlCol="0" anchor="ctr"/>
          <a:lstStyle/>
          <a:p>
            <a:pPr algn="l" marL="0">
              <a:lnSpc>
                <a:spcPct val="120000"/>
              </a:lnSpc>
            </a:pPr>
            <a:r>
              <a:rPr lang="en-US" sz="1050" noProof="1" b="1" spc="80" kern="0">
                <a:solidFill>
                  <a:srgbClr val="4CC9F0"/>
                </a:solidFill>
                <a:latin typeface="Calibri"/>
                <a:ea typeface="Calibri"/>
              </a:rPr>
              <a:t>Want a coach while you play? The AI Copilot track (Guide 04) is the event's one sanctioned AI helper — set it up early.</a:t>
            </a:r>
            <a:endParaRPr lang="en-US" sz="1050" noProof="1"/>
          </a:p>
        </p:txBody>
      </p:sp>
      <p:sp>
        <p:nvSpPr>
          <p:cNvPr id="40" name="Text 32"/>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41" name="Text 33"/>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10</a:t>
            </a:r>
            <a:endParaRPr lang="en-US" sz="1000" noProof="1"/>
          </a:p>
        </p:txBody>
      </p:sp>
    </p:spTree>
  </p:cSld>
  <p:clrMapOvr>
    <a:masterClrMapping/>
  </p:clrMapOvr>
  <p:transition spd="fast" advClick="1">
    <p:fade/>
  </p:transition>
</p:sld>
</file>

<file path=ppt/slides/slide1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pic>
        <p:nvPicPr>
          <p:cNvPr id="2" name="Image 0"/>
          <p:cNvPicPr/>
          <p:nvPr/>
        </p:nvPicPr>
        <p:blipFill>
          <a:blip r:embed="rId2">
            <a:alphaModFix amt="28000"/>
          </a:blip>
          <a:stretch>
            <a:fillRect/>
          </a:stretch>
        </p:blipFill>
        <p:spPr>
          <a:xfrm>
            <a:off x="8549640" y="109220"/>
            <a:ext cx="3291840" cy="1902460"/>
          </a:xfrm>
          <a:prstGeom prst="rect">
            <a:avLst/>
          </a:prstGeom>
          <a:ln>
            <a:noFill/>
          </a:ln>
        </p:spPr>
      </p:pic>
      <p:sp>
        <p:nvSpPr>
          <p:cNvPr id="3" name="Text 0"/>
          <p:cNvSpPr txBox="1"/>
          <p:nvPr/>
        </p:nvSpPr>
        <p:spPr>
          <a:xfrm>
            <a:off x="548640" y="457200"/>
            <a:ext cx="11094720" cy="274320"/>
          </a:xfrm>
          <a:prstGeom prst="rect">
            <a:avLst/>
          </a:prstGeom>
          <a:noFill/>
          <a:ln>
            <a:noFill/>
          </a:ln>
        </p:spPr>
        <p:txBody>
          <a:bodyPr lIns="0" rIns="0" tIns="0" bIns="0" wrap="square" rtlCol="0" anchor="ctr"/>
          <a:lstStyle/>
          <a:p>
            <a:pPr algn="l" marL="0">
              <a:lnSpc>
                <a:spcPct val="120000"/>
              </a:lnSpc>
            </a:pPr>
            <a:r>
              <a:rPr lang="en-US" sz="1100" noProof="1" b="1" spc="120" kern="0">
                <a:solidFill>
                  <a:srgbClr val="4CC9F0"/>
                </a:solidFill>
                <a:latin typeface="Calibri"/>
                <a:ea typeface="Calibri"/>
              </a:rPr>
              <a:t>YOUR FIRST FLAG</a:t>
            </a:r>
            <a:endParaRPr lang="en-US" sz="1100" noProof="1"/>
          </a:p>
        </p:txBody>
      </p:sp>
      <p:sp>
        <p:nvSpPr>
          <p:cNvPr id="4" name="Text 1"/>
          <p:cNvSpPr txBox="1"/>
          <p:nvPr/>
        </p:nvSpPr>
        <p:spPr>
          <a:xfrm>
            <a:off x="548640" y="749300"/>
            <a:ext cx="11094720" cy="566420"/>
          </a:xfrm>
          <a:prstGeom prst="rect">
            <a:avLst/>
          </a:prstGeom>
          <a:noFill/>
          <a:ln>
            <a:noFill/>
          </a:ln>
        </p:spPr>
        <p:txBody>
          <a:bodyPr lIns="0" rIns="0" tIns="0" bIns="0" wrap="square" rtlCol="0" anchor="ctr"/>
          <a:lstStyle/>
          <a:p>
            <a:pPr algn="l" marL="0">
              <a:lnSpc>
                <a:spcPct val="120000"/>
              </a:lnSpc>
            </a:pPr>
            <a:r>
              <a:rPr lang="en-US" sz="3200" noProof="1" b="1">
                <a:solidFill>
                  <a:srgbClr val="F4F6FB"/>
                </a:solidFill>
                <a:latin typeface="Cambria"/>
                <a:ea typeface="Cambria"/>
              </a:rPr>
              <a:t>Start Here, step by step</a:t>
            </a:r>
            <a:endParaRPr lang="en-US" sz="3200" noProof="1"/>
          </a:p>
        </p:txBody>
      </p:sp>
      <p:sp>
        <p:nvSpPr>
          <p:cNvPr id="5" name="Text 2"/>
          <p:cNvSpPr txBox="1"/>
          <p:nvPr/>
        </p:nvSpPr>
        <p:spPr>
          <a:xfrm>
            <a:off x="548640" y="1389380"/>
            <a:ext cx="9814560" cy="474980"/>
          </a:xfrm>
          <a:prstGeom prst="rect">
            <a:avLst/>
          </a:prstGeom>
          <a:noFill/>
          <a:ln>
            <a:noFill/>
          </a:ln>
        </p:spPr>
        <p:txBody>
          <a:bodyPr lIns="0" rIns="0" tIns="0" bIns="0" wrap="square" rtlCol="0" anchor="ctr"/>
          <a:lstStyle/>
          <a:p>
            <a:pPr algn="l" marL="0">
              <a:lnSpc>
                <a:spcPct val="115000"/>
              </a:lnSpc>
            </a:pPr>
            <a:r>
              <a:rPr lang="en-US" sz="1400" noProof="1">
                <a:solidFill>
                  <a:srgbClr val="B8C7E4"/>
                </a:solidFill>
                <a:latin typeface="Calibri"/>
                <a:ea typeface="Calibri"/>
              </a:rPr>
              <a:t>Ten points to confirm you can reach the box and read a file, before any cipher is involved.</a:t>
            </a:r>
            <a:endParaRPr lang="en-US" sz="1400" noProof="1"/>
          </a:p>
        </p:txBody>
      </p:sp>
      <p:sp>
        <p:nvSpPr>
          <p:cNvPr id="6" name="Shape 3"/>
          <p:cNvSpPr/>
          <p:nvPr/>
        </p:nvSpPr>
        <p:spPr>
          <a:xfrm>
            <a:off x="548640" y="2194560"/>
            <a:ext cx="2430780" cy="2788920"/>
          </a:xfrm>
          <a:prstGeom prst="roundRect">
            <a:avLst>
              <a:gd name="adj" fmla="val 3386"/>
            </a:avLst>
          </a:prstGeom>
          <a:solidFill>
            <a:srgbClr val="141F30"/>
          </a:solidFill>
          <a:ln>
            <a:noFill/>
          </a:ln>
        </p:spPr>
      </p:sp>
      <p:sp>
        <p:nvSpPr>
          <p:cNvPr id="7" name="Text 4"/>
          <p:cNvSpPr txBox="1"/>
          <p:nvPr/>
        </p:nvSpPr>
        <p:spPr>
          <a:xfrm>
            <a:off x="84074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4CC9F0"/>
                </a:solidFill>
                <a:latin typeface="Cambria"/>
                <a:ea typeface="Cambria"/>
              </a:rPr>
              <a:t>1</a:t>
            </a:r>
            <a:endParaRPr lang="en-US" sz="2600" noProof="1"/>
          </a:p>
        </p:txBody>
      </p:sp>
      <p:sp>
        <p:nvSpPr>
          <p:cNvPr id="8" name="Text 5"/>
          <p:cNvSpPr txBox="1"/>
          <p:nvPr/>
        </p:nvSpPr>
        <p:spPr>
          <a:xfrm>
            <a:off x="84074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Click Launch</a:t>
            </a:r>
            <a:endParaRPr lang="en-US" sz="1500" noProof="1"/>
          </a:p>
        </p:txBody>
      </p:sp>
      <p:sp>
        <p:nvSpPr>
          <p:cNvPr id="9" name="Text 6"/>
          <p:cNvSpPr txBox="1"/>
          <p:nvPr/>
        </p:nvSpPr>
        <p:spPr>
          <a:xfrm>
            <a:off x="84074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On the "Krypton: Start Here" challenge in CTFd.</a:t>
            </a:r>
            <a:endParaRPr lang="en-US" sz="1200" noProof="1"/>
          </a:p>
        </p:txBody>
      </p:sp>
      <p:sp>
        <p:nvSpPr>
          <p:cNvPr id="10" name="Text 7"/>
          <p:cNvSpPr txBox="1"/>
          <p:nvPr/>
        </p:nvSpPr>
        <p:spPr>
          <a:xfrm>
            <a:off x="2979420" y="3388360"/>
            <a:ext cx="457200" cy="402590"/>
          </a:xfrm>
          <a:prstGeom prst="rect">
            <a:avLst/>
          </a:prstGeom>
          <a:noFill/>
          <a:ln>
            <a:noFill/>
          </a:ln>
        </p:spPr>
        <p:txBody>
          <a:bodyPr lIns="0" rIns="0" tIns="0" bIns="0" wrap="square" rtlCol="0" anchor="ctr"/>
          <a:lstStyle/>
          <a:p>
            <a:pPr algn="ctr" marL="0">
              <a:lnSpc>
                <a:spcPct val="120000"/>
              </a:lnSpc>
            </a:pPr>
            <a:r>
              <a:rPr lang="en-US" sz="1800" noProof="1">
                <a:solidFill>
                  <a:srgbClr val="8FA3C8"/>
                </a:solidFill>
                <a:latin typeface="Calibri"/>
                <a:ea typeface="Calibri"/>
              </a:rPr>
              <a:t>→</a:t>
            </a:r>
            <a:endParaRPr lang="en-US" sz="1800" noProof="1"/>
          </a:p>
        </p:txBody>
      </p:sp>
      <p:sp>
        <p:nvSpPr>
          <p:cNvPr id="11" name="Shape 8"/>
          <p:cNvSpPr/>
          <p:nvPr/>
        </p:nvSpPr>
        <p:spPr>
          <a:xfrm>
            <a:off x="3436620" y="2194560"/>
            <a:ext cx="2430780" cy="2788920"/>
          </a:xfrm>
          <a:prstGeom prst="roundRect">
            <a:avLst>
              <a:gd name="adj" fmla="val 3386"/>
            </a:avLst>
          </a:prstGeom>
          <a:solidFill>
            <a:srgbClr val="141F30"/>
          </a:solidFill>
          <a:ln>
            <a:noFill/>
          </a:ln>
        </p:spPr>
      </p:sp>
      <p:sp>
        <p:nvSpPr>
          <p:cNvPr id="12" name="Text 9"/>
          <p:cNvSpPr txBox="1"/>
          <p:nvPr/>
        </p:nvSpPr>
        <p:spPr>
          <a:xfrm>
            <a:off x="372872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4CC9F0"/>
                </a:solidFill>
                <a:latin typeface="Cambria"/>
                <a:ea typeface="Cambria"/>
              </a:rPr>
              <a:t>2</a:t>
            </a:r>
            <a:endParaRPr lang="en-US" sz="2600" noProof="1"/>
          </a:p>
        </p:txBody>
      </p:sp>
      <p:sp>
        <p:nvSpPr>
          <p:cNvPr id="13" name="Text 10"/>
          <p:cNvSpPr txBox="1"/>
          <p:nvPr/>
        </p:nvSpPr>
        <p:spPr>
          <a:xfrm>
            <a:off x="372872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Log in</a:t>
            </a:r>
            <a:endParaRPr lang="en-US" sz="1500" noProof="1"/>
          </a:p>
        </p:txBody>
      </p:sp>
      <p:sp>
        <p:nvSpPr>
          <p:cNvPr id="14" name="Text 11"/>
          <p:cNvSpPr txBox="1"/>
          <p:nvPr/>
        </p:nvSpPr>
        <p:spPr>
          <a:xfrm>
            <a:off x="372872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Connect as krypton0 with password krypton0 — the fixed public entry account.</a:t>
            </a:r>
            <a:endParaRPr lang="en-US" sz="1200" noProof="1"/>
          </a:p>
        </p:txBody>
      </p:sp>
      <p:sp>
        <p:nvSpPr>
          <p:cNvPr id="15" name="Text 12"/>
          <p:cNvSpPr txBox="1"/>
          <p:nvPr/>
        </p:nvSpPr>
        <p:spPr>
          <a:xfrm>
            <a:off x="5867400" y="3388360"/>
            <a:ext cx="457200" cy="402590"/>
          </a:xfrm>
          <a:prstGeom prst="rect">
            <a:avLst/>
          </a:prstGeom>
          <a:noFill/>
          <a:ln>
            <a:noFill/>
          </a:ln>
        </p:spPr>
        <p:txBody>
          <a:bodyPr lIns="0" rIns="0" tIns="0" bIns="0" wrap="square" rtlCol="0" anchor="ctr"/>
          <a:lstStyle/>
          <a:p>
            <a:pPr algn="ctr" marL="0">
              <a:lnSpc>
                <a:spcPct val="120000"/>
              </a:lnSpc>
            </a:pPr>
            <a:r>
              <a:rPr lang="en-US" sz="1800" noProof="1">
                <a:solidFill>
                  <a:srgbClr val="8FA3C8"/>
                </a:solidFill>
                <a:latin typeface="Calibri"/>
                <a:ea typeface="Calibri"/>
              </a:rPr>
              <a:t>→</a:t>
            </a:r>
            <a:endParaRPr lang="en-US" sz="1800" noProof="1"/>
          </a:p>
        </p:txBody>
      </p:sp>
      <p:sp>
        <p:nvSpPr>
          <p:cNvPr id="16" name="Shape 13"/>
          <p:cNvSpPr/>
          <p:nvPr/>
        </p:nvSpPr>
        <p:spPr>
          <a:xfrm>
            <a:off x="6324600" y="2194560"/>
            <a:ext cx="2430780" cy="2788920"/>
          </a:xfrm>
          <a:prstGeom prst="roundRect">
            <a:avLst>
              <a:gd name="adj" fmla="val 3386"/>
            </a:avLst>
          </a:prstGeom>
          <a:solidFill>
            <a:srgbClr val="141F30"/>
          </a:solidFill>
          <a:ln>
            <a:noFill/>
          </a:ln>
        </p:spPr>
      </p:sp>
      <p:sp>
        <p:nvSpPr>
          <p:cNvPr id="17" name="Text 14"/>
          <p:cNvSpPr txBox="1"/>
          <p:nvPr/>
        </p:nvSpPr>
        <p:spPr>
          <a:xfrm>
            <a:off x="661670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4CC9F0"/>
                </a:solidFill>
                <a:latin typeface="Cambria"/>
                <a:ea typeface="Cambria"/>
              </a:rPr>
              <a:t>3</a:t>
            </a:r>
            <a:endParaRPr lang="en-US" sz="2600" noProof="1"/>
          </a:p>
        </p:txBody>
      </p:sp>
      <p:sp>
        <p:nvSpPr>
          <p:cNvPr id="18" name="Text 15"/>
          <p:cNvSpPr txBox="1"/>
          <p:nvPr/>
        </p:nvSpPr>
        <p:spPr>
          <a:xfrm>
            <a:off x="661670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Read welcome.txt</a:t>
            </a:r>
            <a:endParaRPr lang="en-US" sz="1500" noProof="1"/>
          </a:p>
        </p:txBody>
      </p:sp>
      <p:sp>
        <p:nvSpPr>
          <p:cNvPr id="19" name="Text 16"/>
          <p:cNvSpPr txBox="1"/>
          <p:nvPr/>
        </p:nvSpPr>
        <p:spPr>
          <a:xfrm>
            <a:off x="661670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In the home directory.</a:t>
            </a:r>
            <a:endParaRPr lang="en-US" sz="1200" noProof="1"/>
          </a:p>
        </p:txBody>
      </p:sp>
      <p:sp>
        <p:nvSpPr>
          <p:cNvPr id="20" name="Text 17"/>
          <p:cNvSpPr txBox="1"/>
          <p:nvPr/>
        </p:nvSpPr>
        <p:spPr>
          <a:xfrm>
            <a:off x="8755380" y="3388360"/>
            <a:ext cx="457200" cy="402590"/>
          </a:xfrm>
          <a:prstGeom prst="rect">
            <a:avLst/>
          </a:prstGeom>
          <a:noFill/>
          <a:ln>
            <a:noFill/>
          </a:ln>
        </p:spPr>
        <p:txBody>
          <a:bodyPr lIns="0" rIns="0" tIns="0" bIns="0" wrap="square" rtlCol="0" anchor="ctr"/>
          <a:lstStyle/>
          <a:p>
            <a:pPr algn="ctr" marL="0">
              <a:lnSpc>
                <a:spcPct val="120000"/>
              </a:lnSpc>
            </a:pPr>
            <a:r>
              <a:rPr lang="en-US" sz="1800" noProof="1">
                <a:solidFill>
                  <a:srgbClr val="8FA3C8"/>
                </a:solidFill>
                <a:latin typeface="Calibri"/>
                <a:ea typeface="Calibri"/>
              </a:rPr>
              <a:t>→</a:t>
            </a:r>
            <a:endParaRPr lang="en-US" sz="1800" noProof="1"/>
          </a:p>
        </p:txBody>
      </p:sp>
      <p:sp>
        <p:nvSpPr>
          <p:cNvPr id="21" name="Shape 18"/>
          <p:cNvSpPr/>
          <p:nvPr/>
        </p:nvSpPr>
        <p:spPr>
          <a:xfrm>
            <a:off x="9212580" y="2194560"/>
            <a:ext cx="2430780" cy="2788920"/>
          </a:xfrm>
          <a:prstGeom prst="roundRect">
            <a:avLst>
              <a:gd name="adj" fmla="val 3386"/>
            </a:avLst>
          </a:prstGeom>
          <a:solidFill>
            <a:srgbClr val="141F30"/>
          </a:solidFill>
          <a:ln>
            <a:noFill/>
          </a:ln>
        </p:spPr>
      </p:sp>
      <p:sp>
        <p:nvSpPr>
          <p:cNvPr id="22" name="Text 19"/>
          <p:cNvSpPr txBox="1"/>
          <p:nvPr/>
        </p:nvSpPr>
        <p:spPr>
          <a:xfrm>
            <a:off x="9504680" y="2432050"/>
            <a:ext cx="548640" cy="457200"/>
          </a:xfrm>
          <a:prstGeom prst="rect">
            <a:avLst/>
          </a:prstGeom>
          <a:noFill/>
          <a:ln>
            <a:noFill/>
          </a:ln>
        </p:spPr>
        <p:txBody>
          <a:bodyPr lIns="0" rIns="0" tIns="0" bIns="0" wrap="square" rtlCol="0" anchor="ctr"/>
          <a:lstStyle/>
          <a:p>
            <a:pPr algn="l" marL="0">
              <a:lnSpc>
                <a:spcPct val="120000"/>
              </a:lnSpc>
            </a:pPr>
            <a:r>
              <a:rPr lang="en-US" sz="2600" noProof="1" b="1">
                <a:solidFill>
                  <a:srgbClr val="4CC9F0"/>
                </a:solidFill>
                <a:latin typeface="Cambria"/>
                <a:ea typeface="Cambria"/>
              </a:rPr>
              <a:t>4</a:t>
            </a:r>
            <a:endParaRPr lang="en-US" sz="2600" noProof="1"/>
          </a:p>
        </p:txBody>
      </p:sp>
      <p:sp>
        <p:nvSpPr>
          <p:cNvPr id="23" name="Text 20"/>
          <p:cNvSpPr txBox="1"/>
          <p:nvPr/>
        </p:nvSpPr>
        <p:spPr>
          <a:xfrm>
            <a:off x="9504680" y="2926080"/>
            <a:ext cx="1845310" cy="548640"/>
          </a:xfrm>
          <a:prstGeom prst="rect">
            <a:avLst/>
          </a:prstGeom>
          <a:noFill/>
          <a:ln>
            <a:noFill/>
          </a:ln>
        </p:spPr>
        <p:txBody>
          <a:bodyPr lIns="0" rIns="0" tIns="0" bIns="0" wrap="square" rtlCol="0" anchor="t"/>
          <a:lstStyle/>
          <a:p>
            <a:pPr algn="l" marL="0">
              <a:lnSpc>
                <a:spcPct val="120000"/>
              </a:lnSpc>
            </a:pPr>
            <a:r>
              <a:rPr lang="en-US" sz="1500" noProof="1" b="1">
                <a:solidFill>
                  <a:srgbClr val="F4F6FB"/>
                </a:solidFill>
                <a:latin typeface="Cambria"/>
                <a:ea typeface="Cambria"/>
              </a:rPr>
              <a:t>Submit it</a:t>
            </a:r>
            <a:endParaRPr lang="en-US" sz="1500" noProof="1"/>
          </a:p>
        </p:txBody>
      </p:sp>
      <p:sp>
        <p:nvSpPr>
          <p:cNvPr id="24" name="Text 21"/>
          <p:cNvSpPr txBox="1"/>
          <p:nvPr/>
        </p:nvSpPr>
        <p:spPr>
          <a:xfrm>
            <a:off x="9504680" y="3492500"/>
            <a:ext cx="1845310" cy="1216660"/>
          </a:xfrm>
          <a:prstGeom prst="rect">
            <a:avLst/>
          </a:prstGeom>
          <a:noFill/>
          <a:ln>
            <a:noFill/>
          </a:ln>
        </p:spPr>
        <p:txBody>
          <a:bodyPr lIns="0" rIns="0" tIns="0" bIns="0" wrap="square" rtlCol="0" anchor="t"/>
          <a:lstStyle/>
          <a:p>
            <a:pPr algn="l" marL="0">
              <a:lnSpc>
                <a:spcPct val="115000"/>
              </a:lnSpc>
            </a:pPr>
            <a:r>
              <a:rPr lang="en-US" sz="1200" noProof="1">
                <a:solidFill>
                  <a:srgbClr val="B8C7E4"/>
                </a:solidFill>
                <a:latin typeface="Calibri"/>
                <a:ea typeface="Calibri"/>
              </a:rPr>
              <a:t>Then begin Krypton 0 → 1: Base64 Decoding.</a:t>
            </a:r>
            <a:endParaRPr lang="en-US" sz="1200" noProof="1"/>
          </a:p>
        </p:txBody>
      </p:sp>
      <p:sp>
        <p:nvSpPr>
          <p:cNvPr id="25" name="Text 22"/>
          <p:cNvSpPr txBox="1"/>
          <p:nvPr/>
        </p:nvSpPr>
        <p:spPr>
          <a:xfrm>
            <a:off x="548640" y="5349240"/>
            <a:ext cx="11094720" cy="274320"/>
          </a:xfrm>
          <a:prstGeom prst="rect">
            <a:avLst/>
          </a:prstGeom>
          <a:noFill/>
          <a:ln>
            <a:noFill/>
          </a:ln>
        </p:spPr>
        <p:txBody>
          <a:bodyPr lIns="0" rIns="0" tIns="0" bIns="0" wrap="square" rtlCol="0" anchor="ctr"/>
          <a:lstStyle/>
          <a:p>
            <a:pPr algn="l" marL="0">
              <a:lnSpc>
                <a:spcPct val="120000"/>
              </a:lnSpc>
            </a:pPr>
            <a:r>
              <a:rPr lang="en-US" sz="1250" noProof="1" i="1">
                <a:solidFill>
                  <a:srgbClr val="4CC9F0"/>
                </a:solidFill>
                <a:latin typeface="Calibri"/>
                <a:ea typeface="Calibri"/>
              </a:rPr>
              <a:t>Krypton 0 is deliberately gentle — it's an encoding, not a cipher.</a:t>
            </a:r>
            <a:endParaRPr lang="en-US" sz="1250" noProof="1"/>
          </a:p>
        </p:txBody>
      </p:sp>
      <p:sp>
        <p:nvSpPr>
          <p:cNvPr id="26" name="Text 23"/>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27" name="Text 24"/>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11</a:t>
            </a:r>
            <a:endParaRPr lang="en-US" sz="1000" noProof="1"/>
          </a:p>
        </p:txBody>
      </p:sp>
    </p:spTree>
  </p:cSld>
  <p:clrMapOvr>
    <a:masterClrMapping/>
  </p:clrMapOvr>
  <p:transition spd="fast" advClick="1">
    <p:fade/>
  </p:transition>
</p:sld>
</file>

<file path=ppt/slides/slide1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pic>
        <p:nvPicPr>
          <p:cNvPr id="2" name="Image 0"/>
          <p:cNvPicPr/>
          <p:nvPr/>
        </p:nvPicPr>
        <p:blipFill>
          <a:blip r:embed="rId2"/>
          <a:stretch>
            <a:fillRect/>
          </a:stretch>
        </p:blipFill>
        <p:spPr>
          <a:xfrm>
            <a:off x="7881620" y="2286000"/>
            <a:ext cx="3749040" cy="3072130"/>
          </a:xfrm>
          <a:prstGeom prst="rect">
            <a:avLst/>
          </a:prstGeom>
          <a:ln>
            <a:noFill/>
          </a:ln>
        </p:spPr>
      </p:pic>
      <p:sp>
        <p:nvSpPr>
          <p:cNvPr id="3" name="Text 0"/>
          <p:cNvSpPr txBox="1"/>
          <p:nvPr/>
        </p:nvSpPr>
        <p:spPr>
          <a:xfrm>
            <a:off x="548640" y="1143000"/>
            <a:ext cx="7315200" cy="731520"/>
          </a:xfrm>
          <a:prstGeom prst="rect">
            <a:avLst/>
          </a:prstGeom>
          <a:noFill/>
          <a:ln>
            <a:noFill/>
          </a:ln>
        </p:spPr>
        <p:txBody>
          <a:bodyPr lIns="0" rIns="0" tIns="0" bIns="0" wrap="square" rtlCol="0" anchor="ctr"/>
          <a:lstStyle/>
          <a:p>
            <a:pPr algn="l" marL="0">
              <a:lnSpc>
                <a:spcPct val="120000"/>
              </a:lnSpc>
            </a:pPr>
            <a:r>
              <a:rPr lang="en-US" sz="4000" noProof="1" b="1">
                <a:solidFill>
                  <a:srgbClr val="F4F6FB"/>
                </a:solidFill>
                <a:latin typeface="Cambria"/>
                <a:ea typeface="Cambria"/>
              </a:rPr>
              <a:t>Ready to play.</a:t>
            </a:r>
            <a:endParaRPr lang="en-US" sz="4000" noProof="1"/>
          </a:p>
        </p:txBody>
      </p:sp>
      <p:sp>
        <p:nvSpPr>
          <p:cNvPr id="4" name="Text 1"/>
          <p:cNvSpPr txBox="1"/>
          <p:nvPr/>
        </p:nvSpPr>
        <p:spPr>
          <a:xfrm>
            <a:off x="548640" y="1920240"/>
            <a:ext cx="7680960" cy="365760"/>
          </a:xfrm>
          <a:prstGeom prst="rect">
            <a:avLst/>
          </a:prstGeom>
          <a:noFill/>
          <a:ln>
            <a:noFill/>
          </a:ln>
        </p:spPr>
        <p:txBody>
          <a:bodyPr lIns="0" rIns="0" tIns="0" bIns="0" wrap="square" rtlCol="0" anchor="ctr"/>
          <a:lstStyle/>
          <a:p>
            <a:pPr algn="l" marL="0">
              <a:lnSpc>
                <a:spcPct val="120000"/>
              </a:lnSpc>
            </a:pPr>
            <a:r>
              <a:rPr lang="en-US" sz="1350" noProof="1">
                <a:solidFill>
                  <a:srgbClr val="B8C7E4"/>
                </a:solidFill>
                <a:latin typeface="Calibri"/>
                <a:ea typeface="Calibri"/>
              </a:rPr>
              <a:t>Krypton is short, self-contained, and needs far less Linux than Bandit.</a:t>
            </a:r>
            <a:endParaRPr lang="en-US" sz="1350" noProof="1"/>
          </a:p>
        </p:txBody>
      </p:sp>
      <p:sp>
        <p:nvSpPr>
          <p:cNvPr id="5" name="Shape 2"/>
          <p:cNvSpPr/>
          <p:nvPr/>
        </p:nvSpPr>
        <p:spPr>
          <a:xfrm>
            <a:off x="548640" y="2606040"/>
            <a:ext cx="6614160" cy="694690"/>
          </a:xfrm>
          <a:prstGeom prst="roundRect">
            <a:avLst>
              <a:gd name="adj" fmla="val 11842"/>
            </a:avLst>
          </a:prstGeom>
          <a:solidFill>
            <a:srgbClr val="141F30"/>
          </a:solidFill>
          <a:ln>
            <a:noFill/>
          </a:ln>
        </p:spPr>
      </p:sp>
      <p:sp>
        <p:nvSpPr>
          <p:cNvPr id="6" name="Text 3"/>
          <p:cNvSpPr txBox="1"/>
          <p:nvPr/>
        </p:nvSpPr>
        <p:spPr>
          <a:xfrm>
            <a:off x="932180" y="2606040"/>
            <a:ext cx="457200" cy="694690"/>
          </a:xfrm>
          <a:prstGeom prst="rect">
            <a:avLst/>
          </a:prstGeom>
          <a:noFill/>
          <a:ln>
            <a:noFill/>
          </a:ln>
        </p:spPr>
        <p:txBody>
          <a:bodyPr lIns="0" rIns="0" tIns="0" bIns="0" wrap="square" rtlCol="0" anchor="ctr"/>
          <a:lstStyle/>
          <a:p>
            <a:pPr algn="l" marL="0">
              <a:lnSpc>
                <a:spcPct val="120000"/>
              </a:lnSpc>
            </a:pPr>
            <a:r>
              <a:rPr lang="en-US" sz="1900" noProof="1" b="1">
                <a:solidFill>
                  <a:srgbClr val="4CC9F0"/>
                </a:solidFill>
                <a:latin typeface="Cambria"/>
                <a:ea typeface="Cambria"/>
              </a:rPr>
              <a:t>1</a:t>
            </a:r>
            <a:endParaRPr lang="en-US" sz="1900" noProof="1"/>
          </a:p>
        </p:txBody>
      </p:sp>
      <p:sp>
        <p:nvSpPr>
          <p:cNvPr id="7" name="Text 4"/>
          <p:cNvSpPr txBox="1"/>
          <p:nvPr/>
        </p:nvSpPr>
        <p:spPr>
          <a:xfrm>
            <a:off x="1554480" y="2606040"/>
            <a:ext cx="5334000" cy="69469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Log in to CTFd and open the Cryptography category</a:t>
            </a:r>
            <a:endParaRPr lang="en-US" sz="1400" noProof="1"/>
          </a:p>
        </p:txBody>
      </p:sp>
      <p:sp>
        <p:nvSpPr>
          <p:cNvPr id="8" name="Shape 5"/>
          <p:cNvSpPr/>
          <p:nvPr/>
        </p:nvSpPr>
        <p:spPr>
          <a:xfrm>
            <a:off x="548640" y="3368040"/>
            <a:ext cx="6614160" cy="694690"/>
          </a:xfrm>
          <a:prstGeom prst="roundRect">
            <a:avLst>
              <a:gd name="adj" fmla="val 11842"/>
            </a:avLst>
          </a:prstGeom>
          <a:solidFill>
            <a:srgbClr val="1B2740"/>
          </a:solidFill>
          <a:ln>
            <a:noFill/>
          </a:ln>
        </p:spPr>
      </p:sp>
      <p:sp>
        <p:nvSpPr>
          <p:cNvPr id="9" name="Text 6"/>
          <p:cNvSpPr txBox="1"/>
          <p:nvPr/>
        </p:nvSpPr>
        <p:spPr>
          <a:xfrm>
            <a:off x="932180" y="3368040"/>
            <a:ext cx="457200" cy="694690"/>
          </a:xfrm>
          <a:prstGeom prst="rect">
            <a:avLst/>
          </a:prstGeom>
          <a:noFill/>
          <a:ln>
            <a:noFill/>
          </a:ln>
        </p:spPr>
        <p:txBody>
          <a:bodyPr lIns="0" rIns="0" tIns="0" bIns="0" wrap="square" rtlCol="0" anchor="ctr"/>
          <a:lstStyle/>
          <a:p>
            <a:pPr algn="l" marL="0">
              <a:lnSpc>
                <a:spcPct val="120000"/>
              </a:lnSpc>
            </a:pPr>
            <a:r>
              <a:rPr lang="en-US" sz="1900" noProof="1" b="1">
                <a:solidFill>
                  <a:srgbClr val="4CC9F0"/>
                </a:solidFill>
                <a:latin typeface="Cambria"/>
                <a:ea typeface="Cambria"/>
              </a:rPr>
              <a:t>2</a:t>
            </a:r>
            <a:endParaRPr lang="en-US" sz="1900" noProof="1"/>
          </a:p>
        </p:txBody>
      </p:sp>
      <p:sp>
        <p:nvSpPr>
          <p:cNvPr id="10" name="Text 7"/>
          <p:cNvSpPr txBox="1"/>
          <p:nvPr/>
        </p:nvSpPr>
        <p:spPr>
          <a:xfrm>
            <a:off x="1554480" y="3368040"/>
            <a:ext cx="5334000" cy="69469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Solve "Krypton: Start Here" to check your connection</a:t>
            </a:r>
            <a:endParaRPr lang="en-US" sz="1400" noProof="1"/>
          </a:p>
        </p:txBody>
      </p:sp>
      <p:sp>
        <p:nvSpPr>
          <p:cNvPr id="11" name="Shape 8"/>
          <p:cNvSpPr/>
          <p:nvPr/>
        </p:nvSpPr>
        <p:spPr>
          <a:xfrm>
            <a:off x="548640" y="4130040"/>
            <a:ext cx="6614160" cy="694690"/>
          </a:xfrm>
          <a:prstGeom prst="roundRect">
            <a:avLst>
              <a:gd name="adj" fmla="val 11842"/>
            </a:avLst>
          </a:prstGeom>
          <a:solidFill>
            <a:srgbClr val="141F30"/>
          </a:solidFill>
          <a:ln>
            <a:noFill/>
          </a:ln>
        </p:spPr>
      </p:sp>
      <p:sp>
        <p:nvSpPr>
          <p:cNvPr id="12" name="Text 9"/>
          <p:cNvSpPr txBox="1"/>
          <p:nvPr/>
        </p:nvSpPr>
        <p:spPr>
          <a:xfrm>
            <a:off x="932180" y="4130040"/>
            <a:ext cx="457200" cy="694690"/>
          </a:xfrm>
          <a:prstGeom prst="rect">
            <a:avLst/>
          </a:prstGeom>
          <a:noFill/>
          <a:ln>
            <a:noFill/>
          </a:ln>
        </p:spPr>
        <p:txBody>
          <a:bodyPr lIns="0" rIns="0" tIns="0" bIns="0" wrap="square" rtlCol="0" anchor="ctr"/>
          <a:lstStyle/>
          <a:p>
            <a:pPr algn="l" marL="0">
              <a:lnSpc>
                <a:spcPct val="120000"/>
              </a:lnSpc>
            </a:pPr>
            <a:r>
              <a:rPr lang="en-US" sz="1900" noProof="1" b="1">
                <a:solidFill>
                  <a:srgbClr val="4CC9F0"/>
                </a:solidFill>
                <a:latin typeface="Cambria"/>
                <a:ea typeface="Cambria"/>
              </a:rPr>
              <a:t>3</a:t>
            </a:r>
            <a:endParaRPr lang="en-US" sz="1900" noProof="1"/>
          </a:p>
        </p:txBody>
      </p:sp>
      <p:sp>
        <p:nvSpPr>
          <p:cNvPr id="13" name="Text 10"/>
          <p:cNvSpPr txBox="1"/>
          <p:nvPr/>
        </p:nvSpPr>
        <p:spPr>
          <a:xfrm>
            <a:off x="1554480" y="4130040"/>
            <a:ext cx="5334000" cy="69469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Launch the environment — levels 0 to 6 share it</a:t>
            </a:r>
            <a:endParaRPr lang="en-US" sz="1400" noProof="1"/>
          </a:p>
        </p:txBody>
      </p:sp>
      <p:sp>
        <p:nvSpPr>
          <p:cNvPr id="14" name="Shape 11"/>
          <p:cNvSpPr/>
          <p:nvPr/>
        </p:nvSpPr>
        <p:spPr>
          <a:xfrm>
            <a:off x="548640" y="4892040"/>
            <a:ext cx="6614160" cy="694690"/>
          </a:xfrm>
          <a:prstGeom prst="roundRect">
            <a:avLst>
              <a:gd name="adj" fmla="val 11842"/>
            </a:avLst>
          </a:prstGeom>
          <a:solidFill>
            <a:srgbClr val="1B2740"/>
          </a:solidFill>
          <a:ln>
            <a:noFill/>
          </a:ln>
        </p:spPr>
      </p:sp>
      <p:sp>
        <p:nvSpPr>
          <p:cNvPr id="15" name="Text 12"/>
          <p:cNvSpPr txBox="1"/>
          <p:nvPr/>
        </p:nvSpPr>
        <p:spPr>
          <a:xfrm>
            <a:off x="932180" y="4892040"/>
            <a:ext cx="457200" cy="694690"/>
          </a:xfrm>
          <a:prstGeom prst="rect">
            <a:avLst/>
          </a:prstGeom>
          <a:noFill/>
          <a:ln>
            <a:noFill/>
          </a:ln>
        </p:spPr>
        <p:txBody>
          <a:bodyPr lIns="0" rIns="0" tIns="0" bIns="0" wrap="square" rtlCol="0" anchor="ctr"/>
          <a:lstStyle/>
          <a:p>
            <a:pPr algn="l" marL="0">
              <a:lnSpc>
                <a:spcPct val="120000"/>
              </a:lnSpc>
            </a:pPr>
            <a:r>
              <a:rPr lang="en-US" sz="1900" noProof="1" b="1">
                <a:solidFill>
                  <a:srgbClr val="4CC9F0"/>
                </a:solidFill>
                <a:latin typeface="Cambria"/>
                <a:ea typeface="Cambria"/>
              </a:rPr>
              <a:t>4</a:t>
            </a:r>
            <a:endParaRPr lang="en-US" sz="1900" noProof="1"/>
          </a:p>
        </p:txBody>
      </p:sp>
      <p:sp>
        <p:nvSpPr>
          <p:cNvPr id="16" name="Text 13"/>
          <p:cNvSpPr txBox="1"/>
          <p:nvPr/>
        </p:nvSpPr>
        <p:spPr>
          <a:xfrm>
            <a:off x="1554480" y="4892040"/>
            <a:ext cx="5334000" cy="69469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Run krypton-tools --help on the box before you start guessing</a:t>
            </a:r>
            <a:endParaRPr lang="en-US" sz="1400" noProof="1"/>
          </a:p>
        </p:txBody>
      </p:sp>
      <p:sp>
        <p:nvSpPr>
          <p:cNvPr id="17" name="Shape 11b"/>
          <p:cNvSpPr/>
          <p:nvPr/>
        </p:nvSpPr>
        <p:spPr>
          <a:xfrm>
            <a:off x="548640" y="5654040"/>
            <a:ext cx="6614160" cy="694690"/>
          </a:xfrm>
          <a:prstGeom prst="roundRect">
            <a:avLst>
              <a:gd name="adj" fmla="val 11842"/>
            </a:avLst>
          </a:prstGeom>
          <a:solidFill>
            <a:srgbClr val="141F30"/>
          </a:solidFill>
          <a:ln>
            <a:noFill/>
          </a:ln>
        </p:spPr>
      </p:sp>
      <p:sp>
        <p:nvSpPr>
          <p:cNvPr id="18" name="Text 12b"/>
          <p:cNvSpPr txBox="1"/>
          <p:nvPr/>
        </p:nvSpPr>
        <p:spPr>
          <a:xfrm>
            <a:off x="932180" y="5654040"/>
            <a:ext cx="457200" cy="694690"/>
          </a:xfrm>
          <a:prstGeom prst="rect">
            <a:avLst/>
          </a:prstGeom>
          <a:noFill/>
          <a:ln>
            <a:noFill/>
          </a:ln>
        </p:spPr>
        <p:txBody>
          <a:bodyPr lIns="0" rIns="0" tIns="0" bIns="0" wrap="square" rtlCol="0" anchor="ctr"/>
          <a:lstStyle/>
          <a:p>
            <a:pPr algn="l" marL="0">
              <a:lnSpc>
                <a:spcPct val="120000"/>
              </a:lnSpc>
            </a:pPr>
            <a:r>
              <a:rPr lang="en-US" sz="1900" noProof="1" b="1">
                <a:solidFill>
                  <a:srgbClr val="4CC9F0"/>
                </a:solidFill>
                <a:latin typeface="Cambria"/>
                <a:ea typeface="Cambria"/>
              </a:rPr>
              <a:t>5</a:t>
            </a:r>
            <a:endParaRPr lang="en-US" sz="1900" noProof="1"/>
          </a:p>
        </p:txBody>
      </p:sp>
      <p:sp>
        <p:nvSpPr>
          <p:cNvPr id="19" name="Text 13b"/>
          <p:cNvSpPr txBox="1"/>
          <p:nvPr/>
        </p:nvSpPr>
        <p:spPr>
          <a:xfrm>
            <a:off x="1554480" y="5654040"/>
            <a:ext cx="5334000" cy="694690"/>
          </a:xfrm>
          <a:prstGeom prst="rect">
            <a:avLst/>
          </a:prstGeom>
          <a:noFill/>
          <a:ln>
            <a:noFill/>
          </a:ln>
        </p:spPr>
        <p:txBody>
          <a:bodyPr lIns="0" rIns="0" tIns="0" bIns="0" wrap="square" rtlCol="0" anchor="ctr"/>
          <a:lstStyle/>
          <a:p>
            <a:pPr algn="l" marL="0">
              <a:lnSpc>
                <a:spcPct val="120000"/>
              </a:lnSpc>
            </a:pPr>
            <a:r>
              <a:rPr lang="en-US" sz="1400" noProof="1">
                <a:solidFill>
                  <a:srgbClr val="F4F6FB"/>
                </a:solidFill>
                <a:latin typeface="Calibri"/>
                <a:ea typeface="Calibri"/>
              </a:rPr>
              <a:t>Stuck? Find a staff member. Hints cost a share of the challenge's points — the cost is shown before you open one.</a:t>
            </a:r>
            <a:endParaRPr lang="en-US" sz="1400" noProof="1"/>
          </a:p>
        </p:txBody>
      </p:sp>
      <p:sp>
        <p:nvSpPr>
          <p:cNvPr id="20" name="Text 14"/>
          <p:cNvSpPr txBox="1"/>
          <p:nvPr/>
        </p:nvSpPr>
        <p:spPr>
          <a:xfrm>
            <a:off x="7366000" y="5654040"/>
            <a:ext cx="4267200" cy="694690"/>
          </a:xfrm>
          <a:prstGeom prst="rect">
            <a:avLst/>
          </a:prstGeom>
          <a:noFill/>
          <a:ln>
            <a:noFill/>
          </a:ln>
        </p:spPr>
        <p:txBody>
          <a:bodyPr lIns="0" rIns="0" tIns="0" bIns="0" wrap="square" rtlCol="0" anchor="ctr"/>
          <a:lstStyle/>
          <a:p>
            <a:pPr algn="l" marL="0">
              <a:lnSpc>
                <a:spcPct val="120000"/>
              </a:lnSpc>
            </a:pPr>
            <a:r>
              <a:rPr lang="en-US" sz="1400" noProof="1" i="1">
                <a:solidFill>
                  <a:srgbClr val="4CC9F0"/>
                </a:solidFill>
                <a:latin typeface="Calibri"/>
                <a:ea typeface="Calibri"/>
              </a:rPr>
              <a:t>Good luck.</a:t>
            </a:r>
            <a:endParaRPr lang="en-US" sz="1400" noProof="1"/>
          </a:p>
        </p:txBody>
      </p:sp>
      <p:sp>
        <p:nvSpPr>
          <p:cNvPr id="21" name="Text 15"/>
          <p:cNvSpPr txBox="1"/>
          <p:nvPr/>
        </p:nvSpPr>
        <p:spPr>
          <a:xfrm>
            <a:off x="548640" y="6446520"/>
            <a:ext cx="2743200" cy="274320"/>
          </a:xfrm>
          <a:prstGeom prst="rect">
            <a:avLst/>
          </a:prstGeom>
          <a:noFill/>
          <a:ln>
            <a:noFill/>
          </a:ln>
        </p:spPr>
        <p:txBody>
          <a:bodyPr lIns="0" rIns="0" tIns="0" bIns="0" wrap="square" rtlCol="0" anchor="ctr"/>
          <a:lstStyle/>
          <a:p>
            <a:pPr algn="l" marL="0">
              <a:lnSpc>
                <a:spcPct val="120000"/>
              </a:lnSpc>
            </a:pPr>
            <a:r>
              <a:rPr lang="en-US" sz="1000" noProof="1" spc="150" kern="0">
                <a:solidFill>
                  <a:srgbClr val="8FA3C8"/>
                </a:solidFill>
                <a:latin typeface="Calibri"/>
                <a:ea typeface="Calibri"/>
              </a:rPr>
              <a:t>CEI LABS CTF — GUIDE 02 / 04</a:t>
            </a:r>
            <a:endParaRPr lang="en-US" sz="1000" noProof="1"/>
          </a:p>
        </p:txBody>
      </p:sp>
      <p:sp>
        <p:nvSpPr>
          <p:cNvPr id="22" name="Text 16"/>
          <p:cNvSpPr txBox="1"/>
          <p:nvPr/>
        </p:nvSpPr>
        <p:spPr>
          <a:xfrm>
            <a:off x="10728960" y="6446520"/>
            <a:ext cx="914400" cy="274320"/>
          </a:xfrm>
          <a:prstGeom prst="rect">
            <a:avLst/>
          </a:prstGeom>
          <a:noFill/>
          <a:ln>
            <a:noFill/>
          </a:ln>
        </p:spPr>
        <p:txBody>
          <a:bodyPr lIns="0" rIns="0" tIns="0" bIns="0" wrap="square" rtlCol="0" anchor="ctr"/>
          <a:lstStyle/>
          <a:p>
            <a:pPr algn="r" marL="0">
              <a:lnSpc>
                <a:spcPct val="120000"/>
              </a:lnSpc>
            </a:pPr>
            <a:r>
              <a:rPr lang="en-US" sz="1000" noProof="1">
                <a:solidFill>
                  <a:srgbClr val="8FA3C8"/>
                </a:solidFill>
                <a:latin typeface="Calibri"/>
                <a:ea typeface="Calibri"/>
              </a:rPr>
              <a:t>12</a:t>
            </a:r>
            <a:endParaRPr lang="en-US" sz="1000" noProof="1"/>
          </a:p>
        </p:txBody>
      </p:sp>
    </p:spTree>
  </p:cSld>
  <p:clrMapOvr>
    <a:masterClrMapping/>
  </p:clrMapOvr>
  <p:transition spd="fast" advClick="1">
    <p:fade/>
  </p:transition>
</p:sld>
</file>

<file path=ppt/theme/theme1.xml><?xml version="1.0" encoding="utf-8"?>
<a:theme xmlns:a="http://schemas.openxmlformats.org/drawingml/2006/main" name="PPTD">
  <a:themeElements>
    <a:clrScheme name="PPTD">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Company>Moonshot</Company>
  <Slides>12</Slides>
</Properties>
</file>

<file path=docProps/core.xml><?xml version="1.0" encoding="utf-8"?>
<cp:coreProperties xmlns:cp="http://schemas.openxmlformats.org/package/2006/metadata/core-properties" xmlns:dc="http://purl.org/dc/elements/1.1/">
  <dc:title>PptxGenJS Presentation</dc:title>
  <dc:subject>PptxGenJS Presentation</dc:subject>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{"Label":"PptxGenJS Presentation","ContentProducer":"001191110108MACG2KBH8F10000","ProduceID":"19fccfdb-e242-8e67-8000-00000e1fe501","ReservedCode1":"","ContentPropagator":"001191110108MACG2KBH8F20000","PropagateID":"19fca1d9-cf32-8a8a-8000-093feda7e9b7","ReservedCode2":""}</vt:lpwstr>
  </property>
</Properties>
</file>