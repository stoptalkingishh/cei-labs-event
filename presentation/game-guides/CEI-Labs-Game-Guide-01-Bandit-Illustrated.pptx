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2194560" y="4480560"/>
            <a:ext cx="4206240" cy="42062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6903720" y="1051560"/>
            <a:ext cx="4800600" cy="3931920"/>
          </a:xfrm>
          <a:prstGeom prst="rect">
            <a:avLst/>
          </a:prstGeom>
        </p:spPr>
      </p:pic>
      <p:sp>
        <p:nvSpPr>
          <p:cNvPr id="4" name="Oval 3"/>
          <p:cNvSpPr/>
          <p:nvPr/>
        </p:nvSpPr>
        <p:spPr>
          <a:xfrm>
            <a:off x="548640" y="960119"/>
            <a:ext cx="786130" cy="786130"/>
          </a:xfrm>
          <a:prstGeom prst="ellipse">
            <a:avLst/>
          </a:prstGeom>
          <a:solidFill>
            <a:srgbClr val="E0A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2.png"/>
          <p:cNvPicPr>
            <a:picLocks noChangeAspect="1"/>
          </p:cNvPicPr>
          <p:nvPr/>
        </p:nvPicPr>
        <p:blipFill>
          <a:blip r:embed="rId3"/>
          <a:stretch>
            <a:fillRect/>
          </a:stretch>
        </p:blipFill>
        <p:spPr>
          <a:xfrm>
            <a:off x="753110" y="1164590"/>
            <a:ext cx="377190" cy="377190"/>
          </a:xfrm>
          <a:prstGeom prst="rect">
            <a:avLst/>
          </a:prstGeom>
        </p:spPr>
      </p:pic>
      <p:sp>
        <p:nvSpPr>
          <p:cNvPr id="6" name="TextBox 5"/>
          <p:cNvSpPr txBox="1"/>
          <p:nvPr/>
        </p:nvSpPr>
        <p:spPr>
          <a:xfrm>
            <a:off x="548640" y="3017520"/>
            <a:ext cx="6126480" cy="822960"/>
          </a:xfrm>
          <a:prstGeom prst="rect">
            <a:avLst/>
          </a:prstGeom>
          <a:noFill/>
        </p:spPr>
        <p:txBody>
          <a:bodyPr wrap="square" lIns="0" rIns="0" tIns="0" bIns="0" anchor="ctr">
            <a:spAutoFit/>
          </a:bodyPr>
          <a:lstStyle/>
          <a:p>
            <a:pPr algn="l"/>
            <a:r>
              <a:rPr sz="4400" b="1" i="0">
                <a:solidFill>
                  <a:srgbClr val="F4F6FB"/>
                </a:solidFill>
                <a:latin typeface="Cambria"/>
              </a:rPr>
              <a:t>BANDIT</a:t>
            </a:r>
          </a:p>
        </p:txBody>
      </p:sp>
      <p:sp>
        <p:nvSpPr>
          <p:cNvPr id="7" name="TextBox 6"/>
          <p:cNvSpPr txBox="1"/>
          <p:nvPr/>
        </p:nvSpPr>
        <p:spPr>
          <a:xfrm>
            <a:off x="548640" y="3886200"/>
            <a:ext cx="6126480" cy="411480"/>
          </a:xfrm>
          <a:prstGeom prst="rect">
            <a:avLst/>
          </a:prstGeom>
          <a:noFill/>
        </p:spPr>
        <p:txBody>
          <a:bodyPr wrap="square" lIns="0" rIns="0" tIns="0" bIns="0" anchor="ctr">
            <a:spAutoFit/>
          </a:bodyPr>
          <a:lstStyle/>
          <a:p>
            <a:pPr algn="l"/>
            <a:r>
              <a:rPr sz="2200" b="1" i="1">
                <a:solidFill>
                  <a:srgbClr val="E0A340"/>
                </a:solidFill>
                <a:latin typeface="Cambria"/>
              </a:rPr>
              <a:t>The Vault at Dryrock</a:t>
            </a:r>
          </a:p>
        </p:txBody>
      </p:sp>
      <p:sp>
        <p:nvSpPr>
          <p:cNvPr id="8" name="TextBox 7"/>
          <p:cNvSpPr txBox="1"/>
          <p:nvPr/>
        </p:nvSpPr>
        <p:spPr>
          <a:xfrm>
            <a:off x="548640" y="4389120"/>
            <a:ext cx="6217920" cy="56642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34 levels of Linux command line, played as one long night inside a walled compound.</a:t>
            </a:r>
          </a:p>
        </p:txBody>
      </p:sp>
      <p:sp>
        <p:nvSpPr>
          <p:cNvPr id="9" name="TextBox 8"/>
          <p:cNvSpPr txBox="1"/>
          <p:nvPr/>
        </p:nvSpPr>
        <p:spPr>
          <a:xfrm>
            <a:off x="548640" y="5029200"/>
            <a:ext cx="6217920" cy="1188720"/>
          </a:xfrm>
          <a:prstGeom prst="rect">
            <a:avLst/>
          </a:prstGeom>
          <a:noFill/>
        </p:spPr>
        <p:txBody>
          <a:bodyPr wrap="square" lIns="0" rIns="0" tIns="0" bIns="0" anchor="ctr">
            <a:spAutoFit/>
          </a:bodyPr>
          <a:lstStyle/>
          <a:p>
            <a:pPr algn="l">
              <a:lnSpc>
                <a:spcPct val="122000"/>
              </a:lnSpc>
            </a:pPr>
            <a:r>
              <a:rPr sz="1300" b="0" i="1">
                <a:solidFill>
                  <a:srgbClr val="93A5C7"/>
                </a:solidFill>
                <a:latin typeface="Calibri"/>
              </a:rPr>
              <a:t>An outlaw known only by reputation slips into the walled desert compound of Dryrock Hold after dark, hunting a ledger locked in its deepest vault. Room by room they search, borrow authority that isn't theirs, wait out the bell, and work deeper — until the record room opens and the escape is made through the far wall.</a:t>
            </a:r>
          </a:p>
        </p:txBody>
      </p:sp>
      <p:sp>
        <p:nvSpPr>
          <p:cNvPr id="10" name="TextBox 9"/>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1" name="TextBox 1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 MAP</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Eight chapters, thirty-four levels</a:t>
            </a:r>
          </a:p>
        </p:txBody>
      </p:sp>
      <p:sp>
        <p:nvSpPr>
          <p:cNvPr id="4" name="TextBox 3"/>
          <p:cNvSpPr txBox="1"/>
          <p:nvPr/>
        </p:nvSpPr>
        <p:spPr>
          <a:xfrm>
            <a:off x="548640" y="1358900"/>
            <a:ext cx="11094720" cy="58420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Chapter boundaries follow the material, not an even numeric split — the cron levels stay together, the git levels stay together.</a:t>
            </a:r>
          </a:p>
          <a:p>
            <a:pPr algn="l">
              <a:lnSpc>
                <a:spcPct val="115000"/>
              </a:lnSpc>
            </a:pPr>
            <a:r>
              <a:rPr sz="1400" b="0" i="0">
                <a:solidFill>
                  <a:srgbClr val="B8C7E4"/>
                </a:solidFill>
                <a:latin typeface="Calibri"/>
              </a:rPr>
              <a:t>Points climb from 100 to 1,750 across the track — 31,450 in total. Theory section below: about ten minutes of reading.</a:t>
            </a:r>
          </a:p>
        </p:txBody>
      </p:sp>
      <p:sp>
        <p:nvSpPr>
          <p:cNvPr id="5" name="Rounded Rectangle 4"/>
          <p:cNvSpPr/>
          <p:nvPr/>
        </p:nvSpPr>
        <p:spPr>
          <a:xfrm>
            <a:off x="548640" y="1974850"/>
            <a:ext cx="2581910" cy="1930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3.png"/>
          <p:cNvPicPr>
            <a:picLocks noChangeAspect="1"/>
          </p:cNvPicPr>
          <p:nvPr/>
        </p:nvPicPr>
        <p:blipFill>
          <a:blip r:embed="rId2"/>
          <a:stretch>
            <a:fillRect/>
          </a:stretch>
        </p:blipFill>
        <p:spPr>
          <a:xfrm>
            <a:off x="676910" y="2103120"/>
            <a:ext cx="2325370" cy="640080"/>
          </a:xfrm>
          <a:prstGeom prst="rect">
            <a:avLst/>
          </a:prstGeom>
        </p:spPr>
      </p:pic>
      <p:sp>
        <p:nvSpPr>
          <p:cNvPr id="7" name="TextBox 6"/>
          <p:cNvSpPr txBox="1"/>
          <p:nvPr/>
        </p:nvSpPr>
        <p:spPr>
          <a:xfrm>
            <a:off x="786130" y="288036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0–4</a:t>
            </a:r>
          </a:p>
        </p:txBody>
      </p:sp>
      <p:sp>
        <p:nvSpPr>
          <p:cNvPr id="8" name="TextBox 7"/>
          <p:cNvSpPr txBox="1"/>
          <p:nvPr/>
        </p:nvSpPr>
        <p:spPr>
          <a:xfrm>
            <a:off x="786130" y="3117850"/>
            <a:ext cx="2105660" cy="274320"/>
          </a:xfrm>
          <a:prstGeom prst="rect">
            <a:avLst/>
          </a:prstGeom>
          <a:noFill/>
        </p:spPr>
        <p:txBody>
          <a:bodyPr wrap="square" lIns="0" rIns="0" tIns="0" bIns="0" anchor="t">
            <a:spAutoFit/>
          </a:bodyPr>
          <a:lstStyle/>
          <a:p>
            <a:pPr algn="l"/>
            <a:r>
              <a:rPr sz="1400" b="1" i="0">
                <a:solidFill>
                  <a:srgbClr val="F4F6FB"/>
                </a:solidFill>
                <a:latin typeface="Cambria"/>
              </a:rPr>
              <a:t>Over the Wall</a:t>
            </a:r>
          </a:p>
        </p:txBody>
      </p:sp>
      <p:sp>
        <p:nvSpPr>
          <p:cNvPr id="9" name="TextBox 8"/>
          <p:cNvSpPr txBox="1"/>
          <p:nvPr/>
        </p:nvSpPr>
        <p:spPr>
          <a:xfrm>
            <a:off x="786130" y="340106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The outer gate, and the first steps inside.</a:t>
            </a:r>
          </a:p>
        </p:txBody>
      </p:sp>
      <p:sp>
        <p:nvSpPr>
          <p:cNvPr id="10" name="Rounded Rectangle 9"/>
          <p:cNvSpPr/>
          <p:nvPr/>
        </p:nvSpPr>
        <p:spPr>
          <a:xfrm>
            <a:off x="3385820" y="1974850"/>
            <a:ext cx="2581910" cy="1930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4.png"/>
          <p:cNvPicPr>
            <a:picLocks noChangeAspect="1"/>
          </p:cNvPicPr>
          <p:nvPr/>
        </p:nvPicPr>
        <p:blipFill>
          <a:blip r:embed="rId3"/>
          <a:stretch>
            <a:fillRect/>
          </a:stretch>
        </p:blipFill>
        <p:spPr>
          <a:xfrm>
            <a:off x="3514090" y="2103120"/>
            <a:ext cx="2325370" cy="640080"/>
          </a:xfrm>
          <a:prstGeom prst="rect">
            <a:avLst/>
          </a:prstGeom>
        </p:spPr>
      </p:pic>
      <p:sp>
        <p:nvSpPr>
          <p:cNvPr id="12" name="TextBox 11"/>
          <p:cNvSpPr txBox="1"/>
          <p:nvPr/>
        </p:nvSpPr>
        <p:spPr>
          <a:xfrm>
            <a:off x="3624579" y="288036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5–10</a:t>
            </a:r>
          </a:p>
        </p:txBody>
      </p:sp>
      <p:sp>
        <p:nvSpPr>
          <p:cNvPr id="13" name="TextBox 12"/>
          <p:cNvSpPr txBox="1"/>
          <p:nvPr/>
        </p:nvSpPr>
        <p:spPr>
          <a:xfrm>
            <a:off x="3624579" y="311785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Storeyard</a:t>
            </a:r>
          </a:p>
        </p:txBody>
      </p:sp>
      <p:sp>
        <p:nvSpPr>
          <p:cNvPr id="14" name="TextBox 13"/>
          <p:cNvSpPr txBox="1"/>
          <p:nvPr/>
        </p:nvSpPr>
        <p:spPr>
          <a:xfrm>
            <a:off x="3624579" y="340106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A yard of crates, searched for anything useful.</a:t>
            </a:r>
          </a:p>
        </p:txBody>
      </p:sp>
      <p:sp>
        <p:nvSpPr>
          <p:cNvPr id="15" name="Rounded Rectangle 14"/>
          <p:cNvSpPr/>
          <p:nvPr/>
        </p:nvSpPr>
        <p:spPr>
          <a:xfrm>
            <a:off x="6224270" y="1974850"/>
            <a:ext cx="2581910" cy="1930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5.png"/>
          <p:cNvPicPr>
            <a:picLocks noChangeAspect="1"/>
          </p:cNvPicPr>
          <p:nvPr/>
        </p:nvPicPr>
        <p:blipFill>
          <a:blip r:embed="rId4"/>
          <a:stretch>
            <a:fillRect/>
          </a:stretch>
        </p:blipFill>
        <p:spPr>
          <a:xfrm>
            <a:off x="6351270" y="2103120"/>
            <a:ext cx="2325370" cy="640080"/>
          </a:xfrm>
          <a:prstGeom prst="rect">
            <a:avLst/>
          </a:prstGeom>
        </p:spPr>
      </p:pic>
      <p:sp>
        <p:nvSpPr>
          <p:cNvPr id="17" name="TextBox 16"/>
          <p:cNvSpPr txBox="1"/>
          <p:nvPr/>
        </p:nvSpPr>
        <p:spPr>
          <a:xfrm>
            <a:off x="6461760" y="288036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11–16</a:t>
            </a:r>
          </a:p>
        </p:txBody>
      </p:sp>
      <p:sp>
        <p:nvSpPr>
          <p:cNvPr id="18" name="TextBox 17"/>
          <p:cNvSpPr txBox="1"/>
          <p:nvPr/>
        </p:nvSpPr>
        <p:spPr>
          <a:xfrm>
            <a:off x="6461760" y="311785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Inner Halls</a:t>
            </a:r>
          </a:p>
        </p:txBody>
      </p:sp>
      <p:sp>
        <p:nvSpPr>
          <p:cNvPr id="19" name="TextBox 18"/>
          <p:cNvSpPr txBox="1"/>
          <p:nvPr/>
        </p:nvSpPr>
        <p:spPr>
          <a:xfrm>
            <a:off x="6461760" y="340106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Corridors, and doors that want keys.</a:t>
            </a:r>
          </a:p>
        </p:txBody>
      </p:sp>
      <p:sp>
        <p:nvSpPr>
          <p:cNvPr id="20" name="Rounded Rectangle 19"/>
          <p:cNvSpPr/>
          <p:nvPr/>
        </p:nvSpPr>
        <p:spPr>
          <a:xfrm>
            <a:off x="9061450" y="1974850"/>
            <a:ext cx="2581910" cy="1930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6.png"/>
          <p:cNvPicPr>
            <a:picLocks noChangeAspect="1"/>
          </p:cNvPicPr>
          <p:nvPr/>
        </p:nvPicPr>
        <p:blipFill>
          <a:blip r:embed="rId5"/>
          <a:stretch>
            <a:fillRect/>
          </a:stretch>
        </p:blipFill>
        <p:spPr>
          <a:xfrm>
            <a:off x="9189720" y="2103120"/>
            <a:ext cx="2325370" cy="640080"/>
          </a:xfrm>
          <a:prstGeom prst="rect">
            <a:avLst/>
          </a:prstGeom>
        </p:spPr>
      </p:pic>
      <p:sp>
        <p:nvSpPr>
          <p:cNvPr id="22" name="TextBox 21"/>
          <p:cNvSpPr txBox="1"/>
          <p:nvPr/>
        </p:nvSpPr>
        <p:spPr>
          <a:xfrm>
            <a:off x="9298940" y="288036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17–20</a:t>
            </a:r>
          </a:p>
        </p:txBody>
      </p:sp>
      <p:sp>
        <p:nvSpPr>
          <p:cNvPr id="23" name="TextBox 22"/>
          <p:cNvSpPr txBox="1"/>
          <p:nvPr/>
        </p:nvSpPr>
        <p:spPr>
          <a:xfrm>
            <a:off x="9298940" y="311785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Guardroom</a:t>
            </a:r>
          </a:p>
        </p:txBody>
      </p:sp>
      <p:sp>
        <p:nvSpPr>
          <p:cNvPr id="24" name="TextBox 23"/>
          <p:cNvSpPr txBox="1"/>
          <p:nvPr/>
        </p:nvSpPr>
        <p:spPr>
          <a:xfrm>
            <a:off x="9298940" y="340106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Where the compound's authority is kept.</a:t>
            </a:r>
          </a:p>
        </p:txBody>
      </p:sp>
      <p:sp>
        <p:nvSpPr>
          <p:cNvPr id="25" name="Rounded Rectangle 24"/>
          <p:cNvSpPr/>
          <p:nvPr/>
        </p:nvSpPr>
        <p:spPr>
          <a:xfrm>
            <a:off x="548640" y="4069079"/>
            <a:ext cx="2581910" cy="19304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7.png"/>
          <p:cNvPicPr>
            <a:picLocks noChangeAspect="1"/>
          </p:cNvPicPr>
          <p:nvPr/>
        </p:nvPicPr>
        <p:blipFill>
          <a:blip r:embed="rId6"/>
          <a:stretch>
            <a:fillRect/>
          </a:stretch>
        </p:blipFill>
        <p:spPr>
          <a:xfrm>
            <a:off x="676910" y="4234180"/>
            <a:ext cx="2325370" cy="640080"/>
          </a:xfrm>
          <a:prstGeom prst="rect">
            <a:avLst/>
          </a:prstGeom>
        </p:spPr>
      </p:pic>
      <p:sp>
        <p:nvSpPr>
          <p:cNvPr id="27" name="TextBox 26"/>
          <p:cNvSpPr txBox="1"/>
          <p:nvPr/>
        </p:nvSpPr>
        <p:spPr>
          <a:xfrm>
            <a:off x="786130" y="501015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21–23</a:t>
            </a:r>
          </a:p>
        </p:txBody>
      </p:sp>
      <p:sp>
        <p:nvSpPr>
          <p:cNvPr id="28" name="TextBox 27"/>
          <p:cNvSpPr txBox="1"/>
          <p:nvPr/>
        </p:nvSpPr>
        <p:spPr>
          <a:xfrm>
            <a:off x="786130" y="524764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Bell Tower</a:t>
            </a:r>
          </a:p>
        </p:txBody>
      </p:sp>
      <p:sp>
        <p:nvSpPr>
          <p:cNvPr id="29" name="TextBox 28"/>
          <p:cNvSpPr txBox="1"/>
          <p:nvPr/>
        </p:nvSpPr>
        <p:spPr>
          <a:xfrm>
            <a:off x="786130" y="553212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Everything here runs on a schedule.</a:t>
            </a:r>
          </a:p>
        </p:txBody>
      </p:sp>
      <p:sp>
        <p:nvSpPr>
          <p:cNvPr id="30" name="Rounded Rectangle 29"/>
          <p:cNvSpPr/>
          <p:nvPr/>
        </p:nvSpPr>
        <p:spPr>
          <a:xfrm>
            <a:off x="3385820" y="4069079"/>
            <a:ext cx="2581910" cy="19304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8.png"/>
          <p:cNvPicPr>
            <a:picLocks noChangeAspect="1"/>
          </p:cNvPicPr>
          <p:nvPr/>
        </p:nvPicPr>
        <p:blipFill>
          <a:blip r:embed="rId7"/>
          <a:stretch>
            <a:fillRect/>
          </a:stretch>
        </p:blipFill>
        <p:spPr>
          <a:xfrm>
            <a:off x="3514090" y="4234180"/>
            <a:ext cx="2325370" cy="640080"/>
          </a:xfrm>
          <a:prstGeom prst="rect">
            <a:avLst/>
          </a:prstGeom>
        </p:spPr>
      </p:pic>
      <p:sp>
        <p:nvSpPr>
          <p:cNvPr id="32" name="TextBox 31"/>
          <p:cNvSpPr txBox="1"/>
          <p:nvPr/>
        </p:nvSpPr>
        <p:spPr>
          <a:xfrm>
            <a:off x="3624579" y="501015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24–26</a:t>
            </a:r>
          </a:p>
        </p:txBody>
      </p:sp>
      <p:sp>
        <p:nvSpPr>
          <p:cNvPr id="33" name="TextBox 32"/>
          <p:cNvSpPr txBox="1"/>
          <p:nvPr/>
        </p:nvSpPr>
        <p:spPr>
          <a:xfrm>
            <a:off x="3624579" y="524764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Locked Wing</a:t>
            </a:r>
          </a:p>
        </p:txBody>
      </p:sp>
      <p:sp>
        <p:nvSpPr>
          <p:cNvPr id="34" name="TextBox 33"/>
          <p:cNvSpPr txBox="1"/>
          <p:nvPr/>
        </p:nvSpPr>
        <p:spPr>
          <a:xfrm>
            <a:off x="3624579" y="553212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Rooms built to hold you, worked open.</a:t>
            </a:r>
          </a:p>
        </p:txBody>
      </p:sp>
      <p:sp>
        <p:nvSpPr>
          <p:cNvPr id="35" name="Rounded Rectangle 34"/>
          <p:cNvSpPr/>
          <p:nvPr/>
        </p:nvSpPr>
        <p:spPr>
          <a:xfrm>
            <a:off x="6224270" y="4069079"/>
            <a:ext cx="2581910" cy="19304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9.png"/>
          <p:cNvPicPr>
            <a:picLocks noChangeAspect="1"/>
          </p:cNvPicPr>
          <p:nvPr/>
        </p:nvPicPr>
        <p:blipFill>
          <a:blip r:embed="rId8"/>
          <a:stretch>
            <a:fillRect/>
          </a:stretch>
        </p:blipFill>
        <p:spPr>
          <a:xfrm>
            <a:off x="6351270" y="4234180"/>
            <a:ext cx="2325370" cy="640080"/>
          </a:xfrm>
          <a:prstGeom prst="rect">
            <a:avLst/>
          </a:prstGeom>
        </p:spPr>
      </p:pic>
      <p:sp>
        <p:nvSpPr>
          <p:cNvPr id="37" name="TextBox 36"/>
          <p:cNvSpPr txBox="1"/>
          <p:nvPr/>
        </p:nvSpPr>
        <p:spPr>
          <a:xfrm>
            <a:off x="6461760" y="501015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27–31</a:t>
            </a:r>
          </a:p>
        </p:txBody>
      </p:sp>
      <p:sp>
        <p:nvSpPr>
          <p:cNvPr id="38" name="TextBox 37"/>
          <p:cNvSpPr txBox="1"/>
          <p:nvPr/>
        </p:nvSpPr>
        <p:spPr>
          <a:xfrm>
            <a:off x="6461760" y="524764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Archive</a:t>
            </a:r>
          </a:p>
        </p:txBody>
      </p:sp>
      <p:sp>
        <p:nvSpPr>
          <p:cNvPr id="39" name="TextBox 38"/>
          <p:cNvSpPr txBox="1"/>
          <p:nvPr/>
        </p:nvSpPr>
        <p:spPr>
          <a:xfrm>
            <a:off x="6461760" y="553212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The ledger, and its whole history.</a:t>
            </a:r>
          </a:p>
        </p:txBody>
      </p:sp>
      <p:sp>
        <p:nvSpPr>
          <p:cNvPr id="40" name="Rounded Rectangle 39"/>
          <p:cNvSpPr/>
          <p:nvPr/>
        </p:nvSpPr>
        <p:spPr>
          <a:xfrm>
            <a:off x="9061450" y="4069079"/>
            <a:ext cx="2581910" cy="19304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10.png"/>
          <p:cNvPicPr>
            <a:picLocks noChangeAspect="1"/>
          </p:cNvPicPr>
          <p:nvPr/>
        </p:nvPicPr>
        <p:blipFill>
          <a:blip r:embed="rId9"/>
          <a:stretch>
            <a:fillRect/>
          </a:stretch>
        </p:blipFill>
        <p:spPr>
          <a:xfrm>
            <a:off x="9189720" y="4234180"/>
            <a:ext cx="2325370" cy="640080"/>
          </a:xfrm>
          <a:prstGeom prst="rect">
            <a:avLst/>
          </a:prstGeom>
        </p:spPr>
      </p:pic>
      <p:sp>
        <p:nvSpPr>
          <p:cNvPr id="42" name="TextBox 41"/>
          <p:cNvSpPr txBox="1"/>
          <p:nvPr/>
        </p:nvSpPr>
        <p:spPr>
          <a:xfrm>
            <a:off x="9298940" y="5010150"/>
            <a:ext cx="2105660" cy="219710"/>
          </a:xfrm>
          <a:prstGeom prst="rect">
            <a:avLst/>
          </a:prstGeom>
          <a:noFill/>
        </p:spPr>
        <p:txBody>
          <a:bodyPr wrap="square" lIns="0" rIns="0" tIns="0" bIns="0" anchor="t">
            <a:spAutoFit/>
          </a:bodyPr>
          <a:lstStyle/>
          <a:p>
            <a:pPr algn="l"/>
            <a:r>
              <a:rPr sz="1050" b="1" i="0" spc="80">
                <a:solidFill>
                  <a:srgbClr val="E0A340"/>
                </a:solidFill>
                <a:latin typeface="Calibri"/>
              </a:rPr>
              <a:t>32–33</a:t>
            </a:r>
          </a:p>
        </p:txBody>
      </p:sp>
      <p:sp>
        <p:nvSpPr>
          <p:cNvPr id="43" name="TextBox 42"/>
          <p:cNvSpPr txBox="1"/>
          <p:nvPr/>
        </p:nvSpPr>
        <p:spPr>
          <a:xfrm>
            <a:off x="9298940" y="5247640"/>
            <a:ext cx="2105660" cy="274320"/>
          </a:xfrm>
          <a:prstGeom prst="rect">
            <a:avLst/>
          </a:prstGeom>
          <a:noFill/>
        </p:spPr>
        <p:txBody>
          <a:bodyPr wrap="square" lIns="0" rIns="0" tIns="0" bIns="0" anchor="t">
            <a:spAutoFit/>
          </a:bodyPr>
          <a:lstStyle/>
          <a:p>
            <a:pPr algn="l"/>
            <a:r>
              <a:rPr sz="1400" b="1" i="0">
                <a:solidFill>
                  <a:srgbClr val="F4F6FB"/>
                </a:solidFill>
                <a:latin typeface="Cambria"/>
              </a:rPr>
              <a:t>The Escape</a:t>
            </a:r>
          </a:p>
        </p:txBody>
      </p:sp>
      <p:sp>
        <p:nvSpPr>
          <p:cNvPr id="44" name="TextBox 43"/>
          <p:cNvSpPr txBox="1"/>
          <p:nvPr/>
        </p:nvSpPr>
        <p:spPr>
          <a:xfrm>
            <a:off x="9298940" y="553212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Out through the far wall with it.</a:t>
            </a:r>
          </a:p>
        </p:txBody>
      </p:sp>
      <p:sp>
        <p:nvSpPr>
          <p:cNvPr id="45" name="TextBox 44"/>
          <p:cNvSpPr txBox="1"/>
          <p:nvPr/>
        </p:nvSpPr>
        <p:spPr>
          <a:xfrm>
            <a:off x="548640" y="61087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All 34 levels share one box. Launch it once and it stays yours.</a:t>
            </a:r>
          </a:p>
        </p:txBody>
      </p:sp>
      <p:sp>
        <p:nvSpPr>
          <p:cNvPr id="46" name="TextBox 45"/>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47" name="TextBox 46"/>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8595360" y="-2194560"/>
            <a:ext cx="6035040" cy="60350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783080"/>
            <a:ext cx="5486400" cy="292100"/>
          </a:xfrm>
          <a:prstGeom prst="rect">
            <a:avLst/>
          </a:prstGeom>
          <a:noFill/>
        </p:spPr>
        <p:txBody>
          <a:bodyPr wrap="square" lIns="0" rIns="0" tIns="0" bIns="0" anchor="ctr">
            <a:spAutoFit/>
          </a:bodyPr>
          <a:lstStyle/>
          <a:p>
            <a:pPr algn="l"/>
            <a:r>
              <a:rPr sz="1100" b="1" i="0" spc="140">
                <a:solidFill>
                  <a:srgbClr val="E0A340"/>
                </a:solidFill>
                <a:latin typeface="Calibri"/>
              </a:rPr>
              <a:t>THE IDEAS</a:t>
            </a:r>
          </a:p>
        </p:txBody>
      </p:sp>
      <p:sp>
        <p:nvSpPr>
          <p:cNvPr id="4" name="TextBox 3"/>
          <p:cNvSpPr txBox="1"/>
          <p:nvPr/>
        </p:nvSpPr>
        <p:spPr>
          <a:xfrm>
            <a:off x="548640" y="2103120"/>
            <a:ext cx="8595360" cy="960119"/>
          </a:xfrm>
          <a:prstGeom prst="rect">
            <a:avLst/>
          </a:prstGeom>
          <a:noFill/>
        </p:spPr>
        <p:txBody>
          <a:bodyPr wrap="square" lIns="0" rIns="0" tIns="0" bIns="0" anchor="t">
            <a:spAutoFit/>
          </a:bodyPr>
          <a:lstStyle/>
          <a:p>
            <a:pPr algn="l"/>
            <a:r>
              <a:rPr sz="3800" b="1" i="0">
                <a:solidFill>
                  <a:srgbClr val="F4F6FB"/>
                </a:solidFill>
                <a:latin typeface="Cambria"/>
              </a:rPr>
              <a:t>Seven ideas Linux is built on</a:t>
            </a:r>
          </a:p>
        </p:txBody>
      </p:sp>
      <p:sp>
        <p:nvSpPr>
          <p:cNvPr id="5" name="TextBox 4"/>
          <p:cNvSpPr txBox="1"/>
          <p:nvPr/>
        </p:nvSpPr>
        <p:spPr>
          <a:xfrm>
            <a:off x="548640" y="3017520"/>
            <a:ext cx="6949440" cy="548640"/>
          </a:xfrm>
          <a:prstGeom prst="rect">
            <a:avLst/>
          </a:prstGeom>
          <a:noFill/>
        </p:spPr>
        <p:txBody>
          <a:bodyPr wrap="square" lIns="0" rIns="0" tIns="0" bIns="0" anchor="ctr">
            <a:spAutoFit/>
          </a:bodyPr>
          <a:lstStyle/>
          <a:p>
            <a:pPr algn="l">
              <a:lnSpc>
                <a:spcPct val="118000"/>
              </a:lnSpc>
            </a:pPr>
            <a:r>
              <a:rPr sz="1400" b="0" i="0">
                <a:solidFill>
                  <a:srgbClr val="B8C7E4"/>
                </a:solidFill>
                <a:latin typeface="Calibri"/>
              </a:rPr>
              <a:t>Not levels, and not methods — the mental model the whole track quietly assumes you already have. Worth the ten minutes even if you think you know it.</a:t>
            </a:r>
          </a:p>
        </p:txBody>
      </p:sp>
      <p:sp>
        <p:nvSpPr>
          <p:cNvPr id="6" name="TextBox 5"/>
          <p:cNvSpPr txBox="1"/>
          <p:nvPr/>
        </p:nvSpPr>
        <p:spPr>
          <a:xfrm>
            <a:off x="548640" y="3886200"/>
            <a:ext cx="411480" cy="402590"/>
          </a:xfrm>
          <a:prstGeom prst="rect">
            <a:avLst/>
          </a:prstGeom>
          <a:noFill/>
        </p:spPr>
        <p:txBody>
          <a:bodyPr wrap="square" lIns="0" rIns="0" tIns="0" bIns="0" anchor="ctr">
            <a:spAutoFit/>
          </a:bodyPr>
          <a:lstStyle/>
          <a:p>
            <a:pPr algn="l"/>
            <a:r>
              <a:rPr sz="1200" b="1" i="0">
                <a:solidFill>
                  <a:srgbClr val="E0A340"/>
                </a:solidFill>
                <a:latin typeface="Cambria"/>
              </a:rPr>
              <a:t>01</a:t>
            </a:r>
          </a:p>
        </p:txBody>
      </p:sp>
      <p:sp>
        <p:nvSpPr>
          <p:cNvPr id="7" name="TextBox 6"/>
          <p:cNvSpPr txBox="1"/>
          <p:nvPr/>
        </p:nvSpPr>
        <p:spPr>
          <a:xfrm>
            <a:off x="1005840" y="3886200"/>
            <a:ext cx="4663440" cy="402590"/>
          </a:xfrm>
          <a:prstGeom prst="rect">
            <a:avLst/>
          </a:prstGeom>
          <a:noFill/>
        </p:spPr>
        <p:txBody>
          <a:bodyPr wrap="square" lIns="0" rIns="0" tIns="0" bIns="0" anchor="ctr">
            <a:spAutoFit/>
          </a:bodyPr>
          <a:lstStyle/>
          <a:p>
            <a:pPr algn="l"/>
            <a:r>
              <a:rPr sz="1300" b="0" i="0">
                <a:solidFill>
                  <a:srgbClr val="F4F6FB"/>
                </a:solidFill>
                <a:latin typeface="Calibri"/>
              </a:rPr>
              <a:t>The filesystem</a:t>
            </a:r>
          </a:p>
        </p:txBody>
      </p:sp>
      <p:sp>
        <p:nvSpPr>
          <p:cNvPr id="8" name="TextBox 7"/>
          <p:cNvSpPr txBox="1"/>
          <p:nvPr/>
        </p:nvSpPr>
        <p:spPr>
          <a:xfrm>
            <a:off x="548640" y="4432300"/>
            <a:ext cx="411480" cy="402590"/>
          </a:xfrm>
          <a:prstGeom prst="rect">
            <a:avLst/>
          </a:prstGeom>
          <a:noFill/>
        </p:spPr>
        <p:txBody>
          <a:bodyPr wrap="square" lIns="0" rIns="0" tIns="0" bIns="0" anchor="ctr">
            <a:spAutoFit/>
          </a:bodyPr>
          <a:lstStyle/>
          <a:p>
            <a:pPr algn="l"/>
            <a:r>
              <a:rPr sz="1200" b="1" i="0">
                <a:solidFill>
                  <a:srgbClr val="E0A340"/>
                </a:solidFill>
                <a:latin typeface="Cambria"/>
              </a:rPr>
              <a:t>02</a:t>
            </a:r>
          </a:p>
        </p:txBody>
      </p:sp>
      <p:sp>
        <p:nvSpPr>
          <p:cNvPr id="9" name="TextBox 8"/>
          <p:cNvSpPr txBox="1"/>
          <p:nvPr/>
        </p:nvSpPr>
        <p:spPr>
          <a:xfrm>
            <a:off x="1005840" y="4432300"/>
            <a:ext cx="4663440" cy="402590"/>
          </a:xfrm>
          <a:prstGeom prst="rect">
            <a:avLst/>
          </a:prstGeom>
          <a:noFill/>
        </p:spPr>
        <p:txBody>
          <a:bodyPr wrap="square" lIns="0" rIns="0" tIns="0" bIns="0" anchor="ctr">
            <a:spAutoFit/>
          </a:bodyPr>
          <a:lstStyle/>
          <a:p>
            <a:pPr algn="l"/>
            <a:r>
              <a:rPr sz="1300" b="0" i="0">
                <a:solidFill>
                  <a:srgbClr val="F4F6FB"/>
                </a:solidFill>
                <a:latin typeface="Calibri"/>
              </a:rPr>
              <a:t>Streams and pipes</a:t>
            </a:r>
          </a:p>
        </p:txBody>
      </p:sp>
      <p:sp>
        <p:nvSpPr>
          <p:cNvPr id="10" name="TextBox 9"/>
          <p:cNvSpPr txBox="1"/>
          <p:nvPr/>
        </p:nvSpPr>
        <p:spPr>
          <a:xfrm>
            <a:off x="548640" y="4978400"/>
            <a:ext cx="411480" cy="402590"/>
          </a:xfrm>
          <a:prstGeom prst="rect">
            <a:avLst/>
          </a:prstGeom>
          <a:noFill/>
        </p:spPr>
        <p:txBody>
          <a:bodyPr wrap="square" lIns="0" rIns="0" tIns="0" bIns="0" anchor="ctr">
            <a:spAutoFit/>
          </a:bodyPr>
          <a:lstStyle/>
          <a:p>
            <a:pPr algn="l"/>
            <a:r>
              <a:rPr sz="1200" b="1" i="0">
                <a:solidFill>
                  <a:srgbClr val="E0A340"/>
                </a:solidFill>
                <a:latin typeface="Cambria"/>
              </a:rPr>
              <a:t>03</a:t>
            </a:r>
          </a:p>
        </p:txBody>
      </p:sp>
      <p:sp>
        <p:nvSpPr>
          <p:cNvPr id="11" name="TextBox 10"/>
          <p:cNvSpPr txBox="1"/>
          <p:nvPr/>
        </p:nvSpPr>
        <p:spPr>
          <a:xfrm>
            <a:off x="1005840" y="4978400"/>
            <a:ext cx="4663440" cy="402590"/>
          </a:xfrm>
          <a:prstGeom prst="rect">
            <a:avLst/>
          </a:prstGeom>
          <a:noFill/>
        </p:spPr>
        <p:txBody>
          <a:bodyPr wrap="square" lIns="0" rIns="0" tIns="0" bIns="0" anchor="ctr">
            <a:spAutoFit/>
          </a:bodyPr>
          <a:lstStyle/>
          <a:p>
            <a:pPr algn="l"/>
            <a:r>
              <a:rPr sz="1300" b="0" i="0">
                <a:solidFill>
                  <a:srgbClr val="F4F6FB"/>
                </a:solidFill>
                <a:latin typeface="Calibri"/>
              </a:rPr>
              <a:t>Permissions and identity</a:t>
            </a:r>
          </a:p>
        </p:txBody>
      </p:sp>
      <p:sp>
        <p:nvSpPr>
          <p:cNvPr id="12" name="TextBox 11"/>
          <p:cNvSpPr txBox="1"/>
          <p:nvPr/>
        </p:nvSpPr>
        <p:spPr>
          <a:xfrm>
            <a:off x="548640" y="5524500"/>
            <a:ext cx="411480" cy="402590"/>
          </a:xfrm>
          <a:prstGeom prst="rect">
            <a:avLst/>
          </a:prstGeom>
          <a:noFill/>
        </p:spPr>
        <p:txBody>
          <a:bodyPr wrap="square" lIns="0" rIns="0" tIns="0" bIns="0" anchor="ctr">
            <a:spAutoFit/>
          </a:bodyPr>
          <a:lstStyle/>
          <a:p>
            <a:pPr algn="l"/>
            <a:r>
              <a:rPr sz="1200" b="1" i="0">
                <a:solidFill>
                  <a:srgbClr val="E0A340"/>
                </a:solidFill>
                <a:latin typeface="Cambria"/>
              </a:rPr>
              <a:t>04</a:t>
            </a:r>
          </a:p>
        </p:txBody>
      </p:sp>
      <p:sp>
        <p:nvSpPr>
          <p:cNvPr id="13" name="TextBox 12"/>
          <p:cNvSpPr txBox="1"/>
          <p:nvPr/>
        </p:nvSpPr>
        <p:spPr>
          <a:xfrm>
            <a:off x="1005840" y="5524500"/>
            <a:ext cx="4663440" cy="402590"/>
          </a:xfrm>
          <a:prstGeom prst="rect">
            <a:avLst/>
          </a:prstGeom>
          <a:noFill/>
        </p:spPr>
        <p:txBody>
          <a:bodyPr wrap="square" lIns="0" rIns="0" tIns="0" bIns="0" anchor="ctr">
            <a:spAutoFit/>
          </a:bodyPr>
          <a:lstStyle/>
          <a:p>
            <a:pPr algn="l"/>
            <a:r>
              <a:rPr sz="1300" b="0" i="0">
                <a:solidFill>
                  <a:srgbClr val="F4F6FB"/>
                </a:solidFill>
                <a:latin typeface="Calibri"/>
              </a:rPr>
              <a:t>Ports, services and SSH</a:t>
            </a:r>
          </a:p>
        </p:txBody>
      </p:sp>
      <p:sp>
        <p:nvSpPr>
          <p:cNvPr id="14" name="TextBox 13"/>
          <p:cNvSpPr txBox="1"/>
          <p:nvPr/>
        </p:nvSpPr>
        <p:spPr>
          <a:xfrm>
            <a:off x="6126480" y="3886200"/>
            <a:ext cx="411480" cy="402590"/>
          </a:xfrm>
          <a:prstGeom prst="rect">
            <a:avLst/>
          </a:prstGeom>
          <a:noFill/>
        </p:spPr>
        <p:txBody>
          <a:bodyPr wrap="square" lIns="0" rIns="0" tIns="0" bIns="0" anchor="ctr">
            <a:spAutoFit/>
          </a:bodyPr>
          <a:lstStyle/>
          <a:p>
            <a:pPr algn="l"/>
            <a:r>
              <a:rPr sz="1200" b="1" i="0">
                <a:solidFill>
                  <a:srgbClr val="E0A340"/>
                </a:solidFill>
                <a:latin typeface="Cambria"/>
              </a:rPr>
              <a:t>05</a:t>
            </a:r>
          </a:p>
        </p:txBody>
      </p:sp>
      <p:sp>
        <p:nvSpPr>
          <p:cNvPr id="15" name="TextBox 14"/>
          <p:cNvSpPr txBox="1"/>
          <p:nvPr/>
        </p:nvSpPr>
        <p:spPr>
          <a:xfrm>
            <a:off x="6583680" y="3886200"/>
            <a:ext cx="4663440" cy="402590"/>
          </a:xfrm>
          <a:prstGeom prst="rect">
            <a:avLst/>
          </a:prstGeom>
          <a:noFill/>
        </p:spPr>
        <p:txBody>
          <a:bodyPr wrap="square" lIns="0" rIns="0" tIns="0" bIns="0" anchor="ctr">
            <a:spAutoFit/>
          </a:bodyPr>
          <a:lstStyle/>
          <a:p>
            <a:pPr algn="l"/>
            <a:r>
              <a:rPr sz="1300" b="0" i="0">
                <a:solidFill>
                  <a:srgbClr val="F4F6FB"/>
                </a:solidFill>
                <a:latin typeface="Calibri"/>
              </a:rPr>
              <a:t>Scheduled jobs</a:t>
            </a:r>
          </a:p>
        </p:txBody>
      </p:sp>
      <p:sp>
        <p:nvSpPr>
          <p:cNvPr id="16" name="TextBox 15"/>
          <p:cNvSpPr txBox="1"/>
          <p:nvPr/>
        </p:nvSpPr>
        <p:spPr>
          <a:xfrm>
            <a:off x="6126480" y="4432300"/>
            <a:ext cx="411480" cy="402590"/>
          </a:xfrm>
          <a:prstGeom prst="rect">
            <a:avLst/>
          </a:prstGeom>
          <a:noFill/>
        </p:spPr>
        <p:txBody>
          <a:bodyPr wrap="square" lIns="0" rIns="0" tIns="0" bIns="0" anchor="ctr">
            <a:spAutoFit/>
          </a:bodyPr>
          <a:lstStyle/>
          <a:p>
            <a:pPr algn="l"/>
            <a:r>
              <a:rPr sz="1200" b="1" i="0">
                <a:solidFill>
                  <a:srgbClr val="E0A340"/>
                </a:solidFill>
                <a:latin typeface="Cambria"/>
              </a:rPr>
              <a:t>06</a:t>
            </a:r>
          </a:p>
        </p:txBody>
      </p:sp>
      <p:sp>
        <p:nvSpPr>
          <p:cNvPr id="17" name="TextBox 16"/>
          <p:cNvSpPr txBox="1"/>
          <p:nvPr/>
        </p:nvSpPr>
        <p:spPr>
          <a:xfrm>
            <a:off x="6583680" y="4432300"/>
            <a:ext cx="4663440" cy="402590"/>
          </a:xfrm>
          <a:prstGeom prst="rect">
            <a:avLst/>
          </a:prstGeom>
          <a:noFill/>
        </p:spPr>
        <p:txBody>
          <a:bodyPr wrap="square" lIns="0" rIns="0" tIns="0" bIns="0" anchor="ctr">
            <a:spAutoFit/>
          </a:bodyPr>
          <a:lstStyle/>
          <a:p>
            <a:pPr algn="l"/>
            <a:r>
              <a:rPr sz="1300" b="0" i="0">
                <a:solidFill>
                  <a:srgbClr val="F4F6FB"/>
                </a:solidFill>
                <a:latin typeface="Calibri"/>
              </a:rPr>
              <a:t>Git as a record</a:t>
            </a:r>
          </a:p>
        </p:txBody>
      </p:sp>
      <p:sp>
        <p:nvSpPr>
          <p:cNvPr id="18" name="TextBox 17"/>
          <p:cNvSpPr txBox="1"/>
          <p:nvPr/>
        </p:nvSpPr>
        <p:spPr>
          <a:xfrm>
            <a:off x="6126480" y="4978400"/>
            <a:ext cx="411480" cy="402590"/>
          </a:xfrm>
          <a:prstGeom prst="rect">
            <a:avLst/>
          </a:prstGeom>
          <a:noFill/>
        </p:spPr>
        <p:txBody>
          <a:bodyPr wrap="square" lIns="0" rIns="0" tIns="0" bIns="0" anchor="ctr">
            <a:spAutoFit/>
          </a:bodyPr>
          <a:lstStyle/>
          <a:p>
            <a:pPr algn="l"/>
            <a:r>
              <a:rPr sz="1200" b="1" i="0">
                <a:solidFill>
                  <a:srgbClr val="E0A340"/>
                </a:solidFill>
                <a:latin typeface="Cambria"/>
              </a:rPr>
              <a:t>07</a:t>
            </a:r>
          </a:p>
        </p:txBody>
      </p:sp>
      <p:sp>
        <p:nvSpPr>
          <p:cNvPr id="19" name="TextBox 18"/>
          <p:cNvSpPr txBox="1"/>
          <p:nvPr/>
        </p:nvSpPr>
        <p:spPr>
          <a:xfrm>
            <a:off x="6583680" y="4978400"/>
            <a:ext cx="4663440" cy="402590"/>
          </a:xfrm>
          <a:prstGeom prst="rect">
            <a:avLst/>
          </a:prstGeom>
          <a:noFill/>
        </p:spPr>
        <p:txBody>
          <a:bodyPr wrap="square" lIns="0" rIns="0" tIns="0" bIns="0" anchor="ctr">
            <a:spAutoFit/>
          </a:bodyPr>
          <a:lstStyle/>
          <a:p>
            <a:pPr algn="l"/>
            <a:r>
              <a:rPr sz="1300" b="0" i="0">
                <a:solidFill>
                  <a:srgbClr val="F4F6FB"/>
                </a:solidFill>
                <a:latin typeface="Calibri"/>
              </a:rPr>
              <a:t>Shells and the environment</a:t>
            </a:r>
          </a:p>
        </p:txBody>
      </p:sp>
      <p:sp>
        <p:nvSpPr>
          <p:cNvPr id="20" name="TextBox 19"/>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21" name="TextBox 2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01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The filesystem</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One tree, and almost everything on the machine appears somewhere in it.</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Linux arranges everything under a single root, /. Directories are themselves just files that list other files. Devices, running processes and even kernel settings show up in the tree too, which is why a small handful of tools can read almost anything on the system.</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Most of this track is finding a file. A name can begin with a dot and be hidden from a default listing, begin with a dash and look like an option, or contain spaces and look like several names. Knowing that is the difference between "it isn't there" and "I haven't looked properly yet".</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an annotated listing</a:t>
            </a:r>
          </a:p>
          <a:p>
            <a:pPr algn="l">
              <a:lnSpc>
                <a:spcPct val="112000"/>
              </a:lnSpc>
            </a:pPr>
            <a:r>
              <a:rPr sz="1050" b="0" i="0">
                <a:solidFill>
                  <a:srgbClr val="F4F6FB"/>
                </a:solidFill>
                <a:latin typeface="Courier New"/>
              </a:rPr>
              <a:t>drwxr-xr-x   .            the directory itself</a:t>
            </a:r>
          </a:p>
          <a:p>
            <a:pPr algn="l">
              <a:lnSpc>
                <a:spcPct val="112000"/>
              </a:lnSpc>
            </a:pPr>
            <a:r>
              <a:rPr sz="1050" b="0" i="0">
                <a:solidFill>
                  <a:srgbClr val="F4F6FB"/>
                </a:solidFill>
                <a:latin typeface="Courier New"/>
              </a:rPr>
              <a:t>-rw-r--r--   readme       an ordinary file</a:t>
            </a:r>
          </a:p>
          <a:p>
            <a:pPr algn="l">
              <a:lnSpc>
                <a:spcPct val="112000"/>
              </a:lnSpc>
            </a:pPr>
            <a:r>
              <a:rPr sz="1050" b="0" i="0">
                <a:solidFill>
                  <a:srgbClr val="F4F6FB"/>
                </a:solidFill>
                <a:latin typeface="Courier New"/>
              </a:rPr>
              <a:t>-rw-r--r--   .quiet       dot: hidden by default</a:t>
            </a:r>
          </a:p>
          <a:p>
            <a:pPr algn="l">
              <a:lnSpc>
                <a:spcPct val="112000"/>
              </a:lnSpc>
            </a:pPr>
            <a:r>
              <a:rPr sz="1050" b="0" i="0">
                <a:solidFill>
                  <a:srgbClr val="F4F6FB"/>
                </a:solidFill>
                <a:latin typeface="Courier New"/>
              </a:rPr>
              <a:t>-rw-r--r--   -dash        looks like an option</a:t>
            </a:r>
          </a:p>
          <a:p>
            <a:pPr algn="l">
              <a:lnSpc>
                <a:spcPct val="112000"/>
              </a:lnSpc>
            </a:pPr>
            <a:r>
              <a:rPr sz="1050" b="0" i="0">
                <a:solidFill>
                  <a:srgbClr val="F4F6FB"/>
                </a:solidFill>
                <a:latin typeface="Courier New"/>
              </a:rPr>
              <a:t>-rw-r--r--   two words    one name, not two</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tree has one root</a:t>
            </a:r>
          </a:p>
          <a:p>
            <a:pPr algn="l">
              <a:lnSpc>
                <a:spcPct val="112000"/>
              </a:lnSpc>
            </a:pPr>
            <a:r>
              <a:rPr sz="1050" b="0" i="0">
                <a:solidFill>
                  <a:srgbClr val="F4F6FB"/>
                </a:solidFill>
                <a:latin typeface="Courier New"/>
              </a:rPr>
              <a:t>/           the top of everything</a:t>
            </a:r>
          </a:p>
          <a:p>
            <a:pPr algn="l">
              <a:lnSpc>
                <a:spcPct val="112000"/>
              </a:lnSpc>
            </a:pPr>
            <a:r>
              <a:rPr sz="1050" b="0" i="0">
                <a:solidFill>
                  <a:srgbClr val="F4F6FB"/>
                </a:solidFill>
                <a:latin typeface="Courier New"/>
              </a:rPr>
              <a:t>/home/you   your own corner of it</a:t>
            </a:r>
          </a:p>
          <a:p>
            <a:pPr algn="l">
              <a:lnSpc>
                <a:spcPct val="112000"/>
              </a:lnSpc>
            </a:pPr>
            <a:r>
              <a:rPr sz="1050" b="0" i="0">
                <a:solidFill>
                  <a:srgbClr val="F4F6FB"/>
                </a:solidFill>
                <a:latin typeface="Courier New"/>
              </a:rPr>
              <a:t>/etc        system configuration</a:t>
            </a:r>
          </a:p>
          <a:p>
            <a:pPr algn="l">
              <a:lnSpc>
                <a:spcPct val="112000"/>
              </a:lnSpc>
            </a:pPr>
            <a:r>
              <a:rPr sz="1050" b="0" i="0">
                <a:solidFill>
                  <a:srgbClr val="F4F6FB"/>
                </a:solidFill>
                <a:latin typeface="Courier New"/>
              </a:rPr>
              <a:t>/proc       running processes, as files</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Half of "the file is missing" is really "the listing didn't show it".</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02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Streams and pipes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Programs read from one stream and write to another; the shell connects them.</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Every process is given three streams: one to read input from, one to write results to, and a separate one for errors. A pipe joins one program's output stream directly to the next program's input stream, so several small tools become a single larger operation with no file in between.</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Linux gives you very few large tools and a great many small ones. Almost every "how do I..." on this track is answered by chaining three simple things together, not by finding one clever thing that does the whole job.</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three tools, one line</a:t>
            </a:r>
          </a:p>
          <a:p>
            <a:pPr algn="l">
              <a:lnSpc>
                <a:spcPct val="112000"/>
              </a:lnSpc>
            </a:pPr>
            <a:r>
              <a:rPr sz="1050" b="0" i="0">
                <a:solidFill>
                  <a:srgbClr val="F4F6FB"/>
                </a:solidFill>
                <a:latin typeface="Courier New"/>
              </a:rPr>
              <a:t>cat file | sort | uniq</a:t>
            </a:r>
          </a:p>
          <a:p>
            <a:pPr algn="l">
              <a:lnSpc>
                <a:spcPct val="112000"/>
              </a:lnSpc>
            </a:pPr>
            <a:r>
              <a:rPr sz="1050" b="0" i="0">
                <a:solidFill>
                  <a:srgbClr val="F4F6FB"/>
                </a:solidFill>
                <a:latin typeface="Courier New"/>
              </a:rPr>
              <a:t>    |       |      |</a:t>
            </a:r>
          </a:p>
          <a:p>
            <a:pPr algn="l">
              <a:lnSpc>
                <a:spcPct val="112000"/>
              </a:lnSpc>
            </a:pPr>
            <a:r>
              <a:rPr sz="1050" b="0" i="0">
                <a:solidFill>
                  <a:srgbClr val="F4F6FB"/>
                </a:solidFill>
                <a:latin typeface="Courier New"/>
              </a:rPr>
              <a:t>  read it  order  collapse repeats</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three streams</a:t>
            </a:r>
          </a:p>
          <a:p>
            <a:pPr algn="l">
              <a:lnSpc>
                <a:spcPct val="112000"/>
              </a:lnSpc>
            </a:pPr>
            <a:r>
              <a:rPr sz="1050" b="0" i="0">
                <a:solidFill>
                  <a:srgbClr val="F4F6FB"/>
                </a:solidFill>
                <a:latin typeface="Courier New"/>
              </a:rPr>
              <a:t>stdin   what goes in</a:t>
            </a:r>
          </a:p>
          <a:p>
            <a:pPr algn="l">
              <a:lnSpc>
                <a:spcPct val="112000"/>
              </a:lnSpc>
            </a:pPr>
            <a:r>
              <a:rPr sz="1050" b="0" i="0">
                <a:solidFill>
                  <a:srgbClr val="F4F6FB"/>
                </a:solidFill>
                <a:latin typeface="Courier New"/>
              </a:rPr>
              <a:t>stdout  the answer</a:t>
            </a:r>
          </a:p>
          <a:p>
            <a:pPr algn="l">
              <a:lnSpc>
                <a:spcPct val="112000"/>
              </a:lnSpc>
            </a:pPr>
            <a:r>
              <a:rPr sz="1050" b="0" i="0">
                <a:solidFill>
                  <a:srgbClr val="F4F6FB"/>
                </a:solidFill>
                <a:latin typeface="Courier New"/>
              </a:rPr>
              <a:t>stderr  the complaints, kept separate</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errors travel separately on purpose</a:t>
            </a:r>
          </a:p>
          <a:p>
            <a:pPr algn="l">
              <a:lnSpc>
                <a:spcPct val="112000"/>
              </a:lnSpc>
            </a:pPr>
            <a:r>
              <a:rPr sz="1050" b="0" i="1">
                <a:solidFill>
                  <a:srgbClr val="8FA3C8"/>
                </a:solidFill>
                <a:latin typeface="Courier New"/>
              </a:rPr>
              <a:t>so a pipe carries results, not noise</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If a single command can't do it, two probably can.</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03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Permissions and identity</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Every file has an owner, a group, and nine bits deciding who may do what.</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The characters at the start of a listing are a type flag followed by three sets of read, write and execute permissions: one for the owner, one for the group, and one for everybody else. A process acts with the identity of whoever started it, and may only touch what that identity is allowed to touch.</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"Permission denied" is not a dead end, it is information: you are the wrong person, and the level is about becoming the right one. A program flagged setuid runs as its owner rather than as you, which is precisely what makes such programs worth noticing.</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reading a permission string</a:t>
            </a:r>
          </a:p>
          <a:p>
            <a:pPr algn="l">
              <a:lnSpc>
                <a:spcPct val="112000"/>
              </a:lnSpc>
            </a:pPr>
            <a:r>
              <a:rPr sz="1050" b="0" i="0">
                <a:solidFill>
                  <a:srgbClr val="F4F6FB"/>
                </a:solidFill>
                <a:latin typeface="Courier New"/>
              </a:rPr>
              <a:t>-  rwx  r-x  ---   owner   group</a:t>
            </a:r>
          </a:p>
          <a:p>
            <a:pPr algn="l">
              <a:lnSpc>
                <a:spcPct val="112000"/>
              </a:lnSpc>
            </a:pPr>
            <a:r>
              <a:rPr sz="1050" b="0" i="0">
                <a:solidFill>
                  <a:srgbClr val="F4F6FB"/>
                </a:solidFill>
                <a:latin typeface="Courier New"/>
              </a:rPr>
              <a:t>|   |    |    |</a:t>
            </a:r>
          </a:p>
          <a:p>
            <a:pPr algn="l">
              <a:lnSpc>
                <a:spcPct val="112000"/>
              </a:lnSpc>
            </a:pPr>
            <a:r>
              <a:rPr sz="1050" b="0" i="0">
                <a:solidFill>
                  <a:srgbClr val="F4F6FB"/>
                </a:solidFill>
                <a:latin typeface="Courier New"/>
              </a:rPr>
              <a:t>|   |    |    everyone else: nothing</a:t>
            </a:r>
          </a:p>
          <a:p>
            <a:pPr algn="l">
              <a:lnSpc>
                <a:spcPct val="112000"/>
              </a:lnSpc>
            </a:pPr>
            <a:r>
              <a:rPr sz="1050" b="0" i="0">
                <a:solidFill>
                  <a:srgbClr val="F4F6FB"/>
                </a:solidFill>
                <a:latin typeface="Courier New"/>
              </a:rPr>
              <a:t>|   |    group: read, execute</a:t>
            </a:r>
          </a:p>
          <a:p>
            <a:pPr algn="l">
              <a:lnSpc>
                <a:spcPct val="112000"/>
              </a:lnSpc>
            </a:pPr>
            <a:r>
              <a:rPr sz="1050" b="0" i="0">
                <a:solidFill>
                  <a:srgbClr val="F4F6FB"/>
                </a:solidFill>
                <a:latin typeface="Courier New"/>
              </a:rPr>
              <a:t>|   owner: read, write, execute</a:t>
            </a:r>
          </a:p>
          <a:p>
            <a:pPr algn="l">
              <a:lnSpc>
                <a:spcPct val="112000"/>
              </a:lnSpc>
            </a:pPr>
            <a:r>
              <a:rPr sz="1050" b="0" i="0">
                <a:solidFill>
                  <a:srgbClr val="F4F6FB"/>
                </a:solidFill>
                <a:latin typeface="Courier New"/>
              </a:rPr>
              <a:t>type: - file, d directory, l link</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identity is a property of the process</a:t>
            </a:r>
          </a:p>
          <a:p>
            <a:pPr algn="l">
              <a:lnSpc>
                <a:spcPct val="112000"/>
              </a:lnSpc>
            </a:pPr>
            <a:r>
              <a:rPr sz="1050" b="0" i="0">
                <a:solidFill>
                  <a:srgbClr val="F4F6FB"/>
                </a:solidFill>
                <a:latin typeface="Courier New"/>
              </a:rPr>
              <a:t>normal program  runs as you</a:t>
            </a:r>
          </a:p>
          <a:p>
            <a:pPr algn="l">
              <a:lnSpc>
                <a:spcPct val="112000"/>
              </a:lnSpc>
            </a:pPr>
            <a:r>
              <a:rPr sz="1050" b="0" i="0">
                <a:solidFill>
                  <a:srgbClr val="F4F6FB"/>
                </a:solidFill>
                <a:latin typeface="Courier New"/>
              </a:rPr>
              <a:t>setuid program  runs as its owner</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Always ask who you currently are, not just what you're trying to read.</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04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Ports, services and SSH</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server waits on a numbered port; a client connects, and the two talk.</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A network service is a program waiting on a port for someone to connect to it. The port number is only an address: nothing about it guarantees what is on the other end, or whether the conversation is protected. SSH is one such service, giving you a shell on a remote machine over an encrypted link.</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Several levels amount to "something is listening, go and talk to it". Whether you need a plain connection or an encrypted one is decided by the service at the far end, not by you, and the two are not interchangeable.</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what a connection actually is</a:t>
            </a:r>
          </a:p>
          <a:p>
            <a:pPr algn="l">
              <a:lnSpc>
                <a:spcPct val="112000"/>
              </a:lnSpc>
            </a:pPr>
            <a:r>
              <a:rPr sz="1050" b="0" i="0">
                <a:solidFill>
                  <a:srgbClr val="F4F6FB"/>
                </a:solidFill>
                <a:latin typeface="Courier New"/>
              </a:rPr>
              <a:t>you  ----&gt;  host : port  ----&gt;  a program</a:t>
            </a:r>
          </a:p>
          <a:p>
            <a:pPr algn="l">
              <a:lnSpc>
                <a:spcPct val="112000"/>
              </a:lnSpc>
            </a:pPr>
            <a:r>
              <a:rPr sz="1050" b="0" i="0">
                <a:solidFill>
                  <a:srgbClr val="F4F6FB"/>
                </a:solidFill>
                <a:latin typeface="Courier New"/>
              </a:rPr>
              <a:t>     connect             that was listening</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same idea, two wrappings</a:t>
            </a:r>
          </a:p>
          <a:p>
            <a:pPr algn="l">
              <a:lnSpc>
                <a:spcPct val="112000"/>
              </a:lnSpc>
            </a:pPr>
            <a:r>
              <a:rPr sz="1050" b="0" i="0">
                <a:solidFill>
                  <a:srgbClr val="F4F6FB"/>
                </a:solidFill>
                <a:latin typeface="Courier New"/>
              </a:rPr>
              <a:t>plain      what you send goes as-is</a:t>
            </a:r>
          </a:p>
          <a:p>
            <a:pPr algn="l">
              <a:lnSpc>
                <a:spcPct val="112000"/>
              </a:lnSpc>
            </a:pPr>
            <a:r>
              <a:rPr sz="1050" b="0" i="0">
                <a:solidFill>
                  <a:srgbClr val="F4F6FB"/>
                </a:solidFill>
                <a:latin typeface="Courier New"/>
              </a:rPr>
              <a:t>encrypted  what you send is wrapped first</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ssh is a shell at the far end,</a:t>
            </a:r>
          </a:p>
          <a:p>
            <a:pPr algn="l">
              <a:lnSpc>
                <a:spcPct val="112000"/>
              </a:lnSpc>
            </a:pPr>
            <a:r>
              <a:rPr sz="1050" b="0" i="1">
                <a:solidFill>
                  <a:srgbClr val="8FA3C8"/>
                </a:solidFill>
                <a:latin typeface="Courier New"/>
              </a:rPr>
              <a:t>over an encrypted connection</a:t>
            </a:r>
          </a:p>
          <a:p>
            <a:pPr algn="l">
              <a:lnSpc>
                <a:spcPct val="112000"/>
              </a:lnSpc>
            </a:pPr>
            <a:r>
              <a:rPr sz="1050" b="0" i="0">
                <a:solidFill>
                  <a:srgbClr val="F4F6FB"/>
                </a:solidFill>
                <a:latin typeface="Courier New"/>
              </a:rPr>
              <a:t>ssh user@host -p 2220</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A port tells you where to knock, never who answers.</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05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Scheduled jobs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table of times, and commands that run when the clock matches.</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The system keeps a table in which every line is five time fields followed by a command. When the clock matches all five fields the command runs — as whichever user owns that table, not as you. A star in a field means "every".</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Anything on a schedule runs repeatedly, unattended, as somebody else. Reading a schedule therefore tells you two useful things at once: what is about to happen, and who it will happen as.</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five fields, then a command</a:t>
            </a:r>
          </a:p>
          <a:p>
            <a:pPr algn="l">
              <a:lnSpc>
                <a:spcPct val="112000"/>
              </a:lnSpc>
            </a:pPr>
            <a:r>
              <a:rPr sz="1050" b="0" i="0">
                <a:solidFill>
                  <a:srgbClr val="F4F6FB"/>
                </a:solidFill>
                <a:latin typeface="Courier New"/>
              </a:rPr>
              <a:t>*  *  *  *  *   /path/to/command</a:t>
            </a:r>
          </a:p>
          <a:p>
            <a:pPr algn="l">
              <a:lnSpc>
                <a:spcPct val="112000"/>
              </a:lnSpc>
            </a:pPr>
            <a:r>
              <a:rPr sz="1050" b="0" i="0">
                <a:solidFill>
                  <a:srgbClr val="F4F6FB"/>
                </a:solidFill>
                <a:latin typeface="Courier New"/>
              </a:rPr>
              <a:t>|  |  |  |  |</a:t>
            </a:r>
          </a:p>
          <a:p>
            <a:pPr algn="l">
              <a:lnSpc>
                <a:spcPct val="112000"/>
              </a:lnSpc>
            </a:pPr>
            <a:r>
              <a:rPr sz="1050" b="0" i="0">
                <a:solidFill>
                  <a:srgbClr val="F4F6FB"/>
                </a:solidFill>
                <a:latin typeface="Courier New"/>
              </a:rPr>
              <a:t>|  |  |  |  day of week  (0-6)</a:t>
            </a:r>
          </a:p>
          <a:p>
            <a:pPr algn="l">
              <a:lnSpc>
                <a:spcPct val="112000"/>
              </a:lnSpc>
            </a:pPr>
            <a:r>
              <a:rPr sz="1050" b="0" i="0">
                <a:solidFill>
                  <a:srgbClr val="F4F6FB"/>
                </a:solidFill>
                <a:latin typeface="Courier New"/>
              </a:rPr>
              <a:t>|  |  |  month        (1-12)</a:t>
            </a:r>
          </a:p>
          <a:p>
            <a:pPr algn="l">
              <a:lnSpc>
                <a:spcPct val="112000"/>
              </a:lnSpc>
            </a:pPr>
            <a:r>
              <a:rPr sz="1050" b="0" i="0">
                <a:solidFill>
                  <a:srgbClr val="F4F6FB"/>
                </a:solidFill>
                <a:latin typeface="Courier New"/>
              </a:rPr>
              <a:t>|  |  day of month    (1-31)</a:t>
            </a:r>
          </a:p>
          <a:p>
            <a:pPr algn="l">
              <a:lnSpc>
                <a:spcPct val="112000"/>
              </a:lnSpc>
            </a:pPr>
            <a:r>
              <a:rPr sz="1050" b="0" i="0">
                <a:solidFill>
                  <a:srgbClr val="F4F6FB"/>
                </a:solidFill>
                <a:latin typeface="Courier New"/>
              </a:rPr>
              <a:t>|  hour              (0-23)</a:t>
            </a:r>
          </a:p>
          <a:p>
            <a:pPr algn="l">
              <a:lnSpc>
                <a:spcPct val="112000"/>
              </a:lnSpc>
            </a:pPr>
            <a:r>
              <a:rPr sz="1050" b="0" i="0">
                <a:solidFill>
                  <a:srgbClr val="F4F6FB"/>
                </a:solidFill>
                <a:latin typeface="Courier New"/>
              </a:rPr>
              <a:t>minute               (0-59)</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worked examples</a:t>
            </a:r>
          </a:p>
          <a:p>
            <a:pPr algn="l">
              <a:lnSpc>
                <a:spcPct val="112000"/>
              </a:lnSpc>
            </a:pPr>
            <a:r>
              <a:rPr sz="1050" b="0" i="0">
                <a:solidFill>
                  <a:srgbClr val="F4F6FB"/>
                </a:solidFill>
                <a:latin typeface="Courier New"/>
              </a:rPr>
              <a:t>*/5 *  *  *  *   every five minutes</a:t>
            </a:r>
          </a:p>
          <a:p>
            <a:pPr algn="l">
              <a:lnSpc>
                <a:spcPct val="112000"/>
              </a:lnSpc>
            </a:pPr>
            <a:r>
              <a:rPr sz="1050" b="0" i="0">
                <a:solidFill>
                  <a:srgbClr val="F4F6FB"/>
                </a:solidFill>
                <a:latin typeface="Courier New"/>
              </a:rPr>
              <a:t>0   3  *  *  *   at 03:00, every day</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Scheduled work is somebody else's hands, moving on a timer.</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06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Git as a record</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project's entire history, kept locally, and readable.</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Git stores a chain of snapshots. Each commit records what changed, when, and by whom. Branches are alternative chains, tags are labels pinned to particular commits, and cloning copies all of it — including material that was later removed from the current version.</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The current state of a repository is only the last frame of the film. The history records everything that was ever true in it, and nothing falls out just because a later commit tidied it away.</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a history, oldest first</a:t>
            </a:r>
          </a:p>
          <a:p>
            <a:pPr algn="l">
              <a:lnSpc>
                <a:spcPct val="112000"/>
              </a:lnSpc>
            </a:pPr>
            <a:r>
              <a:rPr sz="1050" b="0" i="0">
                <a:solidFill>
                  <a:srgbClr val="F4F6FB"/>
                </a:solidFill>
                <a:latin typeface="Courier New"/>
              </a:rPr>
              <a:t>* a1b2c3  initial commit</a:t>
            </a:r>
          </a:p>
          <a:p>
            <a:pPr algn="l">
              <a:lnSpc>
                <a:spcPct val="112000"/>
              </a:lnSpc>
            </a:pPr>
            <a:r>
              <a:rPr sz="1050" b="0" i="0">
                <a:solidFill>
                  <a:srgbClr val="F4F6FB"/>
                </a:solidFill>
                <a:latin typeface="Courier New"/>
              </a:rPr>
              <a:t>* d4e5f6  add configuration</a:t>
            </a:r>
          </a:p>
          <a:p>
            <a:pPr algn="l">
              <a:lnSpc>
                <a:spcPct val="112000"/>
              </a:lnSpc>
            </a:pPr>
            <a:r>
              <a:rPr sz="1050" b="0" i="0">
                <a:solidFill>
                  <a:srgbClr val="F4F6FB"/>
                </a:solidFill>
                <a:latin typeface="Courier New"/>
              </a:rPr>
              <a:t>* 7890ab  remove value from config</a:t>
            </a:r>
          </a:p>
          <a:p>
            <a:pPr algn="l">
              <a:lnSpc>
                <a:spcPct val="112000"/>
              </a:lnSpc>
            </a:pPr>
            <a:r>
              <a:rPr sz="1050" b="0" i="0">
                <a:solidFill>
                  <a:srgbClr val="F4F6FB"/>
                </a:solidFill>
                <a:latin typeface="Courier New"/>
              </a:rPr>
              <a:t>* cdef01  tidy up</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current files no longer show it</a:t>
            </a:r>
          </a:p>
          <a:p>
            <a:pPr algn="l">
              <a:lnSpc>
                <a:spcPct val="112000"/>
              </a:lnSpc>
            </a:pPr>
            <a:r>
              <a:rPr sz="1050" b="0" i="1">
                <a:solidFill>
                  <a:srgbClr val="8FA3C8"/>
                </a:solidFill>
                <a:latin typeface="Courier New"/>
              </a:rPr>
              <a:t>the commit before it still does</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branches and tags point at commits</a:t>
            </a:r>
          </a:p>
          <a:p>
            <a:pPr algn="l">
              <a:lnSpc>
                <a:spcPct val="112000"/>
              </a:lnSpc>
            </a:pPr>
            <a:r>
              <a:rPr sz="1050" b="0" i="0">
                <a:solidFill>
                  <a:srgbClr val="F4F6FB"/>
                </a:solidFill>
                <a:latin typeface="Courier New"/>
              </a:rPr>
              <a:t>main   -&gt;  cdef01</a:t>
            </a:r>
          </a:p>
          <a:p>
            <a:pPr algn="l">
              <a:lnSpc>
                <a:spcPct val="112000"/>
              </a:lnSpc>
            </a:pPr>
            <a:r>
              <a:rPr sz="1050" b="0" i="0">
                <a:solidFill>
                  <a:srgbClr val="F4F6FB"/>
                </a:solidFill>
                <a:latin typeface="Courier New"/>
              </a:rPr>
              <a:t>v1.0   -&gt;  d4e5f6</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Deleting something in the newest commit does not delete the older ones.</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THEORY  07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Shells and the environment</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shell is a program too, and it can be changed, restricted or replaced.</a:t>
            </a:r>
          </a:p>
        </p:txBody>
      </p:sp>
      <p:sp>
        <p:nvSpPr>
          <p:cNvPr id="5" name="Rounded Rectangle 4"/>
          <p:cNvSpPr/>
          <p:nvPr/>
        </p:nvSpPr>
        <p:spPr>
          <a:xfrm>
            <a:off x="548640" y="2148840"/>
            <a:ext cx="55778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300" b="0" i="0">
                <a:solidFill>
                  <a:srgbClr val="B8C7E4"/>
                </a:solidFill>
                <a:latin typeface="Calibri"/>
              </a:rPr>
              <a:t>Logging in normally starts a shell that reads your commands. Which shell runs, and what it will permit, is configuration. A restricted shell removes capabilities; startup files execute before you ever see a prompt; and the environment decides where commands are looked for.</a:t>
            </a:r>
          </a:p>
        </p:txBody>
      </p:sp>
      <p:sp>
        <p:nvSpPr>
          <p:cNvPr id="8" name="TextBox 7"/>
          <p:cNvSpPr txBox="1"/>
          <p:nvPr/>
        </p:nvSpPr>
        <p:spPr>
          <a:xfrm>
            <a:off x="859790" y="431800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WHY IT MATTERS HERE</a:t>
            </a:r>
          </a:p>
        </p:txBody>
      </p:sp>
      <p:sp>
        <p:nvSpPr>
          <p:cNvPr id="9" name="TextBox 8"/>
          <p:cNvSpPr txBox="1"/>
          <p:nvPr/>
        </p:nvSpPr>
        <p:spPr>
          <a:xfrm>
            <a:off x="859790" y="4592320"/>
            <a:ext cx="4955540" cy="1219200"/>
          </a:xfrm>
          <a:prstGeom prst="rect">
            <a:avLst/>
          </a:prstGeom>
          <a:noFill/>
        </p:spPr>
        <p:txBody>
          <a:bodyPr wrap="square" lIns="0" rIns="0" tIns="0" bIns="0" anchor="t">
            <a:spAutoFit/>
          </a:bodyPr>
          <a:lstStyle/>
          <a:p>
            <a:pPr algn="l"/>
            <a:r>
              <a:rPr sz="1300" b="0" i="0">
                <a:solidFill>
                  <a:srgbClr val="B8C7E4"/>
                </a:solidFill>
                <a:latin typeface="Calibri"/>
              </a:rPr>
              <a:t>The last stretch of this track is about the shell itself rather than about files. When the environment is working against you, the question stops being "which command" and becomes "what is actually running my command, and as what".</a:t>
            </a:r>
          </a:p>
        </p:txBody>
      </p:sp>
      <p:sp>
        <p:nvSpPr>
          <p:cNvPr id="10" name="Rounded Rectangle 9"/>
          <p:cNvSpPr/>
          <p:nvPr/>
        </p:nvSpPr>
        <p:spPr>
          <a:xfrm>
            <a:off x="6383020" y="2148840"/>
            <a:ext cx="5260340" cy="37592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3274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what happens before you get a prompt</a:t>
            </a:r>
          </a:p>
          <a:p>
            <a:pPr algn="l">
              <a:lnSpc>
                <a:spcPct val="112000"/>
              </a:lnSpc>
            </a:pPr>
            <a:r>
              <a:rPr sz="1050" b="0" i="0">
                <a:solidFill>
                  <a:srgbClr val="F4F6FB"/>
                </a:solidFill>
                <a:latin typeface="Courier New"/>
              </a:rPr>
              <a:t>login  -&gt;  startup files run  -&gt;  shell starts</a:t>
            </a:r>
          </a:p>
          <a:p>
            <a:pPr algn="l">
              <a:lnSpc>
                <a:spcPct val="112000"/>
              </a:lnSpc>
            </a:pPr>
            <a:r>
              <a:rPr sz="1050" b="0" i="0">
                <a:solidFill>
                  <a:srgbClr val="F4F6FB"/>
                </a:solidFill>
                <a:latin typeface="Courier New"/>
              </a:rPr>
              <a:t>               |                      |</a:t>
            </a:r>
          </a:p>
          <a:p>
            <a:pPr algn="l">
              <a:lnSpc>
                <a:spcPct val="112000"/>
              </a:lnSpc>
            </a:pPr>
            <a:r>
              <a:rPr sz="1050" b="0" i="0">
                <a:solidFill>
                  <a:srgbClr val="F4F6FB"/>
                </a:solidFill>
                <a:latin typeface="Courier New"/>
              </a:rPr>
              <a:t>        can print, can act    may be restricted</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where commands are found</a:t>
            </a:r>
          </a:p>
          <a:p>
            <a:pPr algn="l">
              <a:lnSpc>
                <a:spcPct val="112000"/>
              </a:lnSpc>
            </a:pPr>
            <a:r>
              <a:rPr sz="1050" b="0" i="0">
                <a:solidFill>
                  <a:srgbClr val="F4F6FB"/>
                </a:solidFill>
                <a:latin typeface="Courier New"/>
              </a:rPr>
              <a:t>PATH=/usr/local/bin:/usr/bin:/bin</a:t>
            </a:r>
          </a:p>
          <a:p>
            <a:pPr algn="l">
              <a:lnSpc>
                <a:spcPct val="112000"/>
              </a:lnSpc>
            </a:pPr>
            <a:r>
              <a:rPr sz="1050" b="0" i="0">
                <a:solidFill>
                  <a:srgbClr val="F4F6FB"/>
                </a:solidFill>
                <a:latin typeface="Courier New"/>
              </a:rPr>
              <a:t>     searched left to right,</a:t>
            </a:r>
          </a:p>
          <a:p>
            <a:pPr algn="l">
              <a:lnSpc>
                <a:spcPct val="112000"/>
              </a:lnSpc>
            </a:pPr>
            <a:r>
              <a:rPr sz="1050" b="0" i="0">
                <a:solidFill>
                  <a:srgbClr val="F4F6FB"/>
                </a:solidFill>
                <a:latin typeface="Courier New"/>
              </a:rPr>
              <a:t>     first match wins</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so the name you type and the program</a:t>
            </a:r>
          </a:p>
          <a:p>
            <a:pPr algn="l">
              <a:lnSpc>
                <a:spcPct val="112000"/>
              </a:lnSpc>
            </a:pPr>
            <a:r>
              <a:rPr sz="1050" b="0" i="1">
                <a:solidFill>
                  <a:srgbClr val="8FA3C8"/>
                </a:solidFill>
                <a:latin typeface="Courier New"/>
              </a:rPr>
              <a:t>that runs are not the same thing</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A340"/>
                </a:solidFill>
                <a:latin typeface="Calibri"/>
              </a:rPr>
              <a:t>By the end of Bandit, the environment is the puzzle.</a:t>
            </a:r>
          </a:p>
        </p:txBody>
      </p:sp>
      <p:sp>
        <p:nvSpPr>
          <p:cNvPr id="13" name="TextBox 12"/>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1.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GETTING IN</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You connect with SSH</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Bandit gives you a host and a port. You log in from your own terminal — no browser desktop needed.</a:t>
            </a:r>
          </a:p>
        </p:txBody>
      </p:sp>
      <p:sp>
        <p:nvSpPr>
          <p:cNvPr id="6" name="Rounded Rectangle 5"/>
          <p:cNvSpPr/>
          <p:nvPr/>
        </p:nvSpPr>
        <p:spPr>
          <a:xfrm>
            <a:off x="548640" y="2148840"/>
            <a:ext cx="5577840" cy="312674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790" y="2405380"/>
            <a:ext cx="4955540" cy="237490"/>
          </a:xfrm>
          <a:prstGeom prst="rect">
            <a:avLst/>
          </a:prstGeom>
          <a:noFill/>
        </p:spPr>
        <p:txBody>
          <a:bodyPr wrap="square" lIns="0" rIns="0" tIns="0" bIns="0" anchor="ctr">
            <a:spAutoFit/>
          </a:bodyPr>
          <a:lstStyle/>
          <a:p>
            <a:pPr algn="l"/>
            <a:r>
              <a:rPr sz="950" b="1" i="0" spc="110">
                <a:solidFill>
                  <a:srgbClr val="E0A340"/>
                </a:solidFill>
                <a:latin typeface="Calibri"/>
              </a:rPr>
              <a:t>STEP BY STEP</a:t>
            </a:r>
          </a:p>
        </p:txBody>
      </p:sp>
      <p:sp>
        <p:nvSpPr>
          <p:cNvPr id="8" name="TextBox 7"/>
          <p:cNvSpPr txBox="1"/>
          <p:nvPr/>
        </p:nvSpPr>
        <p:spPr>
          <a:xfrm>
            <a:off x="859790" y="2771140"/>
            <a:ext cx="365760" cy="622300"/>
          </a:xfrm>
          <a:prstGeom prst="rect">
            <a:avLst/>
          </a:prstGeom>
          <a:noFill/>
        </p:spPr>
        <p:txBody>
          <a:bodyPr wrap="square" lIns="0" rIns="0" tIns="0" bIns="0" anchor="ctr">
            <a:spAutoFit/>
          </a:bodyPr>
          <a:lstStyle/>
          <a:p>
            <a:pPr algn="l"/>
            <a:r>
              <a:rPr sz="1600" b="1" i="0">
                <a:solidFill>
                  <a:srgbClr val="E0A340"/>
                </a:solidFill>
                <a:latin typeface="Cambria"/>
              </a:rPr>
              <a:t>1</a:t>
            </a:r>
          </a:p>
        </p:txBody>
      </p:sp>
      <p:sp>
        <p:nvSpPr>
          <p:cNvPr id="9" name="TextBox 8"/>
          <p:cNvSpPr txBox="1"/>
          <p:nvPr/>
        </p:nvSpPr>
        <p:spPr>
          <a:xfrm>
            <a:off x="1280160" y="2806700"/>
            <a:ext cx="4480560" cy="256540"/>
          </a:xfrm>
          <a:prstGeom prst="rect">
            <a:avLst/>
          </a:prstGeom>
          <a:noFill/>
        </p:spPr>
        <p:txBody>
          <a:bodyPr wrap="square" lIns="0" rIns="0" tIns="0" bIns="0" anchor="ctr">
            <a:spAutoFit/>
          </a:bodyPr>
          <a:lstStyle/>
          <a:p>
            <a:pPr algn="l"/>
            <a:r>
              <a:rPr sz="1250" b="1" i="0">
                <a:solidFill>
                  <a:srgbClr val="F4F6FB"/>
                </a:solidFill>
                <a:latin typeface="Calibri"/>
              </a:rPr>
              <a:t>Launch Environment</a:t>
            </a:r>
          </a:p>
        </p:txBody>
      </p:sp>
      <p:sp>
        <p:nvSpPr>
          <p:cNvPr id="10" name="TextBox 9"/>
          <p:cNvSpPr txBox="1"/>
          <p:nvPr/>
        </p:nvSpPr>
        <p:spPr>
          <a:xfrm>
            <a:off x="1280160" y="3045460"/>
            <a:ext cx="4480560" cy="274320"/>
          </a:xfrm>
          <a:prstGeom prst="rect">
            <a:avLst/>
          </a:prstGeom>
          <a:noFill/>
        </p:spPr>
        <p:txBody>
          <a:bodyPr wrap="square" lIns="0" rIns="0" tIns="0" bIns="0" anchor="ctr">
            <a:spAutoFit/>
          </a:bodyPr>
          <a:lstStyle/>
          <a:p>
            <a:pPr algn="l"/>
            <a:r>
              <a:rPr sz="1100" b="0" i="0">
                <a:solidFill>
                  <a:srgbClr val="B8C7E4"/>
                </a:solidFill>
                <a:latin typeface="Calibri"/>
              </a:rPr>
              <a:t>On the challenge itself. Wait for a host and port to appear.</a:t>
            </a:r>
          </a:p>
        </p:txBody>
      </p:sp>
      <p:sp>
        <p:nvSpPr>
          <p:cNvPr id="11" name="TextBox 10"/>
          <p:cNvSpPr txBox="1"/>
          <p:nvPr/>
        </p:nvSpPr>
        <p:spPr>
          <a:xfrm>
            <a:off x="859790" y="3392170"/>
            <a:ext cx="365760" cy="622300"/>
          </a:xfrm>
          <a:prstGeom prst="rect">
            <a:avLst/>
          </a:prstGeom>
          <a:noFill/>
        </p:spPr>
        <p:txBody>
          <a:bodyPr wrap="square" lIns="0" rIns="0" tIns="0" bIns="0" anchor="ctr">
            <a:spAutoFit/>
          </a:bodyPr>
          <a:lstStyle/>
          <a:p>
            <a:pPr algn="l"/>
            <a:r>
              <a:rPr sz="1600" b="1" i="0">
                <a:solidFill>
                  <a:srgbClr val="E0A340"/>
                </a:solidFill>
                <a:latin typeface="Cambria"/>
              </a:rPr>
              <a:t>2</a:t>
            </a:r>
          </a:p>
        </p:txBody>
      </p:sp>
      <p:sp>
        <p:nvSpPr>
          <p:cNvPr id="12" name="TextBox 11"/>
          <p:cNvSpPr txBox="1"/>
          <p:nvPr/>
        </p:nvSpPr>
        <p:spPr>
          <a:xfrm>
            <a:off x="1280160" y="3429000"/>
            <a:ext cx="4480560" cy="256540"/>
          </a:xfrm>
          <a:prstGeom prst="rect">
            <a:avLst/>
          </a:prstGeom>
          <a:noFill/>
        </p:spPr>
        <p:txBody>
          <a:bodyPr wrap="square" lIns="0" rIns="0" tIns="0" bIns="0" anchor="ctr">
            <a:spAutoFit/>
          </a:bodyPr>
          <a:lstStyle/>
          <a:p>
            <a:pPr algn="l"/>
            <a:r>
              <a:rPr sz="1250" b="1" i="0">
                <a:solidFill>
                  <a:srgbClr val="F4F6FB"/>
                </a:solidFill>
                <a:latin typeface="Calibri"/>
              </a:rPr>
              <a:t>SSH in</a:t>
            </a:r>
          </a:p>
        </p:txBody>
      </p:sp>
      <p:sp>
        <p:nvSpPr>
          <p:cNvPr id="13" name="TextBox 12"/>
          <p:cNvSpPr txBox="1"/>
          <p:nvPr/>
        </p:nvSpPr>
        <p:spPr>
          <a:xfrm>
            <a:off x="1280160" y="3666490"/>
            <a:ext cx="4480560" cy="274320"/>
          </a:xfrm>
          <a:prstGeom prst="rect">
            <a:avLst/>
          </a:prstGeom>
          <a:noFill/>
        </p:spPr>
        <p:txBody>
          <a:bodyPr wrap="square" lIns="0" rIns="0" tIns="0" bIns="0" anchor="ctr">
            <a:spAutoFit/>
          </a:bodyPr>
          <a:lstStyle/>
          <a:p>
            <a:pPr algn="l"/>
            <a:r>
              <a:rPr sz="1100" b="0" i="0">
                <a:solidFill>
                  <a:srgbClr val="B8C7E4"/>
                </a:solidFill>
                <a:latin typeface="Calibri"/>
              </a:rPr>
              <a:t>Use the level's username and the previous level's password.</a:t>
            </a:r>
          </a:p>
        </p:txBody>
      </p:sp>
      <p:sp>
        <p:nvSpPr>
          <p:cNvPr id="14" name="TextBox 13"/>
          <p:cNvSpPr txBox="1"/>
          <p:nvPr/>
        </p:nvSpPr>
        <p:spPr>
          <a:xfrm>
            <a:off x="859790" y="4014470"/>
            <a:ext cx="365760" cy="622300"/>
          </a:xfrm>
          <a:prstGeom prst="rect">
            <a:avLst/>
          </a:prstGeom>
          <a:noFill/>
        </p:spPr>
        <p:txBody>
          <a:bodyPr wrap="square" lIns="0" rIns="0" tIns="0" bIns="0" anchor="ctr">
            <a:spAutoFit/>
          </a:bodyPr>
          <a:lstStyle/>
          <a:p>
            <a:pPr algn="l"/>
            <a:r>
              <a:rPr sz="1600" b="1" i="0">
                <a:solidFill>
                  <a:srgbClr val="E0A340"/>
                </a:solidFill>
                <a:latin typeface="Cambria"/>
              </a:rPr>
              <a:t>3</a:t>
            </a:r>
          </a:p>
        </p:txBody>
      </p:sp>
      <p:sp>
        <p:nvSpPr>
          <p:cNvPr id="15" name="TextBox 14"/>
          <p:cNvSpPr txBox="1"/>
          <p:nvPr/>
        </p:nvSpPr>
        <p:spPr>
          <a:xfrm>
            <a:off x="1280160" y="4051300"/>
            <a:ext cx="4480560" cy="256540"/>
          </a:xfrm>
          <a:prstGeom prst="rect">
            <a:avLst/>
          </a:prstGeom>
          <a:noFill/>
        </p:spPr>
        <p:txBody>
          <a:bodyPr wrap="square" lIns="0" rIns="0" tIns="0" bIns="0" anchor="ctr">
            <a:spAutoFit/>
          </a:bodyPr>
          <a:lstStyle/>
          <a:p>
            <a:pPr algn="l"/>
            <a:r>
              <a:rPr sz="1250" b="1" i="0">
                <a:solidFill>
                  <a:srgbClr val="F4F6FB"/>
                </a:solidFill>
                <a:latin typeface="Calibri"/>
              </a:rPr>
              <a:t>Solve and read</a:t>
            </a:r>
          </a:p>
        </p:txBody>
      </p:sp>
      <p:sp>
        <p:nvSpPr>
          <p:cNvPr id="16" name="TextBox 15"/>
          <p:cNvSpPr txBox="1"/>
          <p:nvPr/>
        </p:nvSpPr>
        <p:spPr>
          <a:xfrm>
            <a:off x="1280160" y="4288790"/>
            <a:ext cx="4480560" cy="274320"/>
          </a:xfrm>
          <a:prstGeom prst="rect">
            <a:avLst/>
          </a:prstGeom>
          <a:noFill/>
        </p:spPr>
        <p:txBody>
          <a:bodyPr wrap="square" lIns="0" rIns="0" tIns="0" bIns="0" anchor="ctr">
            <a:spAutoFit/>
          </a:bodyPr>
          <a:lstStyle/>
          <a:p>
            <a:pPr algn="l"/>
            <a:r>
              <a:rPr sz="1100" b="0" i="0">
                <a:solidFill>
                  <a:srgbClr val="B8C7E4"/>
                </a:solidFill>
                <a:latin typeface="Calibri"/>
              </a:rPr>
              <a:t>Work in the shell until you find the next level's password.</a:t>
            </a:r>
          </a:p>
        </p:txBody>
      </p:sp>
      <p:sp>
        <p:nvSpPr>
          <p:cNvPr id="17" name="TextBox 16"/>
          <p:cNvSpPr txBox="1"/>
          <p:nvPr/>
        </p:nvSpPr>
        <p:spPr>
          <a:xfrm>
            <a:off x="859790" y="4635500"/>
            <a:ext cx="365760" cy="622300"/>
          </a:xfrm>
          <a:prstGeom prst="rect">
            <a:avLst/>
          </a:prstGeom>
          <a:noFill/>
        </p:spPr>
        <p:txBody>
          <a:bodyPr wrap="square" lIns="0" rIns="0" tIns="0" bIns="0" anchor="ctr">
            <a:spAutoFit/>
          </a:bodyPr>
          <a:lstStyle/>
          <a:p>
            <a:pPr algn="l"/>
            <a:r>
              <a:rPr sz="1600" b="1" i="0">
                <a:solidFill>
                  <a:srgbClr val="E0A340"/>
                </a:solidFill>
                <a:latin typeface="Cambria"/>
              </a:rPr>
              <a:t>4</a:t>
            </a:r>
          </a:p>
        </p:txBody>
      </p:sp>
      <p:sp>
        <p:nvSpPr>
          <p:cNvPr id="18" name="TextBox 17"/>
          <p:cNvSpPr txBox="1"/>
          <p:nvPr/>
        </p:nvSpPr>
        <p:spPr>
          <a:xfrm>
            <a:off x="1280160" y="4672330"/>
            <a:ext cx="4480560" cy="256540"/>
          </a:xfrm>
          <a:prstGeom prst="rect">
            <a:avLst/>
          </a:prstGeom>
          <a:noFill/>
        </p:spPr>
        <p:txBody>
          <a:bodyPr wrap="square" lIns="0" rIns="0" tIns="0" bIns="0" anchor="ctr">
            <a:spAutoFit/>
          </a:bodyPr>
          <a:lstStyle/>
          <a:p>
            <a:pPr algn="l"/>
            <a:r>
              <a:rPr sz="1250" b="1" i="0">
                <a:solidFill>
                  <a:srgbClr val="F4F6FB"/>
                </a:solidFill>
                <a:latin typeface="Calibri"/>
              </a:rPr>
              <a:t>Submit the flag</a:t>
            </a:r>
          </a:p>
        </p:txBody>
      </p:sp>
      <p:sp>
        <p:nvSpPr>
          <p:cNvPr id="19" name="TextBox 18"/>
          <p:cNvSpPr txBox="1"/>
          <p:nvPr/>
        </p:nvSpPr>
        <p:spPr>
          <a:xfrm>
            <a:off x="1280160" y="4909820"/>
            <a:ext cx="4480560" cy="274320"/>
          </a:xfrm>
          <a:prstGeom prst="rect">
            <a:avLst/>
          </a:prstGeom>
          <a:noFill/>
        </p:spPr>
        <p:txBody>
          <a:bodyPr wrap="square" lIns="0" rIns="0" tIns="0" bIns="0" anchor="ctr">
            <a:spAutoFit/>
          </a:bodyPr>
          <a:lstStyle/>
          <a:p>
            <a:pPr algn="l"/>
            <a:r>
              <a:rPr sz="1100" b="0" i="0">
                <a:solidFill>
                  <a:srgbClr val="B8C7E4"/>
                </a:solidFill>
                <a:latin typeface="Calibri"/>
              </a:rPr>
              <a:t>Paste it into CTFd. Points go up, the next level opens.</a:t>
            </a:r>
          </a:p>
        </p:txBody>
      </p:sp>
      <p:sp>
        <p:nvSpPr>
          <p:cNvPr id="20" name="Rounded Rectangle 19"/>
          <p:cNvSpPr/>
          <p:nvPr/>
        </p:nvSpPr>
        <p:spPr>
          <a:xfrm>
            <a:off x="6383020" y="2148840"/>
            <a:ext cx="5260340" cy="312674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7340" y="2405380"/>
            <a:ext cx="4711700" cy="237490"/>
          </a:xfrm>
          <a:prstGeom prst="rect">
            <a:avLst/>
          </a:prstGeom>
          <a:noFill/>
        </p:spPr>
        <p:txBody>
          <a:bodyPr wrap="square" lIns="0" rIns="0" tIns="0" bIns="0" anchor="ctr">
            <a:spAutoFit/>
          </a:bodyPr>
          <a:lstStyle/>
          <a:p>
            <a:pPr algn="l"/>
            <a:r>
              <a:rPr sz="950" b="1" i="0" spc="110">
                <a:solidFill>
                  <a:srgbClr val="E0A340"/>
                </a:solidFill>
                <a:latin typeface="Calibri"/>
              </a:rPr>
              <a:t>THE LAUNCH PANEL</a:t>
            </a:r>
          </a:p>
        </p:txBody>
      </p:sp>
      <p:sp>
        <p:nvSpPr>
          <p:cNvPr id="22" name="Oval 21"/>
          <p:cNvSpPr/>
          <p:nvPr/>
        </p:nvSpPr>
        <p:spPr>
          <a:xfrm>
            <a:off x="6657340" y="2843530"/>
            <a:ext cx="402590" cy="402590"/>
          </a:xfrm>
          <a:prstGeom prst="ellipse">
            <a:avLst/>
          </a:prstGeom>
          <a:solidFill>
            <a:srgbClr val="E0A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12.png"/>
          <p:cNvPicPr>
            <a:picLocks noChangeAspect="1"/>
          </p:cNvPicPr>
          <p:nvPr/>
        </p:nvPicPr>
        <p:blipFill>
          <a:blip r:embed="rId3"/>
          <a:stretch>
            <a:fillRect/>
          </a:stretch>
        </p:blipFill>
        <p:spPr>
          <a:xfrm>
            <a:off x="6761480" y="2948940"/>
            <a:ext cx="193040" cy="193040"/>
          </a:xfrm>
          <a:prstGeom prst="rect">
            <a:avLst/>
          </a:prstGeom>
        </p:spPr>
      </p:pic>
      <p:sp>
        <p:nvSpPr>
          <p:cNvPr id="24" name="TextBox 23"/>
          <p:cNvSpPr txBox="1"/>
          <p:nvPr/>
        </p:nvSpPr>
        <p:spPr>
          <a:xfrm>
            <a:off x="7223759" y="2788920"/>
            <a:ext cx="4117340" cy="256540"/>
          </a:xfrm>
          <a:prstGeom prst="rect">
            <a:avLst/>
          </a:prstGeom>
          <a:noFill/>
        </p:spPr>
        <p:txBody>
          <a:bodyPr wrap="square" lIns="0" rIns="0" tIns="0" bIns="0" anchor="ctr">
            <a:spAutoFit/>
          </a:bodyPr>
          <a:lstStyle/>
          <a:p>
            <a:pPr algn="l"/>
            <a:r>
              <a:rPr sz="1250" b="1" i="0">
                <a:solidFill>
                  <a:srgbClr val="F4F6FB"/>
                </a:solidFill>
                <a:latin typeface="Calibri"/>
              </a:rPr>
              <a:t>Launch Environment</a:t>
            </a:r>
          </a:p>
        </p:txBody>
      </p:sp>
      <p:sp>
        <p:nvSpPr>
          <p:cNvPr id="25" name="TextBox 24"/>
          <p:cNvSpPr txBox="1"/>
          <p:nvPr/>
        </p:nvSpPr>
        <p:spPr>
          <a:xfrm>
            <a:off x="7223759" y="3026410"/>
            <a:ext cx="4117340" cy="292100"/>
          </a:xfrm>
          <a:prstGeom prst="rect">
            <a:avLst/>
          </a:prstGeom>
          <a:noFill/>
        </p:spPr>
        <p:txBody>
          <a:bodyPr wrap="square" lIns="0" rIns="0" tIns="0" bIns="0" anchor="ctr">
            <a:spAutoFit/>
          </a:bodyPr>
          <a:lstStyle/>
          <a:p>
            <a:pPr algn="l"/>
            <a:r>
              <a:rPr sz="1100" b="0" i="0">
                <a:solidFill>
                  <a:srgbClr val="B8C7E4"/>
                </a:solidFill>
                <a:latin typeface="Calibri"/>
              </a:rPr>
              <a:t>Starts your box, or reconnects you to one already running.</a:t>
            </a:r>
          </a:p>
        </p:txBody>
      </p:sp>
      <p:sp>
        <p:nvSpPr>
          <p:cNvPr id="26" name="Oval 25"/>
          <p:cNvSpPr/>
          <p:nvPr/>
        </p:nvSpPr>
        <p:spPr>
          <a:xfrm>
            <a:off x="6657340" y="3465829"/>
            <a:ext cx="402590" cy="402590"/>
          </a:xfrm>
          <a:prstGeom prst="ellipse">
            <a:avLst/>
          </a:prstGeom>
          <a:solidFill>
            <a:srgbClr val="E0A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13.png"/>
          <p:cNvPicPr>
            <a:picLocks noChangeAspect="1"/>
          </p:cNvPicPr>
          <p:nvPr/>
        </p:nvPicPr>
        <p:blipFill>
          <a:blip r:embed="rId4"/>
          <a:stretch>
            <a:fillRect/>
          </a:stretch>
        </p:blipFill>
        <p:spPr>
          <a:xfrm>
            <a:off x="6761480" y="3569970"/>
            <a:ext cx="193040" cy="193040"/>
          </a:xfrm>
          <a:prstGeom prst="rect">
            <a:avLst/>
          </a:prstGeom>
        </p:spPr>
      </p:pic>
      <p:sp>
        <p:nvSpPr>
          <p:cNvPr id="28" name="TextBox 27"/>
          <p:cNvSpPr txBox="1"/>
          <p:nvPr/>
        </p:nvSpPr>
        <p:spPr>
          <a:xfrm>
            <a:off x="7223759" y="3411220"/>
            <a:ext cx="4117340" cy="256540"/>
          </a:xfrm>
          <a:prstGeom prst="rect">
            <a:avLst/>
          </a:prstGeom>
          <a:noFill/>
        </p:spPr>
        <p:txBody>
          <a:bodyPr wrap="square" lIns="0" rIns="0" tIns="0" bIns="0" anchor="ctr">
            <a:spAutoFit/>
          </a:bodyPr>
          <a:lstStyle/>
          <a:p>
            <a:pPr algn="l"/>
            <a:r>
              <a:rPr sz="1250" b="1" i="0">
                <a:solidFill>
                  <a:srgbClr val="F4F6FB"/>
                </a:solidFill>
                <a:latin typeface="Calibri"/>
              </a:rPr>
              <a:t>Reboot Host</a:t>
            </a:r>
          </a:p>
        </p:txBody>
      </p:sp>
      <p:sp>
        <p:nvSpPr>
          <p:cNvPr id="29" name="TextBox 28"/>
          <p:cNvSpPr txBox="1"/>
          <p:nvPr/>
        </p:nvSpPr>
        <p:spPr>
          <a:xfrm>
            <a:off x="7223759" y="3648710"/>
            <a:ext cx="4117340" cy="292100"/>
          </a:xfrm>
          <a:prstGeom prst="rect">
            <a:avLst/>
          </a:prstGeom>
          <a:noFill/>
        </p:spPr>
        <p:txBody>
          <a:bodyPr wrap="square" lIns="0" rIns="0" tIns="0" bIns="0" anchor="ctr">
            <a:spAutoFit/>
          </a:bodyPr>
          <a:lstStyle/>
          <a:p>
            <a:pPr algn="l"/>
            <a:r>
              <a:rPr sz="1100" b="0" i="0">
                <a:solidFill>
                  <a:srgbClr val="B8C7E4"/>
                </a:solidFill>
                <a:latin typeface="Calibri"/>
              </a:rPr>
              <a:t>Restarts it in place. Same connection details afterward.</a:t>
            </a:r>
          </a:p>
        </p:txBody>
      </p:sp>
      <p:sp>
        <p:nvSpPr>
          <p:cNvPr id="30" name="Oval 29"/>
          <p:cNvSpPr/>
          <p:nvPr/>
        </p:nvSpPr>
        <p:spPr>
          <a:xfrm>
            <a:off x="6657340" y="4086860"/>
            <a:ext cx="402590" cy="402590"/>
          </a:xfrm>
          <a:prstGeom prst="ellipse">
            <a:avLst/>
          </a:prstGeom>
          <a:solidFill>
            <a:srgbClr val="E0A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14.png"/>
          <p:cNvPicPr>
            <a:picLocks noChangeAspect="1"/>
          </p:cNvPicPr>
          <p:nvPr/>
        </p:nvPicPr>
        <p:blipFill>
          <a:blip r:embed="rId5"/>
          <a:stretch>
            <a:fillRect/>
          </a:stretch>
        </p:blipFill>
        <p:spPr>
          <a:xfrm>
            <a:off x="6761480" y="4192270"/>
            <a:ext cx="193040" cy="193040"/>
          </a:xfrm>
          <a:prstGeom prst="rect">
            <a:avLst/>
          </a:prstGeom>
        </p:spPr>
      </p:pic>
      <p:sp>
        <p:nvSpPr>
          <p:cNvPr id="32" name="TextBox 31"/>
          <p:cNvSpPr txBox="1"/>
          <p:nvPr/>
        </p:nvSpPr>
        <p:spPr>
          <a:xfrm>
            <a:off x="7223759" y="4032250"/>
            <a:ext cx="4117340" cy="256540"/>
          </a:xfrm>
          <a:prstGeom prst="rect">
            <a:avLst/>
          </a:prstGeom>
          <a:noFill/>
        </p:spPr>
        <p:txBody>
          <a:bodyPr wrap="square" lIns="0" rIns="0" tIns="0" bIns="0" anchor="ctr">
            <a:spAutoFit/>
          </a:bodyPr>
          <a:lstStyle/>
          <a:p>
            <a:pPr algn="l"/>
            <a:r>
              <a:rPr sz="1250" b="1" i="0">
                <a:solidFill>
                  <a:srgbClr val="F4F6FB"/>
                </a:solidFill>
                <a:latin typeface="Calibri"/>
              </a:rPr>
              <a:t>Relaunch Environment</a:t>
            </a:r>
          </a:p>
        </p:txBody>
      </p:sp>
      <p:sp>
        <p:nvSpPr>
          <p:cNvPr id="33" name="TextBox 32"/>
          <p:cNvSpPr txBox="1"/>
          <p:nvPr/>
        </p:nvSpPr>
        <p:spPr>
          <a:xfrm>
            <a:off x="7223759" y="4269740"/>
            <a:ext cx="4117340" cy="292100"/>
          </a:xfrm>
          <a:prstGeom prst="rect">
            <a:avLst/>
          </a:prstGeom>
          <a:noFill/>
        </p:spPr>
        <p:txBody>
          <a:bodyPr wrap="square" lIns="0" rIns="0" tIns="0" bIns="0" anchor="ctr">
            <a:spAutoFit/>
          </a:bodyPr>
          <a:lstStyle/>
          <a:p>
            <a:pPr algn="l"/>
            <a:r>
              <a:rPr sz="1100" b="0" i="0">
                <a:solidFill>
                  <a:srgbClr val="B8C7E4"/>
                </a:solidFill>
                <a:latin typeface="Calibri"/>
              </a:rPr>
              <a:t>Rebuilds from scratch. Anything you changed inside is lost.</a:t>
            </a:r>
          </a:p>
        </p:txBody>
      </p:sp>
      <p:sp>
        <p:nvSpPr>
          <p:cNvPr id="34" name="Oval 33"/>
          <p:cNvSpPr/>
          <p:nvPr/>
        </p:nvSpPr>
        <p:spPr>
          <a:xfrm>
            <a:off x="6657340" y="4709160"/>
            <a:ext cx="402590" cy="402590"/>
          </a:xfrm>
          <a:prstGeom prst="ellipse">
            <a:avLst/>
          </a:prstGeom>
          <a:solidFill>
            <a:srgbClr val="E0A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15.png"/>
          <p:cNvPicPr>
            <a:picLocks noChangeAspect="1"/>
          </p:cNvPicPr>
          <p:nvPr/>
        </p:nvPicPr>
        <p:blipFill>
          <a:blip r:embed="rId6"/>
          <a:stretch>
            <a:fillRect/>
          </a:stretch>
        </p:blipFill>
        <p:spPr>
          <a:xfrm>
            <a:off x="6761480" y="4813300"/>
            <a:ext cx="193040" cy="193040"/>
          </a:xfrm>
          <a:prstGeom prst="rect">
            <a:avLst/>
          </a:prstGeom>
        </p:spPr>
      </p:pic>
      <p:sp>
        <p:nvSpPr>
          <p:cNvPr id="36" name="TextBox 35"/>
          <p:cNvSpPr txBox="1"/>
          <p:nvPr/>
        </p:nvSpPr>
        <p:spPr>
          <a:xfrm>
            <a:off x="7223759" y="4654550"/>
            <a:ext cx="4117340" cy="256540"/>
          </a:xfrm>
          <a:prstGeom prst="rect">
            <a:avLst/>
          </a:prstGeom>
          <a:noFill/>
        </p:spPr>
        <p:txBody>
          <a:bodyPr wrap="square" lIns="0" rIns="0" tIns="0" bIns="0" anchor="ctr">
            <a:spAutoFit/>
          </a:bodyPr>
          <a:lstStyle/>
          <a:p>
            <a:pPr algn="l"/>
            <a:r>
              <a:rPr sz="1250" b="1" i="0">
                <a:solidFill>
                  <a:srgbClr val="F4F6FB"/>
                </a:solidFill>
                <a:latin typeface="Calibri"/>
              </a:rPr>
              <a:t>+5 more minutes</a:t>
            </a:r>
          </a:p>
        </p:txBody>
      </p:sp>
      <p:sp>
        <p:nvSpPr>
          <p:cNvPr id="37" name="TextBox 36"/>
          <p:cNvSpPr txBox="1"/>
          <p:nvPr/>
        </p:nvSpPr>
        <p:spPr>
          <a:xfrm>
            <a:off x="7223759" y="4892040"/>
            <a:ext cx="4117340" cy="292100"/>
          </a:xfrm>
          <a:prstGeom prst="rect">
            <a:avLst/>
          </a:prstGeom>
          <a:noFill/>
        </p:spPr>
        <p:txBody>
          <a:bodyPr wrap="square" lIns="0" rIns="0" tIns="0" bIns="0" anchor="ctr">
            <a:spAutoFit/>
          </a:bodyPr>
          <a:lstStyle/>
          <a:p>
            <a:pPr algn="l"/>
            <a:r>
              <a:rPr sz="1100" b="0" i="0">
                <a:solidFill>
                  <a:srgbClr val="B8C7E4"/>
                </a:solidFill>
                <a:latin typeface="Calibri"/>
              </a:rPr>
              <a:t>Appears only once the track is solved and a shutdown has started.</a:t>
            </a:r>
          </a:p>
        </p:txBody>
      </p:sp>
      <p:sp>
        <p:nvSpPr>
          <p:cNvPr id="38" name="TextBox 37"/>
          <p:cNvSpPr txBox="1"/>
          <p:nvPr/>
        </p:nvSpPr>
        <p:spPr>
          <a:xfrm>
            <a:off x="548640" y="5532120"/>
            <a:ext cx="11094720" cy="274320"/>
          </a:xfrm>
          <a:prstGeom prst="rect">
            <a:avLst/>
          </a:prstGeom>
          <a:noFill/>
        </p:spPr>
        <p:txBody>
          <a:bodyPr wrap="square" lIns="0" rIns="0" tIns="0" bIns="0" anchor="ctr">
            <a:spAutoFit/>
          </a:bodyPr>
          <a:lstStyle/>
          <a:p>
            <a:pPr algn="l"/>
            <a:r>
              <a:rPr sz="1250" b="0" i="1">
                <a:solidFill>
                  <a:srgbClr val="E0A340"/>
                </a:solidFill>
                <a:latin typeface="Calibri"/>
              </a:rPr>
              <a:t>Never used SSH before? Bandit's Start Here challenge walks you through it, one step at a time.</a:t>
            </a:r>
          </a:p>
        </p:txBody>
      </p:sp>
      <p:sp>
        <p:nvSpPr>
          <p:cNvPr id="39" name="TextBox 38"/>
          <p:cNvSpPr txBox="1"/>
          <p:nvPr/>
        </p:nvSpPr>
        <p:spPr>
          <a:xfrm>
            <a:off x="548640" y="5918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Want a coach while you play? The AI Copilot track (Guide 04) is the event's one sanctioned AI helper — set it up early.</a:t>
            </a:r>
          </a:p>
        </p:txBody>
      </p:sp>
      <p:sp>
        <p:nvSpPr>
          <p:cNvPr id="40" name="TextBox 39"/>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41" name="TextBox 4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1.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A340"/>
                </a:solidFill>
                <a:latin typeface="Calibri"/>
              </a:rPr>
              <a:t>YOUR FIRST FLAG</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Start Here, step by step</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Ten points, five minutes, and it proves your whole toolchain works before any real level counts against your clock.</a:t>
            </a:r>
          </a:p>
        </p:txBody>
      </p:sp>
      <p:sp>
        <p:nvSpPr>
          <p:cNvPr id="6" name="Rounded Rectangle 5"/>
          <p:cNvSpPr/>
          <p:nvPr/>
        </p:nvSpPr>
        <p:spPr>
          <a:xfrm>
            <a:off x="54864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0740" y="2432050"/>
            <a:ext cx="548640" cy="457200"/>
          </a:xfrm>
          <a:prstGeom prst="rect">
            <a:avLst/>
          </a:prstGeom>
          <a:noFill/>
        </p:spPr>
        <p:txBody>
          <a:bodyPr wrap="square" lIns="0" rIns="0" tIns="0" bIns="0" anchor="ctr">
            <a:spAutoFit/>
          </a:bodyPr>
          <a:lstStyle/>
          <a:p>
            <a:pPr algn="l"/>
            <a:r>
              <a:rPr sz="2600" b="1" i="0">
                <a:solidFill>
                  <a:srgbClr val="E0A340"/>
                </a:solidFill>
                <a:latin typeface="Cambria"/>
              </a:rPr>
              <a:t>1</a:t>
            </a:r>
          </a:p>
        </p:txBody>
      </p:sp>
      <p:sp>
        <p:nvSpPr>
          <p:cNvPr id="8" name="TextBox 7"/>
          <p:cNvSpPr txBox="1"/>
          <p:nvPr/>
        </p:nvSpPr>
        <p:spPr>
          <a:xfrm>
            <a:off x="84074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Click Launch</a:t>
            </a:r>
          </a:p>
        </p:txBody>
      </p:sp>
      <p:sp>
        <p:nvSpPr>
          <p:cNvPr id="9" name="TextBox 8"/>
          <p:cNvSpPr txBox="1"/>
          <p:nvPr/>
        </p:nvSpPr>
        <p:spPr>
          <a:xfrm>
            <a:off x="84074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On the "Bandit: Start Here" challenge in CTFd.</a:t>
            </a:r>
          </a:p>
        </p:txBody>
      </p:sp>
      <p:sp>
        <p:nvSpPr>
          <p:cNvPr id="10" name="TextBox 9"/>
          <p:cNvSpPr txBox="1"/>
          <p:nvPr/>
        </p:nvSpPr>
        <p:spPr>
          <a:xfrm>
            <a:off x="297942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1" name="Rounded Rectangle 10"/>
          <p:cNvSpPr/>
          <p:nvPr/>
        </p:nvSpPr>
        <p:spPr>
          <a:xfrm>
            <a:off x="343662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8720" y="2432050"/>
            <a:ext cx="548640" cy="457200"/>
          </a:xfrm>
          <a:prstGeom prst="rect">
            <a:avLst/>
          </a:prstGeom>
          <a:noFill/>
        </p:spPr>
        <p:txBody>
          <a:bodyPr wrap="square" lIns="0" rIns="0" tIns="0" bIns="0" anchor="ctr">
            <a:spAutoFit/>
          </a:bodyPr>
          <a:lstStyle/>
          <a:p>
            <a:pPr algn="l"/>
            <a:r>
              <a:rPr sz="2600" b="1" i="0">
                <a:solidFill>
                  <a:srgbClr val="E0A340"/>
                </a:solidFill>
                <a:latin typeface="Cambria"/>
              </a:rPr>
              <a:t>2</a:t>
            </a:r>
          </a:p>
        </p:txBody>
      </p:sp>
      <p:sp>
        <p:nvSpPr>
          <p:cNvPr id="13" name="TextBox 12"/>
          <p:cNvSpPr txBox="1"/>
          <p:nvPr/>
        </p:nvSpPr>
        <p:spPr>
          <a:xfrm>
            <a:off x="372872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Log in</a:t>
            </a:r>
          </a:p>
        </p:txBody>
      </p:sp>
      <p:sp>
        <p:nvSpPr>
          <p:cNvPr id="14" name="TextBox 13"/>
          <p:cNvSpPr txBox="1"/>
          <p:nvPr/>
        </p:nvSpPr>
        <p:spPr>
          <a:xfrm>
            <a:off x="372872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Connect as bandit0 with password bandit0 — the fixed, publicly known entry account.</a:t>
            </a:r>
          </a:p>
        </p:txBody>
      </p:sp>
      <p:sp>
        <p:nvSpPr>
          <p:cNvPr id="15" name="TextBox 14"/>
          <p:cNvSpPr txBox="1"/>
          <p:nvPr/>
        </p:nvSpPr>
        <p:spPr>
          <a:xfrm>
            <a:off x="586740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6" name="Rounded Rectangle 15"/>
          <p:cNvSpPr/>
          <p:nvPr/>
        </p:nvSpPr>
        <p:spPr>
          <a:xfrm>
            <a:off x="632460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6700" y="2432050"/>
            <a:ext cx="548640" cy="457200"/>
          </a:xfrm>
          <a:prstGeom prst="rect">
            <a:avLst/>
          </a:prstGeom>
          <a:noFill/>
        </p:spPr>
        <p:txBody>
          <a:bodyPr wrap="square" lIns="0" rIns="0" tIns="0" bIns="0" anchor="ctr">
            <a:spAutoFit/>
          </a:bodyPr>
          <a:lstStyle/>
          <a:p>
            <a:pPr algn="l"/>
            <a:r>
              <a:rPr sz="2600" b="1" i="0">
                <a:solidFill>
                  <a:srgbClr val="E0A340"/>
                </a:solidFill>
                <a:latin typeface="Cambria"/>
              </a:rPr>
              <a:t>3</a:t>
            </a:r>
          </a:p>
        </p:txBody>
      </p:sp>
      <p:sp>
        <p:nvSpPr>
          <p:cNvPr id="18" name="TextBox 17"/>
          <p:cNvSpPr txBox="1"/>
          <p:nvPr/>
        </p:nvSpPr>
        <p:spPr>
          <a:xfrm>
            <a:off x="661670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Read welcome.txt</a:t>
            </a:r>
          </a:p>
        </p:txBody>
      </p:sp>
      <p:sp>
        <p:nvSpPr>
          <p:cNvPr id="19" name="TextBox 18"/>
          <p:cNvSpPr txBox="1"/>
          <p:nvPr/>
        </p:nvSpPr>
        <p:spPr>
          <a:xfrm>
            <a:off x="661670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In the home directory. Not readme — that one is level 0's real puzzle.</a:t>
            </a:r>
          </a:p>
        </p:txBody>
      </p:sp>
      <p:sp>
        <p:nvSpPr>
          <p:cNvPr id="20" name="TextBox 19"/>
          <p:cNvSpPr txBox="1"/>
          <p:nvPr/>
        </p:nvSpPr>
        <p:spPr>
          <a:xfrm>
            <a:off x="875538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21" name="Rounded Rectangle 20"/>
          <p:cNvSpPr/>
          <p:nvPr/>
        </p:nvSpPr>
        <p:spPr>
          <a:xfrm>
            <a:off x="921258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4680" y="2432050"/>
            <a:ext cx="548640" cy="457200"/>
          </a:xfrm>
          <a:prstGeom prst="rect">
            <a:avLst/>
          </a:prstGeom>
          <a:noFill/>
        </p:spPr>
        <p:txBody>
          <a:bodyPr wrap="square" lIns="0" rIns="0" tIns="0" bIns="0" anchor="ctr">
            <a:spAutoFit/>
          </a:bodyPr>
          <a:lstStyle/>
          <a:p>
            <a:pPr algn="l"/>
            <a:r>
              <a:rPr sz="2600" b="1" i="0">
                <a:solidFill>
                  <a:srgbClr val="E0A340"/>
                </a:solidFill>
                <a:latin typeface="Cambria"/>
              </a:rPr>
              <a:t>4</a:t>
            </a:r>
          </a:p>
        </p:txBody>
      </p:sp>
      <p:sp>
        <p:nvSpPr>
          <p:cNvPr id="23" name="TextBox 22"/>
          <p:cNvSpPr txBox="1"/>
          <p:nvPr/>
        </p:nvSpPr>
        <p:spPr>
          <a:xfrm>
            <a:off x="950468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Submit it</a:t>
            </a:r>
          </a:p>
        </p:txBody>
      </p:sp>
      <p:sp>
        <p:nvSpPr>
          <p:cNvPr id="24" name="TextBox 23"/>
          <p:cNvSpPr txBox="1"/>
          <p:nvPr/>
        </p:nvSpPr>
        <p:spPr>
          <a:xfrm>
            <a:off x="950468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Its contents are your flag. Then begin Bandit 0 → 1.</a:t>
            </a:r>
          </a:p>
        </p:txBody>
      </p:sp>
      <p:sp>
        <p:nvSpPr>
          <p:cNvPr id="25" name="TextBox 24"/>
          <p:cNvSpPr txBox="1"/>
          <p:nvPr/>
        </p:nvSpPr>
        <p:spPr>
          <a:xfrm>
            <a:off x="548640" y="5349240"/>
            <a:ext cx="11094720" cy="274320"/>
          </a:xfrm>
          <a:prstGeom prst="rect">
            <a:avLst/>
          </a:prstGeom>
          <a:noFill/>
        </p:spPr>
        <p:txBody>
          <a:bodyPr wrap="square" lIns="0" rIns="0" tIns="0" bIns="0" anchor="ctr">
            <a:spAutoFit/>
          </a:bodyPr>
          <a:lstStyle/>
          <a:p>
            <a:pPr algn="l"/>
            <a:r>
              <a:rPr sz="1250" b="0" i="1">
                <a:solidFill>
                  <a:srgbClr val="E0A340"/>
                </a:solidFill>
                <a:latin typeface="Calibri"/>
              </a:rPr>
              <a:t>Every track has a Start Here. Always do it first.</a:t>
            </a:r>
          </a:p>
        </p:txBody>
      </p:sp>
      <p:sp>
        <p:nvSpPr>
          <p:cNvPr id="26" name="TextBox 25"/>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27" name="TextBox 26"/>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7.png"/>
          <p:cNvPicPr>
            <a:picLocks noChangeAspect="1"/>
          </p:cNvPicPr>
          <p:nvPr/>
        </p:nvPicPr>
        <p:blipFill>
          <a:blip r:embed="rId2"/>
          <a:stretch>
            <a:fillRect/>
          </a:stretch>
        </p:blipFill>
        <p:spPr>
          <a:xfrm>
            <a:off x="7881620" y="2286000"/>
            <a:ext cx="3749040" cy="3072130"/>
          </a:xfrm>
          <a:prstGeom prst="rect">
            <a:avLst/>
          </a:prstGeom>
        </p:spPr>
      </p:pic>
      <p:sp>
        <p:nvSpPr>
          <p:cNvPr id="3" name="TextBox 2"/>
          <p:cNvSpPr txBox="1"/>
          <p:nvPr/>
        </p:nvSpPr>
        <p:spPr>
          <a:xfrm>
            <a:off x="548640" y="1143000"/>
            <a:ext cx="7315200" cy="731520"/>
          </a:xfrm>
          <a:prstGeom prst="rect">
            <a:avLst/>
          </a:prstGeom>
          <a:noFill/>
        </p:spPr>
        <p:txBody>
          <a:bodyPr wrap="square" lIns="0" rIns="0" tIns="0" bIns="0" anchor="ctr">
            <a:spAutoFit/>
          </a:bodyPr>
          <a:lstStyle/>
          <a:p>
            <a:pPr algn="l"/>
            <a:r>
              <a:rPr sz="4000" b="1" i="0">
                <a:solidFill>
                  <a:srgbClr val="F4F6FB"/>
                </a:solidFill>
                <a:latin typeface="Cambria"/>
              </a:rPr>
              <a:t>Ready to play.</a:t>
            </a:r>
          </a:p>
        </p:txBody>
      </p:sp>
      <p:sp>
        <p:nvSpPr>
          <p:cNvPr id="4" name="TextBox 3"/>
          <p:cNvSpPr txBox="1"/>
          <p:nvPr/>
        </p:nvSpPr>
        <p:spPr>
          <a:xfrm>
            <a:off x="548640" y="1920239"/>
            <a:ext cx="7680959" cy="365760"/>
          </a:xfrm>
          <a:prstGeom prst="rect">
            <a:avLst/>
          </a:prstGeom>
          <a:noFill/>
        </p:spPr>
        <p:txBody>
          <a:bodyPr wrap="square" lIns="0" rIns="0" tIns="0" bIns="0" anchor="ctr">
            <a:spAutoFit/>
          </a:bodyPr>
          <a:lstStyle/>
          <a:p>
            <a:pPr algn="l"/>
            <a:r>
              <a:rPr sz="1400" b="0" i="0">
                <a:solidFill>
                  <a:srgbClr val="B8C7E4"/>
                </a:solidFill>
                <a:latin typeface="Calibri"/>
              </a:rPr>
              <a:t>Bandit is the longest track and the one everything else builds on.</a:t>
            </a:r>
          </a:p>
        </p:txBody>
      </p:sp>
      <p:sp>
        <p:nvSpPr>
          <p:cNvPr id="5" name="Rounded Rectangle 4"/>
          <p:cNvSpPr/>
          <p:nvPr/>
        </p:nvSpPr>
        <p:spPr>
          <a:xfrm>
            <a:off x="548640" y="2540000"/>
            <a:ext cx="6614159" cy="6096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180" y="2540000"/>
            <a:ext cx="457200" cy="609600"/>
          </a:xfrm>
          <a:prstGeom prst="rect">
            <a:avLst/>
          </a:prstGeom>
          <a:noFill/>
        </p:spPr>
        <p:txBody>
          <a:bodyPr wrap="square" lIns="0" rIns="0" tIns="0" bIns="0" anchor="ctr">
            <a:spAutoFit/>
          </a:bodyPr>
          <a:lstStyle/>
          <a:p>
            <a:pPr algn="l"/>
            <a:r>
              <a:rPr sz="1900" b="1" i="0">
                <a:solidFill>
                  <a:srgbClr val="E0A340"/>
                </a:solidFill>
                <a:latin typeface="Cambria"/>
              </a:rPr>
              <a:t>1</a:t>
            </a:r>
          </a:p>
        </p:txBody>
      </p:sp>
      <p:sp>
        <p:nvSpPr>
          <p:cNvPr id="7" name="TextBox 6"/>
          <p:cNvSpPr txBox="1"/>
          <p:nvPr/>
        </p:nvSpPr>
        <p:spPr>
          <a:xfrm>
            <a:off x="1554480" y="2540000"/>
            <a:ext cx="5334000" cy="609600"/>
          </a:xfrm>
          <a:prstGeom prst="rect">
            <a:avLst/>
          </a:prstGeom>
          <a:noFill/>
        </p:spPr>
        <p:txBody>
          <a:bodyPr wrap="square" lIns="0" rIns="0" tIns="0" bIns="0" anchor="ctr">
            <a:spAutoFit/>
          </a:bodyPr>
          <a:lstStyle/>
          <a:p>
            <a:pPr algn="l"/>
            <a:r>
              <a:rPr sz="1400" b="0" i="0">
                <a:solidFill>
                  <a:srgbClr val="F4F6FB"/>
                </a:solidFill>
                <a:latin typeface="Calibri"/>
              </a:rPr>
              <a:t>Log in to CTFd and open the Bandit category</a:t>
            </a:r>
          </a:p>
        </p:txBody>
      </p:sp>
      <p:sp>
        <p:nvSpPr>
          <p:cNvPr id="8" name="Rounded Rectangle 7"/>
          <p:cNvSpPr/>
          <p:nvPr/>
        </p:nvSpPr>
        <p:spPr>
          <a:xfrm>
            <a:off x="548640" y="3238500"/>
            <a:ext cx="6614159" cy="6096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180" y="3238500"/>
            <a:ext cx="457200" cy="609600"/>
          </a:xfrm>
          <a:prstGeom prst="rect">
            <a:avLst/>
          </a:prstGeom>
          <a:noFill/>
        </p:spPr>
        <p:txBody>
          <a:bodyPr wrap="square" lIns="0" rIns="0" tIns="0" bIns="0" anchor="ctr">
            <a:spAutoFit/>
          </a:bodyPr>
          <a:lstStyle/>
          <a:p>
            <a:pPr algn="l"/>
            <a:r>
              <a:rPr sz="1900" b="1" i="0">
                <a:solidFill>
                  <a:srgbClr val="E0A340"/>
                </a:solidFill>
                <a:latin typeface="Cambria"/>
              </a:rPr>
              <a:t>2</a:t>
            </a:r>
          </a:p>
        </p:txBody>
      </p:sp>
      <p:sp>
        <p:nvSpPr>
          <p:cNvPr id="10" name="TextBox 9"/>
          <p:cNvSpPr txBox="1"/>
          <p:nvPr/>
        </p:nvSpPr>
        <p:spPr>
          <a:xfrm>
            <a:off x="1554480" y="3238500"/>
            <a:ext cx="5334000" cy="609600"/>
          </a:xfrm>
          <a:prstGeom prst="rect">
            <a:avLst/>
          </a:prstGeom>
          <a:noFill/>
        </p:spPr>
        <p:txBody>
          <a:bodyPr wrap="square" lIns="0" rIns="0" tIns="0" bIns="0" anchor="ctr">
            <a:spAutoFit/>
          </a:bodyPr>
          <a:lstStyle/>
          <a:p>
            <a:pPr algn="l"/>
            <a:r>
              <a:rPr sz="1400" b="0" i="0">
                <a:solidFill>
                  <a:srgbClr val="F4F6FB"/>
                </a:solidFill>
                <a:latin typeface="Calibri"/>
              </a:rPr>
              <a:t>Solve "Bandit: Start Here" to check your connection</a:t>
            </a:r>
          </a:p>
        </p:txBody>
      </p:sp>
      <p:sp>
        <p:nvSpPr>
          <p:cNvPr id="11" name="Rounded Rectangle 10"/>
          <p:cNvSpPr/>
          <p:nvPr/>
        </p:nvSpPr>
        <p:spPr>
          <a:xfrm>
            <a:off x="548640" y="3937000"/>
            <a:ext cx="6614159" cy="6096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180" y="3937000"/>
            <a:ext cx="457200" cy="609600"/>
          </a:xfrm>
          <a:prstGeom prst="rect">
            <a:avLst/>
          </a:prstGeom>
          <a:noFill/>
        </p:spPr>
        <p:txBody>
          <a:bodyPr wrap="square" lIns="0" rIns="0" tIns="0" bIns="0" anchor="ctr">
            <a:spAutoFit/>
          </a:bodyPr>
          <a:lstStyle/>
          <a:p>
            <a:pPr algn="l"/>
            <a:r>
              <a:rPr sz="1900" b="1" i="0">
                <a:solidFill>
                  <a:srgbClr val="E0A340"/>
                </a:solidFill>
                <a:latin typeface="Cambria"/>
              </a:rPr>
              <a:t>3</a:t>
            </a:r>
          </a:p>
        </p:txBody>
      </p:sp>
      <p:sp>
        <p:nvSpPr>
          <p:cNvPr id="13" name="TextBox 12"/>
          <p:cNvSpPr txBox="1"/>
          <p:nvPr/>
        </p:nvSpPr>
        <p:spPr>
          <a:xfrm>
            <a:off x="1554480" y="3937000"/>
            <a:ext cx="5334000" cy="609600"/>
          </a:xfrm>
          <a:prstGeom prst="rect">
            <a:avLst/>
          </a:prstGeom>
          <a:noFill/>
        </p:spPr>
        <p:txBody>
          <a:bodyPr wrap="square" lIns="0" rIns="0" tIns="0" bIns="0" anchor="ctr">
            <a:spAutoFit/>
          </a:bodyPr>
          <a:lstStyle/>
          <a:p>
            <a:pPr algn="l"/>
            <a:r>
              <a:rPr sz="1400" b="0" i="0">
                <a:solidFill>
                  <a:srgbClr val="F4F6FB"/>
                </a:solidFill>
                <a:latin typeface="Calibri"/>
              </a:rPr>
              <a:t>Launch the environment — all 34 levels share it</a:t>
            </a:r>
          </a:p>
        </p:txBody>
      </p:sp>
      <p:sp>
        <p:nvSpPr>
          <p:cNvPr id="14" name="Rounded Rectangle 13"/>
          <p:cNvSpPr/>
          <p:nvPr/>
        </p:nvSpPr>
        <p:spPr>
          <a:xfrm>
            <a:off x="548640" y="4635500"/>
            <a:ext cx="6614159" cy="6096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180" y="4635500"/>
            <a:ext cx="457200" cy="609600"/>
          </a:xfrm>
          <a:prstGeom prst="rect">
            <a:avLst/>
          </a:prstGeom>
          <a:noFill/>
        </p:spPr>
        <p:txBody>
          <a:bodyPr wrap="square" lIns="0" rIns="0" tIns="0" bIns="0" anchor="ctr">
            <a:spAutoFit/>
          </a:bodyPr>
          <a:lstStyle/>
          <a:p>
            <a:pPr algn="l"/>
            <a:r>
              <a:rPr sz="1900" b="1" i="0">
                <a:solidFill>
                  <a:srgbClr val="E0A340"/>
                </a:solidFill>
                <a:latin typeface="Cambria"/>
              </a:rPr>
              <a:t>4</a:t>
            </a:r>
          </a:p>
        </p:txBody>
      </p:sp>
      <p:sp>
        <p:nvSpPr>
          <p:cNvPr id="16" name="TextBox 15"/>
          <p:cNvSpPr txBox="1"/>
          <p:nvPr/>
        </p:nvSpPr>
        <p:spPr>
          <a:xfrm>
            <a:off x="1554480" y="4635500"/>
            <a:ext cx="5334000" cy="609600"/>
          </a:xfrm>
          <a:prstGeom prst="rect">
            <a:avLst/>
          </a:prstGeom>
          <a:noFill/>
        </p:spPr>
        <p:txBody>
          <a:bodyPr wrap="square" lIns="0" rIns="0" tIns="0" bIns="0" anchor="ctr">
            <a:spAutoFit/>
          </a:bodyPr>
          <a:lstStyle/>
          <a:p>
            <a:pPr algn="l"/>
            <a:r>
              <a:rPr sz="1400" b="0" i="0">
                <a:solidFill>
                  <a:srgbClr val="F4F6FB"/>
                </a:solidFill>
                <a:latin typeface="Calibri"/>
              </a:rPr>
              <a:t>Work level 0 upward; each password opens the next</a:t>
            </a:r>
          </a:p>
        </p:txBody>
      </p:sp>
      <p:sp>
        <p:nvSpPr>
          <p:cNvPr id="17" name="Rounded Rectangle 16"/>
          <p:cNvSpPr/>
          <p:nvPr/>
        </p:nvSpPr>
        <p:spPr>
          <a:xfrm>
            <a:off x="548640" y="5334000"/>
            <a:ext cx="6614159" cy="6096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180" y="5334000"/>
            <a:ext cx="457200" cy="609600"/>
          </a:xfrm>
          <a:prstGeom prst="rect">
            <a:avLst/>
          </a:prstGeom>
          <a:noFill/>
        </p:spPr>
        <p:txBody>
          <a:bodyPr wrap="square" lIns="0" rIns="0" tIns="0" bIns="0" anchor="ctr">
            <a:spAutoFit/>
          </a:bodyPr>
          <a:lstStyle/>
          <a:p>
            <a:pPr algn="l"/>
            <a:r>
              <a:rPr sz="1900" b="1" i="0">
                <a:solidFill>
                  <a:srgbClr val="E0A340"/>
                </a:solidFill>
                <a:latin typeface="Cambria"/>
              </a:rPr>
              <a:t>5</a:t>
            </a:r>
          </a:p>
        </p:txBody>
      </p:sp>
      <p:sp>
        <p:nvSpPr>
          <p:cNvPr id="19" name="TextBox 18"/>
          <p:cNvSpPr txBox="1"/>
          <p:nvPr/>
        </p:nvSpPr>
        <p:spPr>
          <a:xfrm>
            <a:off x="1554480" y="5334000"/>
            <a:ext cx="5334000" cy="609600"/>
          </a:xfrm>
          <a:prstGeom prst="rect">
            <a:avLst/>
          </a:prstGeom>
          <a:noFill/>
        </p:spPr>
        <p:txBody>
          <a:bodyPr wrap="square" lIns="0" rIns="0" tIns="0" bIns="0" anchor="ctr">
            <a:spAutoFit/>
          </a:bodyPr>
          <a:lstStyle/>
          <a:p>
            <a:pPr algn="l"/>
            <a:r>
              <a:rPr sz="1400" b="0" i="0">
                <a:solidFill>
                  <a:srgbClr val="F4F6FB"/>
                </a:solidFill>
                <a:latin typeface="Calibri"/>
              </a:rPr>
              <a:t>Stuck? Find a staff member. Hints cost a share of the challenge's points — the cost is shown before you open one.</a:t>
            </a:r>
          </a:p>
        </p:txBody>
      </p:sp>
      <p:sp>
        <p:nvSpPr>
          <p:cNvPr id="20" name="TextBox 19"/>
          <p:cNvSpPr txBox="1"/>
          <p:nvPr/>
        </p:nvSpPr>
        <p:spPr>
          <a:xfrm>
            <a:off x="548640" y="6070600"/>
            <a:ext cx="5486400" cy="320040"/>
          </a:xfrm>
          <a:prstGeom prst="rect">
            <a:avLst/>
          </a:prstGeom>
          <a:noFill/>
        </p:spPr>
        <p:txBody>
          <a:bodyPr wrap="square" lIns="0" rIns="0" tIns="0" bIns="0" anchor="ctr">
            <a:spAutoFit/>
          </a:bodyPr>
          <a:lstStyle/>
          <a:p>
            <a:pPr algn="l"/>
            <a:r>
              <a:rPr sz="1400" b="0" i="1">
                <a:solidFill>
                  <a:srgbClr val="E0A340"/>
                </a:solidFill>
                <a:latin typeface="Calibri"/>
              </a:rPr>
              <a:t>Good luck.</a:t>
            </a:r>
          </a:p>
        </p:txBody>
      </p:sp>
      <p:sp>
        <p:nvSpPr>
          <p:cNvPr id="21" name="TextBox 20"/>
          <p:cNvSpPr txBox="1"/>
          <p:nvPr/>
        </p:nvSpPr>
        <p:spPr>
          <a:xfrm>
            <a:off x="548640" y="6446520"/>
            <a:ext cx="4318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01 / 04</a:t>
            </a:r>
          </a:p>
        </p:txBody>
      </p:sp>
      <p:sp>
        <p:nvSpPr>
          <p:cNvPr id="22" name="TextBox 21"/>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