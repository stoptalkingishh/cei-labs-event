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2194560" y="4480560"/>
            <a:ext cx="4206240" cy="4206240"/>
          </a:xfrm>
          <a:prstGeom prst="ellipse">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6903720" y="1051560"/>
            <a:ext cx="4800600" cy="3931920"/>
          </a:xfrm>
          <a:prstGeom prst="rect">
            <a:avLst/>
          </a:prstGeom>
        </p:spPr>
      </p:pic>
      <p:sp>
        <p:nvSpPr>
          <p:cNvPr id="4" name="Oval 3"/>
          <p:cNvSpPr/>
          <p:nvPr/>
        </p:nvSpPr>
        <p:spPr>
          <a:xfrm>
            <a:off x="548640" y="960119"/>
            <a:ext cx="786130" cy="786130"/>
          </a:xfrm>
          <a:prstGeom prst="ellipse">
            <a:avLst/>
          </a:prstGeom>
          <a:solidFill>
            <a:srgbClr val="35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2.png"/>
          <p:cNvPicPr>
            <a:picLocks noChangeAspect="1"/>
          </p:cNvPicPr>
          <p:nvPr/>
        </p:nvPicPr>
        <p:blipFill>
          <a:blip r:embed="rId3"/>
          <a:stretch>
            <a:fillRect/>
          </a:stretch>
        </p:blipFill>
        <p:spPr>
          <a:xfrm>
            <a:off x="753110" y="1164590"/>
            <a:ext cx="377190" cy="377190"/>
          </a:xfrm>
          <a:prstGeom prst="rect">
            <a:avLst/>
          </a:prstGeom>
        </p:spPr>
      </p:pic>
      <p:sp>
        <p:nvSpPr>
          <p:cNvPr id="6" name="TextBox 5"/>
          <p:cNvSpPr txBox="1"/>
          <p:nvPr/>
        </p:nvSpPr>
        <p:spPr>
          <a:xfrm>
            <a:off x="548640" y="3017520"/>
            <a:ext cx="6126480" cy="822960"/>
          </a:xfrm>
          <a:prstGeom prst="rect">
            <a:avLst/>
          </a:prstGeom>
          <a:noFill/>
        </p:spPr>
        <p:txBody>
          <a:bodyPr wrap="square" lIns="0" rIns="0" tIns="0" bIns="0" anchor="ctr">
            <a:spAutoFit/>
          </a:bodyPr>
          <a:lstStyle/>
          <a:p>
            <a:pPr algn="l"/>
            <a:r>
              <a:rPr sz="4400" b="1" i="0">
                <a:solidFill>
                  <a:srgbClr val="F4F6FB"/>
                </a:solidFill>
                <a:latin typeface="Cambria"/>
              </a:rPr>
              <a:t>AI COPILOT SETUP</a:t>
            </a:r>
          </a:p>
        </p:txBody>
      </p:sp>
      <p:sp>
        <p:nvSpPr>
          <p:cNvPr id="7" name="TextBox 6"/>
          <p:cNvSpPr txBox="1"/>
          <p:nvPr/>
        </p:nvSpPr>
        <p:spPr>
          <a:xfrm>
            <a:off x="548640" y="3886200"/>
            <a:ext cx="6126480" cy="411480"/>
          </a:xfrm>
          <a:prstGeom prst="rect">
            <a:avLst/>
          </a:prstGeom>
          <a:noFill/>
        </p:spPr>
        <p:txBody>
          <a:bodyPr wrap="square" lIns="0" rIns="0" tIns="0" bIns="0" anchor="ctr">
            <a:spAutoFit/>
          </a:bodyPr>
          <a:lstStyle/>
          <a:p>
            <a:pPr algn="l"/>
            <a:r>
              <a:rPr sz="2200" b="1" i="1">
                <a:solidFill>
                  <a:srgbClr val="35D399"/>
                </a:solidFill>
                <a:latin typeface="Cambria"/>
              </a:rPr>
              <a:t>The one that isn't a story</a:t>
            </a:r>
          </a:p>
        </p:txBody>
      </p:sp>
      <p:sp>
        <p:nvSpPr>
          <p:cNvPr id="8" name="TextBox 7"/>
          <p:cNvSpPr txBox="1"/>
          <p:nvPr/>
        </p:nvSpPr>
        <p:spPr>
          <a:xfrm>
            <a:off x="548640" y="4389120"/>
            <a:ext cx="6217920" cy="566420"/>
          </a:xfrm>
          <a:prstGeom prst="rect">
            <a:avLst/>
          </a:prstGeom>
          <a:noFill/>
        </p:spPr>
        <p:txBody>
          <a:bodyPr wrap="square" lIns="0" rIns="0" tIns="0" bIns="0" anchor="ctr">
            <a:spAutoFit/>
          </a:bodyPr>
          <a:lstStyle/>
          <a:p>
            <a:pPr algn="l">
              <a:lnSpc>
                <a:spcPct val="115000"/>
              </a:lnSpc>
            </a:pPr>
            <a:r>
              <a:rPr sz="1350" b="0" i="0">
                <a:solidFill>
                  <a:srgbClr val="B8C7E4"/>
                </a:solidFill>
                <a:latin typeface="Calibri"/>
              </a:rPr>
              <a:t>Six challenges that put a free, local AI coach on your own laptop — the event's one sanctioned AI exception.</a:t>
            </a:r>
          </a:p>
        </p:txBody>
      </p:sp>
      <p:sp>
        <p:nvSpPr>
          <p:cNvPr id="9" name="TextBox 8"/>
          <p:cNvSpPr txBox="1"/>
          <p:nvPr/>
        </p:nvSpPr>
        <p:spPr>
          <a:xfrm>
            <a:off x="548640" y="5029200"/>
            <a:ext cx="6217920" cy="1188720"/>
          </a:xfrm>
          <a:prstGeom prst="rect">
            <a:avLst/>
          </a:prstGeom>
          <a:noFill/>
        </p:spPr>
        <p:txBody>
          <a:bodyPr wrap="square" lIns="0" rIns="0" tIns="0" bIns="0" anchor="ctr">
            <a:spAutoFit/>
          </a:bodyPr>
          <a:lstStyle/>
          <a:p>
            <a:pPr algn="l">
              <a:lnSpc>
                <a:spcPct val="122000"/>
              </a:lnSpc>
            </a:pPr>
            <a:r>
              <a:rPr sz="1350" b="0" i="1">
                <a:solidFill>
                  <a:srgbClr val="93A5C7"/>
                </a:solidFill>
                <a:latin typeface="Calibri"/>
              </a:rPr>
              <a:t>The other three tracks each carry a story. This one deliberately doesn't. There is no compound to break into and no signal to decode — the target is your own laptop, and the reward is a coach that sits beside you for the rest of the event.</a:t>
            </a:r>
          </a:p>
        </p:txBody>
      </p:sp>
      <p:sp>
        <p:nvSpPr>
          <p:cNvPr id="10" name="TextBox 9"/>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1" name="TextBox 1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 MAP</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Six challenges, 610 points</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Each one is verified by ctf-agent-verify, a tool shipped with the agent. It checks a real milestone and prints the flag only when that milestone is genuinely true on your machine.</a:t>
            </a:r>
          </a:p>
        </p:txBody>
      </p:sp>
      <p:sp>
        <p:nvSpPr>
          <p:cNvPr id="5" name="TextBox 4"/>
          <p:cNvSpPr txBox="1"/>
          <p:nvPr/>
        </p:nvSpPr>
        <p:spPr>
          <a:xfrm>
            <a:off x="548640" y="1885950"/>
            <a:ext cx="9814560" cy="22860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Theory section below: about ten minutes of reading — worth it even if you never finish this track.</a:t>
            </a:r>
          </a:p>
        </p:txBody>
      </p:sp>
      <p:sp>
        <p:nvSpPr>
          <p:cNvPr id="6" name="Rounded Rectangle 5"/>
          <p:cNvSpPr/>
          <p:nvPr/>
        </p:nvSpPr>
        <p:spPr>
          <a:xfrm>
            <a:off x="548640" y="2184400"/>
            <a:ext cx="2581910" cy="1803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3.png"/>
          <p:cNvPicPr>
            <a:picLocks noChangeAspect="1"/>
          </p:cNvPicPr>
          <p:nvPr/>
        </p:nvPicPr>
        <p:blipFill>
          <a:blip r:embed="rId2"/>
          <a:stretch>
            <a:fillRect/>
          </a:stretch>
        </p:blipFill>
        <p:spPr>
          <a:xfrm>
            <a:off x="676910" y="2312670"/>
            <a:ext cx="2325370" cy="640080"/>
          </a:xfrm>
          <a:prstGeom prst="rect">
            <a:avLst/>
          </a:prstGeom>
        </p:spPr>
      </p:pic>
      <p:sp>
        <p:nvSpPr>
          <p:cNvPr id="8" name="TextBox 7"/>
          <p:cNvSpPr txBox="1"/>
          <p:nvPr/>
        </p:nvSpPr>
        <p:spPr>
          <a:xfrm>
            <a:off x="786130" y="3089910"/>
            <a:ext cx="2105660" cy="219710"/>
          </a:xfrm>
          <a:prstGeom prst="rect">
            <a:avLst/>
          </a:prstGeom>
          <a:noFill/>
        </p:spPr>
        <p:txBody>
          <a:bodyPr wrap="square" lIns="0" rIns="0" tIns="0" bIns="0" anchor="t">
            <a:spAutoFit/>
          </a:bodyPr>
          <a:lstStyle/>
          <a:p>
            <a:pPr algn="l"/>
            <a:r>
              <a:rPr sz="1050" b="1" i="0" spc="80">
                <a:solidFill>
                  <a:srgbClr val="35D399"/>
                </a:solidFill>
                <a:latin typeface="Calibri"/>
              </a:rPr>
              <a:t>SH · 10 PTS</a:t>
            </a:r>
          </a:p>
        </p:txBody>
      </p:sp>
      <p:sp>
        <p:nvSpPr>
          <p:cNvPr id="9" name="TextBox 8"/>
          <p:cNvSpPr txBox="1"/>
          <p:nvPr/>
        </p:nvSpPr>
        <p:spPr>
          <a:xfrm>
            <a:off x="786130" y="3327400"/>
            <a:ext cx="2105660" cy="274320"/>
          </a:xfrm>
          <a:prstGeom prst="rect">
            <a:avLst/>
          </a:prstGeom>
          <a:noFill/>
        </p:spPr>
        <p:txBody>
          <a:bodyPr wrap="square" lIns="0" rIns="0" tIns="0" bIns="0" anchor="t">
            <a:spAutoFit/>
          </a:bodyPr>
          <a:lstStyle/>
          <a:p>
            <a:pPr algn="l"/>
            <a:r>
              <a:rPr sz="1400" b="1" i="0">
                <a:solidFill>
                  <a:srgbClr val="F4F6FB"/>
                </a:solidFill>
                <a:latin typeface="Cambria"/>
              </a:rPr>
              <a:t>Start Here</a:t>
            </a:r>
          </a:p>
        </p:txBody>
      </p:sp>
      <p:sp>
        <p:nvSpPr>
          <p:cNvPr id="10" name="TextBox 9"/>
          <p:cNvSpPr txBox="1"/>
          <p:nvPr/>
        </p:nvSpPr>
        <p:spPr>
          <a:xfrm>
            <a:off x="786130" y="361061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Read the AI-use exception and confirm you understand it.</a:t>
            </a:r>
          </a:p>
        </p:txBody>
      </p:sp>
      <p:sp>
        <p:nvSpPr>
          <p:cNvPr id="11" name="Rounded Rectangle 10"/>
          <p:cNvSpPr/>
          <p:nvPr/>
        </p:nvSpPr>
        <p:spPr>
          <a:xfrm>
            <a:off x="3385820" y="2184400"/>
            <a:ext cx="2581910" cy="1803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4.png"/>
          <p:cNvPicPr>
            <a:picLocks noChangeAspect="1"/>
          </p:cNvPicPr>
          <p:nvPr/>
        </p:nvPicPr>
        <p:blipFill>
          <a:blip r:embed="rId3"/>
          <a:stretch>
            <a:fillRect/>
          </a:stretch>
        </p:blipFill>
        <p:spPr>
          <a:xfrm>
            <a:off x="3514090" y="2312670"/>
            <a:ext cx="2325370" cy="640080"/>
          </a:xfrm>
          <a:prstGeom prst="rect">
            <a:avLst/>
          </a:prstGeom>
        </p:spPr>
      </p:pic>
      <p:sp>
        <p:nvSpPr>
          <p:cNvPr id="13" name="TextBox 12"/>
          <p:cNvSpPr txBox="1"/>
          <p:nvPr/>
        </p:nvSpPr>
        <p:spPr>
          <a:xfrm>
            <a:off x="3624579" y="3089910"/>
            <a:ext cx="2105660" cy="219710"/>
          </a:xfrm>
          <a:prstGeom prst="rect">
            <a:avLst/>
          </a:prstGeom>
          <a:noFill/>
        </p:spPr>
        <p:txBody>
          <a:bodyPr wrap="square" lIns="0" rIns="0" tIns="0" bIns="0" anchor="t">
            <a:spAutoFit/>
          </a:bodyPr>
          <a:lstStyle/>
          <a:p>
            <a:pPr algn="l"/>
            <a:r>
              <a:rPr sz="1050" b="1" i="0" spc="80">
                <a:solidFill>
                  <a:srgbClr val="35D399"/>
                </a:solidFill>
                <a:latin typeface="Calibri"/>
              </a:rPr>
              <a:t>01 · 100 PTS</a:t>
            </a:r>
          </a:p>
        </p:txBody>
      </p:sp>
      <p:sp>
        <p:nvSpPr>
          <p:cNvPr id="14" name="TextBox 13"/>
          <p:cNvSpPr txBox="1"/>
          <p:nvPr/>
        </p:nvSpPr>
        <p:spPr>
          <a:xfrm>
            <a:off x="3624579" y="3327400"/>
            <a:ext cx="2105660" cy="274320"/>
          </a:xfrm>
          <a:prstGeom prst="rect">
            <a:avLst/>
          </a:prstGeom>
          <a:noFill/>
        </p:spPr>
        <p:txBody>
          <a:bodyPr wrap="square" lIns="0" rIns="0" tIns="0" bIns="0" anchor="t">
            <a:spAutoFit/>
          </a:bodyPr>
          <a:lstStyle/>
          <a:p>
            <a:pPr algn="l"/>
            <a:r>
              <a:rPr sz="1400" b="1" i="0">
                <a:solidFill>
                  <a:srgbClr val="F4F6FB"/>
                </a:solidFill>
                <a:latin typeface="Cambria"/>
              </a:rPr>
              <a:t>Local Brain</a:t>
            </a:r>
          </a:p>
        </p:txBody>
      </p:sp>
      <p:sp>
        <p:nvSpPr>
          <p:cNvPr id="15" name="TextBox 14"/>
          <p:cNvSpPr txBox="1"/>
          <p:nvPr/>
        </p:nvSpPr>
        <p:spPr>
          <a:xfrm>
            <a:off x="3624579" y="361061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Ollama installed and answering. Nothing works until this does.</a:t>
            </a:r>
          </a:p>
        </p:txBody>
      </p:sp>
      <p:sp>
        <p:nvSpPr>
          <p:cNvPr id="16" name="Rounded Rectangle 15"/>
          <p:cNvSpPr/>
          <p:nvPr/>
        </p:nvSpPr>
        <p:spPr>
          <a:xfrm>
            <a:off x="6224270" y="2184400"/>
            <a:ext cx="2581910" cy="1803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5.png"/>
          <p:cNvPicPr>
            <a:picLocks noChangeAspect="1"/>
          </p:cNvPicPr>
          <p:nvPr/>
        </p:nvPicPr>
        <p:blipFill>
          <a:blip r:embed="rId4"/>
          <a:stretch>
            <a:fillRect/>
          </a:stretch>
        </p:blipFill>
        <p:spPr>
          <a:xfrm>
            <a:off x="6351270" y="2312670"/>
            <a:ext cx="2325370" cy="640080"/>
          </a:xfrm>
          <a:prstGeom prst="rect">
            <a:avLst/>
          </a:prstGeom>
        </p:spPr>
      </p:pic>
      <p:sp>
        <p:nvSpPr>
          <p:cNvPr id="18" name="TextBox 17"/>
          <p:cNvSpPr txBox="1"/>
          <p:nvPr/>
        </p:nvSpPr>
        <p:spPr>
          <a:xfrm>
            <a:off x="6461760" y="3089910"/>
            <a:ext cx="2105660" cy="219710"/>
          </a:xfrm>
          <a:prstGeom prst="rect">
            <a:avLst/>
          </a:prstGeom>
          <a:noFill/>
        </p:spPr>
        <p:txBody>
          <a:bodyPr wrap="square" lIns="0" rIns="0" tIns="0" bIns="0" anchor="t">
            <a:spAutoFit/>
          </a:bodyPr>
          <a:lstStyle/>
          <a:p>
            <a:pPr algn="l"/>
            <a:r>
              <a:rPr sz="1050" b="1" i="0" spc="80">
                <a:solidFill>
                  <a:srgbClr val="35D399"/>
                </a:solidFill>
                <a:latin typeface="Calibri"/>
              </a:rPr>
              <a:t>02 · 100 PTS</a:t>
            </a:r>
          </a:p>
        </p:txBody>
      </p:sp>
      <p:sp>
        <p:nvSpPr>
          <p:cNvPr id="19" name="TextBox 18"/>
          <p:cNvSpPr txBox="1"/>
          <p:nvPr/>
        </p:nvSpPr>
        <p:spPr>
          <a:xfrm>
            <a:off x="6461760" y="3327400"/>
            <a:ext cx="2105660" cy="274320"/>
          </a:xfrm>
          <a:prstGeom prst="rect">
            <a:avLst/>
          </a:prstGeom>
          <a:noFill/>
        </p:spPr>
        <p:txBody>
          <a:bodyPr wrap="square" lIns="0" rIns="0" tIns="0" bIns="0" anchor="t">
            <a:spAutoFit/>
          </a:bodyPr>
          <a:lstStyle/>
          <a:p>
            <a:pPr algn="l"/>
            <a:r>
              <a:rPr sz="1400" b="1" i="0">
                <a:solidFill>
                  <a:srgbClr val="F4F6FB"/>
                </a:solidFill>
                <a:latin typeface="Cambria"/>
              </a:rPr>
              <a:t>Pull a Model</a:t>
            </a:r>
          </a:p>
        </p:txBody>
      </p:sp>
      <p:sp>
        <p:nvSpPr>
          <p:cNvPr id="20" name="TextBox 19"/>
          <p:cNvSpPr txBox="1"/>
          <p:nvPr/>
        </p:nvSpPr>
        <p:spPr>
          <a:xfrm>
            <a:off x="6461760" y="361061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A runtime with no model can't think yet. Size it to your memory.</a:t>
            </a:r>
          </a:p>
        </p:txBody>
      </p:sp>
      <p:sp>
        <p:nvSpPr>
          <p:cNvPr id="21" name="Rounded Rectangle 20"/>
          <p:cNvSpPr/>
          <p:nvPr/>
        </p:nvSpPr>
        <p:spPr>
          <a:xfrm>
            <a:off x="9061450" y="2184400"/>
            <a:ext cx="2581910" cy="18034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6.png"/>
          <p:cNvPicPr>
            <a:picLocks noChangeAspect="1"/>
          </p:cNvPicPr>
          <p:nvPr/>
        </p:nvPicPr>
        <p:blipFill>
          <a:blip r:embed="rId5"/>
          <a:stretch>
            <a:fillRect/>
          </a:stretch>
        </p:blipFill>
        <p:spPr>
          <a:xfrm>
            <a:off x="9189720" y="2312670"/>
            <a:ext cx="2325370" cy="640080"/>
          </a:xfrm>
          <a:prstGeom prst="rect">
            <a:avLst/>
          </a:prstGeom>
        </p:spPr>
      </p:pic>
      <p:sp>
        <p:nvSpPr>
          <p:cNvPr id="23" name="TextBox 22"/>
          <p:cNvSpPr txBox="1"/>
          <p:nvPr/>
        </p:nvSpPr>
        <p:spPr>
          <a:xfrm>
            <a:off x="9298940" y="3089910"/>
            <a:ext cx="2105660" cy="219710"/>
          </a:xfrm>
          <a:prstGeom prst="rect">
            <a:avLst/>
          </a:prstGeom>
          <a:noFill/>
        </p:spPr>
        <p:txBody>
          <a:bodyPr wrap="square" lIns="0" rIns="0" tIns="0" bIns="0" anchor="t">
            <a:spAutoFit/>
          </a:bodyPr>
          <a:lstStyle/>
          <a:p>
            <a:pPr algn="l"/>
            <a:r>
              <a:rPr sz="1050" b="1" i="0" spc="80">
                <a:solidFill>
                  <a:srgbClr val="35D399"/>
                </a:solidFill>
                <a:latin typeface="Calibri"/>
              </a:rPr>
              <a:t>03 · 100 PTS</a:t>
            </a:r>
          </a:p>
        </p:txBody>
      </p:sp>
      <p:sp>
        <p:nvSpPr>
          <p:cNvPr id="24" name="TextBox 23"/>
          <p:cNvSpPr txBox="1"/>
          <p:nvPr/>
        </p:nvSpPr>
        <p:spPr>
          <a:xfrm>
            <a:off x="9298940" y="3327400"/>
            <a:ext cx="2105660" cy="274320"/>
          </a:xfrm>
          <a:prstGeom prst="rect">
            <a:avLst/>
          </a:prstGeom>
          <a:noFill/>
        </p:spPr>
        <p:txBody>
          <a:bodyPr wrap="square" lIns="0" rIns="0" tIns="0" bIns="0" anchor="t">
            <a:spAutoFit/>
          </a:bodyPr>
          <a:lstStyle/>
          <a:p>
            <a:pPr algn="l"/>
            <a:r>
              <a:rPr sz="1400" b="1" i="0">
                <a:solidFill>
                  <a:srgbClr val="F4F6FB"/>
                </a:solidFill>
                <a:latin typeface="Cambria"/>
              </a:rPr>
              <a:t>Install the Agent</a:t>
            </a:r>
          </a:p>
        </p:txBody>
      </p:sp>
      <p:sp>
        <p:nvSpPr>
          <p:cNvPr id="25" name="TextBox 24"/>
          <p:cNvSpPr txBox="1"/>
          <p:nvPr/>
        </p:nvSpPr>
        <p:spPr>
          <a:xfrm>
            <a:off x="9298940" y="361061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ctf-agent and ctf-agent-verify properly on your PATH.</a:t>
            </a:r>
          </a:p>
        </p:txBody>
      </p:sp>
      <p:sp>
        <p:nvSpPr>
          <p:cNvPr id="26" name="Rounded Rectangle 25"/>
          <p:cNvSpPr/>
          <p:nvPr/>
        </p:nvSpPr>
        <p:spPr>
          <a:xfrm>
            <a:off x="548640" y="4216400"/>
            <a:ext cx="2581910" cy="19050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7.png"/>
          <p:cNvPicPr>
            <a:picLocks noChangeAspect="1"/>
          </p:cNvPicPr>
          <p:nvPr/>
        </p:nvPicPr>
        <p:blipFill>
          <a:blip r:embed="rId6"/>
          <a:stretch>
            <a:fillRect/>
          </a:stretch>
        </p:blipFill>
        <p:spPr>
          <a:xfrm>
            <a:off x="676910" y="4344670"/>
            <a:ext cx="2325370" cy="640080"/>
          </a:xfrm>
          <a:prstGeom prst="rect">
            <a:avLst/>
          </a:prstGeom>
        </p:spPr>
      </p:pic>
      <p:sp>
        <p:nvSpPr>
          <p:cNvPr id="28" name="TextBox 27"/>
          <p:cNvSpPr txBox="1"/>
          <p:nvPr/>
        </p:nvSpPr>
        <p:spPr>
          <a:xfrm>
            <a:off x="786130" y="5120640"/>
            <a:ext cx="2105660" cy="219710"/>
          </a:xfrm>
          <a:prstGeom prst="rect">
            <a:avLst/>
          </a:prstGeom>
          <a:noFill/>
        </p:spPr>
        <p:txBody>
          <a:bodyPr wrap="square" lIns="0" rIns="0" tIns="0" bIns="0" anchor="t">
            <a:spAutoFit/>
          </a:bodyPr>
          <a:lstStyle/>
          <a:p>
            <a:pPr algn="l"/>
            <a:r>
              <a:rPr sz="1050" b="1" i="0" spc="80">
                <a:solidFill>
                  <a:srgbClr val="35D399"/>
                </a:solidFill>
                <a:latin typeface="Calibri"/>
              </a:rPr>
              <a:t>04 · 150 PTS</a:t>
            </a:r>
          </a:p>
        </p:txBody>
      </p:sp>
      <p:sp>
        <p:nvSpPr>
          <p:cNvPr id="29" name="TextBox 28"/>
          <p:cNvSpPr txBox="1"/>
          <p:nvPr/>
        </p:nvSpPr>
        <p:spPr>
          <a:xfrm>
            <a:off x="786130" y="5358130"/>
            <a:ext cx="2105660" cy="274320"/>
          </a:xfrm>
          <a:prstGeom prst="rect">
            <a:avLst/>
          </a:prstGeom>
          <a:noFill/>
        </p:spPr>
        <p:txBody>
          <a:bodyPr wrap="square" lIns="0" rIns="0" tIns="0" bIns="0" anchor="t">
            <a:spAutoFit/>
          </a:bodyPr>
          <a:lstStyle/>
          <a:p>
            <a:pPr algn="l"/>
            <a:r>
              <a:rPr sz="1400" b="1" i="0">
                <a:solidFill>
                  <a:srgbClr val="F4F6FB"/>
                </a:solidFill>
                <a:latin typeface="Cambria"/>
              </a:rPr>
              <a:t>Point It At a Box</a:t>
            </a:r>
          </a:p>
        </p:txBody>
      </p:sp>
      <p:sp>
        <p:nvSpPr>
          <p:cNvPr id="30" name="TextBox 29"/>
          <p:cNvSpPr txBox="1"/>
          <p:nvPr/>
        </p:nvSpPr>
        <p:spPr>
          <a:xfrm>
            <a:off x="786130" y="5642610"/>
            <a:ext cx="2105660" cy="46990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A real SSH connection to a live Bandit, Krypton or Natas instance.</a:t>
            </a:r>
          </a:p>
          <a:p>
            <a:pPr algn="l">
              <a:lnSpc>
                <a:spcPct val="110000"/>
              </a:lnSpc>
            </a:pPr>
            <a:r>
              <a:rPr sz="1000" b="0" i="0">
                <a:solidFill>
                  <a:srgbClr val="B8C7E4"/>
                </a:solidFill>
                <a:latin typeface="Calibri"/>
              </a:rPr>
              <a:t>Launch one of those tracks first.</a:t>
            </a:r>
          </a:p>
        </p:txBody>
      </p:sp>
      <p:sp>
        <p:nvSpPr>
          <p:cNvPr id="31" name="Rounded Rectangle 30"/>
          <p:cNvSpPr/>
          <p:nvPr/>
        </p:nvSpPr>
        <p:spPr>
          <a:xfrm>
            <a:off x="3385820" y="4216400"/>
            <a:ext cx="2581910" cy="19050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8.png"/>
          <p:cNvPicPr>
            <a:picLocks noChangeAspect="1"/>
          </p:cNvPicPr>
          <p:nvPr/>
        </p:nvPicPr>
        <p:blipFill>
          <a:blip r:embed="rId7"/>
          <a:stretch>
            <a:fillRect/>
          </a:stretch>
        </p:blipFill>
        <p:spPr>
          <a:xfrm>
            <a:off x="3514090" y="4344670"/>
            <a:ext cx="2325370" cy="640080"/>
          </a:xfrm>
          <a:prstGeom prst="rect">
            <a:avLst/>
          </a:prstGeom>
        </p:spPr>
      </p:pic>
      <p:sp>
        <p:nvSpPr>
          <p:cNvPr id="33" name="TextBox 32"/>
          <p:cNvSpPr txBox="1"/>
          <p:nvPr/>
        </p:nvSpPr>
        <p:spPr>
          <a:xfrm>
            <a:off x="3624579" y="5120640"/>
            <a:ext cx="2105660" cy="219710"/>
          </a:xfrm>
          <a:prstGeom prst="rect">
            <a:avLst/>
          </a:prstGeom>
          <a:noFill/>
        </p:spPr>
        <p:txBody>
          <a:bodyPr wrap="square" lIns="0" rIns="0" tIns="0" bIns="0" anchor="t">
            <a:spAutoFit/>
          </a:bodyPr>
          <a:lstStyle/>
          <a:p>
            <a:pPr algn="l"/>
            <a:r>
              <a:rPr sz="1050" b="1" i="0" spc="80">
                <a:solidFill>
                  <a:srgbClr val="35D399"/>
                </a:solidFill>
                <a:latin typeface="Calibri"/>
              </a:rPr>
              <a:t>05 · 150 PTS</a:t>
            </a:r>
          </a:p>
        </p:txBody>
      </p:sp>
      <p:sp>
        <p:nvSpPr>
          <p:cNvPr id="34" name="TextBox 33"/>
          <p:cNvSpPr txBox="1"/>
          <p:nvPr/>
        </p:nvSpPr>
        <p:spPr>
          <a:xfrm>
            <a:off x="3624579" y="5358130"/>
            <a:ext cx="2105660" cy="274320"/>
          </a:xfrm>
          <a:prstGeom prst="rect">
            <a:avLst/>
          </a:prstGeom>
          <a:noFill/>
        </p:spPr>
        <p:txBody>
          <a:bodyPr wrap="square" lIns="0" rIns="0" tIns="0" bIns="0" anchor="t">
            <a:spAutoFit/>
          </a:bodyPr>
          <a:lstStyle/>
          <a:p>
            <a:pPr algn="l"/>
            <a:r>
              <a:rPr sz="1400" b="1" i="0">
                <a:solidFill>
                  <a:srgbClr val="F4F6FB"/>
                </a:solidFill>
                <a:latin typeface="Cambria"/>
              </a:rPr>
              <a:t>Ask For Help</a:t>
            </a:r>
          </a:p>
        </p:txBody>
      </p:sp>
      <p:sp>
        <p:nvSpPr>
          <p:cNvPr id="35" name="TextBox 34"/>
          <p:cNvSpPr txBox="1"/>
          <p:nvPr/>
        </p:nvSpPr>
        <p:spPr>
          <a:xfrm>
            <a:off x="3624579" y="564261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Name a track and a level. Show the shape of a useful prompt.</a:t>
            </a:r>
          </a:p>
        </p:txBody>
      </p:sp>
      <p:sp>
        <p:nvSpPr>
          <p:cNvPr id="36" name="TextBox 35"/>
          <p:cNvSpPr txBox="1"/>
          <p:nvPr/>
        </p:nvSpPr>
        <p:spPr>
          <a:xfrm>
            <a:off x="548640" y="6184900"/>
            <a:ext cx="11094720" cy="203200"/>
          </a:xfrm>
          <a:prstGeom prst="rect">
            <a:avLst/>
          </a:prstGeom>
          <a:noFill/>
        </p:spPr>
        <p:txBody>
          <a:bodyPr wrap="square" lIns="0" rIns="0" tIns="0" bIns="0" anchor="ctr">
            <a:spAutoFit/>
          </a:bodyPr>
          <a:lstStyle/>
          <a:p>
            <a:pPr algn="l"/>
            <a:r>
              <a:rPr sz="1250" b="0" i="1">
                <a:solidFill>
                  <a:srgbClr val="35D399"/>
                </a:solidFill>
                <a:latin typeface="Calibri"/>
              </a:rPr>
              <a:t>Nothing here is guessable without actually doing the step.</a:t>
            </a:r>
          </a:p>
        </p:txBody>
      </p:sp>
      <p:sp>
        <p:nvSpPr>
          <p:cNvPr id="37" name="TextBox 36"/>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38" name="TextBox 37"/>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8595360" y="-2194560"/>
            <a:ext cx="6035040" cy="6035040"/>
          </a:xfrm>
          <a:prstGeom prst="ellipse">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11200"/>
            <a:ext cx="5486400" cy="292100"/>
          </a:xfrm>
          <a:prstGeom prst="rect">
            <a:avLst/>
          </a:prstGeom>
          <a:noFill/>
        </p:spPr>
        <p:txBody>
          <a:bodyPr wrap="square" lIns="0" rIns="0" tIns="0" bIns="0" anchor="ctr">
            <a:spAutoFit/>
          </a:bodyPr>
          <a:lstStyle/>
          <a:p>
            <a:pPr algn="l"/>
            <a:r>
              <a:rPr sz="1100" b="1" i="0" spc="140">
                <a:solidFill>
                  <a:srgbClr val="35D399"/>
                </a:solidFill>
                <a:latin typeface="Calibri"/>
              </a:rPr>
              <a:t>THE IDEAS</a:t>
            </a:r>
          </a:p>
        </p:txBody>
      </p:sp>
      <p:sp>
        <p:nvSpPr>
          <p:cNvPr id="4" name="TextBox 3"/>
          <p:cNvSpPr txBox="1"/>
          <p:nvPr/>
        </p:nvSpPr>
        <p:spPr>
          <a:xfrm>
            <a:off x="548640" y="1041400"/>
            <a:ext cx="8595360" cy="960119"/>
          </a:xfrm>
          <a:prstGeom prst="rect">
            <a:avLst/>
          </a:prstGeom>
          <a:noFill/>
        </p:spPr>
        <p:txBody>
          <a:bodyPr wrap="square" lIns="0" rIns="0" tIns="0" bIns="0" anchor="t">
            <a:spAutoFit/>
          </a:bodyPr>
          <a:lstStyle/>
          <a:p>
            <a:pPr algn="l"/>
            <a:r>
              <a:rPr sz="3800" b="1" i="0">
                <a:solidFill>
                  <a:srgbClr val="F4F6FB"/>
                </a:solidFill>
                <a:latin typeface="Cambria"/>
              </a:rPr>
              <a:t>Six ideas about how this thing works</a:t>
            </a:r>
          </a:p>
        </p:txBody>
      </p:sp>
      <p:sp>
        <p:nvSpPr>
          <p:cNvPr id="5" name="TextBox 4"/>
          <p:cNvSpPr txBox="1"/>
          <p:nvPr/>
        </p:nvSpPr>
        <p:spPr>
          <a:xfrm>
            <a:off x="548640" y="2159000"/>
            <a:ext cx="6949440" cy="548640"/>
          </a:xfrm>
          <a:prstGeom prst="rect">
            <a:avLst/>
          </a:prstGeom>
          <a:noFill/>
        </p:spPr>
        <p:txBody>
          <a:bodyPr wrap="square" lIns="0" rIns="0" tIns="0" bIns="0" anchor="ctr">
            <a:spAutoFit/>
          </a:bodyPr>
          <a:lstStyle/>
          <a:p>
            <a:pPr algn="l">
              <a:lnSpc>
                <a:spcPct val="118000"/>
              </a:lnSpc>
            </a:pPr>
            <a:r>
              <a:rPr sz="1350" b="0" i="0">
                <a:solidFill>
                  <a:srgbClr val="B8C7E4"/>
                </a:solidFill>
                <a:latin typeface="Calibri"/>
              </a:rPr>
              <a:t>What a language model is actually doing, so you can judge when to trust it. Useful whether or not you ever finish this track.</a:t>
            </a:r>
          </a:p>
        </p:txBody>
      </p:sp>
      <p:sp>
        <p:nvSpPr>
          <p:cNvPr id="6" name="TextBox 5"/>
          <p:cNvSpPr txBox="1"/>
          <p:nvPr/>
        </p:nvSpPr>
        <p:spPr>
          <a:xfrm>
            <a:off x="548640" y="3238500"/>
            <a:ext cx="411480" cy="660400"/>
          </a:xfrm>
          <a:prstGeom prst="rect">
            <a:avLst/>
          </a:prstGeom>
          <a:noFill/>
        </p:spPr>
        <p:txBody>
          <a:bodyPr wrap="square" lIns="0" rIns="0" tIns="0" bIns="0" anchor="ctr">
            <a:spAutoFit/>
          </a:bodyPr>
          <a:lstStyle/>
          <a:p>
            <a:pPr algn="l"/>
            <a:r>
              <a:rPr sz="1200" b="1" i="0">
                <a:solidFill>
                  <a:srgbClr val="35D399"/>
                </a:solidFill>
                <a:latin typeface="Cambria"/>
              </a:rPr>
              <a:t>01</a:t>
            </a:r>
          </a:p>
        </p:txBody>
      </p:sp>
      <p:sp>
        <p:nvSpPr>
          <p:cNvPr id="7" name="TextBox 6"/>
          <p:cNvSpPr txBox="1"/>
          <p:nvPr/>
        </p:nvSpPr>
        <p:spPr>
          <a:xfrm>
            <a:off x="1005840" y="3238500"/>
            <a:ext cx="4663440" cy="660400"/>
          </a:xfrm>
          <a:prstGeom prst="rect">
            <a:avLst/>
          </a:prstGeom>
          <a:noFill/>
        </p:spPr>
        <p:txBody>
          <a:bodyPr wrap="square" lIns="0" rIns="0" tIns="0" bIns="0" anchor="ctr">
            <a:spAutoFit/>
          </a:bodyPr>
          <a:lstStyle/>
          <a:p>
            <a:pPr algn="l"/>
            <a:r>
              <a:rPr sz="1300" b="0" i="0">
                <a:solidFill>
                  <a:srgbClr val="F4F6FB"/>
                </a:solidFill>
                <a:latin typeface="Calibri"/>
              </a:rPr>
              <a:t>What a language model does</a:t>
            </a:r>
          </a:p>
        </p:txBody>
      </p:sp>
      <p:sp>
        <p:nvSpPr>
          <p:cNvPr id="8" name="TextBox 7"/>
          <p:cNvSpPr txBox="1"/>
          <p:nvPr/>
        </p:nvSpPr>
        <p:spPr>
          <a:xfrm>
            <a:off x="548640" y="4216400"/>
            <a:ext cx="411480" cy="660400"/>
          </a:xfrm>
          <a:prstGeom prst="rect">
            <a:avLst/>
          </a:prstGeom>
          <a:noFill/>
        </p:spPr>
        <p:txBody>
          <a:bodyPr wrap="square" lIns="0" rIns="0" tIns="0" bIns="0" anchor="ctr">
            <a:spAutoFit/>
          </a:bodyPr>
          <a:lstStyle/>
          <a:p>
            <a:pPr algn="l"/>
            <a:r>
              <a:rPr sz="1200" b="1" i="0">
                <a:solidFill>
                  <a:srgbClr val="35D399"/>
                </a:solidFill>
                <a:latin typeface="Cambria"/>
              </a:rPr>
              <a:t>02</a:t>
            </a:r>
          </a:p>
        </p:txBody>
      </p:sp>
      <p:sp>
        <p:nvSpPr>
          <p:cNvPr id="9" name="TextBox 8"/>
          <p:cNvSpPr txBox="1"/>
          <p:nvPr/>
        </p:nvSpPr>
        <p:spPr>
          <a:xfrm>
            <a:off x="1005840" y="4216400"/>
            <a:ext cx="4663440" cy="660400"/>
          </a:xfrm>
          <a:prstGeom prst="rect">
            <a:avLst/>
          </a:prstGeom>
          <a:noFill/>
        </p:spPr>
        <p:txBody>
          <a:bodyPr wrap="square" lIns="0" rIns="0" tIns="0" bIns="0" anchor="ctr">
            <a:spAutoFit/>
          </a:bodyPr>
          <a:lstStyle/>
          <a:p>
            <a:pPr algn="l"/>
            <a:r>
              <a:rPr sz="1300" b="0" i="0">
                <a:solidFill>
                  <a:srgbClr val="F4F6FB"/>
                </a:solidFill>
                <a:latin typeface="Calibri"/>
              </a:rPr>
              <a:t>Tokens and context</a:t>
            </a:r>
          </a:p>
        </p:txBody>
      </p:sp>
      <p:sp>
        <p:nvSpPr>
          <p:cNvPr id="10" name="TextBox 9"/>
          <p:cNvSpPr txBox="1"/>
          <p:nvPr/>
        </p:nvSpPr>
        <p:spPr>
          <a:xfrm>
            <a:off x="548640" y="5194300"/>
            <a:ext cx="411480" cy="660400"/>
          </a:xfrm>
          <a:prstGeom prst="rect">
            <a:avLst/>
          </a:prstGeom>
          <a:noFill/>
        </p:spPr>
        <p:txBody>
          <a:bodyPr wrap="square" lIns="0" rIns="0" tIns="0" bIns="0" anchor="ctr">
            <a:spAutoFit/>
          </a:bodyPr>
          <a:lstStyle/>
          <a:p>
            <a:pPr algn="l"/>
            <a:r>
              <a:rPr sz="1200" b="1" i="0">
                <a:solidFill>
                  <a:srgbClr val="35D399"/>
                </a:solidFill>
                <a:latin typeface="Cambria"/>
              </a:rPr>
              <a:t>03</a:t>
            </a:r>
          </a:p>
        </p:txBody>
      </p:sp>
      <p:sp>
        <p:nvSpPr>
          <p:cNvPr id="11" name="TextBox 10"/>
          <p:cNvSpPr txBox="1"/>
          <p:nvPr/>
        </p:nvSpPr>
        <p:spPr>
          <a:xfrm>
            <a:off x="1005840" y="5194300"/>
            <a:ext cx="4663440" cy="660400"/>
          </a:xfrm>
          <a:prstGeom prst="rect">
            <a:avLst/>
          </a:prstGeom>
          <a:noFill/>
        </p:spPr>
        <p:txBody>
          <a:bodyPr wrap="square" lIns="0" rIns="0" tIns="0" bIns="0" anchor="ctr">
            <a:spAutoFit/>
          </a:bodyPr>
          <a:lstStyle/>
          <a:p>
            <a:pPr algn="l"/>
            <a:r>
              <a:rPr sz="1300" b="0" i="0">
                <a:solidFill>
                  <a:srgbClr val="F4F6FB"/>
                </a:solidFill>
                <a:latin typeface="Calibri"/>
              </a:rPr>
              <a:t>Running a model locally</a:t>
            </a:r>
          </a:p>
        </p:txBody>
      </p:sp>
      <p:sp>
        <p:nvSpPr>
          <p:cNvPr id="12" name="TextBox 11"/>
          <p:cNvSpPr txBox="1"/>
          <p:nvPr/>
        </p:nvSpPr>
        <p:spPr>
          <a:xfrm>
            <a:off x="6126480" y="3238500"/>
            <a:ext cx="411480" cy="660400"/>
          </a:xfrm>
          <a:prstGeom prst="rect">
            <a:avLst/>
          </a:prstGeom>
          <a:noFill/>
        </p:spPr>
        <p:txBody>
          <a:bodyPr wrap="square" lIns="0" rIns="0" tIns="0" bIns="0" anchor="ctr">
            <a:spAutoFit/>
          </a:bodyPr>
          <a:lstStyle/>
          <a:p>
            <a:pPr algn="l"/>
            <a:r>
              <a:rPr sz="1200" b="1" i="0">
                <a:solidFill>
                  <a:srgbClr val="35D399"/>
                </a:solidFill>
                <a:latin typeface="Cambria"/>
              </a:rPr>
              <a:t>04</a:t>
            </a:r>
          </a:p>
        </p:txBody>
      </p:sp>
      <p:sp>
        <p:nvSpPr>
          <p:cNvPr id="13" name="TextBox 12"/>
          <p:cNvSpPr txBox="1"/>
          <p:nvPr/>
        </p:nvSpPr>
        <p:spPr>
          <a:xfrm>
            <a:off x="6583680" y="3238500"/>
            <a:ext cx="4663440" cy="660400"/>
          </a:xfrm>
          <a:prstGeom prst="rect">
            <a:avLst/>
          </a:prstGeom>
          <a:noFill/>
        </p:spPr>
        <p:txBody>
          <a:bodyPr wrap="square" lIns="0" rIns="0" tIns="0" bIns="0" anchor="ctr">
            <a:spAutoFit/>
          </a:bodyPr>
          <a:lstStyle/>
          <a:p>
            <a:pPr algn="l"/>
            <a:r>
              <a:rPr sz="1300" b="0" i="0">
                <a:solidFill>
                  <a:srgbClr val="F4F6FB"/>
                </a:solidFill>
                <a:latin typeface="Calibri"/>
              </a:rPr>
              <a:t>Prompting</a:t>
            </a:r>
          </a:p>
        </p:txBody>
      </p:sp>
      <p:sp>
        <p:nvSpPr>
          <p:cNvPr id="14" name="TextBox 13"/>
          <p:cNvSpPr txBox="1"/>
          <p:nvPr/>
        </p:nvSpPr>
        <p:spPr>
          <a:xfrm>
            <a:off x="6126480" y="4216400"/>
            <a:ext cx="411480" cy="660400"/>
          </a:xfrm>
          <a:prstGeom prst="rect">
            <a:avLst/>
          </a:prstGeom>
          <a:noFill/>
        </p:spPr>
        <p:txBody>
          <a:bodyPr wrap="square" lIns="0" rIns="0" tIns="0" bIns="0" anchor="ctr">
            <a:spAutoFit/>
          </a:bodyPr>
          <a:lstStyle/>
          <a:p>
            <a:pPr algn="l"/>
            <a:r>
              <a:rPr sz="1200" b="1" i="0">
                <a:solidFill>
                  <a:srgbClr val="35D399"/>
                </a:solidFill>
                <a:latin typeface="Cambria"/>
              </a:rPr>
              <a:t>05</a:t>
            </a:r>
          </a:p>
        </p:txBody>
      </p:sp>
      <p:sp>
        <p:nvSpPr>
          <p:cNvPr id="15" name="TextBox 14"/>
          <p:cNvSpPr txBox="1"/>
          <p:nvPr/>
        </p:nvSpPr>
        <p:spPr>
          <a:xfrm>
            <a:off x="6583680" y="4216400"/>
            <a:ext cx="4663440" cy="660400"/>
          </a:xfrm>
          <a:prstGeom prst="rect">
            <a:avLst/>
          </a:prstGeom>
          <a:noFill/>
        </p:spPr>
        <p:txBody>
          <a:bodyPr wrap="square" lIns="0" rIns="0" tIns="0" bIns="0" anchor="ctr">
            <a:spAutoFit/>
          </a:bodyPr>
          <a:lstStyle/>
          <a:p>
            <a:pPr algn="l"/>
            <a:r>
              <a:rPr sz="1300" b="0" i="0">
                <a:solidFill>
                  <a:srgbClr val="F4F6FB"/>
                </a:solidFill>
                <a:latin typeface="Calibri"/>
              </a:rPr>
              <a:t>Tools: how it acts</a:t>
            </a:r>
          </a:p>
        </p:txBody>
      </p:sp>
      <p:sp>
        <p:nvSpPr>
          <p:cNvPr id="16" name="TextBox 15"/>
          <p:cNvSpPr txBox="1"/>
          <p:nvPr/>
        </p:nvSpPr>
        <p:spPr>
          <a:xfrm>
            <a:off x="6126480" y="5194300"/>
            <a:ext cx="411480" cy="660400"/>
          </a:xfrm>
          <a:prstGeom prst="rect">
            <a:avLst/>
          </a:prstGeom>
          <a:noFill/>
        </p:spPr>
        <p:txBody>
          <a:bodyPr wrap="square" lIns="0" rIns="0" tIns="0" bIns="0" anchor="ctr">
            <a:spAutoFit/>
          </a:bodyPr>
          <a:lstStyle/>
          <a:p>
            <a:pPr algn="l"/>
            <a:r>
              <a:rPr sz="1200" b="1" i="0">
                <a:solidFill>
                  <a:srgbClr val="35D399"/>
                </a:solidFill>
                <a:latin typeface="Cambria"/>
              </a:rPr>
              <a:t>06</a:t>
            </a:r>
          </a:p>
        </p:txBody>
      </p:sp>
      <p:sp>
        <p:nvSpPr>
          <p:cNvPr id="17" name="TextBox 16"/>
          <p:cNvSpPr txBox="1"/>
          <p:nvPr/>
        </p:nvSpPr>
        <p:spPr>
          <a:xfrm>
            <a:off x="6583680" y="5194300"/>
            <a:ext cx="4663440" cy="660400"/>
          </a:xfrm>
          <a:prstGeom prst="rect">
            <a:avLst/>
          </a:prstGeom>
          <a:noFill/>
        </p:spPr>
        <p:txBody>
          <a:bodyPr wrap="square" lIns="0" rIns="0" tIns="0" bIns="0" anchor="ctr">
            <a:spAutoFit/>
          </a:bodyPr>
          <a:lstStyle/>
          <a:p>
            <a:pPr algn="l"/>
            <a:r>
              <a:rPr sz="1300" b="0" i="0">
                <a:solidFill>
                  <a:srgbClr val="F4F6FB"/>
                </a:solidFill>
                <a:latin typeface="Calibri"/>
              </a:rPr>
              <a:t>Being wrong convincingly</a:t>
            </a:r>
          </a:p>
        </p:txBody>
      </p:sp>
      <p:sp>
        <p:nvSpPr>
          <p:cNvPr id="18" name="TextBox 17"/>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9" name="TextBox 18"/>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THEORY  01 / 06</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What a language model does</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It predicts the next piece of text, over and over, very quickly.</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WHAT IT IS</a:t>
            </a:r>
          </a:p>
        </p:txBody>
      </p:sp>
      <p:sp>
        <p:nvSpPr>
          <p:cNvPr id="7" name="TextBox 6"/>
          <p:cNvSpPr txBox="1"/>
          <p:nvPr/>
        </p:nvSpPr>
        <p:spPr>
          <a:xfrm>
            <a:off x="859790" y="2697480"/>
            <a:ext cx="4955540" cy="1524000"/>
          </a:xfrm>
          <a:prstGeom prst="rect">
            <a:avLst/>
          </a:prstGeom>
          <a:noFill/>
        </p:spPr>
        <p:txBody>
          <a:bodyPr wrap="square" lIns="0" rIns="0" tIns="0" bIns="0" anchor="t">
            <a:spAutoFit/>
          </a:bodyPr>
          <a:lstStyle/>
          <a:p>
            <a:pPr algn="l"/>
            <a:r>
              <a:rPr sz="1200" b="0" i="0">
                <a:solidFill>
                  <a:srgbClr val="B8C7E4"/>
                </a:solidFill>
                <a:latin typeface="Calibri"/>
              </a:rPr>
              <a:t>A model is trained on a great deal of text and learns which continuations are likely. Given everything so far it produces one small chunk, a token, appends it, and repeats. There is no lookup, no stored table of facts, and no step at which it checks whether the result is true.</a:t>
            </a:r>
          </a:p>
        </p:txBody>
      </p:sp>
      <p:sp>
        <p:nvSpPr>
          <p:cNvPr id="8" name="TextBox 7"/>
          <p:cNvSpPr txBox="1"/>
          <p:nvPr/>
        </p:nvSpPr>
        <p:spPr>
          <a:xfrm>
            <a:off x="859790" y="441960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WHY IT MATTERS HERE</a:t>
            </a:r>
          </a:p>
        </p:txBody>
      </p:sp>
      <p:sp>
        <p:nvSpPr>
          <p:cNvPr id="9" name="TextBox 8"/>
          <p:cNvSpPr txBox="1"/>
          <p:nvPr/>
        </p:nvSpPr>
        <p:spPr>
          <a:xfrm>
            <a:off x="859790" y="4699000"/>
            <a:ext cx="4955540" cy="1066800"/>
          </a:xfrm>
          <a:prstGeom prst="rect">
            <a:avLst/>
          </a:prstGeom>
          <a:noFill/>
        </p:spPr>
        <p:txBody>
          <a:bodyPr wrap="square" lIns="0" rIns="0" tIns="0" bIns="0" anchor="t">
            <a:spAutoFit/>
          </a:bodyPr>
          <a:lstStyle/>
          <a:p>
            <a:pPr algn="l"/>
            <a:r>
              <a:rPr sz="1200" b="0" i="0">
                <a:solidFill>
                  <a:srgbClr val="B8C7E4"/>
                </a:solidFill>
                <a:latin typeface="Calibri"/>
              </a:rPr>
              <a:t>Most of what it does follows from that. It is fluent because fluency is what it was optimised for — and confidently wrong for the same reason.</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generation, one token at a time</a:t>
            </a:r>
          </a:p>
          <a:p>
            <a:pPr algn="l">
              <a:lnSpc>
                <a:spcPct val="112000"/>
              </a:lnSpc>
            </a:pPr>
            <a:r>
              <a:rPr sz="1050" b="0" i="0">
                <a:solidFill>
                  <a:srgbClr val="F4F6FB"/>
                </a:solidFill>
                <a:latin typeface="Courier New"/>
              </a:rPr>
              <a:t>"The capital of France is"   -&gt;  " Paris"</a:t>
            </a:r>
          </a:p>
          <a:p>
            <a:pPr algn="l">
              <a:lnSpc>
                <a:spcPct val="112000"/>
              </a:lnSpc>
            </a:pPr>
            <a:r>
              <a:rPr sz="1050" b="0" i="0">
                <a:solidFill>
                  <a:srgbClr val="F4F6FB"/>
                </a:solidFill>
                <a:latin typeface="Courier New"/>
              </a:rPr>
              <a:t>"The capital of France is Paris"  -&gt;  "."</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it is choosing likely, not true</a:t>
            </a:r>
          </a:p>
          <a:p>
            <a:pPr algn="l">
              <a:lnSpc>
                <a:spcPct val="112000"/>
              </a:lnSpc>
            </a:pPr>
            <a:r>
              <a:rPr sz="1050" b="0" i="0">
                <a:solidFill>
                  <a:srgbClr val="F4F6FB"/>
                </a:solidFill>
                <a:latin typeface="Courier New"/>
              </a:rPr>
              <a:t>"The flag for this level is"  -&gt;  ???</a:t>
            </a:r>
          </a:p>
          <a:p>
            <a:pPr algn="l">
              <a:lnSpc>
                <a:spcPct val="112000"/>
              </a:lnSpc>
            </a:pPr>
            <a:r>
              <a:rPr sz="1050" b="0" i="0">
                <a:solidFill>
                  <a:srgbClr val="F4F6FB"/>
                </a:solidFill>
                <a:latin typeface="Courier New"/>
              </a:rPr>
              <a:t> </a:t>
            </a:r>
          </a:p>
          <a:p>
            <a:pPr algn="l">
              <a:lnSpc>
                <a:spcPct val="112000"/>
              </a:lnSpc>
            </a:pPr>
            <a:r>
              <a:rPr sz="1050" b="0" i="0">
                <a:solidFill>
                  <a:srgbClr val="F4F6FB"/>
                </a:solidFill>
                <a:latin typeface="Courier New"/>
              </a:rPr>
              <a:t>     it will produce something</a:t>
            </a:r>
          </a:p>
          <a:p>
            <a:pPr algn="l">
              <a:lnSpc>
                <a:spcPct val="112000"/>
              </a:lnSpc>
            </a:pPr>
            <a:r>
              <a:rPr sz="1050" b="0" i="0">
                <a:solidFill>
                  <a:srgbClr val="F4F6FB"/>
                </a:solidFill>
                <a:latin typeface="Courier New"/>
              </a:rPr>
              <a:t>     that LOOKS exactly like a flag,</a:t>
            </a:r>
          </a:p>
          <a:p>
            <a:pPr algn="l">
              <a:lnSpc>
                <a:spcPct val="112000"/>
              </a:lnSpc>
            </a:pPr>
            <a:r>
              <a:rPr sz="1050" b="0" i="0">
                <a:solidFill>
                  <a:srgbClr val="F4F6FB"/>
                </a:solidFill>
                <a:latin typeface="Courier New"/>
              </a:rPr>
              <a:t>     with no way of knowing whether</a:t>
            </a:r>
          </a:p>
          <a:p>
            <a:pPr algn="l">
              <a:lnSpc>
                <a:spcPct val="112000"/>
              </a:lnSpc>
            </a:pPr>
            <a:r>
              <a:rPr sz="1050" b="0" i="0">
                <a:solidFill>
                  <a:srgbClr val="F4F6FB"/>
                </a:solidFill>
                <a:latin typeface="Courier New"/>
              </a:rPr>
              <a:t>     it is the real one</a:t>
            </a:r>
          </a:p>
        </p:txBody>
      </p:sp>
      <p:sp>
        <p:nvSpPr>
          <p:cNvPr id="12" name="TextBox 11"/>
          <p:cNvSpPr txBox="1"/>
          <p:nvPr/>
        </p:nvSpPr>
        <p:spPr>
          <a:xfrm>
            <a:off x="548640" y="6045200"/>
            <a:ext cx="11094720" cy="274320"/>
          </a:xfrm>
          <a:prstGeom prst="rect">
            <a:avLst/>
          </a:prstGeom>
          <a:noFill/>
        </p:spPr>
        <p:txBody>
          <a:bodyPr wrap="square" lIns="0" rIns="0" tIns="0" bIns="0" anchor="ctr">
            <a:spAutoFit/>
          </a:bodyPr>
          <a:lstStyle/>
          <a:p>
            <a:pPr algn="l"/>
            <a:r>
              <a:rPr sz="1250" b="0" i="1">
                <a:solidFill>
                  <a:srgbClr val="35D399"/>
                </a:solidFill>
                <a:latin typeface="Calibri"/>
              </a:rPr>
              <a:t>Likely and true are different targets. It is aiming at the first.</a:t>
            </a:r>
          </a:p>
        </p:txBody>
      </p:sp>
      <p:sp>
        <p:nvSpPr>
          <p:cNvPr id="13" name="TextBox 12"/>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THEORY  02 / 06</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Tokens and context</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 model sees a fixed-size window of text, and absolutely nothing else.</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WHAT IT IS</a:t>
            </a:r>
          </a:p>
        </p:txBody>
      </p:sp>
      <p:sp>
        <p:nvSpPr>
          <p:cNvPr id="7" name="TextBox 6"/>
          <p:cNvSpPr txBox="1"/>
          <p:nvPr/>
        </p:nvSpPr>
        <p:spPr>
          <a:xfrm>
            <a:off x="859790" y="2697480"/>
            <a:ext cx="4955540" cy="1524000"/>
          </a:xfrm>
          <a:prstGeom prst="rect">
            <a:avLst/>
          </a:prstGeom>
          <a:noFill/>
        </p:spPr>
        <p:txBody>
          <a:bodyPr wrap="square" lIns="0" rIns="0" tIns="0" bIns="0" anchor="t">
            <a:spAutoFit/>
          </a:bodyPr>
          <a:lstStyle/>
          <a:p>
            <a:pPr algn="l"/>
            <a:r>
              <a:rPr sz="1200" b="0" i="0">
                <a:solidFill>
                  <a:srgbClr val="B8C7E4"/>
                </a:solidFill>
                <a:latin typeface="Calibri"/>
              </a:rPr>
              <a:t>Text is split into tokens, roughly word-sized pieces. Everything the model can use has to fit inside its context window: the standing instructions, the conversation so far, and the reply it is producing. Once the window is full, the earliest material stops being visible to it.</a:t>
            </a:r>
          </a:p>
        </p:txBody>
      </p:sp>
      <p:sp>
        <p:nvSpPr>
          <p:cNvPr id="8" name="TextBox 7"/>
          <p:cNvSpPr txBox="1"/>
          <p:nvPr/>
        </p:nvSpPr>
        <p:spPr>
          <a:xfrm>
            <a:off x="859790" y="441960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WHY IT MATTERS HERE</a:t>
            </a:r>
          </a:p>
        </p:txBody>
      </p:sp>
      <p:sp>
        <p:nvSpPr>
          <p:cNvPr id="9" name="TextBox 8"/>
          <p:cNvSpPr txBox="1"/>
          <p:nvPr/>
        </p:nvSpPr>
        <p:spPr>
          <a:xfrm>
            <a:off x="859790" y="4699000"/>
            <a:ext cx="4955540" cy="1066800"/>
          </a:xfrm>
          <a:prstGeom prst="rect">
            <a:avLst/>
          </a:prstGeom>
          <a:noFill/>
        </p:spPr>
        <p:txBody>
          <a:bodyPr wrap="square" lIns="0" rIns="0" tIns="0" bIns="0" anchor="t">
            <a:spAutoFit/>
          </a:bodyPr>
          <a:lstStyle/>
          <a:p>
            <a:pPr algn="l"/>
            <a:r>
              <a:rPr sz="1200" b="0" i="0">
                <a:solidFill>
                  <a:srgbClr val="B8C7E4"/>
                </a:solidFill>
                <a:latin typeface="Calibri"/>
              </a:rPr>
              <a:t>It cannot see your screen, your files, or a session from yesterday. What you paste in is all it has — and a long conversation can push the important part back out.</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roughly how text becomes tokens</a:t>
            </a:r>
          </a:p>
          <a:p>
            <a:pPr algn="l">
              <a:lnSpc>
                <a:spcPct val="112000"/>
              </a:lnSpc>
            </a:pPr>
            <a:r>
              <a:rPr sz="1050" b="0" i="0">
                <a:solidFill>
                  <a:srgbClr val="F4F6FB"/>
                </a:solidFill>
                <a:latin typeface="Courier New"/>
              </a:rPr>
              <a:t>"unbreakable"   -&gt;  un | break | able</a:t>
            </a:r>
          </a:p>
          <a:p>
            <a:pPr algn="l">
              <a:lnSpc>
                <a:spcPct val="112000"/>
              </a:lnSpc>
            </a:pPr>
            <a:r>
              <a:rPr sz="1050" b="0" i="0">
                <a:solidFill>
                  <a:srgbClr val="F4F6FB"/>
                </a:solidFill>
                <a:latin typeface="Courier New"/>
              </a:rPr>
              <a:t>"ssh"           -&gt;  ssh</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what has to fit in the window</a:t>
            </a:r>
          </a:p>
          <a:p>
            <a:pPr algn="l">
              <a:lnSpc>
                <a:spcPct val="112000"/>
              </a:lnSpc>
            </a:pPr>
            <a:r>
              <a:rPr sz="1050" b="0" i="0">
                <a:solidFill>
                  <a:srgbClr val="F4F6FB"/>
                </a:solidFill>
                <a:latin typeface="Courier New"/>
              </a:rPr>
              <a:t>[ instructions ][ conversation ][ reply ]</a:t>
            </a:r>
          </a:p>
          <a:p>
            <a:pPr algn="l">
              <a:lnSpc>
                <a:spcPct val="112000"/>
              </a:lnSpc>
            </a:pPr>
            <a:r>
              <a:rPr sz="1050" b="0" i="0">
                <a:solidFill>
                  <a:srgbClr val="F4F6FB"/>
                </a:solidFill>
                <a:latin typeface="Courier New"/>
              </a:rPr>
              <a:t>|&lt;--------- fixed total size ---------&gt;|</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when it fills, the oldest drops out</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practical consequence:</a:t>
            </a:r>
          </a:p>
          <a:p>
            <a:pPr algn="l">
              <a:lnSpc>
                <a:spcPct val="112000"/>
              </a:lnSpc>
            </a:pPr>
            <a:r>
              <a:rPr sz="1050" b="0" i="1">
                <a:solidFill>
                  <a:srgbClr val="8FA3C8"/>
                </a:solidFill>
                <a:latin typeface="Courier New"/>
              </a:rPr>
              <a:t>start a fresh chat for each level</a:t>
            </a:r>
          </a:p>
        </p:txBody>
      </p:sp>
      <p:sp>
        <p:nvSpPr>
          <p:cNvPr id="12" name="TextBox 11"/>
          <p:cNvSpPr txBox="1"/>
          <p:nvPr/>
        </p:nvSpPr>
        <p:spPr>
          <a:xfrm>
            <a:off x="548640" y="6045200"/>
            <a:ext cx="11094720" cy="274320"/>
          </a:xfrm>
          <a:prstGeom prst="rect">
            <a:avLst/>
          </a:prstGeom>
          <a:noFill/>
        </p:spPr>
        <p:txBody>
          <a:bodyPr wrap="square" lIns="0" rIns="0" tIns="0" bIns="0" anchor="ctr">
            <a:spAutoFit/>
          </a:bodyPr>
          <a:lstStyle/>
          <a:p>
            <a:pPr algn="l"/>
            <a:r>
              <a:rPr sz="1250" b="0" i="1">
                <a:solidFill>
                  <a:srgbClr val="35D399"/>
                </a:solidFill>
                <a:latin typeface="Calibri"/>
              </a:rPr>
              <a:t>It has no memory between chats. Only what is in front of it.</a:t>
            </a:r>
          </a:p>
        </p:txBody>
      </p:sp>
      <p:sp>
        <p:nvSpPr>
          <p:cNvPr id="13" name="TextBox 12"/>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THEORY  03 / 06</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Running a model locally</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Size, memory and speed are one trade-off, made three times over.</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WHAT IT IS</a:t>
            </a:r>
          </a:p>
        </p:txBody>
      </p:sp>
      <p:sp>
        <p:nvSpPr>
          <p:cNvPr id="7" name="TextBox 6"/>
          <p:cNvSpPr txBox="1"/>
          <p:nvPr/>
        </p:nvSpPr>
        <p:spPr>
          <a:xfrm>
            <a:off x="859790" y="2697480"/>
            <a:ext cx="4955540" cy="1524000"/>
          </a:xfrm>
          <a:prstGeom prst="rect">
            <a:avLst/>
          </a:prstGeom>
          <a:noFill/>
        </p:spPr>
        <p:txBody>
          <a:bodyPr wrap="square" lIns="0" rIns="0" tIns="0" bIns="0" anchor="t">
            <a:spAutoFit/>
          </a:bodyPr>
          <a:lstStyle/>
          <a:p>
            <a:pPr algn="l"/>
            <a:r>
              <a:rPr sz="1200" b="0" i="0">
                <a:solidFill>
                  <a:srgbClr val="B8C7E4"/>
                </a:solidFill>
                <a:latin typeface="Calibri"/>
              </a:rPr>
              <a:t>A model's size is counted in parameters, and its weights are stored at a chosen precision. Reducing that precision — quantization — shrinks the file so it fits in ordinary memory, at some cost to quality. The whole thing loads before it can answer, and on a CPU it thinks at roughly reading speed rather than instantly.</a:t>
            </a:r>
          </a:p>
        </p:txBody>
      </p:sp>
      <p:sp>
        <p:nvSpPr>
          <p:cNvPr id="8" name="TextBox 7"/>
          <p:cNvSpPr txBox="1"/>
          <p:nvPr/>
        </p:nvSpPr>
        <p:spPr>
          <a:xfrm>
            <a:off x="859790" y="441960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WHY IT MATTERS HERE</a:t>
            </a:r>
          </a:p>
        </p:txBody>
      </p:sp>
      <p:sp>
        <p:nvSpPr>
          <p:cNvPr id="9" name="TextBox 8"/>
          <p:cNvSpPr txBox="1"/>
          <p:nvPr/>
        </p:nvSpPr>
        <p:spPr>
          <a:xfrm>
            <a:off x="859790" y="4699000"/>
            <a:ext cx="4955540" cy="1066800"/>
          </a:xfrm>
          <a:prstGeom prst="rect">
            <a:avLst/>
          </a:prstGeom>
          <a:noFill/>
        </p:spPr>
        <p:txBody>
          <a:bodyPr wrap="square" lIns="0" rIns="0" tIns="0" bIns="0" anchor="t">
            <a:spAutoFit/>
          </a:bodyPr>
          <a:lstStyle/>
          <a:p>
            <a:pPr algn="l"/>
            <a:r>
              <a:rPr sz="1200" b="0" i="0">
                <a:solidFill>
                  <a:srgbClr val="B8C7E4"/>
                </a:solidFill>
                <a:latin typeface="Calibri"/>
              </a:rPr>
              <a:t>This is why the bootstrap picks a model to match your laptop, why the first run downloads several gigabytes, and why answers arrive a word at a time.</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what the numbers mean</a:t>
            </a:r>
          </a:p>
          <a:p>
            <a:pPr algn="l">
              <a:lnSpc>
                <a:spcPct val="112000"/>
              </a:lnSpc>
            </a:pPr>
            <a:r>
              <a:rPr sz="1050" b="0" i="0">
                <a:solidFill>
                  <a:srgbClr val="F4F6FB"/>
                </a:solidFill>
                <a:latin typeface="Courier New"/>
              </a:rPr>
              <a:t>parameters    how big the model is</a:t>
            </a:r>
          </a:p>
          <a:p>
            <a:pPr algn="l">
              <a:lnSpc>
                <a:spcPct val="112000"/>
              </a:lnSpc>
            </a:pPr>
            <a:r>
              <a:rPr sz="1050" b="0" i="0">
                <a:solidFill>
                  <a:srgbClr val="F4F6FB"/>
                </a:solidFill>
                <a:latin typeface="Courier New"/>
              </a:rPr>
              <a:t>quantization  how precisely it is stored</a:t>
            </a:r>
          </a:p>
          <a:p>
            <a:pPr algn="l">
              <a:lnSpc>
                <a:spcPct val="112000"/>
              </a:lnSpc>
            </a:pPr>
            <a:r>
              <a:rPr sz="1050" b="0" i="0">
                <a:solidFill>
                  <a:srgbClr val="F4F6FB"/>
                </a:solidFill>
                <a:latin typeface="Courier New"/>
              </a:rPr>
              <a:t>              smaller file, some quality lost</a:t>
            </a:r>
          </a:p>
          <a:p>
            <a:pPr algn="l">
              <a:lnSpc>
                <a:spcPct val="112000"/>
              </a:lnSpc>
            </a:pPr>
            <a:r>
              <a:rPr sz="1050" b="0" i="0">
                <a:solidFill>
                  <a:srgbClr val="F4F6FB"/>
                </a:solidFill>
                <a:latin typeface="Courier New"/>
              </a:rPr>
              <a:t>context       how much text it can hold</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practical trade</a:t>
            </a:r>
          </a:p>
          <a:p>
            <a:pPr algn="l">
              <a:lnSpc>
                <a:spcPct val="112000"/>
              </a:lnSpc>
            </a:pPr>
            <a:r>
              <a:rPr sz="1050" b="0" i="0">
                <a:solidFill>
                  <a:srgbClr val="F4F6FB"/>
                </a:solidFill>
                <a:latin typeface="Courier New"/>
              </a:rPr>
              <a:t>more memory  -&gt;  bigger model  -&gt;  better</a:t>
            </a:r>
          </a:p>
          <a:p>
            <a:pPr algn="l">
              <a:lnSpc>
                <a:spcPct val="112000"/>
              </a:lnSpc>
            </a:pPr>
            <a:r>
              <a:rPr sz="1050" b="0" i="0">
                <a:solidFill>
                  <a:srgbClr val="F4F6FB"/>
                </a:solidFill>
                <a:latin typeface="Courier New"/>
              </a:rPr>
              <a:t>CPU only     -&gt;  slower to answer</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and the thing you gain in return:</a:t>
            </a:r>
          </a:p>
          <a:p>
            <a:pPr algn="l">
              <a:lnSpc>
                <a:spcPct val="112000"/>
              </a:lnSpc>
            </a:pPr>
            <a:r>
              <a:rPr sz="1050" b="0" i="1">
                <a:solidFill>
                  <a:srgbClr val="8FA3C8"/>
                </a:solidFill>
                <a:latin typeface="Courier New"/>
              </a:rPr>
              <a:t>nothing you type leaves the machine</a:t>
            </a:r>
          </a:p>
        </p:txBody>
      </p:sp>
      <p:sp>
        <p:nvSpPr>
          <p:cNvPr id="12" name="TextBox 11"/>
          <p:cNvSpPr txBox="1"/>
          <p:nvPr/>
        </p:nvSpPr>
        <p:spPr>
          <a:xfrm>
            <a:off x="548640" y="6045200"/>
            <a:ext cx="11094720" cy="274320"/>
          </a:xfrm>
          <a:prstGeom prst="rect">
            <a:avLst/>
          </a:prstGeom>
          <a:noFill/>
        </p:spPr>
        <p:txBody>
          <a:bodyPr wrap="square" lIns="0" rIns="0" tIns="0" bIns="0" anchor="ctr">
            <a:spAutoFit/>
          </a:bodyPr>
          <a:lstStyle/>
          <a:p>
            <a:pPr algn="l"/>
            <a:r>
              <a:rPr sz="1250" b="0" i="1">
                <a:solidFill>
                  <a:srgbClr val="35D399"/>
                </a:solidFill>
                <a:latin typeface="Calibri"/>
              </a:rPr>
              <a:t>Slower, smaller, and entirely yours.</a:t>
            </a:r>
          </a:p>
        </p:txBody>
      </p:sp>
      <p:sp>
        <p:nvSpPr>
          <p:cNvPr id="13" name="TextBox 12"/>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THEORY  04 / 06</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Prompting</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 prompt is the whole briefing. Specific beats polite, every time.</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WHAT IT IS</a:t>
            </a:r>
          </a:p>
        </p:txBody>
      </p:sp>
      <p:sp>
        <p:nvSpPr>
          <p:cNvPr id="7" name="TextBox 6"/>
          <p:cNvSpPr txBox="1"/>
          <p:nvPr/>
        </p:nvSpPr>
        <p:spPr>
          <a:xfrm>
            <a:off x="859790" y="2697480"/>
            <a:ext cx="4955540" cy="1524000"/>
          </a:xfrm>
          <a:prstGeom prst="rect">
            <a:avLst/>
          </a:prstGeom>
          <a:noFill/>
        </p:spPr>
        <p:txBody>
          <a:bodyPr wrap="square" lIns="0" rIns="0" tIns="0" bIns="0" anchor="t">
            <a:spAutoFit/>
          </a:bodyPr>
          <a:lstStyle/>
          <a:p>
            <a:pPr algn="l"/>
            <a:r>
              <a:rPr sz="1200" b="0" i="0">
                <a:solidFill>
                  <a:srgbClr val="B8C7E4"/>
                </a:solidFill>
                <a:latin typeface="Calibri"/>
              </a:rPr>
              <a:t>Because the output depends only on what is in the window, the levers that work are concrete ones: state the task, name the subject, say what you have already tried, and say what sort of answer you want back. Courtesy words change nothing. Asking for reasoning before a conclusion generally produces a better conclusion.</a:t>
            </a:r>
          </a:p>
        </p:txBody>
      </p:sp>
      <p:sp>
        <p:nvSpPr>
          <p:cNvPr id="8" name="TextBox 7"/>
          <p:cNvSpPr txBox="1"/>
          <p:nvPr/>
        </p:nvSpPr>
        <p:spPr>
          <a:xfrm>
            <a:off x="859790" y="441960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WHY IT MATTERS HERE</a:t>
            </a:r>
          </a:p>
        </p:txBody>
      </p:sp>
      <p:sp>
        <p:nvSpPr>
          <p:cNvPr id="9" name="TextBox 8"/>
          <p:cNvSpPr txBox="1"/>
          <p:nvPr/>
        </p:nvSpPr>
        <p:spPr>
          <a:xfrm>
            <a:off x="859790" y="4699000"/>
            <a:ext cx="4955540" cy="1066800"/>
          </a:xfrm>
          <a:prstGeom prst="rect">
            <a:avLst/>
          </a:prstGeom>
          <a:noFill/>
        </p:spPr>
        <p:txBody>
          <a:bodyPr wrap="square" lIns="0" rIns="0" tIns="0" bIns="0" anchor="t">
            <a:spAutoFit/>
          </a:bodyPr>
          <a:lstStyle/>
          <a:p>
            <a:pPr algn="l"/>
            <a:r>
              <a:rPr sz="1200" b="0" i="0">
                <a:solidFill>
                  <a:srgbClr val="B8C7E4"/>
                </a:solidFill>
                <a:latin typeface="Calibri"/>
              </a:rPr>
              <a:t>"It didn't help" usually means "it wasn't told enough". Naming a track and a level number is the smallest change with the largest effect — there's a whole challenge for exactly that.</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tells it almost nothing</a:t>
            </a:r>
          </a:p>
          <a:p>
            <a:pPr algn="l">
              <a:lnSpc>
                <a:spcPct val="112000"/>
              </a:lnSpc>
            </a:pPr>
            <a:r>
              <a:rPr sz="1050" b="0" i="0">
                <a:solidFill>
                  <a:srgbClr val="F4F6FB"/>
                </a:solidFill>
                <a:latin typeface="Courier New"/>
              </a:rPr>
              <a:t>"help"</a:t>
            </a:r>
          </a:p>
          <a:p>
            <a:pPr algn="l">
              <a:lnSpc>
                <a:spcPct val="112000"/>
              </a:lnSpc>
            </a:pPr>
            <a:r>
              <a:rPr sz="1050" b="0" i="0">
                <a:solidFill>
                  <a:srgbClr val="F4F6FB"/>
                </a:solidFill>
                <a:latin typeface="Courier New"/>
              </a:rPr>
              <a:t>"this isn't working"</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tells it what it actually needs</a:t>
            </a:r>
          </a:p>
          <a:p>
            <a:pPr algn="l">
              <a:lnSpc>
                <a:spcPct val="112000"/>
              </a:lnSpc>
            </a:pPr>
            <a:r>
              <a:rPr sz="1050" b="0" i="0">
                <a:solidFill>
                  <a:srgbClr val="F4F6FB"/>
                </a:solidFill>
                <a:latin typeface="Courier New"/>
              </a:rPr>
              <a:t>"Help me with Bandit level 12.</a:t>
            </a:r>
          </a:p>
          <a:p>
            <a:pPr algn="l">
              <a:lnSpc>
                <a:spcPct val="112000"/>
              </a:lnSpc>
            </a:pPr>
            <a:r>
              <a:rPr sz="1050" b="0" i="0">
                <a:solidFill>
                  <a:srgbClr val="F4F6FB"/>
                </a:solidFill>
                <a:latin typeface="Courier New"/>
              </a:rPr>
              <a:t> I can see the file but it isn't text.</a:t>
            </a:r>
          </a:p>
          <a:p>
            <a:pPr algn="l">
              <a:lnSpc>
                <a:spcPct val="112000"/>
              </a:lnSpc>
            </a:pPr>
            <a:r>
              <a:rPr sz="1050" b="0" i="0">
                <a:solidFill>
                  <a:srgbClr val="F4F6FB"/>
                </a:solidFill>
                <a:latin typeface="Courier New"/>
              </a:rPr>
              <a:t> Explain what I should look at.</a:t>
            </a:r>
          </a:p>
          <a:p>
            <a:pPr algn="l">
              <a:lnSpc>
                <a:spcPct val="112000"/>
              </a:lnSpc>
            </a:pPr>
            <a:r>
              <a:rPr sz="1050" b="0" i="0">
                <a:solidFill>
                  <a:srgbClr val="F4F6FB"/>
                </a:solidFill>
                <a:latin typeface="Courier New"/>
              </a:rPr>
              <a:t> Don't give me the answer."</a:t>
            </a:r>
          </a:p>
          <a:p>
            <a:pPr algn="l">
              <a:lnSpc>
                <a:spcPct val="112000"/>
              </a:lnSpc>
            </a:pPr>
            <a:r>
              <a:rPr sz="1050" b="0" i="0">
                <a:solidFill>
                  <a:srgbClr val="F4F6FB"/>
                </a:solidFill>
                <a:latin typeface="Courier New"/>
              </a:rPr>
              <a:t> </a:t>
            </a:r>
          </a:p>
          <a:p>
            <a:pPr algn="l">
              <a:lnSpc>
                <a:spcPct val="112000"/>
              </a:lnSpc>
            </a:pPr>
            <a:r>
              <a:rPr sz="1050" b="0" i="0">
                <a:solidFill>
                  <a:srgbClr val="F4F6FB"/>
                </a:solidFill>
                <a:latin typeface="Courier New"/>
              </a:rPr>
              <a:t>  task + subject + what you tried</a:t>
            </a:r>
          </a:p>
          <a:p>
            <a:pPr algn="l">
              <a:lnSpc>
                <a:spcPct val="112000"/>
              </a:lnSpc>
            </a:pPr>
            <a:r>
              <a:rPr sz="1050" b="0" i="0">
                <a:solidFill>
                  <a:srgbClr val="F4F6FB"/>
                </a:solidFill>
                <a:latin typeface="Courier New"/>
              </a:rPr>
              <a:t>       + what you want back</a:t>
            </a:r>
          </a:p>
        </p:txBody>
      </p:sp>
      <p:sp>
        <p:nvSpPr>
          <p:cNvPr id="12" name="TextBox 11"/>
          <p:cNvSpPr txBox="1"/>
          <p:nvPr/>
        </p:nvSpPr>
        <p:spPr>
          <a:xfrm>
            <a:off x="548640" y="6045200"/>
            <a:ext cx="11094720" cy="274320"/>
          </a:xfrm>
          <a:prstGeom prst="rect">
            <a:avLst/>
          </a:prstGeom>
          <a:noFill/>
        </p:spPr>
        <p:txBody>
          <a:bodyPr wrap="square" lIns="0" rIns="0" tIns="0" bIns="0" anchor="ctr">
            <a:spAutoFit/>
          </a:bodyPr>
          <a:lstStyle/>
          <a:p>
            <a:pPr algn="l"/>
            <a:r>
              <a:rPr sz="1250" b="0" i="1">
                <a:solidFill>
                  <a:srgbClr val="35D399"/>
                </a:solidFill>
                <a:latin typeface="Calibri"/>
              </a:rPr>
              <a:t>Please and thank you cost you nothing, and buy you nothing.</a:t>
            </a:r>
          </a:p>
        </p:txBody>
      </p:sp>
      <p:sp>
        <p:nvSpPr>
          <p:cNvPr id="13" name="TextBox 12"/>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THEORY  05 / 06</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Tools: how it acts</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On its own it only writes. A tool is what lets it actually do something.</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WHAT IT IS</a:t>
            </a:r>
          </a:p>
        </p:txBody>
      </p:sp>
      <p:sp>
        <p:nvSpPr>
          <p:cNvPr id="7" name="TextBox 6"/>
          <p:cNvSpPr txBox="1"/>
          <p:nvPr/>
        </p:nvSpPr>
        <p:spPr>
          <a:xfrm>
            <a:off x="859790" y="2697480"/>
            <a:ext cx="4955540" cy="1524000"/>
          </a:xfrm>
          <a:prstGeom prst="rect">
            <a:avLst/>
          </a:prstGeom>
          <a:noFill/>
        </p:spPr>
        <p:txBody>
          <a:bodyPr wrap="square" lIns="0" rIns="0" tIns="0" bIns="0" anchor="t">
            <a:spAutoFit/>
          </a:bodyPr>
          <a:lstStyle/>
          <a:p>
            <a:pPr algn="l"/>
            <a:r>
              <a:rPr sz="1200" b="0" i="0">
                <a:solidFill>
                  <a:srgbClr val="B8C7E4"/>
                </a:solidFill>
                <a:latin typeface="Calibri"/>
              </a:rPr>
              <a:t>A plain chat model produces text and stops. An agent adds a loop: the model asks for an action, the surrounding program really performs it, and the result is fed back into the context. The model then works from real output from your machine instead of its own guesses.</a:t>
            </a:r>
          </a:p>
        </p:txBody>
      </p:sp>
      <p:sp>
        <p:nvSpPr>
          <p:cNvPr id="8" name="TextBox 7"/>
          <p:cNvSpPr txBox="1"/>
          <p:nvPr/>
        </p:nvSpPr>
        <p:spPr>
          <a:xfrm>
            <a:off x="859790" y="441960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WHY IT MATTERS HERE</a:t>
            </a:r>
          </a:p>
        </p:txBody>
      </p:sp>
      <p:sp>
        <p:nvSpPr>
          <p:cNvPr id="9" name="TextBox 8"/>
          <p:cNvSpPr txBox="1"/>
          <p:nvPr/>
        </p:nvSpPr>
        <p:spPr>
          <a:xfrm>
            <a:off x="859790" y="4699000"/>
            <a:ext cx="4955540" cy="1066800"/>
          </a:xfrm>
          <a:prstGeom prst="rect">
            <a:avLst/>
          </a:prstGeom>
          <a:noFill/>
        </p:spPr>
        <p:txBody>
          <a:bodyPr wrap="square" lIns="0" rIns="0" tIns="0" bIns="0" anchor="t">
            <a:spAutoFit/>
          </a:bodyPr>
          <a:lstStyle/>
          <a:p>
            <a:pPr algn="l"/>
            <a:r>
              <a:rPr sz="1200" b="0" i="0">
                <a:solidFill>
                  <a:srgbClr val="B8C7E4"/>
                </a:solidFill>
                <a:latin typeface="Calibri"/>
              </a:rPr>
              <a:t>That's why the agent connects to a challenge box, and why step 4 of this track verifies a real connection instead of accepting a description of one.</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the agent loop</a:t>
            </a:r>
          </a:p>
          <a:p>
            <a:pPr algn="l">
              <a:lnSpc>
                <a:spcPct val="112000"/>
              </a:lnSpc>
            </a:pPr>
            <a:r>
              <a:rPr sz="1050" b="0" i="0">
                <a:solidFill>
                  <a:srgbClr val="F4F6FB"/>
                </a:solidFill>
                <a:latin typeface="Courier New"/>
              </a:rPr>
              <a:t>you ask</a:t>
            </a:r>
          </a:p>
          <a:p>
            <a:pPr algn="l">
              <a:lnSpc>
                <a:spcPct val="112000"/>
              </a:lnSpc>
            </a:pPr>
            <a:r>
              <a:rPr sz="1050" b="0" i="0">
                <a:solidFill>
                  <a:srgbClr val="F4F6FB"/>
                </a:solidFill>
                <a:latin typeface="Courier New"/>
              </a:rPr>
              <a:t>  -&gt; model decides on an action</a:t>
            </a:r>
          </a:p>
          <a:p>
            <a:pPr algn="l">
              <a:lnSpc>
                <a:spcPct val="112000"/>
              </a:lnSpc>
            </a:pPr>
            <a:r>
              <a:rPr sz="1050" b="0" i="0">
                <a:solidFill>
                  <a:srgbClr val="F4F6FB"/>
                </a:solidFill>
                <a:latin typeface="Courier New"/>
              </a:rPr>
              <a:t>    -&gt; the program really runs it</a:t>
            </a:r>
          </a:p>
          <a:p>
            <a:pPr algn="l">
              <a:lnSpc>
                <a:spcPct val="112000"/>
              </a:lnSpc>
            </a:pPr>
            <a:r>
              <a:rPr sz="1050" b="0" i="0">
                <a:solidFill>
                  <a:srgbClr val="F4F6FB"/>
                </a:solidFill>
                <a:latin typeface="Courier New"/>
              </a:rPr>
              <a:t>      -&gt; the output goes back in</a:t>
            </a:r>
          </a:p>
          <a:p>
            <a:pPr algn="l">
              <a:lnSpc>
                <a:spcPct val="112000"/>
              </a:lnSpc>
            </a:pPr>
            <a:r>
              <a:rPr sz="1050" b="0" i="0">
                <a:solidFill>
                  <a:srgbClr val="F4F6FB"/>
                </a:solidFill>
                <a:latin typeface="Courier New"/>
              </a:rPr>
              <a:t>        -&gt; model reads the output</a:t>
            </a:r>
          </a:p>
          <a:p>
            <a:pPr algn="l">
              <a:lnSpc>
                <a:spcPct val="112000"/>
              </a:lnSpc>
            </a:pPr>
            <a:r>
              <a:rPr sz="1050" b="0" i="0">
                <a:solidFill>
                  <a:srgbClr val="F4F6FB"/>
                </a:solidFill>
                <a:latin typeface="Courier New"/>
              </a:rPr>
              <a:t>          -&gt; model answers you</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difference this makes</a:t>
            </a:r>
          </a:p>
          <a:p>
            <a:pPr algn="l">
              <a:lnSpc>
                <a:spcPct val="112000"/>
              </a:lnSpc>
            </a:pPr>
            <a:r>
              <a:rPr sz="1050" b="0" i="0">
                <a:solidFill>
                  <a:srgbClr val="F4F6FB"/>
                </a:solidFill>
                <a:latin typeface="Courier New"/>
              </a:rPr>
              <a:t>without tools  it guesses the output</a:t>
            </a:r>
          </a:p>
          <a:p>
            <a:pPr algn="l">
              <a:lnSpc>
                <a:spcPct val="112000"/>
              </a:lnSpc>
            </a:pPr>
            <a:r>
              <a:rPr sz="1050" b="0" i="0">
                <a:solidFill>
                  <a:srgbClr val="F4F6FB"/>
                </a:solidFill>
                <a:latin typeface="Courier New"/>
              </a:rPr>
              <a:t>with tools     it reads the output</a:t>
            </a:r>
          </a:p>
        </p:txBody>
      </p:sp>
      <p:sp>
        <p:nvSpPr>
          <p:cNvPr id="12" name="TextBox 11"/>
          <p:cNvSpPr txBox="1"/>
          <p:nvPr/>
        </p:nvSpPr>
        <p:spPr>
          <a:xfrm>
            <a:off x="548640" y="6045200"/>
            <a:ext cx="11094720" cy="274320"/>
          </a:xfrm>
          <a:prstGeom prst="rect">
            <a:avLst/>
          </a:prstGeom>
          <a:noFill/>
        </p:spPr>
        <p:txBody>
          <a:bodyPr wrap="square" lIns="0" rIns="0" tIns="0" bIns="0" anchor="ctr">
            <a:spAutoFit/>
          </a:bodyPr>
          <a:lstStyle/>
          <a:p>
            <a:pPr algn="l"/>
            <a:r>
              <a:rPr sz="1250" b="0" i="1">
                <a:solidFill>
                  <a:srgbClr val="35D399"/>
                </a:solidFill>
                <a:latin typeface="Calibri"/>
              </a:rPr>
              <a:t>Reading real output beats predicting plausible output.</a:t>
            </a:r>
          </a:p>
        </p:txBody>
      </p:sp>
      <p:sp>
        <p:nvSpPr>
          <p:cNvPr id="13" name="TextBox 12"/>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THEORY  06 / 06</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Being wrong convincingly</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A confident answer and a correct answer look exactly the same.</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WHAT IT IS</a:t>
            </a:r>
          </a:p>
        </p:txBody>
      </p:sp>
      <p:sp>
        <p:nvSpPr>
          <p:cNvPr id="7" name="TextBox 6"/>
          <p:cNvSpPr txBox="1"/>
          <p:nvPr/>
        </p:nvSpPr>
        <p:spPr>
          <a:xfrm>
            <a:off x="859790" y="2697480"/>
            <a:ext cx="4955540" cy="1524000"/>
          </a:xfrm>
          <a:prstGeom prst="rect">
            <a:avLst/>
          </a:prstGeom>
          <a:noFill/>
        </p:spPr>
        <p:txBody>
          <a:bodyPr wrap="square" lIns="0" rIns="0" tIns="0" bIns="0" anchor="t">
            <a:spAutoFit/>
          </a:bodyPr>
          <a:lstStyle/>
          <a:p>
            <a:pPr algn="l"/>
            <a:r>
              <a:rPr sz="1200" b="0" i="0">
                <a:solidFill>
                  <a:srgbClr val="B8C7E4"/>
                </a:solidFill>
                <a:latin typeface="Calibri"/>
              </a:rPr>
              <a:t>When the likely continuation is not the true one, the model gives you the likely one anyway — in the same tone and at the same fluency, sometimes with invented specifics. There is no internal signal separating the two cases, so there is no warning.</a:t>
            </a:r>
          </a:p>
        </p:txBody>
      </p:sp>
      <p:sp>
        <p:nvSpPr>
          <p:cNvPr id="8" name="TextBox 7"/>
          <p:cNvSpPr txBox="1"/>
          <p:nvPr/>
        </p:nvSpPr>
        <p:spPr>
          <a:xfrm>
            <a:off x="859790" y="441960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WHY IT MATTERS HERE</a:t>
            </a:r>
          </a:p>
        </p:txBody>
      </p:sp>
      <p:sp>
        <p:nvSpPr>
          <p:cNvPr id="9" name="TextBox 8"/>
          <p:cNvSpPr txBox="1"/>
          <p:nvPr/>
        </p:nvSpPr>
        <p:spPr>
          <a:xfrm>
            <a:off x="859790" y="4699000"/>
            <a:ext cx="4955540" cy="1066800"/>
          </a:xfrm>
          <a:prstGeom prst="rect">
            <a:avLst/>
          </a:prstGeom>
          <a:noFill/>
        </p:spPr>
        <p:txBody>
          <a:bodyPr wrap="square" lIns="0" rIns="0" tIns="0" bIns="0" anchor="t">
            <a:spAutoFit/>
          </a:bodyPr>
          <a:lstStyle/>
          <a:p>
            <a:pPr algn="l"/>
            <a:r>
              <a:rPr sz="1200" b="0" i="0">
                <a:solidFill>
                  <a:srgbClr val="B8C7E4"/>
                </a:solidFill>
                <a:latin typeface="Calibri"/>
              </a:rPr>
              <a:t>Here that costs you twice: an invented command wastes your time, and an invented flag wastes a submission. It's why every step in this track is verified on your real machine rather than taken on trust.</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worth checking before you trust it</a:t>
            </a:r>
          </a:p>
          <a:p>
            <a:pPr algn="l">
              <a:lnSpc>
                <a:spcPct val="112000"/>
              </a:lnSpc>
            </a:pPr>
            <a:r>
              <a:rPr sz="1050" b="0" i="0">
                <a:solidFill>
                  <a:srgbClr val="F4F6FB"/>
                </a:solidFill>
                <a:latin typeface="Courier New"/>
              </a:rPr>
              <a:t>- does that command actually exist?</a:t>
            </a:r>
          </a:p>
          <a:p>
            <a:pPr algn="l">
              <a:lnSpc>
                <a:spcPct val="112000"/>
              </a:lnSpc>
            </a:pPr>
            <a:r>
              <a:rPr sz="1050" b="0" i="0">
                <a:solidFill>
                  <a:srgbClr val="F4F6FB"/>
                </a:solidFill>
                <a:latin typeface="Courier New"/>
              </a:rPr>
              <a:t>- did it really print that, or is it</a:t>
            </a:r>
          </a:p>
          <a:p>
            <a:pPr algn="l">
              <a:lnSpc>
                <a:spcPct val="112000"/>
              </a:lnSpc>
            </a:pPr>
            <a:r>
              <a:rPr sz="1050" b="0" i="0">
                <a:solidFill>
                  <a:srgbClr val="F4F6FB"/>
                </a:solidFill>
                <a:latin typeface="Courier New"/>
              </a:rPr>
              <a:t>  describing what it expects to see?</a:t>
            </a:r>
          </a:p>
          <a:p>
            <a:pPr algn="l">
              <a:lnSpc>
                <a:spcPct val="112000"/>
              </a:lnSpc>
            </a:pPr>
            <a:r>
              <a:rPr sz="1050" b="0" i="0">
                <a:solidFill>
                  <a:srgbClr val="F4F6FB"/>
                </a:solidFill>
                <a:latin typeface="Courier New"/>
              </a:rPr>
              <a:t>- is that a path you have seen before?</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what the verify tool does instead</a:t>
            </a:r>
          </a:p>
          <a:p>
            <a:pPr algn="l">
              <a:lnSpc>
                <a:spcPct val="112000"/>
              </a:lnSpc>
            </a:pPr>
            <a:r>
              <a:rPr sz="1050" b="0" i="0">
                <a:solidFill>
                  <a:srgbClr val="F4F6FB"/>
                </a:solidFill>
                <a:latin typeface="Courier New"/>
              </a:rPr>
              <a:t>ctf-agent-verify</a:t>
            </a:r>
          </a:p>
          <a:p>
            <a:pPr algn="l">
              <a:lnSpc>
                <a:spcPct val="112000"/>
              </a:lnSpc>
            </a:pPr>
            <a:r>
              <a:rPr sz="1050" b="0" i="0">
                <a:solidFill>
                  <a:srgbClr val="F4F6FB"/>
                </a:solidFill>
                <a:latin typeface="Courier New"/>
              </a:rPr>
              <a:t>  -&gt; performs the real step</a:t>
            </a:r>
          </a:p>
          <a:p>
            <a:pPr algn="l">
              <a:lnSpc>
                <a:spcPct val="112000"/>
              </a:lnSpc>
            </a:pPr>
            <a:r>
              <a:rPr sz="1050" b="0" i="0">
                <a:solidFill>
                  <a:srgbClr val="F4F6FB"/>
                </a:solidFill>
                <a:latin typeface="Courier New"/>
              </a:rPr>
              <a:t>  -&gt; prints the flag ONLY if the step</a:t>
            </a:r>
          </a:p>
          <a:p>
            <a:pPr algn="l">
              <a:lnSpc>
                <a:spcPct val="112000"/>
              </a:lnSpc>
            </a:pPr>
            <a:r>
              <a:rPr sz="1050" b="0" i="0">
                <a:solidFill>
                  <a:srgbClr val="F4F6FB"/>
                </a:solidFill>
                <a:latin typeface="Courier New"/>
              </a:rPr>
              <a:t>     genuinely passed on your machine</a:t>
            </a:r>
          </a:p>
          <a:p>
            <a:pPr algn="l">
              <a:lnSpc>
                <a:spcPct val="112000"/>
              </a:lnSpc>
            </a:pPr>
            <a:r>
              <a:rPr sz="1050" b="0" i="1">
                <a:solidFill>
                  <a:srgbClr val="8FA3C8"/>
                </a:solidFill>
                <a:latin typeface="Courier New"/>
              </a:rPr>
              <a:t>never a claim. always a check.</a:t>
            </a:r>
          </a:p>
        </p:txBody>
      </p:sp>
      <p:sp>
        <p:nvSpPr>
          <p:cNvPr id="12" name="TextBox 11"/>
          <p:cNvSpPr txBox="1"/>
          <p:nvPr/>
        </p:nvSpPr>
        <p:spPr>
          <a:xfrm>
            <a:off x="548640" y="6045200"/>
            <a:ext cx="11094720" cy="274320"/>
          </a:xfrm>
          <a:prstGeom prst="rect">
            <a:avLst/>
          </a:prstGeom>
          <a:noFill/>
        </p:spPr>
        <p:txBody>
          <a:bodyPr wrap="square" lIns="0" rIns="0" tIns="0" bIns="0" anchor="ctr">
            <a:spAutoFit/>
          </a:bodyPr>
          <a:lstStyle/>
          <a:p>
            <a:pPr algn="l"/>
            <a:r>
              <a:rPr sz="1250" b="0" i="1">
                <a:solidFill>
                  <a:srgbClr val="35D399"/>
                </a:solidFill>
                <a:latin typeface="Calibri"/>
              </a:rPr>
              <a:t>Use it as a fast colleague who is sometimes wrong, never as an oracle.</a:t>
            </a:r>
          </a:p>
        </p:txBody>
      </p:sp>
      <p:sp>
        <p:nvSpPr>
          <p:cNvPr id="13" name="TextBox 12"/>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9.png"/>
          <p:cNvPicPr>
            <a:picLocks noChangeAspect="1"/>
          </p:cNvPicPr>
          <p:nvPr/>
        </p:nvPicPr>
        <p:blipFill>
          <a:blip r:embed="rId2">
            <a:alphaModFix amt="28000"/>
          </a:blip>
          <a:stretch>
            <a:fillRect/>
          </a:stretch>
        </p:blipFill>
        <p:spPr>
          <a:xfrm>
            <a:off x="8549640" y="109220"/>
            <a:ext cx="3291840" cy="1902460"/>
          </a:xfrm>
          <a:prstGeom prst="rect">
            <a:avLst/>
          </a:prstGeom>
        </p:spPr>
      </p:pic>
      <p:sp>
        <p:nvSpPr>
          <p:cNvPr id="3" name="TextBox 2"/>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GETTING IN</a:t>
            </a:r>
          </a:p>
        </p:txBody>
      </p:sp>
      <p:sp>
        <p:nvSpPr>
          <p:cNvPr id="4" name="TextBox 3"/>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One command installs everything</a:t>
            </a:r>
          </a:p>
        </p:txBody>
      </p:sp>
      <p:sp>
        <p:nvSpPr>
          <p:cNvPr id="5" name="TextBox 4"/>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 bootstrap script installs Ollama, the agent and its dependencies, then opens the app in your browser.</a:t>
            </a:r>
          </a:p>
        </p:txBody>
      </p:sp>
      <p:sp>
        <p:nvSpPr>
          <p:cNvPr id="6" name="Rounded Rectangle 5"/>
          <p:cNvSpPr/>
          <p:nvPr/>
        </p:nvSpPr>
        <p:spPr>
          <a:xfrm>
            <a:off x="548640" y="2148840"/>
            <a:ext cx="5577840" cy="312674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790" y="2405380"/>
            <a:ext cx="4955540" cy="237490"/>
          </a:xfrm>
          <a:prstGeom prst="rect">
            <a:avLst/>
          </a:prstGeom>
          <a:noFill/>
        </p:spPr>
        <p:txBody>
          <a:bodyPr wrap="square" lIns="0" rIns="0" tIns="0" bIns="0" anchor="ctr">
            <a:spAutoFit/>
          </a:bodyPr>
          <a:lstStyle/>
          <a:p>
            <a:pPr algn="l"/>
            <a:r>
              <a:rPr sz="950" b="1" i="0" spc="110">
                <a:solidFill>
                  <a:srgbClr val="35D399"/>
                </a:solidFill>
                <a:latin typeface="Calibri"/>
              </a:rPr>
              <a:t>STEP BY STEP</a:t>
            </a:r>
          </a:p>
        </p:txBody>
      </p:sp>
      <p:sp>
        <p:nvSpPr>
          <p:cNvPr id="8" name="TextBox 7"/>
          <p:cNvSpPr txBox="1"/>
          <p:nvPr/>
        </p:nvSpPr>
        <p:spPr>
          <a:xfrm>
            <a:off x="859790" y="2771140"/>
            <a:ext cx="365760" cy="622300"/>
          </a:xfrm>
          <a:prstGeom prst="rect">
            <a:avLst/>
          </a:prstGeom>
          <a:noFill/>
        </p:spPr>
        <p:txBody>
          <a:bodyPr wrap="square" lIns="0" rIns="0" tIns="0" bIns="0" anchor="ctr">
            <a:spAutoFit/>
          </a:bodyPr>
          <a:lstStyle/>
          <a:p>
            <a:pPr algn="l"/>
            <a:r>
              <a:rPr sz="1600" b="1" i="0">
                <a:solidFill>
                  <a:srgbClr val="35D399"/>
                </a:solidFill>
                <a:latin typeface="Cambria"/>
              </a:rPr>
              <a:t>1</a:t>
            </a:r>
          </a:p>
        </p:txBody>
      </p:sp>
      <p:sp>
        <p:nvSpPr>
          <p:cNvPr id="9" name="TextBox 8"/>
          <p:cNvSpPr txBox="1"/>
          <p:nvPr/>
        </p:nvSpPr>
        <p:spPr>
          <a:xfrm>
            <a:off x="1280160" y="2806700"/>
            <a:ext cx="4480560" cy="256540"/>
          </a:xfrm>
          <a:prstGeom prst="rect">
            <a:avLst/>
          </a:prstGeom>
          <a:noFill/>
        </p:spPr>
        <p:txBody>
          <a:bodyPr wrap="square" lIns="0" rIns="0" tIns="0" bIns="0" anchor="ctr">
            <a:spAutoFit/>
          </a:bodyPr>
          <a:lstStyle/>
          <a:p>
            <a:pPr algn="l"/>
            <a:r>
              <a:rPr sz="1250" b="1" i="0">
                <a:solidFill>
                  <a:srgbClr val="F4F6FB"/>
                </a:solidFill>
                <a:latin typeface="Calibri"/>
              </a:rPr>
              <a:t>Download the script</a:t>
            </a:r>
          </a:p>
        </p:txBody>
      </p:sp>
      <p:sp>
        <p:nvSpPr>
          <p:cNvPr id="10" name="TextBox 9"/>
          <p:cNvSpPr txBox="1"/>
          <p:nvPr/>
        </p:nvSpPr>
        <p:spPr>
          <a:xfrm>
            <a:off x="1280160" y="3045460"/>
            <a:ext cx="4480560" cy="274320"/>
          </a:xfrm>
          <a:prstGeom prst="rect">
            <a:avLst/>
          </a:prstGeom>
          <a:noFill/>
        </p:spPr>
        <p:txBody>
          <a:bodyPr wrap="square" lIns="0" rIns="0" tIns="0" bIns="0" anchor="ctr">
            <a:spAutoFit/>
          </a:bodyPr>
          <a:lstStyle/>
          <a:p>
            <a:pPr algn="l"/>
            <a:r>
              <a:rPr sz="1100" b="0" i="0">
                <a:solidFill>
                  <a:srgbClr val="B8C7E4"/>
                </a:solidFill>
                <a:latin typeface="Calibri"/>
              </a:rPr>
              <a:t>bootstrap.sh for macOS and Linux, bootstrap.ps1 for Windows.</a:t>
            </a:r>
          </a:p>
        </p:txBody>
      </p:sp>
      <p:sp>
        <p:nvSpPr>
          <p:cNvPr id="11" name="TextBox 10"/>
          <p:cNvSpPr txBox="1"/>
          <p:nvPr/>
        </p:nvSpPr>
        <p:spPr>
          <a:xfrm>
            <a:off x="859790" y="3392170"/>
            <a:ext cx="365760" cy="622300"/>
          </a:xfrm>
          <a:prstGeom prst="rect">
            <a:avLst/>
          </a:prstGeom>
          <a:noFill/>
        </p:spPr>
        <p:txBody>
          <a:bodyPr wrap="square" lIns="0" rIns="0" tIns="0" bIns="0" anchor="ctr">
            <a:spAutoFit/>
          </a:bodyPr>
          <a:lstStyle/>
          <a:p>
            <a:pPr algn="l"/>
            <a:r>
              <a:rPr sz="1600" b="1" i="0">
                <a:solidFill>
                  <a:srgbClr val="35D399"/>
                </a:solidFill>
                <a:latin typeface="Cambria"/>
              </a:rPr>
              <a:t>2</a:t>
            </a:r>
          </a:p>
        </p:txBody>
      </p:sp>
      <p:sp>
        <p:nvSpPr>
          <p:cNvPr id="12" name="TextBox 11"/>
          <p:cNvSpPr txBox="1"/>
          <p:nvPr/>
        </p:nvSpPr>
        <p:spPr>
          <a:xfrm>
            <a:off x="1280160" y="3429000"/>
            <a:ext cx="4480560" cy="256540"/>
          </a:xfrm>
          <a:prstGeom prst="rect">
            <a:avLst/>
          </a:prstGeom>
          <a:noFill/>
        </p:spPr>
        <p:txBody>
          <a:bodyPr wrap="square" lIns="0" rIns="0" tIns="0" bIns="0" anchor="ctr">
            <a:spAutoFit/>
          </a:bodyPr>
          <a:lstStyle/>
          <a:p>
            <a:pPr algn="l"/>
            <a:r>
              <a:rPr sz="1250" b="1" i="0">
                <a:solidFill>
                  <a:srgbClr val="F4F6FB"/>
                </a:solidFill>
                <a:latin typeface="Calibri"/>
              </a:rPr>
              <a:t>Run it</a:t>
            </a:r>
          </a:p>
        </p:txBody>
      </p:sp>
      <p:sp>
        <p:nvSpPr>
          <p:cNvPr id="13" name="TextBox 12"/>
          <p:cNvSpPr txBox="1"/>
          <p:nvPr/>
        </p:nvSpPr>
        <p:spPr>
          <a:xfrm>
            <a:off x="1280160" y="3666490"/>
            <a:ext cx="4480560" cy="274320"/>
          </a:xfrm>
          <a:prstGeom prst="rect">
            <a:avLst/>
          </a:prstGeom>
          <a:noFill/>
        </p:spPr>
        <p:txBody>
          <a:bodyPr wrap="square" lIns="0" rIns="0" tIns="0" bIns="0" anchor="ctr">
            <a:spAutoFit/>
          </a:bodyPr>
          <a:lstStyle/>
          <a:p>
            <a:pPr algn="l"/>
            <a:r>
              <a:rPr sz="1100" b="0" i="0">
                <a:solidFill>
                  <a:srgbClr val="B8C7E4"/>
                </a:solidFill>
                <a:latin typeface="Calibri"/>
              </a:rPr>
              <a:t>One line in Terminal or PowerShell. First run pulls a model.</a:t>
            </a:r>
          </a:p>
        </p:txBody>
      </p:sp>
      <p:sp>
        <p:nvSpPr>
          <p:cNvPr id="14" name="TextBox 13"/>
          <p:cNvSpPr txBox="1"/>
          <p:nvPr/>
        </p:nvSpPr>
        <p:spPr>
          <a:xfrm>
            <a:off x="859790" y="4014470"/>
            <a:ext cx="365760" cy="622300"/>
          </a:xfrm>
          <a:prstGeom prst="rect">
            <a:avLst/>
          </a:prstGeom>
          <a:noFill/>
        </p:spPr>
        <p:txBody>
          <a:bodyPr wrap="square" lIns="0" rIns="0" tIns="0" bIns="0" anchor="ctr">
            <a:spAutoFit/>
          </a:bodyPr>
          <a:lstStyle/>
          <a:p>
            <a:pPr algn="l"/>
            <a:r>
              <a:rPr sz="1600" b="1" i="0">
                <a:solidFill>
                  <a:srgbClr val="35D399"/>
                </a:solidFill>
                <a:latin typeface="Cambria"/>
              </a:rPr>
              <a:t>3</a:t>
            </a:r>
          </a:p>
        </p:txBody>
      </p:sp>
      <p:sp>
        <p:nvSpPr>
          <p:cNvPr id="15" name="TextBox 14"/>
          <p:cNvSpPr txBox="1"/>
          <p:nvPr/>
        </p:nvSpPr>
        <p:spPr>
          <a:xfrm>
            <a:off x="1280160" y="4051300"/>
            <a:ext cx="4480560" cy="256540"/>
          </a:xfrm>
          <a:prstGeom prst="rect">
            <a:avLst/>
          </a:prstGeom>
          <a:noFill/>
        </p:spPr>
        <p:txBody>
          <a:bodyPr wrap="square" lIns="0" rIns="0" tIns="0" bIns="0" anchor="ctr">
            <a:spAutoFit/>
          </a:bodyPr>
          <a:lstStyle/>
          <a:p>
            <a:pPr algn="l"/>
            <a:r>
              <a:rPr sz="1250" b="1" i="0">
                <a:solidFill>
                  <a:srgbClr val="F4F6FB"/>
                </a:solidFill>
                <a:latin typeface="Calibri"/>
              </a:rPr>
              <a:t>The app opens</a:t>
            </a:r>
          </a:p>
        </p:txBody>
      </p:sp>
      <p:sp>
        <p:nvSpPr>
          <p:cNvPr id="16" name="TextBox 15"/>
          <p:cNvSpPr txBox="1"/>
          <p:nvPr/>
        </p:nvSpPr>
        <p:spPr>
          <a:xfrm>
            <a:off x="1280160" y="4288790"/>
            <a:ext cx="4480560" cy="274320"/>
          </a:xfrm>
          <a:prstGeom prst="rect">
            <a:avLst/>
          </a:prstGeom>
          <a:noFill/>
        </p:spPr>
        <p:txBody>
          <a:bodyPr wrap="square" lIns="0" rIns="0" tIns="0" bIns="0" anchor="ctr">
            <a:spAutoFit/>
          </a:bodyPr>
          <a:lstStyle/>
          <a:p>
            <a:pPr algn="l"/>
            <a:r>
              <a:rPr sz="1100" b="0" i="0">
                <a:solidFill>
                  <a:srgbClr val="B8C7E4"/>
                </a:solidFill>
                <a:latin typeface="Calibri"/>
              </a:rPr>
              <a:t>A chat window in your browser, with a model and box picker.</a:t>
            </a:r>
          </a:p>
        </p:txBody>
      </p:sp>
      <p:sp>
        <p:nvSpPr>
          <p:cNvPr id="17" name="TextBox 16"/>
          <p:cNvSpPr txBox="1"/>
          <p:nvPr/>
        </p:nvSpPr>
        <p:spPr>
          <a:xfrm>
            <a:off x="859790" y="4635500"/>
            <a:ext cx="365760" cy="622300"/>
          </a:xfrm>
          <a:prstGeom prst="rect">
            <a:avLst/>
          </a:prstGeom>
          <a:noFill/>
        </p:spPr>
        <p:txBody>
          <a:bodyPr wrap="square" lIns="0" rIns="0" tIns="0" bIns="0" anchor="ctr">
            <a:spAutoFit/>
          </a:bodyPr>
          <a:lstStyle/>
          <a:p>
            <a:pPr algn="l"/>
            <a:r>
              <a:rPr sz="1600" b="1" i="0">
                <a:solidFill>
                  <a:srgbClr val="35D399"/>
                </a:solidFill>
                <a:latin typeface="Cambria"/>
              </a:rPr>
              <a:t>4</a:t>
            </a:r>
          </a:p>
        </p:txBody>
      </p:sp>
      <p:sp>
        <p:nvSpPr>
          <p:cNvPr id="18" name="TextBox 17"/>
          <p:cNvSpPr txBox="1"/>
          <p:nvPr/>
        </p:nvSpPr>
        <p:spPr>
          <a:xfrm>
            <a:off x="1280160" y="4672330"/>
            <a:ext cx="4480560" cy="256540"/>
          </a:xfrm>
          <a:prstGeom prst="rect">
            <a:avLst/>
          </a:prstGeom>
          <a:noFill/>
        </p:spPr>
        <p:txBody>
          <a:bodyPr wrap="square" lIns="0" rIns="0" tIns="0" bIns="0" anchor="ctr">
            <a:spAutoFit/>
          </a:bodyPr>
          <a:lstStyle/>
          <a:p>
            <a:pPr algn="l"/>
            <a:r>
              <a:rPr sz="1250" b="1" i="0">
                <a:solidFill>
                  <a:srgbClr val="F4F6FB"/>
                </a:solidFill>
                <a:latin typeface="Calibri"/>
              </a:rPr>
              <a:t>Verify</a:t>
            </a:r>
          </a:p>
        </p:txBody>
      </p:sp>
      <p:sp>
        <p:nvSpPr>
          <p:cNvPr id="19" name="TextBox 18"/>
          <p:cNvSpPr txBox="1"/>
          <p:nvPr/>
        </p:nvSpPr>
        <p:spPr>
          <a:xfrm>
            <a:off x="1280160" y="4909820"/>
            <a:ext cx="4480560" cy="274320"/>
          </a:xfrm>
          <a:prstGeom prst="rect">
            <a:avLst/>
          </a:prstGeom>
          <a:noFill/>
        </p:spPr>
        <p:txBody>
          <a:bodyPr wrap="square" lIns="0" rIns="0" tIns="0" bIns="0" anchor="ctr">
            <a:spAutoFit/>
          </a:bodyPr>
          <a:lstStyle/>
          <a:p>
            <a:pPr algn="l"/>
            <a:r>
              <a:rPr sz="1100" b="0" i="0">
                <a:solidFill>
                  <a:srgbClr val="B8C7E4"/>
                </a:solidFill>
                <a:latin typeface="Calibri"/>
              </a:rPr>
              <a:t>Run ctf-agent-verify. It reports the milestones you passed.</a:t>
            </a:r>
          </a:p>
        </p:txBody>
      </p:sp>
      <p:sp>
        <p:nvSpPr>
          <p:cNvPr id="20" name="Rounded Rectangle 19"/>
          <p:cNvSpPr/>
          <p:nvPr/>
        </p:nvSpPr>
        <p:spPr>
          <a:xfrm>
            <a:off x="6383020" y="2148840"/>
            <a:ext cx="5260340" cy="312674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7340" y="2405380"/>
            <a:ext cx="4711700" cy="237490"/>
          </a:xfrm>
          <a:prstGeom prst="rect">
            <a:avLst/>
          </a:prstGeom>
          <a:noFill/>
        </p:spPr>
        <p:txBody>
          <a:bodyPr wrap="square" lIns="0" rIns="0" tIns="0" bIns="0" anchor="ctr">
            <a:spAutoFit/>
          </a:bodyPr>
          <a:lstStyle/>
          <a:p>
            <a:pPr algn="l"/>
            <a:r>
              <a:rPr sz="950" b="1" i="0" spc="110">
                <a:solidFill>
                  <a:srgbClr val="35D399"/>
                </a:solidFill>
                <a:latin typeface="Calibri"/>
              </a:rPr>
              <a:t>WHAT THE INSTALLER PUTS DOWN</a:t>
            </a:r>
          </a:p>
        </p:txBody>
      </p:sp>
      <p:sp>
        <p:nvSpPr>
          <p:cNvPr id="22" name="Oval 21"/>
          <p:cNvSpPr/>
          <p:nvPr/>
        </p:nvSpPr>
        <p:spPr>
          <a:xfrm>
            <a:off x="6657340" y="2843530"/>
            <a:ext cx="402590" cy="402590"/>
          </a:xfrm>
          <a:prstGeom prst="ellipse">
            <a:avLst/>
          </a:prstGeom>
          <a:solidFill>
            <a:srgbClr val="35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2.png"/>
          <p:cNvPicPr>
            <a:picLocks noChangeAspect="1"/>
          </p:cNvPicPr>
          <p:nvPr/>
        </p:nvPicPr>
        <p:blipFill>
          <a:blip r:embed="rId3"/>
          <a:stretch>
            <a:fillRect/>
          </a:stretch>
        </p:blipFill>
        <p:spPr>
          <a:xfrm>
            <a:off x="6761480" y="2948940"/>
            <a:ext cx="193040" cy="193040"/>
          </a:xfrm>
          <a:prstGeom prst="rect">
            <a:avLst/>
          </a:prstGeom>
        </p:spPr>
      </p:pic>
      <p:sp>
        <p:nvSpPr>
          <p:cNvPr id="24" name="TextBox 23"/>
          <p:cNvSpPr txBox="1"/>
          <p:nvPr/>
        </p:nvSpPr>
        <p:spPr>
          <a:xfrm>
            <a:off x="7223759" y="2788920"/>
            <a:ext cx="4117340" cy="256540"/>
          </a:xfrm>
          <a:prstGeom prst="rect">
            <a:avLst/>
          </a:prstGeom>
          <a:noFill/>
        </p:spPr>
        <p:txBody>
          <a:bodyPr wrap="square" lIns="0" rIns="0" tIns="0" bIns="0" anchor="ctr">
            <a:spAutoFit/>
          </a:bodyPr>
          <a:lstStyle/>
          <a:p>
            <a:pPr algn="l"/>
            <a:r>
              <a:rPr sz="1250" b="1" i="0">
                <a:solidFill>
                  <a:srgbClr val="F4F6FB"/>
                </a:solidFill>
                <a:latin typeface="Calibri"/>
              </a:rPr>
              <a:t>Ollama</a:t>
            </a:r>
          </a:p>
        </p:txBody>
      </p:sp>
      <p:sp>
        <p:nvSpPr>
          <p:cNvPr id="25" name="TextBox 24"/>
          <p:cNvSpPr txBox="1"/>
          <p:nvPr/>
        </p:nvSpPr>
        <p:spPr>
          <a:xfrm>
            <a:off x="7223759" y="3026410"/>
            <a:ext cx="4117340" cy="292100"/>
          </a:xfrm>
          <a:prstGeom prst="rect">
            <a:avLst/>
          </a:prstGeom>
          <a:noFill/>
        </p:spPr>
        <p:txBody>
          <a:bodyPr wrap="square" lIns="0" rIns="0" tIns="0" bIns="0" anchor="ctr">
            <a:spAutoFit/>
          </a:bodyPr>
          <a:lstStyle/>
          <a:p>
            <a:pPr algn="l"/>
            <a:r>
              <a:rPr sz="1100" b="0" i="0">
                <a:solidFill>
                  <a:srgbClr val="B8C7E4"/>
                </a:solidFill>
                <a:latin typeface="Calibri"/>
              </a:rPr>
              <a:t>The local runtime that loads and runs the model.</a:t>
            </a:r>
          </a:p>
        </p:txBody>
      </p:sp>
      <p:sp>
        <p:nvSpPr>
          <p:cNvPr id="26" name="Oval 25"/>
          <p:cNvSpPr/>
          <p:nvPr/>
        </p:nvSpPr>
        <p:spPr>
          <a:xfrm>
            <a:off x="6657340" y="3465829"/>
            <a:ext cx="402590" cy="402590"/>
          </a:xfrm>
          <a:prstGeom prst="ellipse">
            <a:avLst/>
          </a:prstGeom>
          <a:solidFill>
            <a:srgbClr val="35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11.png"/>
          <p:cNvPicPr>
            <a:picLocks noChangeAspect="1"/>
          </p:cNvPicPr>
          <p:nvPr/>
        </p:nvPicPr>
        <p:blipFill>
          <a:blip r:embed="rId4"/>
          <a:stretch>
            <a:fillRect/>
          </a:stretch>
        </p:blipFill>
        <p:spPr>
          <a:xfrm>
            <a:off x="6761480" y="3569970"/>
            <a:ext cx="193040" cy="193040"/>
          </a:xfrm>
          <a:prstGeom prst="rect">
            <a:avLst/>
          </a:prstGeom>
        </p:spPr>
      </p:pic>
      <p:sp>
        <p:nvSpPr>
          <p:cNvPr id="28" name="TextBox 27"/>
          <p:cNvSpPr txBox="1"/>
          <p:nvPr/>
        </p:nvSpPr>
        <p:spPr>
          <a:xfrm>
            <a:off x="7223759" y="3411220"/>
            <a:ext cx="4117340" cy="256540"/>
          </a:xfrm>
          <a:prstGeom prst="rect">
            <a:avLst/>
          </a:prstGeom>
          <a:noFill/>
        </p:spPr>
        <p:txBody>
          <a:bodyPr wrap="square" lIns="0" rIns="0" tIns="0" bIns="0" anchor="ctr">
            <a:spAutoFit/>
          </a:bodyPr>
          <a:lstStyle/>
          <a:p>
            <a:pPr algn="l"/>
            <a:r>
              <a:rPr sz="1250" b="1" i="0">
                <a:solidFill>
                  <a:srgbClr val="F4F6FB"/>
                </a:solidFill>
                <a:latin typeface="Calibri"/>
              </a:rPr>
              <a:t>A model</a:t>
            </a:r>
          </a:p>
        </p:txBody>
      </p:sp>
      <p:sp>
        <p:nvSpPr>
          <p:cNvPr id="29" name="TextBox 28"/>
          <p:cNvSpPr txBox="1"/>
          <p:nvPr/>
        </p:nvSpPr>
        <p:spPr>
          <a:xfrm>
            <a:off x="7223759" y="3648710"/>
            <a:ext cx="4117340" cy="292100"/>
          </a:xfrm>
          <a:prstGeom prst="rect">
            <a:avLst/>
          </a:prstGeom>
          <a:noFill/>
        </p:spPr>
        <p:txBody>
          <a:bodyPr wrap="square" lIns="0" rIns="0" tIns="0" bIns="0" anchor="ctr">
            <a:spAutoFit/>
          </a:bodyPr>
          <a:lstStyle/>
          <a:p>
            <a:pPr algn="l"/>
            <a:r>
              <a:rPr sz="1100" b="0" i="0">
                <a:solidFill>
                  <a:srgbClr val="B8C7E4"/>
                </a:solidFill>
                <a:latin typeface="Calibri"/>
              </a:rPr>
              <a:t>Chosen to fit your laptop's memory. Downloaded once.</a:t>
            </a:r>
          </a:p>
        </p:txBody>
      </p:sp>
      <p:sp>
        <p:nvSpPr>
          <p:cNvPr id="30" name="Oval 29"/>
          <p:cNvSpPr/>
          <p:nvPr/>
        </p:nvSpPr>
        <p:spPr>
          <a:xfrm>
            <a:off x="6657340" y="4086860"/>
            <a:ext cx="402590" cy="402590"/>
          </a:xfrm>
          <a:prstGeom prst="ellipse">
            <a:avLst/>
          </a:prstGeom>
          <a:solidFill>
            <a:srgbClr val="35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12.png"/>
          <p:cNvPicPr>
            <a:picLocks noChangeAspect="1"/>
          </p:cNvPicPr>
          <p:nvPr/>
        </p:nvPicPr>
        <p:blipFill>
          <a:blip r:embed="rId5"/>
          <a:stretch>
            <a:fillRect/>
          </a:stretch>
        </p:blipFill>
        <p:spPr>
          <a:xfrm>
            <a:off x="6761480" y="4192270"/>
            <a:ext cx="193040" cy="193040"/>
          </a:xfrm>
          <a:prstGeom prst="rect">
            <a:avLst/>
          </a:prstGeom>
        </p:spPr>
      </p:pic>
      <p:sp>
        <p:nvSpPr>
          <p:cNvPr id="32" name="TextBox 31"/>
          <p:cNvSpPr txBox="1"/>
          <p:nvPr/>
        </p:nvSpPr>
        <p:spPr>
          <a:xfrm>
            <a:off x="7223759" y="4032250"/>
            <a:ext cx="4117340" cy="256540"/>
          </a:xfrm>
          <a:prstGeom prst="rect">
            <a:avLst/>
          </a:prstGeom>
          <a:noFill/>
        </p:spPr>
        <p:txBody>
          <a:bodyPr wrap="square" lIns="0" rIns="0" tIns="0" bIns="0" anchor="ctr">
            <a:spAutoFit/>
          </a:bodyPr>
          <a:lstStyle/>
          <a:p>
            <a:pPr algn="l"/>
            <a:r>
              <a:rPr sz="1250" b="1" i="0">
                <a:solidFill>
                  <a:srgbClr val="F4F6FB"/>
                </a:solidFill>
                <a:latin typeface="Calibri"/>
              </a:rPr>
              <a:t>ctf-agent</a:t>
            </a:r>
          </a:p>
        </p:txBody>
      </p:sp>
      <p:sp>
        <p:nvSpPr>
          <p:cNvPr id="33" name="TextBox 32"/>
          <p:cNvSpPr txBox="1"/>
          <p:nvPr/>
        </p:nvSpPr>
        <p:spPr>
          <a:xfrm>
            <a:off x="7223759" y="4269740"/>
            <a:ext cx="4117340" cy="292100"/>
          </a:xfrm>
          <a:prstGeom prst="rect">
            <a:avLst/>
          </a:prstGeom>
          <a:noFill/>
        </p:spPr>
        <p:txBody>
          <a:bodyPr wrap="square" lIns="0" rIns="0" tIns="0" bIns="0" anchor="ctr">
            <a:spAutoFit/>
          </a:bodyPr>
          <a:lstStyle/>
          <a:p>
            <a:pPr algn="l"/>
            <a:r>
              <a:rPr sz="1100" b="0" i="0">
                <a:solidFill>
                  <a:srgbClr val="B8C7E4"/>
                </a:solidFill>
                <a:latin typeface="Calibri"/>
              </a:rPr>
              <a:t>The app itself — a chat window in your browser.</a:t>
            </a:r>
          </a:p>
        </p:txBody>
      </p:sp>
      <p:sp>
        <p:nvSpPr>
          <p:cNvPr id="34" name="Oval 33"/>
          <p:cNvSpPr/>
          <p:nvPr/>
        </p:nvSpPr>
        <p:spPr>
          <a:xfrm>
            <a:off x="6657340" y="4709160"/>
            <a:ext cx="402590" cy="402590"/>
          </a:xfrm>
          <a:prstGeom prst="ellipse">
            <a:avLst/>
          </a:prstGeom>
          <a:solidFill>
            <a:srgbClr val="35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13.png"/>
          <p:cNvPicPr>
            <a:picLocks noChangeAspect="1"/>
          </p:cNvPicPr>
          <p:nvPr/>
        </p:nvPicPr>
        <p:blipFill>
          <a:blip r:embed="rId6"/>
          <a:stretch>
            <a:fillRect/>
          </a:stretch>
        </p:blipFill>
        <p:spPr>
          <a:xfrm>
            <a:off x="6761480" y="4813300"/>
            <a:ext cx="193040" cy="193040"/>
          </a:xfrm>
          <a:prstGeom prst="rect">
            <a:avLst/>
          </a:prstGeom>
        </p:spPr>
      </p:pic>
      <p:sp>
        <p:nvSpPr>
          <p:cNvPr id="36" name="TextBox 35"/>
          <p:cNvSpPr txBox="1"/>
          <p:nvPr/>
        </p:nvSpPr>
        <p:spPr>
          <a:xfrm>
            <a:off x="7223759" y="4654550"/>
            <a:ext cx="4117340" cy="256540"/>
          </a:xfrm>
          <a:prstGeom prst="rect">
            <a:avLst/>
          </a:prstGeom>
          <a:noFill/>
        </p:spPr>
        <p:txBody>
          <a:bodyPr wrap="square" lIns="0" rIns="0" tIns="0" bIns="0" anchor="ctr">
            <a:spAutoFit/>
          </a:bodyPr>
          <a:lstStyle/>
          <a:p>
            <a:pPr algn="l"/>
            <a:r>
              <a:rPr sz="1250" b="1" i="0">
                <a:solidFill>
                  <a:srgbClr val="F4F6FB"/>
                </a:solidFill>
                <a:latin typeface="Calibri"/>
              </a:rPr>
              <a:t>ctf-agent-verify</a:t>
            </a:r>
          </a:p>
        </p:txBody>
      </p:sp>
      <p:sp>
        <p:nvSpPr>
          <p:cNvPr id="37" name="TextBox 36"/>
          <p:cNvSpPr txBox="1"/>
          <p:nvPr/>
        </p:nvSpPr>
        <p:spPr>
          <a:xfrm>
            <a:off x="7223759" y="4892040"/>
            <a:ext cx="4117340" cy="292100"/>
          </a:xfrm>
          <a:prstGeom prst="rect">
            <a:avLst/>
          </a:prstGeom>
          <a:noFill/>
        </p:spPr>
        <p:txBody>
          <a:bodyPr wrap="square" lIns="0" rIns="0" tIns="0" bIns="0" anchor="ctr">
            <a:spAutoFit/>
          </a:bodyPr>
          <a:lstStyle/>
          <a:p>
            <a:pPr algn="l"/>
            <a:r>
              <a:rPr sz="1100" b="0" i="0">
                <a:solidFill>
                  <a:srgbClr val="B8C7E4"/>
                </a:solidFill>
                <a:latin typeface="Calibri"/>
              </a:rPr>
              <a:t>Checks each milestone and prints its flag when it truly passes.</a:t>
            </a:r>
          </a:p>
        </p:txBody>
      </p:sp>
      <p:sp>
        <p:nvSpPr>
          <p:cNvPr id="38" name="TextBox 37"/>
          <p:cNvSpPr txBox="1"/>
          <p:nvPr/>
        </p:nvSpPr>
        <p:spPr>
          <a:xfrm>
            <a:off x="548640" y="5532120"/>
            <a:ext cx="11094720" cy="274320"/>
          </a:xfrm>
          <a:prstGeom prst="rect">
            <a:avLst/>
          </a:prstGeom>
          <a:noFill/>
        </p:spPr>
        <p:txBody>
          <a:bodyPr wrap="square" lIns="0" rIns="0" tIns="0" bIns="0" anchor="ctr">
            <a:spAutoFit/>
          </a:bodyPr>
          <a:lstStyle/>
          <a:p>
            <a:pPr algn="l"/>
            <a:r>
              <a:rPr sz="1250" b="0" i="1">
                <a:solidFill>
                  <a:srgbClr val="35D399"/>
                </a:solidFill>
                <a:latin typeface="Calibri"/>
              </a:rPr>
              <a:t>Venue Wi-Fi unreliable? An offline copy of the whole project site is attached to Start Here.</a:t>
            </a:r>
          </a:p>
        </p:txBody>
      </p:sp>
      <p:sp>
        <p:nvSpPr>
          <p:cNvPr id="39" name="TextBox 38"/>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40" name="TextBox 39"/>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9.png"/>
          <p:cNvPicPr>
            <a:picLocks noChangeAspect="1"/>
          </p:cNvPicPr>
          <p:nvPr/>
        </p:nvPicPr>
        <p:blipFill>
          <a:blip r:embed="rId2">
            <a:alphaModFix amt="28000"/>
          </a:blip>
          <a:stretch>
            <a:fillRect/>
          </a:stretch>
        </p:blipFill>
        <p:spPr>
          <a:xfrm>
            <a:off x="8549640" y="109220"/>
            <a:ext cx="3291840" cy="1902460"/>
          </a:xfrm>
          <a:prstGeom prst="rect">
            <a:avLst/>
          </a:prstGeom>
        </p:spPr>
      </p:pic>
      <p:sp>
        <p:nvSpPr>
          <p:cNvPr id="3" name="TextBox 2"/>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35D399"/>
                </a:solidFill>
                <a:latin typeface="Calibri"/>
              </a:rPr>
              <a:t>YOUR FIRST FLAG</a:t>
            </a:r>
          </a:p>
        </p:txBody>
      </p:sp>
      <p:sp>
        <p:nvSpPr>
          <p:cNvPr id="4" name="TextBox 3"/>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Start Here, step by step</a:t>
            </a:r>
          </a:p>
        </p:txBody>
      </p:sp>
      <p:sp>
        <p:nvSpPr>
          <p:cNvPr id="5" name="TextBox 4"/>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This one has no command to run. It exists so nobody can claim they didn't know the rule.</a:t>
            </a:r>
          </a:p>
        </p:txBody>
      </p:sp>
      <p:sp>
        <p:nvSpPr>
          <p:cNvPr id="6" name="Rounded Rectangle 5"/>
          <p:cNvSpPr/>
          <p:nvPr/>
        </p:nvSpPr>
        <p:spPr>
          <a:xfrm>
            <a:off x="54864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0740" y="2432050"/>
            <a:ext cx="548640" cy="457200"/>
          </a:xfrm>
          <a:prstGeom prst="rect">
            <a:avLst/>
          </a:prstGeom>
          <a:noFill/>
        </p:spPr>
        <p:txBody>
          <a:bodyPr wrap="square" lIns="0" rIns="0" tIns="0" bIns="0" anchor="ctr">
            <a:spAutoFit/>
          </a:bodyPr>
          <a:lstStyle/>
          <a:p>
            <a:pPr algn="l"/>
            <a:r>
              <a:rPr sz="2600" b="1" i="0">
                <a:solidFill>
                  <a:srgbClr val="35D399"/>
                </a:solidFill>
                <a:latin typeface="Cambria"/>
              </a:rPr>
              <a:t>1</a:t>
            </a:r>
          </a:p>
        </p:txBody>
      </p:sp>
      <p:sp>
        <p:nvSpPr>
          <p:cNvPr id="8" name="TextBox 7"/>
          <p:cNvSpPr txBox="1"/>
          <p:nvPr/>
        </p:nvSpPr>
        <p:spPr>
          <a:xfrm>
            <a:off x="84074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Open Start Here</a:t>
            </a:r>
          </a:p>
        </p:txBody>
      </p:sp>
      <p:sp>
        <p:nvSpPr>
          <p:cNvPr id="9" name="TextBox 8"/>
          <p:cNvSpPr txBox="1"/>
          <p:nvPr/>
        </p:nvSpPr>
        <p:spPr>
          <a:xfrm>
            <a:off x="84074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"AI Copilot Setup: Start Here" in CTFd.</a:t>
            </a:r>
          </a:p>
        </p:txBody>
      </p:sp>
      <p:sp>
        <p:nvSpPr>
          <p:cNvPr id="10" name="TextBox 9"/>
          <p:cNvSpPr txBox="1"/>
          <p:nvPr/>
        </p:nvSpPr>
        <p:spPr>
          <a:xfrm>
            <a:off x="297942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11" name="Rounded Rectangle 10"/>
          <p:cNvSpPr/>
          <p:nvPr/>
        </p:nvSpPr>
        <p:spPr>
          <a:xfrm>
            <a:off x="343662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8720" y="2432050"/>
            <a:ext cx="548640" cy="457200"/>
          </a:xfrm>
          <a:prstGeom prst="rect">
            <a:avLst/>
          </a:prstGeom>
          <a:noFill/>
        </p:spPr>
        <p:txBody>
          <a:bodyPr wrap="square" lIns="0" rIns="0" tIns="0" bIns="0" anchor="ctr">
            <a:spAutoFit/>
          </a:bodyPr>
          <a:lstStyle/>
          <a:p>
            <a:pPr algn="l"/>
            <a:r>
              <a:rPr sz="2600" b="1" i="0">
                <a:solidFill>
                  <a:srgbClr val="35D399"/>
                </a:solidFill>
                <a:latin typeface="Cambria"/>
              </a:rPr>
              <a:t>2</a:t>
            </a:r>
          </a:p>
        </p:txBody>
      </p:sp>
      <p:sp>
        <p:nvSpPr>
          <p:cNvPr id="13" name="TextBox 12"/>
          <p:cNvSpPr txBox="1"/>
          <p:nvPr/>
        </p:nvSpPr>
        <p:spPr>
          <a:xfrm>
            <a:off x="372872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Read the exception</a:t>
            </a:r>
          </a:p>
        </p:txBody>
      </p:sp>
      <p:sp>
        <p:nvSpPr>
          <p:cNvPr id="14" name="TextBox 13"/>
          <p:cNvSpPr txBox="1"/>
          <p:nvPr/>
        </p:nvSpPr>
        <p:spPr>
          <a:xfrm>
            <a:off x="372872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One paragraph explaining exactly what this track does and does not permit.</a:t>
            </a:r>
          </a:p>
        </p:txBody>
      </p:sp>
      <p:sp>
        <p:nvSpPr>
          <p:cNvPr id="15" name="TextBox 14"/>
          <p:cNvSpPr txBox="1"/>
          <p:nvPr/>
        </p:nvSpPr>
        <p:spPr>
          <a:xfrm>
            <a:off x="586740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16" name="Rounded Rectangle 15"/>
          <p:cNvSpPr/>
          <p:nvPr/>
        </p:nvSpPr>
        <p:spPr>
          <a:xfrm>
            <a:off x="632460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16700" y="2432050"/>
            <a:ext cx="548640" cy="457200"/>
          </a:xfrm>
          <a:prstGeom prst="rect">
            <a:avLst/>
          </a:prstGeom>
          <a:noFill/>
        </p:spPr>
        <p:txBody>
          <a:bodyPr wrap="square" lIns="0" rIns="0" tIns="0" bIns="0" anchor="ctr">
            <a:spAutoFit/>
          </a:bodyPr>
          <a:lstStyle/>
          <a:p>
            <a:pPr algn="l"/>
            <a:r>
              <a:rPr sz="2600" b="1" i="0">
                <a:solidFill>
                  <a:srgbClr val="35D399"/>
                </a:solidFill>
                <a:latin typeface="Cambria"/>
              </a:rPr>
              <a:t>3</a:t>
            </a:r>
          </a:p>
        </p:txBody>
      </p:sp>
      <p:sp>
        <p:nvSpPr>
          <p:cNvPr id="18" name="TextBox 17"/>
          <p:cNvSpPr txBox="1"/>
          <p:nvPr/>
        </p:nvSpPr>
        <p:spPr>
          <a:xfrm>
            <a:off x="661670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Grab the attachments</a:t>
            </a:r>
          </a:p>
        </p:txBody>
      </p:sp>
      <p:sp>
        <p:nvSpPr>
          <p:cNvPr id="19" name="TextBox 18"/>
          <p:cNvSpPr txBox="1"/>
          <p:nvPr/>
        </p:nvSpPr>
        <p:spPr>
          <a:xfrm>
            <a:off x="661670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Bootstrap scripts, README, troubleshooting guide, offline site copy.</a:t>
            </a:r>
          </a:p>
        </p:txBody>
      </p:sp>
      <p:sp>
        <p:nvSpPr>
          <p:cNvPr id="20" name="TextBox 19"/>
          <p:cNvSpPr txBox="1"/>
          <p:nvPr/>
        </p:nvSpPr>
        <p:spPr>
          <a:xfrm>
            <a:off x="875538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21" name="Rounded Rectangle 20"/>
          <p:cNvSpPr/>
          <p:nvPr/>
        </p:nvSpPr>
        <p:spPr>
          <a:xfrm>
            <a:off x="921258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4680" y="2432050"/>
            <a:ext cx="548640" cy="457200"/>
          </a:xfrm>
          <a:prstGeom prst="rect">
            <a:avLst/>
          </a:prstGeom>
          <a:noFill/>
        </p:spPr>
        <p:txBody>
          <a:bodyPr wrap="square" lIns="0" rIns="0" tIns="0" bIns="0" anchor="ctr">
            <a:spAutoFit/>
          </a:bodyPr>
          <a:lstStyle/>
          <a:p>
            <a:pPr algn="l"/>
            <a:r>
              <a:rPr sz="2600" b="1" i="0">
                <a:solidFill>
                  <a:srgbClr val="35D399"/>
                </a:solidFill>
                <a:latin typeface="Cambria"/>
              </a:rPr>
              <a:t>4</a:t>
            </a:r>
          </a:p>
        </p:txBody>
      </p:sp>
      <p:sp>
        <p:nvSpPr>
          <p:cNvPr id="23" name="TextBox 22"/>
          <p:cNvSpPr txBox="1"/>
          <p:nvPr/>
        </p:nvSpPr>
        <p:spPr>
          <a:xfrm>
            <a:off x="950468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Submit the sentence</a:t>
            </a:r>
          </a:p>
        </p:txBody>
      </p:sp>
      <p:sp>
        <p:nvSpPr>
          <p:cNvPr id="24" name="TextBox 23"/>
          <p:cNvSpPr txBox="1"/>
          <p:nvPr/>
        </p:nvSpPr>
        <p:spPr>
          <a:xfrm>
            <a:off x="950468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Copy it word for word. That confirmation is the flag.</a:t>
            </a:r>
          </a:p>
        </p:txBody>
      </p:sp>
      <p:sp>
        <p:nvSpPr>
          <p:cNvPr id="25" name="TextBox 24"/>
          <p:cNvSpPr txBox="1"/>
          <p:nvPr/>
        </p:nvSpPr>
        <p:spPr>
          <a:xfrm>
            <a:off x="548640" y="5349240"/>
            <a:ext cx="11094720" cy="274320"/>
          </a:xfrm>
          <a:prstGeom prst="rect">
            <a:avLst/>
          </a:prstGeom>
          <a:noFill/>
        </p:spPr>
        <p:txBody>
          <a:bodyPr wrap="square" lIns="0" rIns="0" tIns="0" bIns="0" anchor="ctr">
            <a:spAutoFit/>
          </a:bodyPr>
          <a:lstStyle/>
          <a:p>
            <a:pPr algn="l"/>
            <a:r>
              <a:rPr sz="1250" b="0" i="1">
                <a:solidFill>
                  <a:srgbClr val="35D399"/>
                </a:solidFill>
                <a:latin typeface="Calibri"/>
              </a:rPr>
              <a:t>Read it properly. The rest of this deck assumes you have.</a:t>
            </a:r>
          </a:p>
        </p:txBody>
      </p:sp>
      <p:sp>
        <p:nvSpPr>
          <p:cNvPr id="26" name="TextBox 25"/>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27" name="TextBox 26"/>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5.png"/>
          <p:cNvPicPr>
            <a:picLocks noChangeAspect="1"/>
          </p:cNvPicPr>
          <p:nvPr/>
        </p:nvPicPr>
        <p:blipFill>
          <a:blip r:embed="rId2"/>
          <a:stretch>
            <a:fillRect/>
          </a:stretch>
        </p:blipFill>
        <p:spPr>
          <a:xfrm>
            <a:off x="7881620" y="2286000"/>
            <a:ext cx="3749040" cy="3072130"/>
          </a:xfrm>
          <a:prstGeom prst="rect">
            <a:avLst/>
          </a:prstGeom>
        </p:spPr>
      </p:pic>
      <p:sp>
        <p:nvSpPr>
          <p:cNvPr id="3" name="TextBox 2"/>
          <p:cNvSpPr txBox="1"/>
          <p:nvPr/>
        </p:nvSpPr>
        <p:spPr>
          <a:xfrm>
            <a:off x="548640" y="1143000"/>
            <a:ext cx="7315200" cy="731520"/>
          </a:xfrm>
          <a:prstGeom prst="rect">
            <a:avLst/>
          </a:prstGeom>
          <a:noFill/>
        </p:spPr>
        <p:txBody>
          <a:bodyPr wrap="square" lIns="0" rIns="0" tIns="0" bIns="0" anchor="ctr">
            <a:spAutoFit/>
          </a:bodyPr>
          <a:lstStyle/>
          <a:p>
            <a:pPr algn="l"/>
            <a:r>
              <a:rPr sz="4000" b="1" i="0">
                <a:solidFill>
                  <a:srgbClr val="F4F6FB"/>
                </a:solidFill>
                <a:latin typeface="Cambria"/>
              </a:rPr>
              <a:t>Ready to play.</a:t>
            </a:r>
          </a:p>
        </p:txBody>
      </p:sp>
      <p:sp>
        <p:nvSpPr>
          <p:cNvPr id="4" name="TextBox 3"/>
          <p:cNvSpPr txBox="1"/>
          <p:nvPr/>
        </p:nvSpPr>
        <p:spPr>
          <a:xfrm>
            <a:off x="548640" y="1920239"/>
            <a:ext cx="7680959" cy="365760"/>
          </a:xfrm>
          <a:prstGeom prst="rect">
            <a:avLst/>
          </a:prstGeom>
          <a:noFill/>
        </p:spPr>
        <p:txBody>
          <a:bodyPr wrap="square" lIns="0" rIns="0" tIns="0" bIns="0" anchor="ctr">
            <a:spAutoFit/>
          </a:bodyPr>
          <a:lstStyle/>
          <a:p>
            <a:pPr algn="l"/>
            <a:r>
              <a:rPr sz="1350" b="0" i="0">
                <a:solidFill>
                  <a:srgbClr val="B8C7E4"/>
                </a:solidFill>
                <a:latin typeface="Calibri"/>
              </a:rPr>
              <a:t>Do this one early. It pays for itself across the other three tracks.</a:t>
            </a:r>
          </a:p>
        </p:txBody>
      </p:sp>
      <p:sp>
        <p:nvSpPr>
          <p:cNvPr id="5" name="Rounded Rectangle 4"/>
          <p:cNvSpPr/>
          <p:nvPr/>
        </p:nvSpPr>
        <p:spPr>
          <a:xfrm>
            <a:off x="548640" y="2540000"/>
            <a:ext cx="6614159" cy="6350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180" y="2540000"/>
            <a:ext cx="457200" cy="635000"/>
          </a:xfrm>
          <a:prstGeom prst="rect">
            <a:avLst/>
          </a:prstGeom>
          <a:noFill/>
        </p:spPr>
        <p:txBody>
          <a:bodyPr wrap="square" lIns="0" rIns="0" tIns="0" bIns="0" anchor="ctr">
            <a:spAutoFit/>
          </a:bodyPr>
          <a:lstStyle/>
          <a:p>
            <a:pPr algn="l"/>
            <a:r>
              <a:rPr sz="1900" b="1" i="0">
                <a:solidFill>
                  <a:srgbClr val="35D399"/>
                </a:solidFill>
                <a:latin typeface="Cambria"/>
              </a:rPr>
              <a:t>1</a:t>
            </a:r>
          </a:p>
        </p:txBody>
      </p:sp>
      <p:sp>
        <p:nvSpPr>
          <p:cNvPr id="7" name="TextBox 6"/>
          <p:cNvSpPr txBox="1"/>
          <p:nvPr/>
        </p:nvSpPr>
        <p:spPr>
          <a:xfrm>
            <a:off x="1554480" y="2540000"/>
            <a:ext cx="5334000" cy="635000"/>
          </a:xfrm>
          <a:prstGeom prst="rect">
            <a:avLst/>
          </a:prstGeom>
          <a:noFill/>
        </p:spPr>
        <p:txBody>
          <a:bodyPr wrap="square" lIns="0" rIns="0" tIns="0" bIns="0" anchor="ctr">
            <a:spAutoFit/>
          </a:bodyPr>
          <a:lstStyle/>
          <a:p>
            <a:pPr algn="l"/>
            <a:r>
              <a:rPr sz="1400" b="0" i="0">
                <a:solidFill>
                  <a:srgbClr val="F4F6FB"/>
                </a:solidFill>
                <a:latin typeface="Calibri"/>
              </a:rPr>
              <a:t>Open "AI Copilot Setup: Start Here" and read the AI-use exception</a:t>
            </a:r>
          </a:p>
        </p:txBody>
      </p:sp>
      <p:sp>
        <p:nvSpPr>
          <p:cNvPr id="8" name="Rounded Rectangle 7"/>
          <p:cNvSpPr/>
          <p:nvPr/>
        </p:nvSpPr>
        <p:spPr>
          <a:xfrm>
            <a:off x="548640" y="3276600"/>
            <a:ext cx="6614159" cy="635000"/>
          </a:xfrm>
          <a:prstGeom prst="roundRect">
            <a:avLst>
              <a:gd name="adj" fmla="val 11842"/>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180" y="3276600"/>
            <a:ext cx="457200" cy="635000"/>
          </a:xfrm>
          <a:prstGeom prst="rect">
            <a:avLst/>
          </a:prstGeom>
          <a:noFill/>
        </p:spPr>
        <p:txBody>
          <a:bodyPr wrap="square" lIns="0" rIns="0" tIns="0" bIns="0" anchor="ctr">
            <a:spAutoFit/>
          </a:bodyPr>
          <a:lstStyle/>
          <a:p>
            <a:pPr algn="l"/>
            <a:r>
              <a:rPr sz="1900" b="1" i="0">
                <a:solidFill>
                  <a:srgbClr val="35D399"/>
                </a:solidFill>
                <a:latin typeface="Cambria"/>
              </a:rPr>
              <a:t>2</a:t>
            </a:r>
          </a:p>
        </p:txBody>
      </p:sp>
      <p:sp>
        <p:nvSpPr>
          <p:cNvPr id="10" name="TextBox 9"/>
          <p:cNvSpPr txBox="1"/>
          <p:nvPr/>
        </p:nvSpPr>
        <p:spPr>
          <a:xfrm>
            <a:off x="1554480" y="3276600"/>
            <a:ext cx="5334000" cy="635000"/>
          </a:xfrm>
          <a:prstGeom prst="rect">
            <a:avLst/>
          </a:prstGeom>
          <a:noFill/>
        </p:spPr>
        <p:txBody>
          <a:bodyPr wrap="square" lIns="0" rIns="0" tIns="0" bIns="0" anchor="ctr">
            <a:spAutoFit/>
          </a:bodyPr>
          <a:lstStyle/>
          <a:p>
            <a:pPr algn="l"/>
            <a:r>
              <a:rPr sz="1400" b="0" i="0">
                <a:solidFill>
                  <a:srgbClr val="F4F6FB"/>
                </a:solidFill>
                <a:latin typeface="Calibri"/>
              </a:rPr>
              <a:t>Download and run the bootstrap script for your operating system</a:t>
            </a:r>
          </a:p>
        </p:txBody>
      </p:sp>
      <p:sp>
        <p:nvSpPr>
          <p:cNvPr id="11" name="Rounded Rectangle 10"/>
          <p:cNvSpPr/>
          <p:nvPr/>
        </p:nvSpPr>
        <p:spPr>
          <a:xfrm>
            <a:off x="548640" y="4013200"/>
            <a:ext cx="6614159" cy="6350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180" y="4013200"/>
            <a:ext cx="457200" cy="635000"/>
          </a:xfrm>
          <a:prstGeom prst="rect">
            <a:avLst/>
          </a:prstGeom>
          <a:noFill/>
        </p:spPr>
        <p:txBody>
          <a:bodyPr wrap="square" lIns="0" rIns="0" tIns="0" bIns="0" anchor="ctr">
            <a:spAutoFit/>
          </a:bodyPr>
          <a:lstStyle/>
          <a:p>
            <a:pPr algn="l"/>
            <a:r>
              <a:rPr sz="1900" b="1" i="0">
                <a:solidFill>
                  <a:srgbClr val="35D399"/>
                </a:solidFill>
                <a:latin typeface="Cambria"/>
              </a:rPr>
              <a:t>3</a:t>
            </a:r>
          </a:p>
        </p:txBody>
      </p:sp>
      <p:sp>
        <p:nvSpPr>
          <p:cNvPr id="13" name="TextBox 12"/>
          <p:cNvSpPr txBox="1"/>
          <p:nvPr/>
        </p:nvSpPr>
        <p:spPr>
          <a:xfrm>
            <a:off x="1554480" y="4013200"/>
            <a:ext cx="5334000" cy="635000"/>
          </a:xfrm>
          <a:prstGeom prst="rect">
            <a:avLst/>
          </a:prstGeom>
          <a:noFill/>
        </p:spPr>
        <p:txBody>
          <a:bodyPr wrap="square" lIns="0" rIns="0" tIns="0" bIns="0" anchor="ctr">
            <a:spAutoFit/>
          </a:bodyPr>
          <a:lstStyle/>
          <a:p>
            <a:pPr algn="l"/>
            <a:r>
              <a:rPr sz="1400" b="0" i="0">
                <a:solidFill>
                  <a:srgbClr val="F4F6FB"/>
                </a:solidFill>
                <a:latin typeface="Calibri"/>
              </a:rPr>
              <a:t>Wait out the first model download — it only happens once</a:t>
            </a:r>
          </a:p>
        </p:txBody>
      </p:sp>
      <p:sp>
        <p:nvSpPr>
          <p:cNvPr id="14" name="Rounded Rectangle 13"/>
          <p:cNvSpPr/>
          <p:nvPr/>
        </p:nvSpPr>
        <p:spPr>
          <a:xfrm>
            <a:off x="548640" y="4749800"/>
            <a:ext cx="6614159" cy="635000"/>
          </a:xfrm>
          <a:prstGeom prst="roundRect">
            <a:avLst>
              <a:gd name="adj" fmla="val 11842"/>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180" y="4749800"/>
            <a:ext cx="457200" cy="635000"/>
          </a:xfrm>
          <a:prstGeom prst="rect">
            <a:avLst/>
          </a:prstGeom>
          <a:noFill/>
        </p:spPr>
        <p:txBody>
          <a:bodyPr wrap="square" lIns="0" rIns="0" tIns="0" bIns="0" anchor="ctr">
            <a:spAutoFit/>
          </a:bodyPr>
          <a:lstStyle/>
          <a:p>
            <a:pPr algn="l"/>
            <a:r>
              <a:rPr sz="1900" b="1" i="0">
                <a:solidFill>
                  <a:srgbClr val="35D399"/>
                </a:solidFill>
                <a:latin typeface="Cambria"/>
              </a:rPr>
              <a:t>4</a:t>
            </a:r>
          </a:p>
        </p:txBody>
      </p:sp>
      <p:sp>
        <p:nvSpPr>
          <p:cNvPr id="16" name="TextBox 15"/>
          <p:cNvSpPr txBox="1"/>
          <p:nvPr/>
        </p:nvSpPr>
        <p:spPr>
          <a:xfrm>
            <a:off x="1554480" y="4749800"/>
            <a:ext cx="5334000" cy="635000"/>
          </a:xfrm>
          <a:prstGeom prst="rect">
            <a:avLst/>
          </a:prstGeom>
          <a:noFill/>
        </p:spPr>
        <p:txBody>
          <a:bodyPr wrap="square" lIns="0" rIns="0" tIns="0" bIns="0" anchor="ctr">
            <a:spAutoFit/>
          </a:bodyPr>
          <a:lstStyle/>
          <a:p>
            <a:pPr algn="l"/>
            <a:r>
              <a:rPr sz="1400" b="0" i="0">
                <a:solidFill>
                  <a:srgbClr val="F4F6FB"/>
                </a:solidFill>
                <a:latin typeface="Calibri"/>
              </a:rPr>
              <a:t>Run ctf-agent-verify and collect the flags it reports</a:t>
            </a:r>
          </a:p>
        </p:txBody>
      </p:sp>
      <p:sp>
        <p:nvSpPr>
          <p:cNvPr id="17" name="Rounded Rectangle 16"/>
          <p:cNvSpPr/>
          <p:nvPr/>
        </p:nvSpPr>
        <p:spPr>
          <a:xfrm>
            <a:off x="548640" y="5486400"/>
            <a:ext cx="6614159" cy="6350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180" y="5486400"/>
            <a:ext cx="457200" cy="635000"/>
          </a:xfrm>
          <a:prstGeom prst="rect">
            <a:avLst/>
          </a:prstGeom>
          <a:noFill/>
        </p:spPr>
        <p:txBody>
          <a:bodyPr wrap="square" lIns="0" rIns="0" tIns="0" bIns="0" anchor="ctr">
            <a:spAutoFit/>
          </a:bodyPr>
          <a:lstStyle/>
          <a:p>
            <a:pPr algn="l"/>
            <a:r>
              <a:rPr sz="1900" b="1" i="0">
                <a:solidFill>
                  <a:srgbClr val="35D399"/>
                </a:solidFill>
                <a:latin typeface="Cambria"/>
              </a:rPr>
              <a:t>5</a:t>
            </a:r>
          </a:p>
        </p:txBody>
      </p:sp>
      <p:sp>
        <p:nvSpPr>
          <p:cNvPr id="19" name="TextBox 18"/>
          <p:cNvSpPr txBox="1"/>
          <p:nvPr/>
        </p:nvSpPr>
        <p:spPr>
          <a:xfrm>
            <a:off x="1554480" y="5486400"/>
            <a:ext cx="5334000" cy="635000"/>
          </a:xfrm>
          <a:prstGeom prst="rect">
            <a:avLst/>
          </a:prstGeom>
          <a:noFill/>
        </p:spPr>
        <p:txBody>
          <a:bodyPr wrap="square" lIns="0" rIns="0" tIns="0" bIns="0" anchor="ctr">
            <a:spAutoFit/>
          </a:bodyPr>
          <a:lstStyle/>
          <a:p>
            <a:pPr algn="l"/>
            <a:r>
              <a:rPr sz="1400" b="0" i="0">
                <a:solidFill>
                  <a:srgbClr val="F4F6FB"/>
                </a:solidFill>
                <a:latin typeface="Calibri"/>
              </a:rPr>
              <a:t>Stuck? Find a staff member. Hints cost a share of the challenge's points — the cost is shown before you open one.</a:t>
            </a:r>
          </a:p>
        </p:txBody>
      </p:sp>
      <p:sp>
        <p:nvSpPr>
          <p:cNvPr id="20" name="TextBox 19"/>
          <p:cNvSpPr txBox="1"/>
          <p:nvPr/>
        </p:nvSpPr>
        <p:spPr>
          <a:xfrm>
            <a:off x="548640" y="6223000"/>
            <a:ext cx="5486400" cy="203200"/>
          </a:xfrm>
          <a:prstGeom prst="rect">
            <a:avLst/>
          </a:prstGeom>
          <a:noFill/>
        </p:spPr>
        <p:txBody>
          <a:bodyPr wrap="square" lIns="0" rIns="0" tIns="0" bIns="0" anchor="ctr">
            <a:spAutoFit/>
          </a:bodyPr>
          <a:lstStyle/>
          <a:p>
            <a:pPr algn="l"/>
            <a:r>
              <a:rPr sz="1400" b="0" i="1">
                <a:solidFill>
                  <a:srgbClr val="35D399"/>
                </a:solidFill>
                <a:latin typeface="Calibri"/>
              </a:rPr>
              <a:t>Good luck.</a:t>
            </a:r>
          </a:p>
        </p:txBody>
      </p:sp>
      <p:sp>
        <p:nvSpPr>
          <p:cNvPr id="21" name="TextBox 20"/>
          <p:cNvSpPr txBox="1"/>
          <p:nvPr/>
        </p:nvSpPr>
        <p:spPr>
          <a:xfrm>
            <a:off x="548640" y="6446520"/>
            <a:ext cx="27432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04 / 04</a:t>
            </a:r>
          </a:p>
        </p:txBody>
      </p:sp>
      <p:sp>
        <p:nvSpPr>
          <p:cNvPr id="22" name="TextBox 21"/>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