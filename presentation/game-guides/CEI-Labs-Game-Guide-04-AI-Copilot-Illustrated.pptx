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track is deliberately unlike the other three. There is no compound, no signal, no underworld, and no Docker instance to launch — the target is the player's own laptop. It is not part of the staged wave rollout and ships hidden by default; the organizer releases it manually. The single most important slide is the rules one: this is the ONLY sanctioned AI exception, and it does not generalise to the other three tracks.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one is verified by ctf-agent-verify, a tool shipped with the agent. It checks a real milestone and prints the flag only when that milestone is genuinely true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deliberate pause. Say what is coming and roughly how long it will take, then work through the topics. None of them is a level and none is a method — it is the shared vocabulary the track assumes. If you are running short, this list is also the menu: cut topics from it rather than rushing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language model does. It predicts the next piece of text, over and over, very quickly.
The left column is the explanation; the right is a worked example you can talk through line by line. The example is a generic illustration of the concept — it is not a payload, path or command for any actual level, so it can be shown in full without spoiling anything.
Land this: Likely and true are different targets. It is aiming at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Tokens and context. The model sees a fixed-size window of text, and absolutely nothing else.
The left column is the explanation; the right is a worked example you can talk through line by line. The example is a generic illustration of the concept — it is not a payload, path or command for any actual level, so it can be shown in full without spoiling anything.
Land this: It has no memory between chats. Only what is in front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a model locally. Size, memory and speed are one trade-off, made three times over.
The left column is the explanation; the right is a worked example you can talk through line by line. The example is a generic illustration of the concept — it is not a payload, path or command for any actual level, so it can be shown in full without spoiling anything.
Land this: Slower, smaller, and entirely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Prompting. The prompt is the whole briefing. Specific beats polite, every time.
The left column is the explanation; the right is a worked example you can talk through line by line. The example is a generic illustration of the concept — it is not a payload, path or command for any actual level, so it can be shown in full without spoiling anything.
Land this: Please and thank you cost you nothing, and buy you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how it acts. On its own it only writes. A tool is what lets it actually do something.
The left column is the explanation; the right is a worked example you can talk through line by line. The example is a generic illustration of the concept — it is not a payload, path or command for any actual level, so it can be shown in full without spoiling anything.
Land this: Reading real output beats predicting plausible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wrong convincingly. A confident answer and a correct answer look exactly the same.
The left column is the explanation; the right is a worked example you can talk through line by line. The example is a generic illustration of the concept — it is not a payload, path or command for any actual level, so it can be shown in full without spoiling anything.
Land this: Use it as a fast colleague who is sometimes wrong, never as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launch panel on this track at all — the target is their own laptop, which is why the right column lists what the installer sets up instead. Warn them about the first-run model download: it is several gigabytes and it only happens once, but on venue wi-fi it is not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has no command to run. It exists so nobody can claim they didn't know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 leave it up while people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2194560" y="4480560"/>
            <a:ext cx="4206240" cy="4206240"/>
          </a:xfrm>
          <a:prstGeom prst="ellipse">
            <a:avLst/>
          </a:prstGeom>
          <a:solidFill>
            <a:srgbClr val="141F30"/>
          </a:solidFill>
          <a:ln/>
        </p:spPr>
      </p:sp>
      <p:pic>
        <p:nvPicPr>
          <p:cNvPr id="3" name="Image 0" descr="preencoded.png">    </p:cNvPr>
          <p:cNvPicPr>
            <a:picLocks noChangeAspect="1"/>
          </p:cNvPicPr>
          <p:nvPr/>
        </p:nvPicPr>
        <p:blipFill>
          <a:blip r:embed="rId1"/>
          <a:stretch>
            <a:fillRect/>
          </a:stretch>
        </p:blipFill>
        <p:spPr>
          <a:xfrm>
            <a:off x="6903720" y="1051560"/>
            <a:ext cx="4800600" cy="3931920"/>
          </a:xfrm>
          <a:prstGeom prst="rect">
            <a:avLst/>
          </a:prstGeom>
        </p:spPr>
      </p:pic>
      <p:sp>
        <p:nvSpPr>
          <p:cNvPr id="4" name="Shape 1"/>
          <p:cNvSpPr/>
          <p:nvPr/>
        </p:nvSpPr>
        <p:spPr>
          <a:xfrm>
            <a:off x="548640" y="960120"/>
            <a:ext cx="786384" cy="786384"/>
          </a:xfrm>
          <a:prstGeom prst="ellipse">
            <a:avLst/>
          </a:prstGeom>
          <a:solidFill>
            <a:srgbClr val="35D399"/>
          </a:solidFill>
          <a:ln/>
        </p:spPr>
      </p:sp>
      <p:pic>
        <p:nvPicPr>
          <p:cNvPr id="5" name="Image 1" descr="preencoded.png">    </p:cNvPr>
          <p:cNvPicPr>
            <a:picLocks noChangeAspect="1"/>
          </p:cNvPicPr>
          <p:nvPr/>
        </p:nvPicPr>
        <p:blipFill>
          <a:blip r:embed="rId2"/>
          <a:stretch>
            <a:fillRect/>
          </a:stretch>
        </p:blipFill>
        <p:spPr>
          <a:xfrm>
            <a:off x="753100" y="1164580"/>
            <a:ext cx="377464" cy="377464"/>
          </a:xfrm>
          <a:prstGeom prst="rect">
            <a:avLst/>
          </a:prstGeom>
        </p:spPr>
      </p:pic>
      <p:sp>
        <p:nvSpPr>
          <p:cNvPr id="6" name="Text 2"/>
          <p:cNvSpPr/>
          <p:nvPr/>
        </p:nvSpPr>
        <p:spPr>
          <a:xfrm>
            <a:off x="548640" y="3017520"/>
            <a:ext cx="6126480" cy="822960"/>
          </a:xfrm>
          <a:prstGeom prst="rect">
            <a:avLst/>
          </a:prstGeom>
          <a:noFill/>
          <a:ln/>
        </p:spPr>
        <p:txBody>
          <a:bodyPr wrap="square" lIns="0" tIns="0" rIns="0" bIns="0" rtlCol="0" anchor="ctr"/>
          <a:lstStyle/>
          <a:p>
            <a:pPr indent="0" marL="0">
              <a:buNone/>
            </a:pPr>
            <a:r>
              <a:rPr lang="en-US" sz="4400" b="1" dirty="0">
                <a:solidFill>
                  <a:srgbClr val="F4F6FB"/>
                </a:solidFill>
                <a:latin typeface="Cambria" pitchFamily="34" charset="0"/>
                <a:ea typeface="Cambria" pitchFamily="34" charset="-122"/>
                <a:cs typeface="Cambria" pitchFamily="34" charset="-120"/>
              </a:rPr>
              <a:t>AI COPILOT SETUP</a:t>
            </a:r>
            <a:endParaRPr lang="en-US" sz="4400" dirty="0"/>
          </a:p>
        </p:txBody>
      </p:sp>
      <p:sp>
        <p:nvSpPr>
          <p:cNvPr id="7" name="Text 3"/>
          <p:cNvSpPr/>
          <p:nvPr/>
        </p:nvSpPr>
        <p:spPr>
          <a:xfrm>
            <a:off x="548640" y="3886200"/>
            <a:ext cx="6126480" cy="411480"/>
          </a:xfrm>
          <a:prstGeom prst="rect">
            <a:avLst/>
          </a:prstGeom>
          <a:noFill/>
          <a:ln/>
        </p:spPr>
        <p:txBody>
          <a:bodyPr wrap="square" lIns="0" tIns="0" rIns="0" bIns="0" rtlCol="0" anchor="ctr"/>
          <a:lstStyle/>
          <a:p>
            <a:pPr indent="0" marL="0">
              <a:buNone/>
            </a:pPr>
            <a:r>
              <a:rPr lang="en-US" sz="2200" b="1" i="1" dirty="0">
                <a:solidFill>
                  <a:srgbClr val="35D399"/>
                </a:solidFill>
                <a:latin typeface="Cambria" pitchFamily="34" charset="0"/>
                <a:ea typeface="Cambria" pitchFamily="34" charset="-122"/>
                <a:cs typeface="Cambria" pitchFamily="34" charset="-120"/>
              </a:rPr>
              <a:t>The one that isn't a story</a:t>
            </a:r>
            <a:endParaRPr lang="en-US" sz="2200" dirty="0"/>
          </a:p>
        </p:txBody>
      </p:sp>
      <p:sp>
        <p:nvSpPr>
          <p:cNvPr id="8" name="Text 4"/>
          <p:cNvSpPr/>
          <p:nvPr/>
        </p:nvSpPr>
        <p:spPr>
          <a:xfrm>
            <a:off x="548640" y="4389120"/>
            <a:ext cx="6217920" cy="566928"/>
          </a:xfrm>
          <a:prstGeom prst="rect">
            <a:avLst/>
          </a:prstGeom>
          <a:noFill/>
          <a:ln/>
        </p:spPr>
        <p:txBody>
          <a:bodyPr wrap="square" lIns="0" tIns="0" rIns="0" bIns="0" rtlCol="0" anchor="ctr"/>
          <a:lstStyle/>
          <a:p>
            <a:pPr indent="0" marL="0">
              <a:lnSpc>
                <a:spcPct val="115000"/>
              </a:lnSpc>
              <a:buNone/>
            </a:pPr>
            <a:r>
              <a:rPr lang="en-US" sz="1350" dirty="0">
                <a:solidFill>
                  <a:srgbClr val="93A5C7"/>
                </a:solidFill>
                <a:latin typeface="Calibri" pitchFamily="34" charset="0"/>
                <a:ea typeface="Calibri" pitchFamily="34" charset="-122"/>
                <a:cs typeface="Calibri" pitchFamily="34" charset="-120"/>
              </a:rPr>
              <a:t>Six challenges that put a free, local AI coach on your own laptop — the event's one sanctioned AI exception.</a:t>
            </a:r>
            <a:endParaRPr lang="en-US" sz="1350" dirty="0"/>
          </a:p>
        </p:txBody>
      </p:sp>
      <p:sp>
        <p:nvSpPr>
          <p:cNvPr id="9" name="Text 5"/>
          <p:cNvSpPr/>
          <p:nvPr/>
        </p:nvSpPr>
        <p:spPr>
          <a:xfrm>
            <a:off x="548640" y="5029200"/>
            <a:ext cx="6217920" cy="1188720"/>
          </a:xfrm>
          <a:prstGeom prst="rect">
            <a:avLst/>
          </a:prstGeom>
          <a:noFill/>
          <a:ln/>
        </p:spPr>
        <p:txBody>
          <a:bodyPr wrap="square" lIns="0" tIns="0" rIns="0" bIns="0" rtlCol="0" anchor="ctr"/>
          <a:lstStyle/>
          <a:p>
            <a:pPr indent="0" marL="0">
              <a:lnSpc>
                <a:spcPct val="122000"/>
              </a:lnSpc>
              <a:buNone/>
            </a:pPr>
            <a:r>
              <a:rPr lang="en-US" sz="1150" i="1" dirty="0">
                <a:solidFill>
                  <a:srgbClr val="5B6B8C"/>
                </a:solidFill>
                <a:latin typeface="Calibri" pitchFamily="34" charset="0"/>
                <a:ea typeface="Calibri" pitchFamily="34" charset="-122"/>
                <a:cs typeface="Calibri" pitchFamily="34" charset="-120"/>
              </a:rPr>
              <a:t>The other three tracks each carry a story. This one deliberately doesn't. There is no compound to break into and no signal to decode — the target is your own laptop, and the reward is a coach that sits beside you for the rest of the event.</a:t>
            </a:r>
            <a:endParaRPr lang="en-US" sz="1150" dirty="0"/>
          </a:p>
        </p:txBody>
      </p:sp>
      <p:sp>
        <p:nvSpPr>
          <p:cNvPr id="10" name="Text 6"/>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1" name="Text 7"/>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01</a:t>
            </a:r>
            <a:endParaRPr lang="en-US" sz="900" dirty="0"/>
          </a:p>
        </p:txBody>
      </p:sp>
    </p:spTree>
  </p:cSld>
  <p:clrMapOvr>
    <a:masterClrMapping/>
  </p:clrMapOvr>
  <p:transition spd="med" advClick="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 MAP</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Six challenges, 610 points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Each one is verified by ctf-agent-verify, a tool shipped with the agent. It checks a real milestone and prints the flag only when that milestone is genuinely true on your machine.</a:t>
            </a:r>
            <a:endParaRPr lang="en-US" sz="1300" dirty="0"/>
          </a:p>
        </p:txBody>
      </p:sp>
      <p:sp>
        <p:nvSpPr>
          <p:cNvPr id="5" name="Shape 3"/>
          <p:cNvSpPr/>
          <p:nvPr/>
        </p:nvSpPr>
        <p:spPr>
          <a:xfrm>
            <a:off x="548640" y="1975104"/>
            <a:ext cx="2581580" cy="1874520"/>
          </a:xfrm>
          <a:prstGeom prst="roundRect">
            <a:avLst>
              <a:gd name="adj" fmla="val 4390"/>
            </a:avLst>
          </a:prstGeom>
          <a:solidFill>
            <a:srgbClr val="141F30"/>
          </a:solidFill>
          <a:ln/>
        </p:spPr>
      </p:sp>
      <p:pic>
        <p:nvPicPr>
          <p:cNvPr id="6" name="Image 0" descr="preencoded.png">    </p:cNvPr>
          <p:cNvPicPr>
            <a:picLocks noChangeAspect="1"/>
          </p:cNvPicPr>
          <p:nvPr/>
        </p:nvPicPr>
        <p:blipFill>
          <a:blip r:embed="rId1"/>
          <a:stretch>
            <a:fillRect/>
          </a:stretch>
        </p:blipFill>
        <p:spPr>
          <a:xfrm>
            <a:off x="676656" y="2103120"/>
            <a:ext cx="2325548" cy="639526"/>
          </a:xfrm>
          <a:prstGeom prst="rect">
            <a:avLst/>
          </a:prstGeom>
        </p:spPr>
      </p:pic>
      <p:sp>
        <p:nvSpPr>
          <p:cNvPr id="7" name="Text 4"/>
          <p:cNvSpPr/>
          <p:nvPr/>
        </p:nvSpPr>
        <p:spPr>
          <a:xfrm>
            <a:off x="786384" y="2879806"/>
            <a:ext cx="2106092" cy="219456"/>
          </a:xfrm>
          <a:prstGeom prst="rect">
            <a:avLst/>
          </a:prstGeom>
          <a:noFill/>
          <a:ln/>
        </p:spPr>
        <p:txBody>
          <a:bodyPr wrap="square" lIns="0" tIns="0" rIns="0" bIns="0" rtlCol="0" anchor="t"/>
          <a:lstStyle/>
          <a:p>
            <a:pPr indent="0" marL="0">
              <a:buNone/>
            </a:pPr>
            <a:r>
              <a:rPr lang="en-US" sz="1050" b="1" spc="80" kern="0" dirty="0">
                <a:solidFill>
                  <a:srgbClr val="35D399"/>
                </a:solidFill>
                <a:latin typeface="Calibri" pitchFamily="34" charset="0"/>
                <a:ea typeface="Calibri" pitchFamily="34" charset="-122"/>
                <a:cs typeface="Calibri" pitchFamily="34" charset="-120"/>
              </a:rPr>
              <a:t>SH · 10 PTS</a:t>
            </a:r>
            <a:endParaRPr lang="en-US" sz="1050" dirty="0"/>
          </a:p>
        </p:txBody>
      </p:sp>
      <p:sp>
        <p:nvSpPr>
          <p:cNvPr id="8" name="Text 5"/>
          <p:cNvSpPr/>
          <p:nvPr/>
        </p:nvSpPr>
        <p:spPr>
          <a:xfrm>
            <a:off x="786384" y="3117550"/>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Start Here</a:t>
            </a:r>
            <a:endParaRPr lang="en-US" sz="1400" dirty="0"/>
          </a:p>
        </p:txBody>
      </p:sp>
      <p:sp>
        <p:nvSpPr>
          <p:cNvPr id="9" name="Text 6"/>
          <p:cNvSpPr/>
          <p:nvPr/>
        </p:nvSpPr>
        <p:spPr>
          <a:xfrm>
            <a:off x="786384" y="3401014"/>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Read the AI-use exception and confirm you understand it.</a:t>
            </a:r>
            <a:endParaRPr lang="en-US" sz="1000" dirty="0"/>
          </a:p>
        </p:txBody>
      </p:sp>
      <p:sp>
        <p:nvSpPr>
          <p:cNvPr id="10" name="Shape 7"/>
          <p:cNvSpPr/>
          <p:nvPr/>
        </p:nvSpPr>
        <p:spPr>
          <a:xfrm>
            <a:off x="3386252" y="1975104"/>
            <a:ext cx="2581580" cy="1874520"/>
          </a:xfrm>
          <a:prstGeom prst="roundRect">
            <a:avLst>
              <a:gd name="adj" fmla="val 4390"/>
            </a:avLst>
          </a:prstGeom>
          <a:solidFill>
            <a:srgbClr val="141F30"/>
          </a:solidFill>
          <a:ln/>
        </p:spPr>
      </p:sp>
      <p:pic>
        <p:nvPicPr>
          <p:cNvPr id="11" name="Image 1" descr="preencoded.png">    </p:cNvPr>
          <p:cNvPicPr>
            <a:picLocks noChangeAspect="1"/>
          </p:cNvPicPr>
          <p:nvPr/>
        </p:nvPicPr>
        <p:blipFill>
          <a:blip r:embed="rId2"/>
          <a:stretch>
            <a:fillRect/>
          </a:stretch>
        </p:blipFill>
        <p:spPr>
          <a:xfrm>
            <a:off x="3514268" y="2103120"/>
            <a:ext cx="2325548" cy="639526"/>
          </a:xfrm>
          <a:prstGeom prst="rect">
            <a:avLst/>
          </a:prstGeom>
        </p:spPr>
      </p:pic>
      <p:sp>
        <p:nvSpPr>
          <p:cNvPr id="12" name="Text 8"/>
          <p:cNvSpPr/>
          <p:nvPr/>
        </p:nvSpPr>
        <p:spPr>
          <a:xfrm>
            <a:off x="3623996" y="2879806"/>
            <a:ext cx="2106092" cy="219456"/>
          </a:xfrm>
          <a:prstGeom prst="rect">
            <a:avLst/>
          </a:prstGeom>
          <a:noFill/>
          <a:ln/>
        </p:spPr>
        <p:txBody>
          <a:bodyPr wrap="square" lIns="0" tIns="0" rIns="0" bIns="0" rtlCol="0" anchor="t"/>
          <a:lstStyle/>
          <a:p>
            <a:pPr indent="0" marL="0">
              <a:buNone/>
            </a:pPr>
            <a:r>
              <a:rPr lang="en-US" sz="1050" b="1" spc="80" kern="0" dirty="0">
                <a:solidFill>
                  <a:srgbClr val="35D399"/>
                </a:solidFill>
                <a:latin typeface="Calibri" pitchFamily="34" charset="0"/>
                <a:ea typeface="Calibri" pitchFamily="34" charset="-122"/>
                <a:cs typeface="Calibri" pitchFamily="34" charset="-120"/>
              </a:rPr>
              <a:t>01 · 100 PTS</a:t>
            </a:r>
            <a:endParaRPr lang="en-US" sz="1050" dirty="0"/>
          </a:p>
        </p:txBody>
      </p:sp>
      <p:sp>
        <p:nvSpPr>
          <p:cNvPr id="13" name="Text 9"/>
          <p:cNvSpPr/>
          <p:nvPr/>
        </p:nvSpPr>
        <p:spPr>
          <a:xfrm>
            <a:off x="3623996" y="3117550"/>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Local Brain</a:t>
            </a:r>
            <a:endParaRPr lang="en-US" sz="1400" dirty="0"/>
          </a:p>
        </p:txBody>
      </p:sp>
      <p:sp>
        <p:nvSpPr>
          <p:cNvPr id="14" name="Text 10"/>
          <p:cNvSpPr/>
          <p:nvPr/>
        </p:nvSpPr>
        <p:spPr>
          <a:xfrm>
            <a:off x="3623996" y="3401014"/>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Ollama installed and answering. Nothing works until this does.</a:t>
            </a:r>
            <a:endParaRPr lang="en-US" sz="1000" dirty="0"/>
          </a:p>
        </p:txBody>
      </p:sp>
      <p:sp>
        <p:nvSpPr>
          <p:cNvPr id="15" name="Shape 11"/>
          <p:cNvSpPr/>
          <p:nvPr/>
        </p:nvSpPr>
        <p:spPr>
          <a:xfrm>
            <a:off x="6223864" y="1975104"/>
            <a:ext cx="2581580" cy="1874520"/>
          </a:xfrm>
          <a:prstGeom prst="roundRect">
            <a:avLst>
              <a:gd name="adj" fmla="val 4390"/>
            </a:avLst>
          </a:prstGeom>
          <a:solidFill>
            <a:srgbClr val="141F30"/>
          </a:solidFill>
          <a:ln/>
        </p:spPr>
      </p:sp>
      <p:pic>
        <p:nvPicPr>
          <p:cNvPr id="16" name="Image 2" descr="preencoded.png">    </p:cNvPr>
          <p:cNvPicPr>
            <a:picLocks noChangeAspect="1"/>
          </p:cNvPicPr>
          <p:nvPr/>
        </p:nvPicPr>
        <p:blipFill>
          <a:blip r:embed="rId3"/>
          <a:stretch>
            <a:fillRect/>
          </a:stretch>
        </p:blipFill>
        <p:spPr>
          <a:xfrm>
            <a:off x="6351880" y="2103120"/>
            <a:ext cx="2325548" cy="639526"/>
          </a:xfrm>
          <a:prstGeom prst="rect">
            <a:avLst/>
          </a:prstGeom>
        </p:spPr>
      </p:pic>
      <p:sp>
        <p:nvSpPr>
          <p:cNvPr id="17" name="Text 12"/>
          <p:cNvSpPr/>
          <p:nvPr/>
        </p:nvSpPr>
        <p:spPr>
          <a:xfrm>
            <a:off x="6461608" y="2879806"/>
            <a:ext cx="2106092" cy="219456"/>
          </a:xfrm>
          <a:prstGeom prst="rect">
            <a:avLst/>
          </a:prstGeom>
          <a:noFill/>
          <a:ln/>
        </p:spPr>
        <p:txBody>
          <a:bodyPr wrap="square" lIns="0" tIns="0" rIns="0" bIns="0" rtlCol="0" anchor="t"/>
          <a:lstStyle/>
          <a:p>
            <a:pPr indent="0" marL="0">
              <a:buNone/>
            </a:pPr>
            <a:r>
              <a:rPr lang="en-US" sz="1050" b="1" spc="80" kern="0" dirty="0">
                <a:solidFill>
                  <a:srgbClr val="35D399"/>
                </a:solidFill>
                <a:latin typeface="Calibri" pitchFamily="34" charset="0"/>
                <a:ea typeface="Calibri" pitchFamily="34" charset="-122"/>
                <a:cs typeface="Calibri" pitchFamily="34" charset="-120"/>
              </a:rPr>
              <a:t>02 · 100 PTS</a:t>
            </a:r>
            <a:endParaRPr lang="en-US" sz="1050" dirty="0"/>
          </a:p>
        </p:txBody>
      </p:sp>
      <p:sp>
        <p:nvSpPr>
          <p:cNvPr id="18" name="Text 13"/>
          <p:cNvSpPr/>
          <p:nvPr/>
        </p:nvSpPr>
        <p:spPr>
          <a:xfrm>
            <a:off x="6461608" y="3117550"/>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Pull a Model</a:t>
            </a:r>
            <a:endParaRPr lang="en-US" sz="1400" dirty="0"/>
          </a:p>
        </p:txBody>
      </p:sp>
      <p:sp>
        <p:nvSpPr>
          <p:cNvPr id="19" name="Text 14"/>
          <p:cNvSpPr/>
          <p:nvPr/>
        </p:nvSpPr>
        <p:spPr>
          <a:xfrm>
            <a:off x="6461608" y="3401014"/>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A runtime with no model can't think yet. Size it to your memory.</a:t>
            </a:r>
            <a:endParaRPr lang="en-US" sz="1000" dirty="0"/>
          </a:p>
        </p:txBody>
      </p:sp>
      <p:sp>
        <p:nvSpPr>
          <p:cNvPr id="20" name="Shape 15"/>
          <p:cNvSpPr/>
          <p:nvPr/>
        </p:nvSpPr>
        <p:spPr>
          <a:xfrm>
            <a:off x="9061475" y="1975104"/>
            <a:ext cx="2581580" cy="1874520"/>
          </a:xfrm>
          <a:prstGeom prst="roundRect">
            <a:avLst>
              <a:gd name="adj" fmla="val 4390"/>
            </a:avLst>
          </a:prstGeom>
          <a:solidFill>
            <a:srgbClr val="141F30"/>
          </a:solidFill>
          <a:ln/>
        </p:spPr>
      </p:sp>
      <p:pic>
        <p:nvPicPr>
          <p:cNvPr id="21" name="Image 3" descr="preencoded.png">    </p:cNvPr>
          <p:cNvPicPr>
            <a:picLocks noChangeAspect="1"/>
          </p:cNvPicPr>
          <p:nvPr/>
        </p:nvPicPr>
        <p:blipFill>
          <a:blip r:embed="rId4"/>
          <a:stretch>
            <a:fillRect/>
          </a:stretch>
        </p:blipFill>
        <p:spPr>
          <a:xfrm>
            <a:off x="9189491" y="2103120"/>
            <a:ext cx="2325548" cy="639526"/>
          </a:xfrm>
          <a:prstGeom prst="rect">
            <a:avLst/>
          </a:prstGeom>
        </p:spPr>
      </p:pic>
      <p:sp>
        <p:nvSpPr>
          <p:cNvPr id="22" name="Text 16"/>
          <p:cNvSpPr/>
          <p:nvPr/>
        </p:nvSpPr>
        <p:spPr>
          <a:xfrm>
            <a:off x="9299219" y="2879806"/>
            <a:ext cx="2106092" cy="219456"/>
          </a:xfrm>
          <a:prstGeom prst="rect">
            <a:avLst/>
          </a:prstGeom>
          <a:noFill/>
          <a:ln/>
        </p:spPr>
        <p:txBody>
          <a:bodyPr wrap="square" lIns="0" tIns="0" rIns="0" bIns="0" rtlCol="0" anchor="t"/>
          <a:lstStyle/>
          <a:p>
            <a:pPr indent="0" marL="0">
              <a:buNone/>
            </a:pPr>
            <a:r>
              <a:rPr lang="en-US" sz="1050" b="1" spc="80" kern="0" dirty="0">
                <a:solidFill>
                  <a:srgbClr val="35D399"/>
                </a:solidFill>
                <a:latin typeface="Calibri" pitchFamily="34" charset="0"/>
                <a:ea typeface="Calibri" pitchFamily="34" charset="-122"/>
                <a:cs typeface="Calibri" pitchFamily="34" charset="-120"/>
              </a:rPr>
              <a:t>03 · 100 PTS</a:t>
            </a:r>
            <a:endParaRPr lang="en-US" sz="1050" dirty="0"/>
          </a:p>
        </p:txBody>
      </p:sp>
      <p:sp>
        <p:nvSpPr>
          <p:cNvPr id="23" name="Text 17"/>
          <p:cNvSpPr/>
          <p:nvPr/>
        </p:nvSpPr>
        <p:spPr>
          <a:xfrm>
            <a:off x="9299219" y="3117550"/>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Install the Agent</a:t>
            </a:r>
            <a:endParaRPr lang="en-US" sz="1400" dirty="0"/>
          </a:p>
        </p:txBody>
      </p:sp>
      <p:sp>
        <p:nvSpPr>
          <p:cNvPr id="24" name="Text 18"/>
          <p:cNvSpPr/>
          <p:nvPr/>
        </p:nvSpPr>
        <p:spPr>
          <a:xfrm>
            <a:off x="9299219" y="3401014"/>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ctf-agent and ctf-agent-verify properly on your PATH.</a:t>
            </a:r>
            <a:endParaRPr lang="en-US" sz="1000" dirty="0"/>
          </a:p>
        </p:txBody>
      </p:sp>
      <p:sp>
        <p:nvSpPr>
          <p:cNvPr id="25" name="Shape 19"/>
          <p:cNvSpPr/>
          <p:nvPr/>
        </p:nvSpPr>
        <p:spPr>
          <a:xfrm>
            <a:off x="548640" y="4105656"/>
            <a:ext cx="2581580" cy="1874520"/>
          </a:xfrm>
          <a:prstGeom prst="roundRect">
            <a:avLst>
              <a:gd name="adj" fmla="val 4390"/>
            </a:avLst>
          </a:prstGeom>
          <a:solidFill>
            <a:srgbClr val="1B2740"/>
          </a:solidFill>
          <a:ln/>
        </p:spPr>
      </p:sp>
      <p:pic>
        <p:nvPicPr>
          <p:cNvPr id="26" name="Image 4" descr="preencoded.png">    </p:cNvPr>
          <p:cNvPicPr>
            <a:picLocks noChangeAspect="1"/>
          </p:cNvPicPr>
          <p:nvPr/>
        </p:nvPicPr>
        <p:blipFill>
          <a:blip r:embed="rId5"/>
          <a:stretch>
            <a:fillRect/>
          </a:stretch>
        </p:blipFill>
        <p:spPr>
          <a:xfrm>
            <a:off x="676656" y="4233672"/>
            <a:ext cx="2325548" cy="639526"/>
          </a:xfrm>
          <a:prstGeom prst="rect">
            <a:avLst/>
          </a:prstGeom>
        </p:spPr>
      </p:pic>
      <p:sp>
        <p:nvSpPr>
          <p:cNvPr id="27" name="Text 20"/>
          <p:cNvSpPr/>
          <p:nvPr/>
        </p:nvSpPr>
        <p:spPr>
          <a:xfrm>
            <a:off x="786384" y="5010358"/>
            <a:ext cx="2106092" cy="219456"/>
          </a:xfrm>
          <a:prstGeom prst="rect">
            <a:avLst/>
          </a:prstGeom>
          <a:noFill/>
          <a:ln/>
        </p:spPr>
        <p:txBody>
          <a:bodyPr wrap="square" lIns="0" tIns="0" rIns="0" bIns="0" rtlCol="0" anchor="t"/>
          <a:lstStyle/>
          <a:p>
            <a:pPr indent="0" marL="0">
              <a:buNone/>
            </a:pPr>
            <a:r>
              <a:rPr lang="en-US" sz="1050" b="1" spc="80" kern="0" dirty="0">
                <a:solidFill>
                  <a:srgbClr val="35D399"/>
                </a:solidFill>
                <a:latin typeface="Calibri" pitchFamily="34" charset="0"/>
                <a:ea typeface="Calibri" pitchFamily="34" charset="-122"/>
                <a:cs typeface="Calibri" pitchFamily="34" charset="-120"/>
              </a:rPr>
              <a:t>04 · 150 PTS</a:t>
            </a:r>
            <a:endParaRPr lang="en-US" sz="1050" dirty="0"/>
          </a:p>
        </p:txBody>
      </p:sp>
      <p:sp>
        <p:nvSpPr>
          <p:cNvPr id="28" name="Text 21"/>
          <p:cNvSpPr/>
          <p:nvPr/>
        </p:nvSpPr>
        <p:spPr>
          <a:xfrm>
            <a:off x="786384" y="5248102"/>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Point It At a Box</a:t>
            </a:r>
            <a:endParaRPr lang="en-US" sz="1400" dirty="0"/>
          </a:p>
        </p:txBody>
      </p:sp>
      <p:sp>
        <p:nvSpPr>
          <p:cNvPr id="29" name="Text 22"/>
          <p:cNvSpPr/>
          <p:nvPr/>
        </p:nvSpPr>
        <p:spPr>
          <a:xfrm>
            <a:off x="786384" y="5531566"/>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A real SSH connection to a live Bandit, Krypton or Natas instance.</a:t>
            </a:r>
            <a:endParaRPr lang="en-US" sz="1000" dirty="0"/>
          </a:p>
        </p:txBody>
      </p:sp>
      <p:sp>
        <p:nvSpPr>
          <p:cNvPr id="30" name="Shape 23"/>
          <p:cNvSpPr/>
          <p:nvPr/>
        </p:nvSpPr>
        <p:spPr>
          <a:xfrm>
            <a:off x="3386252" y="4105656"/>
            <a:ext cx="2581580" cy="1874520"/>
          </a:xfrm>
          <a:prstGeom prst="roundRect">
            <a:avLst>
              <a:gd name="adj" fmla="val 4390"/>
            </a:avLst>
          </a:prstGeom>
          <a:solidFill>
            <a:srgbClr val="1B2740"/>
          </a:solidFill>
          <a:ln/>
        </p:spPr>
      </p:sp>
      <p:pic>
        <p:nvPicPr>
          <p:cNvPr id="31" name="Image 5" descr="preencoded.png">    </p:cNvPr>
          <p:cNvPicPr>
            <a:picLocks noChangeAspect="1"/>
          </p:cNvPicPr>
          <p:nvPr/>
        </p:nvPicPr>
        <p:blipFill>
          <a:blip r:embed="rId6"/>
          <a:stretch>
            <a:fillRect/>
          </a:stretch>
        </p:blipFill>
        <p:spPr>
          <a:xfrm>
            <a:off x="3514268" y="4233672"/>
            <a:ext cx="2325548" cy="639526"/>
          </a:xfrm>
          <a:prstGeom prst="rect">
            <a:avLst/>
          </a:prstGeom>
        </p:spPr>
      </p:pic>
      <p:sp>
        <p:nvSpPr>
          <p:cNvPr id="32" name="Text 24"/>
          <p:cNvSpPr/>
          <p:nvPr/>
        </p:nvSpPr>
        <p:spPr>
          <a:xfrm>
            <a:off x="3623996" y="5010358"/>
            <a:ext cx="2106092" cy="219456"/>
          </a:xfrm>
          <a:prstGeom prst="rect">
            <a:avLst/>
          </a:prstGeom>
          <a:noFill/>
          <a:ln/>
        </p:spPr>
        <p:txBody>
          <a:bodyPr wrap="square" lIns="0" tIns="0" rIns="0" bIns="0" rtlCol="0" anchor="t"/>
          <a:lstStyle/>
          <a:p>
            <a:pPr indent="0" marL="0">
              <a:buNone/>
            </a:pPr>
            <a:r>
              <a:rPr lang="en-US" sz="1050" b="1" spc="80" kern="0" dirty="0">
                <a:solidFill>
                  <a:srgbClr val="35D399"/>
                </a:solidFill>
                <a:latin typeface="Calibri" pitchFamily="34" charset="0"/>
                <a:ea typeface="Calibri" pitchFamily="34" charset="-122"/>
                <a:cs typeface="Calibri" pitchFamily="34" charset="-120"/>
              </a:rPr>
              <a:t>05 · 150 PTS</a:t>
            </a:r>
            <a:endParaRPr lang="en-US" sz="1050" dirty="0"/>
          </a:p>
        </p:txBody>
      </p:sp>
      <p:sp>
        <p:nvSpPr>
          <p:cNvPr id="33" name="Text 25"/>
          <p:cNvSpPr/>
          <p:nvPr/>
        </p:nvSpPr>
        <p:spPr>
          <a:xfrm>
            <a:off x="3623996" y="5248102"/>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Ask For Help</a:t>
            </a:r>
            <a:endParaRPr lang="en-US" sz="1400" dirty="0"/>
          </a:p>
        </p:txBody>
      </p:sp>
      <p:sp>
        <p:nvSpPr>
          <p:cNvPr id="34" name="Text 26"/>
          <p:cNvSpPr/>
          <p:nvPr/>
        </p:nvSpPr>
        <p:spPr>
          <a:xfrm>
            <a:off x="3623996" y="5531566"/>
            <a:ext cx="2106092" cy="36631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Name a track and a level. Show the shape of a useful prompt.</a:t>
            </a:r>
            <a:endParaRPr lang="en-US" sz="1000" dirty="0"/>
          </a:p>
        </p:txBody>
      </p:sp>
      <p:sp>
        <p:nvSpPr>
          <p:cNvPr id="35" name="Text 27"/>
          <p:cNvSpPr/>
          <p:nvPr/>
        </p:nvSpPr>
        <p:spPr>
          <a:xfrm>
            <a:off x="548640" y="6108192"/>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Nothing here is guessable without actually doing the step.</a:t>
            </a:r>
            <a:endParaRPr lang="en-US" sz="1250" dirty="0"/>
          </a:p>
        </p:txBody>
      </p:sp>
      <p:sp>
        <p:nvSpPr>
          <p:cNvPr id="36" name="Text 28"/>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37" name="Text 29"/>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02</a:t>
            </a:r>
            <a:endParaRPr lang="en-US" sz="900" dirty="0"/>
          </a:p>
        </p:txBody>
      </p:sp>
    </p:spTree>
  </p:cSld>
  <p:clrMapOvr>
    <a:masterClrMapping/>
  </p:clrMapOvr>
  <p:transition spd="med" advClick="1">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595360" y="-2194560"/>
            <a:ext cx="6035040" cy="6035040"/>
          </a:xfrm>
          <a:prstGeom prst="ellipse">
            <a:avLst/>
          </a:prstGeom>
          <a:solidFill>
            <a:srgbClr val="141F30"/>
          </a:solidFill>
          <a:ln/>
        </p:spPr>
      </p:sp>
      <p:sp>
        <p:nvSpPr>
          <p:cNvPr id="3" name="Text 1"/>
          <p:cNvSpPr/>
          <p:nvPr/>
        </p:nvSpPr>
        <p:spPr>
          <a:xfrm>
            <a:off x="548640" y="1783080"/>
            <a:ext cx="5486400" cy="292608"/>
          </a:xfrm>
          <a:prstGeom prst="rect">
            <a:avLst/>
          </a:prstGeom>
          <a:noFill/>
          <a:ln/>
        </p:spPr>
        <p:txBody>
          <a:bodyPr wrap="square" lIns="0" tIns="0" rIns="0" bIns="0" rtlCol="0" anchor="ctr"/>
          <a:lstStyle/>
          <a:p>
            <a:pPr indent="0" marL="0">
              <a:buNone/>
            </a:pPr>
            <a:r>
              <a:rPr lang="en-US" sz="1100" b="1" spc="140" kern="0" dirty="0">
                <a:solidFill>
                  <a:srgbClr val="35D399"/>
                </a:solidFill>
                <a:latin typeface="Calibri" pitchFamily="34" charset="0"/>
                <a:ea typeface="Calibri" pitchFamily="34" charset="-122"/>
                <a:cs typeface="Calibri" pitchFamily="34" charset="-120"/>
              </a:rPr>
              <a:t>THE IDEAS</a:t>
            </a:r>
            <a:endParaRPr lang="en-US" sz="1100" dirty="0"/>
          </a:p>
        </p:txBody>
      </p:sp>
      <p:sp>
        <p:nvSpPr>
          <p:cNvPr id="4" name="Text 2"/>
          <p:cNvSpPr/>
          <p:nvPr/>
        </p:nvSpPr>
        <p:spPr>
          <a:xfrm>
            <a:off x="548640" y="2103120"/>
            <a:ext cx="8595360" cy="960120"/>
          </a:xfrm>
          <a:prstGeom prst="rect">
            <a:avLst/>
          </a:prstGeom>
          <a:noFill/>
          <a:ln/>
        </p:spPr>
        <p:txBody>
          <a:bodyPr wrap="square" lIns="0" tIns="0" rIns="0" bIns="0" rtlCol="0" anchor="t"/>
          <a:lstStyle/>
          <a:p>
            <a:pPr indent="0" marL="0">
              <a:buNone/>
            </a:pPr>
            <a:r>
              <a:rPr lang="en-US" sz="3800" b="1" dirty="0">
                <a:solidFill>
                  <a:srgbClr val="F4F6FB"/>
                </a:solidFill>
                <a:latin typeface="Cambria" pitchFamily="34" charset="0"/>
                <a:ea typeface="Cambria" pitchFamily="34" charset="-122"/>
                <a:cs typeface="Cambria" pitchFamily="34" charset="-120"/>
              </a:rPr>
              <a:t>Six ideas about how this thing works</a:t>
            </a:r>
            <a:endParaRPr lang="en-US" sz="3800" dirty="0"/>
          </a:p>
        </p:txBody>
      </p:sp>
      <p:sp>
        <p:nvSpPr>
          <p:cNvPr id="5" name="Text 3"/>
          <p:cNvSpPr/>
          <p:nvPr/>
        </p:nvSpPr>
        <p:spPr>
          <a:xfrm>
            <a:off x="548640" y="3017520"/>
            <a:ext cx="6949440" cy="548640"/>
          </a:xfrm>
          <a:prstGeom prst="rect">
            <a:avLst/>
          </a:prstGeom>
          <a:noFill/>
          <a:ln/>
        </p:spPr>
        <p:txBody>
          <a:bodyPr wrap="square" lIns="0" tIns="0" rIns="0" bIns="0" rtlCol="0" anchor="ctr"/>
          <a:lstStyle/>
          <a:p>
            <a:pPr indent="0" marL="0">
              <a:lnSpc>
                <a:spcPct val="118000"/>
              </a:lnSpc>
              <a:buNone/>
            </a:pPr>
            <a:r>
              <a:rPr lang="en-US" sz="1350" dirty="0">
                <a:solidFill>
                  <a:srgbClr val="93A5C7"/>
                </a:solidFill>
                <a:latin typeface="Calibri" pitchFamily="34" charset="0"/>
                <a:ea typeface="Calibri" pitchFamily="34" charset="-122"/>
                <a:cs typeface="Calibri" pitchFamily="34" charset="-120"/>
              </a:rPr>
              <a:t>What a language model is actually doing, so you can judge when to trust it. Useful whether or not you ever finish this track.</a:t>
            </a:r>
            <a:endParaRPr lang="en-US" sz="1350" dirty="0"/>
          </a:p>
        </p:txBody>
      </p:sp>
      <p:sp>
        <p:nvSpPr>
          <p:cNvPr id="6" name="Text 4"/>
          <p:cNvSpPr/>
          <p:nvPr/>
        </p:nvSpPr>
        <p:spPr>
          <a:xfrm>
            <a:off x="548640" y="3977640"/>
            <a:ext cx="411480" cy="402336"/>
          </a:xfrm>
          <a:prstGeom prst="rect">
            <a:avLst/>
          </a:prstGeom>
          <a:noFill/>
          <a:ln/>
        </p:spPr>
        <p:txBody>
          <a:bodyPr wrap="square" lIns="0" tIns="0" rIns="0" bIns="0" rtlCol="0" anchor="ctr"/>
          <a:lstStyle/>
          <a:p>
            <a:pPr indent="0" marL="0">
              <a:buNone/>
            </a:pPr>
            <a:r>
              <a:rPr lang="en-US" sz="1200" b="1" dirty="0">
                <a:solidFill>
                  <a:srgbClr val="35D399"/>
                </a:solidFill>
                <a:latin typeface="Cambria" pitchFamily="34" charset="0"/>
                <a:ea typeface="Cambria" pitchFamily="34" charset="-122"/>
                <a:cs typeface="Cambria" pitchFamily="34" charset="-120"/>
              </a:rPr>
              <a:t>01</a:t>
            </a:r>
            <a:endParaRPr lang="en-US" sz="1200" dirty="0"/>
          </a:p>
        </p:txBody>
      </p:sp>
      <p:sp>
        <p:nvSpPr>
          <p:cNvPr id="7" name="Text 5"/>
          <p:cNvSpPr/>
          <p:nvPr/>
        </p:nvSpPr>
        <p:spPr>
          <a:xfrm>
            <a:off x="1005840" y="3977640"/>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What a language model does</a:t>
            </a:r>
            <a:endParaRPr lang="en-US" sz="1300" dirty="0"/>
          </a:p>
        </p:txBody>
      </p:sp>
      <p:sp>
        <p:nvSpPr>
          <p:cNvPr id="8" name="Text 6"/>
          <p:cNvSpPr/>
          <p:nvPr/>
        </p:nvSpPr>
        <p:spPr>
          <a:xfrm>
            <a:off x="548640" y="4379976"/>
            <a:ext cx="411480" cy="402336"/>
          </a:xfrm>
          <a:prstGeom prst="rect">
            <a:avLst/>
          </a:prstGeom>
          <a:noFill/>
          <a:ln/>
        </p:spPr>
        <p:txBody>
          <a:bodyPr wrap="square" lIns="0" tIns="0" rIns="0" bIns="0" rtlCol="0" anchor="ctr"/>
          <a:lstStyle/>
          <a:p>
            <a:pPr indent="0" marL="0">
              <a:buNone/>
            </a:pPr>
            <a:r>
              <a:rPr lang="en-US" sz="1200" b="1" dirty="0">
                <a:solidFill>
                  <a:srgbClr val="35D399"/>
                </a:solidFill>
                <a:latin typeface="Cambria" pitchFamily="34" charset="0"/>
                <a:ea typeface="Cambria" pitchFamily="34" charset="-122"/>
                <a:cs typeface="Cambria" pitchFamily="34" charset="-120"/>
              </a:rPr>
              <a:t>02</a:t>
            </a:r>
            <a:endParaRPr lang="en-US" sz="1200" dirty="0"/>
          </a:p>
        </p:txBody>
      </p:sp>
      <p:sp>
        <p:nvSpPr>
          <p:cNvPr id="9" name="Text 7"/>
          <p:cNvSpPr/>
          <p:nvPr/>
        </p:nvSpPr>
        <p:spPr>
          <a:xfrm>
            <a:off x="1005840" y="4379976"/>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Tokens and context</a:t>
            </a:r>
            <a:endParaRPr lang="en-US" sz="1300" dirty="0"/>
          </a:p>
        </p:txBody>
      </p:sp>
      <p:sp>
        <p:nvSpPr>
          <p:cNvPr id="10" name="Text 8"/>
          <p:cNvSpPr/>
          <p:nvPr/>
        </p:nvSpPr>
        <p:spPr>
          <a:xfrm>
            <a:off x="548640" y="4782312"/>
            <a:ext cx="411480" cy="402336"/>
          </a:xfrm>
          <a:prstGeom prst="rect">
            <a:avLst/>
          </a:prstGeom>
          <a:noFill/>
          <a:ln/>
        </p:spPr>
        <p:txBody>
          <a:bodyPr wrap="square" lIns="0" tIns="0" rIns="0" bIns="0" rtlCol="0" anchor="ctr"/>
          <a:lstStyle/>
          <a:p>
            <a:pPr indent="0" marL="0">
              <a:buNone/>
            </a:pPr>
            <a:r>
              <a:rPr lang="en-US" sz="1200" b="1" dirty="0">
                <a:solidFill>
                  <a:srgbClr val="35D399"/>
                </a:solidFill>
                <a:latin typeface="Cambria" pitchFamily="34" charset="0"/>
                <a:ea typeface="Cambria" pitchFamily="34" charset="-122"/>
                <a:cs typeface="Cambria" pitchFamily="34" charset="-120"/>
              </a:rPr>
              <a:t>03</a:t>
            </a:r>
            <a:endParaRPr lang="en-US" sz="1200" dirty="0"/>
          </a:p>
        </p:txBody>
      </p:sp>
      <p:sp>
        <p:nvSpPr>
          <p:cNvPr id="11" name="Text 9"/>
          <p:cNvSpPr/>
          <p:nvPr/>
        </p:nvSpPr>
        <p:spPr>
          <a:xfrm>
            <a:off x="1005840" y="4782312"/>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Running a model locally</a:t>
            </a:r>
            <a:endParaRPr lang="en-US" sz="1300" dirty="0"/>
          </a:p>
        </p:txBody>
      </p:sp>
      <p:sp>
        <p:nvSpPr>
          <p:cNvPr id="12" name="Text 10"/>
          <p:cNvSpPr/>
          <p:nvPr/>
        </p:nvSpPr>
        <p:spPr>
          <a:xfrm>
            <a:off x="6126480" y="3977640"/>
            <a:ext cx="411480" cy="402336"/>
          </a:xfrm>
          <a:prstGeom prst="rect">
            <a:avLst/>
          </a:prstGeom>
          <a:noFill/>
          <a:ln/>
        </p:spPr>
        <p:txBody>
          <a:bodyPr wrap="square" lIns="0" tIns="0" rIns="0" bIns="0" rtlCol="0" anchor="ctr"/>
          <a:lstStyle/>
          <a:p>
            <a:pPr indent="0" marL="0">
              <a:buNone/>
            </a:pPr>
            <a:r>
              <a:rPr lang="en-US" sz="1200" b="1" dirty="0">
                <a:solidFill>
                  <a:srgbClr val="35D399"/>
                </a:solidFill>
                <a:latin typeface="Cambria" pitchFamily="34" charset="0"/>
                <a:ea typeface="Cambria" pitchFamily="34" charset="-122"/>
                <a:cs typeface="Cambria" pitchFamily="34" charset="-120"/>
              </a:rPr>
              <a:t>04</a:t>
            </a:r>
            <a:endParaRPr lang="en-US" sz="1200" dirty="0"/>
          </a:p>
        </p:txBody>
      </p:sp>
      <p:sp>
        <p:nvSpPr>
          <p:cNvPr id="13" name="Text 11"/>
          <p:cNvSpPr/>
          <p:nvPr/>
        </p:nvSpPr>
        <p:spPr>
          <a:xfrm>
            <a:off x="6583680" y="3977640"/>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Prompting</a:t>
            </a:r>
            <a:endParaRPr lang="en-US" sz="1300" dirty="0"/>
          </a:p>
        </p:txBody>
      </p:sp>
      <p:sp>
        <p:nvSpPr>
          <p:cNvPr id="14" name="Text 12"/>
          <p:cNvSpPr/>
          <p:nvPr/>
        </p:nvSpPr>
        <p:spPr>
          <a:xfrm>
            <a:off x="6126480" y="4379976"/>
            <a:ext cx="411480" cy="402336"/>
          </a:xfrm>
          <a:prstGeom prst="rect">
            <a:avLst/>
          </a:prstGeom>
          <a:noFill/>
          <a:ln/>
        </p:spPr>
        <p:txBody>
          <a:bodyPr wrap="square" lIns="0" tIns="0" rIns="0" bIns="0" rtlCol="0" anchor="ctr"/>
          <a:lstStyle/>
          <a:p>
            <a:pPr indent="0" marL="0">
              <a:buNone/>
            </a:pPr>
            <a:r>
              <a:rPr lang="en-US" sz="1200" b="1" dirty="0">
                <a:solidFill>
                  <a:srgbClr val="35D399"/>
                </a:solidFill>
                <a:latin typeface="Cambria" pitchFamily="34" charset="0"/>
                <a:ea typeface="Cambria" pitchFamily="34" charset="-122"/>
                <a:cs typeface="Cambria" pitchFamily="34" charset="-120"/>
              </a:rPr>
              <a:t>05</a:t>
            </a:r>
            <a:endParaRPr lang="en-US" sz="1200" dirty="0"/>
          </a:p>
        </p:txBody>
      </p:sp>
      <p:sp>
        <p:nvSpPr>
          <p:cNvPr id="15" name="Text 13"/>
          <p:cNvSpPr/>
          <p:nvPr/>
        </p:nvSpPr>
        <p:spPr>
          <a:xfrm>
            <a:off x="6583680" y="4379976"/>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Tools: how it acts</a:t>
            </a:r>
            <a:endParaRPr lang="en-US" sz="1300" dirty="0"/>
          </a:p>
        </p:txBody>
      </p:sp>
      <p:sp>
        <p:nvSpPr>
          <p:cNvPr id="16" name="Text 14"/>
          <p:cNvSpPr/>
          <p:nvPr/>
        </p:nvSpPr>
        <p:spPr>
          <a:xfrm>
            <a:off x="6126480" y="4782312"/>
            <a:ext cx="411480" cy="402336"/>
          </a:xfrm>
          <a:prstGeom prst="rect">
            <a:avLst/>
          </a:prstGeom>
          <a:noFill/>
          <a:ln/>
        </p:spPr>
        <p:txBody>
          <a:bodyPr wrap="square" lIns="0" tIns="0" rIns="0" bIns="0" rtlCol="0" anchor="ctr"/>
          <a:lstStyle/>
          <a:p>
            <a:pPr indent="0" marL="0">
              <a:buNone/>
            </a:pPr>
            <a:r>
              <a:rPr lang="en-US" sz="1200" b="1" dirty="0">
                <a:solidFill>
                  <a:srgbClr val="35D399"/>
                </a:solidFill>
                <a:latin typeface="Cambria" pitchFamily="34" charset="0"/>
                <a:ea typeface="Cambria" pitchFamily="34" charset="-122"/>
                <a:cs typeface="Cambria" pitchFamily="34" charset="-120"/>
              </a:rPr>
              <a:t>06</a:t>
            </a:r>
            <a:endParaRPr lang="en-US" sz="1200" dirty="0"/>
          </a:p>
        </p:txBody>
      </p:sp>
      <p:sp>
        <p:nvSpPr>
          <p:cNvPr id="17" name="Text 15"/>
          <p:cNvSpPr/>
          <p:nvPr/>
        </p:nvSpPr>
        <p:spPr>
          <a:xfrm>
            <a:off x="6583680" y="4782312"/>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Being wrong convincingly</a:t>
            </a:r>
            <a:endParaRPr lang="en-US" sz="1300" dirty="0"/>
          </a:p>
        </p:txBody>
      </p:sp>
      <p:sp>
        <p:nvSpPr>
          <p:cNvPr id="18" name="Text 16"/>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9" name="Text 17"/>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03</a:t>
            </a:r>
            <a:endParaRPr lang="en-US" sz="900" dirty="0"/>
          </a:p>
        </p:txBody>
      </p:sp>
    </p:spTree>
  </p:cSld>
  <p:clrMapOvr>
    <a:masterClrMapping/>
  </p:clrMapOvr>
  <p:transition spd="med" advClick="1">
    <p:push dir="u"/>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THEORY  01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What a language model does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It predicts the next piece of text, over and over, very quickly.</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model is trained on a great deal of text and learns which continuations are likely. Given everything so far it produces one small chunk, a token, appends it, and repeats. There is no lookup, no stored table of facts, and no step at which it checks whether the result is true.</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This explains nearly every behaviour you will see from it. It is fluent because fluency is exactly what it was optimised for — and it is sometimes confidently wrong for precisely the same reason.</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generation, one token at a time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"The capital of France is"   -&gt;  " Paris"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"The capital of France is Paris"  -&gt;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it is choosing likely, not true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"The flag for this level is"  -&gt;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it will produce something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that LOOKS exactly like a flag,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with no way of knowing whether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it is the real one</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Likely and true are different targets. It is aiming at the first.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04</a:t>
            </a:r>
            <a:endParaRPr lang="en-US" sz="900" dirty="0"/>
          </a:p>
        </p:txBody>
      </p:sp>
    </p:spTree>
  </p:cSld>
  <p:clrMapOvr>
    <a:masterClrMapping/>
  </p:clrMapOvr>
  <p:transition spd="med" advClick="1">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THEORY  02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Tokens and context</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The model sees a fixed-size window of text, and absolutely nothing else.</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Text is split into tokens, roughly word-sized pieces. Everything the model can use has to fit inside its context window: the standing instructions, the conversation so far, and the reply it is producing. Once the window is full, the earliest material stops being visible to it.</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It cannot see your screen, your files, or a session from yesterday. What you paste in genuinely is all it has — and a long, rambling conversation can push the important part straight back out again.</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roughly how text becomes tokens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"unbreakable"   -&gt;  un | break | able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"ssh"           -&gt;  ssh</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has to fit in the window</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instructions ][ conversation ][ reply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|&lt;--------- fixed total size ---------&gt;|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when it fills, the oldest drops out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practical consequence:</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start a fresh chat for each level</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It has no memory between chats. Only what is in front of it.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05</a:t>
            </a:r>
            <a:endParaRPr lang="en-US" sz="900" dirty="0"/>
          </a:p>
        </p:txBody>
      </p:sp>
    </p:spTree>
  </p:cSld>
  <p:clrMapOvr>
    <a:masterClrMapping/>
  </p:clrMapOvr>
  <p:transition spd="med" advClick="1">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THEORY  03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Running a model locally</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Size, memory and speed are one trade-off, made three times over.</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model's size is counted in parameters, and its weights are stored at a chosen precision. Reducing that precision — quantization — shrinks the file so it fits in ordinary memory, at some cost to quality. The whole thing loads before it can answer, and on a CPU it thinks at roughly reading speed rather than instantly.</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This is why the bootstrap picks a model to match your laptop, why the first run downloads several gigabytes, and why answers arrive a word at a time instead of all at once.</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the numbers mean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parameters    how big the model is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quantization  how precisely it is stored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smaller file, some quality lost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context       how much text it can hold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practical trade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more memory  -&gt;  bigger model  -&gt;  better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CPU only     -&gt;  slower to answer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and the thing you gain in return:</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nothing you type leaves the machine</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Slower, smaller, and entirely yours.</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06</a:t>
            </a:r>
            <a:endParaRPr lang="en-US" sz="900" dirty="0"/>
          </a:p>
        </p:txBody>
      </p:sp>
    </p:spTree>
  </p:cSld>
  <p:clrMapOvr>
    <a:masterClrMapping/>
  </p:clrMapOvr>
  <p:transition spd="med" advClick="1">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THEORY  04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Prompting</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The prompt is the whole briefing. Specific beats polite, every time.</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Because the output depends only on what is in the window, the levers that work are concrete ones: state the task, name the subject, say what you have already tried, and say what sort of answer you want back. Courtesy words change nothing at all. Asking for reasoning before a conclusion generally produces a better conclusion.</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"It didn't help" is nearly always "it wasn't told enough". Naming a track and a level number is the smallest change with the largest effect, which is exactly why a whole challenge exists for it.</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tells it almost nothing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"help"</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"this isn't working"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tells it what it actually needs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"Help me with Bandit level 12.</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I can see the file but it isn't text.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Explain what I should look at.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Don't give me the answer."</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task + subject + what you tried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what you want back</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Please and thank you cost you nothing, and buy you nothing.</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07</a:t>
            </a:r>
            <a:endParaRPr lang="en-US" sz="900" dirty="0"/>
          </a:p>
        </p:txBody>
      </p:sp>
    </p:spTree>
  </p:cSld>
  <p:clrMapOvr>
    <a:masterClrMapping/>
  </p:clrMapOvr>
  <p:transition spd="med" advClick="1">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THEORY  05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Tools: how it acts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On its own it only writes. A tool is what lets it actually do something.</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plain chat model produces text and stops. An agent adds a loop: the model asks for an action, the surrounding program really performs it, and the result is fed back into the context. The model then reasons over genuine output from your machine instead of over its own guesses.</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This is the entire reason the agent connects to a challenge box, and the reason step 4 of this track verifies a real connection rather than accepting a description of one.</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agent loop</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you ask</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model decides on an action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the program really runs 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the output goes back in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model reads the output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model answers you</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difference this makes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without tools  it guesses the output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with tools     it reads the output</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Reading real output beats predicting plausible output.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08</a:t>
            </a:r>
            <a:endParaRPr lang="en-US" sz="900" dirty="0"/>
          </a:p>
        </p:txBody>
      </p:sp>
    </p:spTree>
  </p:cSld>
  <p:clrMapOvr>
    <a:masterClrMapping/>
  </p:clrMapOvr>
  <p:transition spd="med" advClick="1">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THEORY  06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Being wrong convincingly</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A confident answer and a correct answer look exactly the same.</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When the likely continuation is not the true one, the model gives you the likely one anyway — in the same tone, at the same fluency, sometimes with invented specifics attached. There is no internal signal separating the two cases, so there is no warning of any kind.</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On this event that costs you twice: an invented command wastes your time, and an invented flag wastes a submission. It is exactly why every step in this track is verified against your real machine rather than taken on trust.</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worth checking before you trust 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does that command actually exist?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did it really print that, or is 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describing what it expects to see?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is that a path you have seen before?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what the verify tool does instead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ctf-agent-verify</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performs the real step</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-&gt; prints the flag ONLY if the step</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genuinely passed on your machine</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never a claim. always a check.</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Use it as a fast colleague who is sometimes wrong, never as an oracle.</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09</a:t>
            </a:r>
            <a:endParaRPr lang="en-US" sz="900" dirty="0"/>
          </a:p>
        </p:txBody>
      </p:sp>
    </p:spTree>
  </p:cSld>
  <p:clrMapOvr>
    <a:masterClrMapping/>
  </p:clrMapOvr>
  <p:transition spd="med" advClick="1">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28000"/>
          </a:blip>
          <a:stretch>
            <a:fillRect/>
          </a:stretch>
        </p:blipFill>
        <p:spPr>
          <a:xfrm>
            <a:off x="8549640" y="109728"/>
            <a:ext cx="3291840" cy="1901952"/>
          </a:xfrm>
          <a:prstGeom prst="rect">
            <a:avLst/>
          </a:prstGeom>
        </p:spPr>
      </p:pic>
      <p:sp>
        <p:nvSpPr>
          <p:cNvPr id="3"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GETTING IN</a:t>
            </a:r>
            <a:endParaRPr lang="en-US" sz="1100" dirty="0"/>
          </a:p>
        </p:txBody>
      </p:sp>
      <p:sp>
        <p:nvSpPr>
          <p:cNvPr id="4"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One command installs everything</a:t>
            </a:r>
            <a:endParaRPr lang="en-US" sz="3200" dirty="0"/>
          </a:p>
        </p:txBody>
      </p:sp>
      <p:sp>
        <p:nvSpPr>
          <p:cNvPr id="5"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The bootstrap script installs Ollama, the agent and its dependencies, then opens the app in your browser.</a:t>
            </a:r>
            <a:endParaRPr lang="en-US" sz="1300" dirty="0"/>
          </a:p>
        </p:txBody>
      </p:sp>
      <p:sp>
        <p:nvSpPr>
          <p:cNvPr id="6" name="Shape 3"/>
          <p:cNvSpPr/>
          <p:nvPr/>
        </p:nvSpPr>
        <p:spPr>
          <a:xfrm>
            <a:off x="548640" y="2148840"/>
            <a:ext cx="5577840" cy="3127248"/>
          </a:xfrm>
          <a:prstGeom prst="roundRect">
            <a:avLst>
              <a:gd name="adj" fmla="val 2632"/>
            </a:avLst>
          </a:prstGeom>
          <a:solidFill>
            <a:srgbClr val="141F30"/>
          </a:solidFill>
          <a:ln/>
        </p:spPr>
      </p:sp>
      <p:sp>
        <p:nvSpPr>
          <p:cNvPr id="7" name="Text 4"/>
          <p:cNvSpPr/>
          <p:nvPr/>
        </p:nvSpPr>
        <p:spPr>
          <a:xfrm>
            <a:off x="859536" y="2404872"/>
            <a:ext cx="4956048"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STEP BY STEP</a:t>
            </a:r>
            <a:endParaRPr lang="en-US" sz="950" dirty="0"/>
          </a:p>
        </p:txBody>
      </p:sp>
      <p:sp>
        <p:nvSpPr>
          <p:cNvPr id="8" name="Text 5"/>
          <p:cNvSpPr/>
          <p:nvPr/>
        </p:nvSpPr>
        <p:spPr>
          <a:xfrm>
            <a:off x="859536" y="2770632"/>
            <a:ext cx="365760" cy="621792"/>
          </a:xfrm>
          <a:prstGeom prst="rect">
            <a:avLst/>
          </a:prstGeom>
          <a:noFill/>
          <a:ln/>
        </p:spPr>
        <p:txBody>
          <a:bodyPr wrap="square" lIns="0" tIns="0" rIns="0" bIns="0" rtlCol="0" anchor="ctr"/>
          <a:lstStyle/>
          <a:p>
            <a:pPr indent="0" marL="0">
              <a:buNone/>
            </a:pPr>
            <a:r>
              <a:rPr lang="en-US" sz="1600" b="1" dirty="0">
                <a:solidFill>
                  <a:srgbClr val="35D399"/>
                </a:solidFill>
                <a:latin typeface="Cambria" pitchFamily="34" charset="0"/>
                <a:ea typeface="Cambria" pitchFamily="34" charset="-122"/>
                <a:cs typeface="Cambria" pitchFamily="34" charset="-120"/>
              </a:rPr>
              <a:t>1</a:t>
            </a:r>
            <a:endParaRPr lang="en-US" sz="1600" dirty="0"/>
          </a:p>
        </p:txBody>
      </p:sp>
      <p:sp>
        <p:nvSpPr>
          <p:cNvPr id="9" name="Text 6"/>
          <p:cNvSpPr/>
          <p:nvPr/>
        </p:nvSpPr>
        <p:spPr>
          <a:xfrm>
            <a:off x="1280160" y="2807208"/>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Download the script</a:t>
            </a:r>
            <a:endParaRPr lang="en-US" sz="1250" dirty="0"/>
          </a:p>
        </p:txBody>
      </p:sp>
      <p:sp>
        <p:nvSpPr>
          <p:cNvPr id="10" name="Text 7"/>
          <p:cNvSpPr/>
          <p:nvPr/>
        </p:nvSpPr>
        <p:spPr>
          <a:xfrm>
            <a:off x="1280160" y="3044952"/>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bootstrap.sh for macOS and Linux, bootstrap.ps1 for Windows.</a:t>
            </a:r>
            <a:endParaRPr lang="en-US" sz="1100" dirty="0"/>
          </a:p>
        </p:txBody>
      </p:sp>
      <p:sp>
        <p:nvSpPr>
          <p:cNvPr id="11" name="Text 8"/>
          <p:cNvSpPr/>
          <p:nvPr/>
        </p:nvSpPr>
        <p:spPr>
          <a:xfrm>
            <a:off x="859536" y="3392424"/>
            <a:ext cx="365760" cy="621792"/>
          </a:xfrm>
          <a:prstGeom prst="rect">
            <a:avLst/>
          </a:prstGeom>
          <a:noFill/>
          <a:ln/>
        </p:spPr>
        <p:txBody>
          <a:bodyPr wrap="square" lIns="0" tIns="0" rIns="0" bIns="0" rtlCol="0" anchor="ctr"/>
          <a:lstStyle/>
          <a:p>
            <a:pPr indent="0" marL="0">
              <a:buNone/>
            </a:pPr>
            <a:r>
              <a:rPr lang="en-US" sz="1600" b="1" dirty="0">
                <a:solidFill>
                  <a:srgbClr val="35D399"/>
                </a:solidFill>
                <a:latin typeface="Cambria" pitchFamily="34" charset="0"/>
                <a:ea typeface="Cambria" pitchFamily="34" charset="-122"/>
                <a:cs typeface="Cambria" pitchFamily="34" charset="-120"/>
              </a:rPr>
              <a:t>2</a:t>
            </a:r>
            <a:endParaRPr lang="en-US" sz="1600" dirty="0"/>
          </a:p>
        </p:txBody>
      </p:sp>
      <p:sp>
        <p:nvSpPr>
          <p:cNvPr id="12" name="Text 9"/>
          <p:cNvSpPr/>
          <p:nvPr/>
        </p:nvSpPr>
        <p:spPr>
          <a:xfrm>
            <a:off x="1280160" y="3429000"/>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Run it</a:t>
            </a:r>
            <a:endParaRPr lang="en-US" sz="1250" dirty="0"/>
          </a:p>
        </p:txBody>
      </p:sp>
      <p:sp>
        <p:nvSpPr>
          <p:cNvPr id="13" name="Text 10"/>
          <p:cNvSpPr/>
          <p:nvPr/>
        </p:nvSpPr>
        <p:spPr>
          <a:xfrm>
            <a:off x="1280160" y="3666744"/>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One line in Terminal or PowerShell. First run pulls a model.</a:t>
            </a:r>
            <a:endParaRPr lang="en-US" sz="1100" dirty="0"/>
          </a:p>
        </p:txBody>
      </p:sp>
      <p:sp>
        <p:nvSpPr>
          <p:cNvPr id="14" name="Text 11"/>
          <p:cNvSpPr/>
          <p:nvPr/>
        </p:nvSpPr>
        <p:spPr>
          <a:xfrm>
            <a:off x="859536" y="4014216"/>
            <a:ext cx="365760" cy="621792"/>
          </a:xfrm>
          <a:prstGeom prst="rect">
            <a:avLst/>
          </a:prstGeom>
          <a:noFill/>
          <a:ln/>
        </p:spPr>
        <p:txBody>
          <a:bodyPr wrap="square" lIns="0" tIns="0" rIns="0" bIns="0" rtlCol="0" anchor="ctr"/>
          <a:lstStyle/>
          <a:p>
            <a:pPr indent="0" marL="0">
              <a:buNone/>
            </a:pPr>
            <a:r>
              <a:rPr lang="en-US" sz="1600" b="1" dirty="0">
                <a:solidFill>
                  <a:srgbClr val="35D399"/>
                </a:solidFill>
                <a:latin typeface="Cambria" pitchFamily="34" charset="0"/>
                <a:ea typeface="Cambria" pitchFamily="34" charset="-122"/>
                <a:cs typeface="Cambria" pitchFamily="34" charset="-120"/>
              </a:rPr>
              <a:t>3</a:t>
            </a:r>
            <a:endParaRPr lang="en-US" sz="1600" dirty="0"/>
          </a:p>
        </p:txBody>
      </p:sp>
      <p:sp>
        <p:nvSpPr>
          <p:cNvPr id="15" name="Text 12"/>
          <p:cNvSpPr/>
          <p:nvPr/>
        </p:nvSpPr>
        <p:spPr>
          <a:xfrm>
            <a:off x="1280160" y="4050792"/>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The app opens</a:t>
            </a:r>
            <a:endParaRPr lang="en-US" sz="1250" dirty="0"/>
          </a:p>
        </p:txBody>
      </p:sp>
      <p:sp>
        <p:nvSpPr>
          <p:cNvPr id="16" name="Text 13"/>
          <p:cNvSpPr/>
          <p:nvPr/>
        </p:nvSpPr>
        <p:spPr>
          <a:xfrm>
            <a:off x="1280160" y="4288536"/>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A chat window in your browser, with a model and box picker.</a:t>
            </a:r>
            <a:endParaRPr lang="en-US" sz="1100" dirty="0"/>
          </a:p>
        </p:txBody>
      </p:sp>
      <p:sp>
        <p:nvSpPr>
          <p:cNvPr id="17" name="Text 14"/>
          <p:cNvSpPr/>
          <p:nvPr/>
        </p:nvSpPr>
        <p:spPr>
          <a:xfrm>
            <a:off x="859536" y="4636008"/>
            <a:ext cx="365760" cy="621792"/>
          </a:xfrm>
          <a:prstGeom prst="rect">
            <a:avLst/>
          </a:prstGeom>
          <a:noFill/>
          <a:ln/>
        </p:spPr>
        <p:txBody>
          <a:bodyPr wrap="square" lIns="0" tIns="0" rIns="0" bIns="0" rtlCol="0" anchor="ctr"/>
          <a:lstStyle/>
          <a:p>
            <a:pPr indent="0" marL="0">
              <a:buNone/>
            </a:pPr>
            <a:r>
              <a:rPr lang="en-US" sz="1600" b="1" dirty="0">
                <a:solidFill>
                  <a:srgbClr val="35D399"/>
                </a:solidFill>
                <a:latin typeface="Cambria" pitchFamily="34" charset="0"/>
                <a:ea typeface="Cambria" pitchFamily="34" charset="-122"/>
                <a:cs typeface="Cambria" pitchFamily="34" charset="-120"/>
              </a:rPr>
              <a:t>4</a:t>
            </a:r>
            <a:endParaRPr lang="en-US" sz="1600" dirty="0"/>
          </a:p>
        </p:txBody>
      </p:sp>
      <p:sp>
        <p:nvSpPr>
          <p:cNvPr id="18" name="Text 15"/>
          <p:cNvSpPr/>
          <p:nvPr/>
        </p:nvSpPr>
        <p:spPr>
          <a:xfrm>
            <a:off x="1280160" y="4672584"/>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Verify</a:t>
            </a:r>
            <a:endParaRPr lang="en-US" sz="1250" dirty="0"/>
          </a:p>
        </p:txBody>
      </p:sp>
      <p:sp>
        <p:nvSpPr>
          <p:cNvPr id="19" name="Text 16"/>
          <p:cNvSpPr/>
          <p:nvPr/>
        </p:nvSpPr>
        <p:spPr>
          <a:xfrm>
            <a:off x="1280160" y="4910328"/>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Run ctf-agent-verify. It reports the milestones you passed.</a:t>
            </a:r>
            <a:endParaRPr lang="en-US" sz="1100" dirty="0"/>
          </a:p>
        </p:txBody>
      </p:sp>
      <p:sp>
        <p:nvSpPr>
          <p:cNvPr id="20" name="Shape 17"/>
          <p:cNvSpPr/>
          <p:nvPr/>
        </p:nvSpPr>
        <p:spPr>
          <a:xfrm>
            <a:off x="6382512" y="2148840"/>
            <a:ext cx="5260543" cy="3127248"/>
          </a:xfrm>
          <a:prstGeom prst="roundRect">
            <a:avLst>
              <a:gd name="adj" fmla="val 2632"/>
            </a:avLst>
          </a:prstGeom>
          <a:solidFill>
            <a:srgbClr val="141F30"/>
          </a:solidFill>
          <a:ln/>
        </p:spPr>
      </p:sp>
      <p:sp>
        <p:nvSpPr>
          <p:cNvPr id="21" name="Text 18"/>
          <p:cNvSpPr/>
          <p:nvPr/>
        </p:nvSpPr>
        <p:spPr>
          <a:xfrm>
            <a:off x="6656832" y="2404872"/>
            <a:ext cx="4711903" cy="237744"/>
          </a:xfrm>
          <a:prstGeom prst="rect">
            <a:avLst/>
          </a:prstGeom>
          <a:noFill/>
          <a:ln/>
        </p:spPr>
        <p:txBody>
          <a:bodyPr wrap="square" lIns="0" tIns="0" rIns="0" bIns="0" rtlCol="0" anchor="ctr"/>
          <a:lstStyle/>
          <a:p>
            <a:pPr indent="0" marL="0">
              <a:buNone/>
            </a:pPr>
            <a:r>
              <a:rPr lang="en-US" sz="950" b="1" spc="110" kern="0" dirty="0">
                <a:solidFill>
                  <a:srgbClr val="35D399"/>
                </a:solidFill>
                <a:latin typeface="Calibri" pitchFamily="34" charset="0"/>
                <a:ea typeface="Calibri" pitchFamily="34" charset="-122"/>
                <a:cs typeface="Calibri" pitchFamily="34" charset="-120"/>
              </a:rPr>
              <a:t>WHAT THE INSTALLER PUTS DOWN</a:t>
            </a:r>
            <a:endParaRPr lang="en-US" sz="950" dirty="0"/>
          </a:p>
        </p:txBody>
      </p:sp>
      <p:sp>
        <p:nvSpPr>
          <p:cNvPr id="22" name="Shape 19"/>
          <p:cNvSpPr/>
          <p:nvPr/>
        </p:nvSpPr>
        <p:spPr>
          <a:xfrm>
            <a:off x="6656832" y="2843784"/>
            <a:ext cx="402336" cy="402336"/>
          </a:xfrm>
          <a:prstGeom prst="ellipse">
            <a:avLst/>
          </a:prstGeom>
          <a:solidFill>
            <a:srgbClr val="35D399"/>
          </a:solidFill>
          <a:ln/>
        </p:spPr>
      </p:sp>
      <p:pic>
        <p:nvPicPr>
          <p:cNvPr id="23" name="Image 1" descr="preencoded.png">    </p:cNvPr>
          <p:cNvPicPr>
            <a:picLocks noChangeAspect="1"/>
          </p:cNvPicPr>
          <p:nvPr/>
        </p:nvPicPr>
        <p:blipFill>
          <a:blip r:embed="rId2"/>
          <a:stretch>
            <a:fillRect/>
          </a:stretch>
        </p:blipFill>
        <p:spPr>
          <a:xfrm>
            <a:off x="6761439" y="2948391"/>
            <a:ext cx="193121" cy="193121"/>
          </a:xfrm>
          <a:prstGeom prst="rect">
            <a:avLst/>
          </a:prstGeom>
        </p:spPr>
      </p:pic>
      <p:sp>
        <p:nvSpPr>
          <p:cNvPr id="24" name="Text 20"/>
          <p:cNvSpPr/>
          <p:nvPr/>
        </p:nvSpPr>
        <p:spPr>
          <a:xfrm>
            <a:off x="7223760" y="2788920"/>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Ollama</a:t>
            </a:r>
            <a:endParaRPr lang="en-US" sz="1250" dirty="0"/>
          </a:p>
        </p:txBody>
      </p:sp>
      <p:sp>
        <p:nvSpPr>
          <p:cNvPr id="25" name="Text 21"/>
          <p:cNvSpPr/>
          <p:nvPr/>
        </p:nvSpPr>
        <p:spPr>
          <a:xfrm>
            <a:off x="7223760" y="3026664"/>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The local runtime that loads and runs the model.</a:t>
            </a:r>
            <a:endParaRPr lang="en-US" sz="1100" dirty="0"/>
          </a:p>
        </p:txBody>
      </p:sp>
      <p:sp>
        <p:nvSpPr>
          <p:cNvPr id="26" name="Shape 22"/>
          <p:cNvSpPr/>
          <p:nvPr/>
        </p:nvSpPr>
        <p:spPr>
          <a:xfrm>
            <a:off x="6656832" y="3465576"/>
            <a:ext cx="402336" cy="402336"/>
          </a:xfrm>
          <a:prstGeom prst="ellipse">
            <a:avLst/>
          </a:prstGeom>
          <a:solidFill>
            <a:srgbClr val="35D399"/>
          </a:solidFill>
          <a:ln/>
        </p:spPr>
      </p:sp>
      <p:pic>
        <p:nvPicPr>
          <p:cNvPr id="27" name="Image 2" descr="preencoded.png">    </p:cNvPr>
          <p:cNvPicPr>
            <a:picLocks noChangeAspect="1"/>
          </p:cNvPicPr>
          <p:nvPr/>
        </p:nvPicPr>
        <p:blipFill>
          <a:blip r:embed="rId3"/>
          <a:stretch>
            <a:fillRect/>
          </a:stretch>
        </p:blipFill>
        <p:spPr>
          <a:xfrm>
            <a:off x="6761439" y="3570183"/>
            <a:ext cx="193121" cy="193121"/>
          </a:xfrm>
          <a:prstGeom prst="rect">
            <a:avLst/>
          </a:prstGeom>
        </p:spPr>
      </p:pic>
      <p:sp>
        <p:nvSpPr>
          <p:cNvPr id="28" name="Text 23"/>
          <p:cNvSpPr/>
          <p:nvPr/>
        </p:nvSpPr>
        <p:spPr>
          <a:xfrm>
            <a:off x="7223760" y="3410712"/>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A model</a:t>
            </a:r>
            <a:endParaRPr lang="en-US" sz="1250" dirty="0"/>
          </a:p>
        </p:txBody>
      </p:sp>
      <p:sp>
        <p:nvSpPr>
          <p:cNvPr id="29" name="Text 24"/>
          <p:cNvSpPr/>
          <p:nvPr/>
        </p:nvSpPr>
        <p:spPr>
          <a:xfrm>
            <a:off x="7223760" y="3648456"/>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Chosen to fit your laptop's memory. Downloaded once.</a:t>
            </a:r>
            <a:endParaRPr lang="en-US" sz="1100" dirty="0"/>
          </a:p>
        </p:txBody>
      </p:sp>
      <p:sp>
        <p:nvSpPr>
          <p:cNvPr id="30" name="Shape 25"/>
          <p:cNvSpPr/>
          <p:nvPr/>
        </p:nvSpPr>
        <p:spPr>
          <a:xfrm>
            <a:off x="6656832" y="4087368"/>
            <a:ext cx="402336" cy="402336"/>
          </a:xfrm>
          <a:prstGeom prst="ellipse">
            <a:avLst/>
          </a:prstGeom>
          <a:solidFill>
            <a:srgbClr val="35D399"/>
          </a:solidFill>
          <a:ln/>
        </p:spPr>
      </p:sp>
      <p:pic>
        <p:nvPicPr>
          <p:cNvPr id="31" name="Image 3" descr="preencoded.png">    </p:cNvPr>
          <p:cNvPicPr>
            <a:picLocks noChangeAspect="1"/>
          </p:cNvPicPr>
          <p:nvPr/>
        </p:nvPicPr>
        <p:blipFill>
          <a:blip r:embed="rId4"/>
          <a:stretch>
            <a:fillRect/>
          </a:stretch>
        </p:blipFill>
        <p:spPr>
          <a:xfrm>
            <a:off x="6761439" y="4191975"/>
            <a:ext cx="193121" cy="193121"/>
          </a:xfrm>
          <a:prstGeom prst="rect">
            <a:avLst/>
          </a:prstGeom>
        </p:spPr>
      </p:pic>
      <p:sp>
        <p:nvSpPr>
          <p:cNvPr id="32" name="Text 26"/>
          <p:cNvSpPr/>
          <p:nvPr/>
        </p:nvSpPr>
        <p:spPr>
          <a:xfrm>
            <a:off x="7223760" y="4032504"/>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ctf-agent</a:t>
            </a:r>
            <a:endParaRPr lang="en-US" sz="1250" dirty="0"/>
          </a:p>
        </p:txBody>
      </p:sp>
      <p:sp>
        <p:nvSpPr>
          <p:cNvPr id="33" name="Text 27"/>
          <p:cNvSpPr/>
          <p:nvPr/>
        </p:nvSpPr>
        <p:spPr>
          <a:xfrm>
            <a:off x="7223760" y="4270248"/>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The app itself — a chat window in your browser.</a:t>
            </a:r>
            <a:endParaRPr lang="en-US" sz="1100" dirty="0"/>
          </a:p>
        </p:txBody>
      </p:sp>
      <p:sp>
        <p:nvSpPr>
          <p:cNvPr id="34" name="Shape 28"/>
          <p:cNvSpPr/>
          <p:nvPr/>
        </p:nvSpPr>
        <p:spPr>
          <a:xfrm>
            <a:off x="6656832" y="4709160"/>
            <a:ext cx="402336" cy="402336"/>
          </a:xfrm>
          <a:prstGeom prst="ellipse">
            <a:avLst/>
          </a:prstGeom>
          <a:solidFill>
            <a:srgbClr val="35D399"/>
          </a:solidFill>
          <a:ln/>
        </p:spPr>
      </p:sp>
      <p:pic>
        <p:nvPicPr>
          <p:cNvPr id="35" name="Image 4" descr="preencoded.png">    </p:cNvPr>
          <p:cNvPicPr>
            <a:picLocks noChangeAspect="1"/>
          </p:cNvPicPr>
          <p:nvPr/>
        </p:nvPicPr>
        <p:blipFill>
          <a:blip r:embed="rId5"/>
          <a:stretch>
            <a:fillRect/>
          </a:stretch>
        </p:blipFill>
        <p:spPr>
          <a:xfrm>
            <a:off x="6761439" y="4813767"/>
            <a:ext cx="193121" cy="193121"/>
          </a:xfrm>
          <a:prstGeom prst="rect">
            <a:avLst/>
          </a:prstGeom>
        </p:spPr>
      </p:pic>
      <p:sp>
        <p:nvSpPr>
          <p:cNvPr id="36" name="Text 29"/>
          <p:cNvSpPr/>
          <p:nvPr/>
        </p:nvSpPr>
        <p:spPr>
          <a:xfrm>
            <a:off x="7223760" y="4654296"/>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ctf-agent-verify</a:t>
            </a:r>
            <a:endParaRPr lang="en-US" sz="1250" dirty="0"/>
          </a:p>
        </p:txBody>
      </p:sp>
      <p:sp>
        <p:nvSpPr>
          <p:cNvPr id="37" name="Text 30"/>
          <p:cNvSpPr/>
          <p:nvPr/>
        </p:nvSpPr>
        <p:spPr>
          <a:xfrm>
            <a:off x="7223760" y="4892040"/>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Checks each milestone and prints its flag when it truly passes.</a:t>
            </a:r>
            <a:endParaRPr lang="en-US" sz="1100" dirty="0"/>
          </a:p>
        </p:txBody>
      </p:sp>
      <p:sp>
        <p:nvSpPr>
          <p:cNvPr id="38" name="Text 31"/>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Venue Wi-Fi unreliable? An offline copy of the whole project site is attached to Start Here.</a:t>
            </a:r>
            <a:endParaRPr lang="en-US" sz="1250" dirty="0"/>
          </a:p>
        </p:txBody>
      </p:sp>
      <p:sp>
        <p:nvSpPr>
          <p:cNvPr id="39" name="Text 32"/>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40" name="Text 33"/>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10</a:t>
            </a:r>
            <a:endParaRPr lang="en-US" sz="900" dirty="0"/>
          </a:p>
        </p:txBody>
      </p:sp>
    </p:spTree>
  </p:cSld>
  <p:clrMapOvr>
    <a:masterClrMapping/>
  </p:clrMapOvr>
  <p:transition spd="med" advClick="1">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28000"/>
          </a:blip>
          <a:stretch>
            <a:fillRect/>
          </a:stretch>
        </p:blipFill>
        <p:spPr>
          <a:xfrm>
            <a:off x="8549640" y="109728"/>
            <a:ext cx="3291840" cy="1901952"/>
          </a:xfrm>
          <a:prstGeom prst="rect">
            <a:avLst/>
          </a:prstGeom>
        </p:spPr>
      </p:pic>
      <p:sp>
        <p:nvSpPr>
          <p:cNvPr id="3"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35D399"/>
                </a:solidFill>
                <a:latin typeface="Calibri" pitchFamily="34" charset="0"/>
                <a:ea typeface="Calibri" pitchFamily="34" charset="-122"/>
                <a:cs typeface="Calibri" pitchFamily="34" charset="-120"/>
              </a:rPr>
              <a:t>YOUR FIRST FLAG</a:t>
            </a:r>
            <a:endParaRPr lang="en-US" sz="1100" dirty="0"/>
          </a:p>
        </p:txBody>
      </p:sp>
      <p:sp>
        <p:nvSpPr>
          <p:cNvPr id="4"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Start Here, step by step</a:t>
            </a:r>
            <a:endParaRPr lang="en-US" sz="3200" dirty="0"/>
          </a:p>
        </p:txBody>
      </p:sp>
      <p:sp>
        <p:nvSpPr>
          <p:cNvPr id="5"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This one has no command to run. It exists so nobody can claim they didn't know the rule.</a:t>
            </a:r>
            <a:endParaRPr lang="en-US" sz="1300" dirty="0"/>
          </a:p>
        </p:txBody>
      </p:sp>
      <p:sp>
        <p:nvSpPr>
          <p:cNvPr id="6" name="Shape 3"/>
          <p:cNvSpPr/>
          <p:nvPr/>
        </p:nvSpPr>
        <p:spPr>
          <a:xfrm>
            <a:off x="548640" y="2194560"/>
            <a:ext cx="2430704" cy="2788920"/>
          </a:xfrm>
          <a:prstGeom prst="roundRect">
            <a:avLst>
              <a:gd name="adj" fmla="val 3386"/>
            </a:avLst>
          </a:prstGeom>
          <a:solidFill>
            <a:srgbClr val="141F30"/>
          </a:solidFill>
          <a:ln/>
        </p:spPr>
      </p:sp>
      <p:sp>
        <p:nvSpPr>
          <p:cNvPr id="7" name="Text 4"/>
          <p:cNvSpPr/>
          <p:nvPr/>
        </p:nvSpPr>
        <p:spPr>
          <a:xfrm>
            <a:off x="841248" y="2432304"/>
            <a:ext cx="548640" cy="457200"/>
          </a:xfrm>
          <a:prstGeom prst="rect">
            <a:avLst/>
          </a:prstGeom>
          <a:noFill/>
          <a:ln/>
        </p:spPr>
        <p:txBody>
          <a:bodyPr wrap="square" lIns="0" tIns="0" rIns="0" bIns="0" rtlCol="0" anchor="ctr"/>
          <a:lstStyle/>
          <a:p>
            <a:pPr indent="0" marL="0">
              <a:buNone/>
            </a:pPr>
            <a:r>
              <a:rPr lang="en-US" sz="2600" b="1" dirty="0">
                <a:solidFill>
                  <a:srgbClr val="35D399"/>
                </a:solidFill>
                <a:latin typeface="Cambria" pitchFamily="34" charset="0"/>
                <a:ea typeface="Cambria" pitchFamily="34" charset="-122"/>
                <a:cs typeface="Cambria" pitchFamily="34" charset="-120"/>
              </a:rPr>
              <a:t>1</a:t>
            </a:r>
            <a:endParaRPr lang="en-US" sz="2600" dirty="0"/>
          </a:p>
        </p:txBody>
      </p:sp>
      <p:sp>
        <p:nvSpPr>
          <p:cNvPr id="8" name="Text 5"/>
          <p:cNvSpPr/>
          <p:nvPr/>
        </p:nvSpPr>
        <p:spPr>
          <a:xfrm>
            <a:off x="841248"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Open Start Here</a:t>
            </a:r>
            <a:endParaRPr lang="en-US" sz="1500" dirty="0"/>
          </a:p>
        </p:txBody>
      </p:sp>
      <p:sp>
        <p:nvSpPr>
          <p:cNvPr id="9" name="Text 6"/>
          <p:cNvSpPr/>
          <p:nvPr/>
        </p:nvSpPr>
        <p:spPr>
          <a:xfrm>
            <a:off x="841248"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"AI Copilot Setup: Start Here" in CTFd.</a:t>
            </a:r>
            <a:endParaRPr lang="en-US" sz="1200" dirty="0"/>
          </a:p>
        </p:txBody>
      </p:sp>
      <p:sp>
        <p:nvSpPr>
          <p:cNvPr id="10" name="Text 7"/>
          <p:cNvSpPr/>
          <p:nvPr/>
        </p:nvSpPr>
        <p:spPr>
          <a:xfrm>
            <a:off x="2979344"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1" name="Shape 8"/>
          <p:cNvSpPr/>
          <p:nvPr/>
        </p:nvSpPr>
        <p:spPr>
          <a:xfrm>
            <a:off x="3436544" y="2194560"/>
            <a:ext cx="2430704" cy="2788920"/>
          </a:xfrm>
          <a:prstGeom prst="roundRect">
            <a:avLst>
              <a:gd name="adj" fmla="val 3386"/>
            </a:avLst>
          </a:prstGeom>
          <a:solidFill>
            <a:srgbClr val="141F30"/>
          </a:solidFill>
          <a:ln/>
        </p:spPr>
      </p:sp>
      <p:sp>
        <p:nvSpPr>
          <p:cNvPr id="12" name="Text 9"/>
          <p:cNvSpPr/>
          <p:nvPr/>
        </p:nvSpPr>
        <p:spPr>
          <a:xfrm>
            <a:off x="3729152" y="2432304"/>
            <a:ext cx="548640" cy="457200"/>
          </a:xfrm>
          <a:prstGeom prst="rect">
            <a:avLst/>
          </a:prstGeom>
          <a:noFill/>
          <a:ln/>
        </p:spPr>
        <p:txBody>
          <a:bodyPr wrap="square" lIns="0" tIns="0" rIns="0" bIns="0" rtlCol="0" anchor="ctr"/>
          <a:lstStyle/>
          <a:p>
            <a:pPr indent="0" marL="0">
              <a:buNone/>
            </a:pPr>
            <a:r>
              <a:rPr lang="en-US" sz="2600" b="1" dirty="0">
                <a:solidFill>
                  <a:srgbClr val="35D399"/>
                </a:solidFill>
                <a:latin typeface="Cambria" pitchFamily="34" charset="0"/>
                <a:ea typeface="Cambria" pitchFamily="34" charset="-122"/>
                <a:cs typeface="Cambria" pitchFamily="34" charset="-120"/>
              </a:rPr>
              <a:t>2</a:t>
            </a:r>
            <a:endParaRPr lang="en-US" sz="2600" dirty="0"/>
          </a:p>
        </p:txBody>
      </p:sp>
      <p:sp>
        <p:nvSpPr>
          <p:cNvPr id="13" name="Text 10"/>
          <p:cNvSpPr/>
          <p:nvPr/>
        </p:nvSpPr>
        <p:spPr>
          <a:xfrm>
            <a:off x="3729152"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Read the exception</a:t>
            </a:r>
            <a:endParaRPr lang="en-US" sz="1500" dirty="0"/>
          </a:p>
        </p:txBody>
      </p:sp>
      <p:sp>
        <p:nvSpPr>
          <p:cNvPr id="14" name="Text 11"/>
          <p:cNvSpPr/>
          <p:nvPr/>
        </p:nvSpPr>
        <p:spPr>
          <a:xfrm>
            <a:off x="3729152"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One paragraph explaining exactly what this track does and does not permit.</a:t>
            </a:r>
            <a:endParaRPr lang="en-US" sz="1200" dirty="0"/>
          </a:p>
        </p:txBody>
      </p:sp>
      <p:sp>
        <p:nvSpPr>
          <p:cNvPr id="15" name="Text 12"/>
          <p:cNvSpPr/>
          <p:nvPr/>
        </p:nvSpPr>
        <p:spPr>
          <a:xfrm>
            <a:off x="5867248"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6" name="Shape 13"/>
          <p:cNvSpPr/>
          <p:nvPr/>
        </p:nvSpPr>
        <p:spPr>
          <a:xfrm>
            <a:off x="6324448" y="2194560"/>
            <a:ext cx="2430704" cy="2788920"/>
          </a:xfrm>
          <a:prstGeom prst="roundRect">
            <a:avLst>
              <a:gd name="adj" fmla="val 3386"/>
            </a:avLst>
          </a:prstGeom>
          <a:solidFill>
            <a:srgbClr val="141F30"/>
          </a:solidFill>
          <a:ln/>
        </p:spPr>
      </p:sp>
      <p:sp>
        <p:nvSpPr>
          <p:cNvPr id="17" name="Text 14"/>
          <p:cNvSpPr/>
          <p:nvPr/>
        </p:nvSpPr>
        <p:spPr>
          <a:xfrm>
            <a:off x="6617056" y="2432304"/>
            <a:ext cx="548640" cy="457200"/>
          </a:xfrm>
          <a:prstGeom prst="rect">
            <a:avLst/>
          </a:prstGeom>
          <a:noFill/>
          <a:ln/>
        </p:spPr>
        <p:txBody>
          <a:bodyPr wrap="square" lIns="0" tIns="0" rIns="0" bIns="0" rtlCol="0" anchor="ctr"/>
          <a:lstStyle/>
          <a:p>
            <a:pPr indent="0" marL="0">
              <a:buNone/>
            </a:pPr>
            <a:r>
              <a:rPr lang="en-US" sz="2600" b="1" dirty="0">
                <a:solidFill>
                  <a:srgbClr val="35D399"/>
                </a:solidFill>
                <a:latin typeface="Cambria" pitchFamily="34" charset="0"/>
                <a:ea typeface="Cambria" pitchFamily="34" charset="-122"/>
                <a:cs typeface="Cambria" pitchFamily="34" charset="-120"/>
              </a:rPr>
              <a:t>3</a:t>
            </a:r>
            <a:endParaRPr lang="en-US" sz="2600" dirty="0"/>
          </a:p>
        </p:txBody>
      </p:sp>
      <p:sp>
        <p:nvSpPr>
          <p:cNvPr id="18" name="Text 15"/>
          <p:cNvSpPr/>
          <p:nvPr/>
        </p:nvSpPr>
        <p:spPr>
          <a:xfrm>
            <a:off x="6617056"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Grab the attachments</a:t>
            </a:r>
            <a:endParaRPr lang="en-US" sz="1500" dirty="0"/>
          </a:p>
        </p:txBody>
      </p:sp>
      <p:sp>
        <p:nvSpPr>
          <p:cNvPr id="19" name="Text 16"/>
          <p:cNvSpPr/>
          <p:nvPr/>
        </p:nvSpPr>
        <p:spPr>
          <a:xfrm>
            <a:off x="6617056"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Bootstrap scripts, README, troubleshooting guide, offline site copy.</a:t>
            </a:r>
            <a:endParaRPr lang="en-US" sz="1200" dirty="0"/>
          </a:p>
        </p:txBody>
      </p:sp>
      <p:sp>
        <p:nvSpPr>
          <p:cNvPr id="20" name="Text 17"/>
          <p:cNvSpPr/>
          <p:nvPr/>
        </p:nvSpPr>
        <p:spPr>
          <a:xfrm>
            <a:off x="8755151"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21" name="Shape 18"/>
          <p:cNvSpPr/>
          <p:nvPr/>
        </p:nvSpPr>
        <p:spPr>
          <a:xfrm>
            <a:off x="9212351" y="2194560"/>
            <a:ext cx="2430704" cy="2788920"/>
          </a:xfrm>
          <a:prstGeom prst="roundRect">
            <a:avLst>
              <a:gd name="adj" fmla="val 3386"/>
            </a:avLst>
          </a:prstGeom>
          <a:solidFill>
            <a:srgbClr val="141F30"/>
          </a:solidFill>
          <a:ln/>
        </p:spPr>
      </p:sp>
      <p:sp>
        <p:nvSpPr>
          <p:cNvPr id="22" name="Text 19"/>
          <p:cNvSpPr/>
          <p:nvPr/>
        </p:nvSpPr>
        <p:spPr>
          <a:xfrm>
            <a:off x="9504959" y="2432304"/>
            <a:ext cx="548640" cy="457200"/>
          </a:xfrm>
          <a:prstGeom prst="rect">
            <a:avLst/>
          </a:prstGeom>
          <a:noFill/>
          <a:ln/>
        </p:spPr>
        <p:txBody>
          <a:bodyPr wrap="square" lIns="0" tIns="0" rIns="0" bIns="0" rtlCol="0" anchor="ctr"/>
          <a:lstStyle/>
          <a:p>
            <a:pPr indent="0" marL="0">
              <a:buNone/>
            </a:pPr>
            <a:r>
              <a:rPr lang="en-US" sz="2600" b="1" dirty="0">
                <a:solidFill>
                  <a:srgbClr val="35D399"/>
                </a:solidFill>
                <a:latin typeface="Cambria" pitchFamily="34" charset="0"/>
                <a:ea typeface="Cambria" pitchFamily="34" charset="-122"/>
                <a:cs typeface="Cambria" pitchFamily="34" charset="-120"/>
              </a:rPr>
              <a:t>4</a:t>
            </a:r>
            <a:endParaRPr lang="en-US" sz="2600" dirty="0"/>
          </a:p>
        </p:txBody>
      </p:sp>
      <p:sp>
        <p:nvSpPr>
          <p:cNvPr id="23" name="Text 20"/>
          <p:cNvSpPr/>
          <p:nvPr/>
        </p:nvSpPr>
        <p:spPr>
          <a:xfrm>
            <a:off x="9504959"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Submit the sentence</a:t>
            </a:r>
            <a:endParaRPr lang="en-US" sz="1500" dirty="0"/>
          </a:p>
        </p:txBody>
      </p:sp>
      <p:sp>
        <p:nvSpPr>
          <p:cNvPr id="24" name="Text 21"/>
          <p:cNvSpPr/>
          <p:nvPr/>
        </p:nvSpPr>
        <p:spPr>
          <a:xfrm>
            <a:off x="9504959"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Copy it word for word. That confirmation is the flag.</a:t>
            </a:r>
            <a:endParaRPr lang="en-US" sz="1200" dirty="0"/>
          </a:p>
        </p:txBody>
      </p:sp>
      <p:sp>
        <p:nvSpPr>
          <p:cNvPr id="25" name="Text 22"/>
          <p:cNvSpPr/>
          <p:nvPr/>
        </p:nvSpPr>
        <p:spPr>
          <a:xfrm>
            <a:off x="548640" y="5349240"/>
            <a:ext cx="11094415" cy="274320"/>
          </a:xfrm>
          <a:prstGeom prst="rect">
            <a:avLst/>
          </a:prstGeom>
          <a:noFill/>
          <a:ln/>
        </p:spPr>
        <p:txBody>
          <a:bodyPr wrap="square" lIns="0" tIns="0" rIns="0" bIns="0" rtlCol="0" anchor="ctr"/>
          <a:lstStyle/>
          <a:p>
            <a:pPr indent="0" marL="0">
              <a:buNone/>
            </a:pPr>
            <a:r>
              <a:rPr lang="en-US" sz="1250" i="1" dirty="0">
                <a:solidFill>
                  <a:srgbClr val="35D399"/>
                </a:solidFill>
                <a:latin typeface="Calibri" pitchFamily="34" charset="0"/>
                <a:ea typeface="Calibri" pitchFamily="34" charset="-122"/>
                <a:cs typeface="Calibri" pitchFamily="34" charset="-120"/>
              </a:rPr>
              <a:t>Read it properly. The rest of this deck assumes you have.</a:t>
            </a:r>
            <a:endParaRPr lang="en-US" sz="1250" dirty="0"/>
          </a:p>
        </p:txBody>
      </p:sp>
      <p:sp>
        <p:nvSpPr>
          <p:cNvPr id="26" name="Text 23"/>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27" name="Text 24"/>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11</a:t>
            </a:r>
            <a:endParaRPr lang="en-US" sz="900" dirty="0"/>
          </a:p>
        </p:txBody>
      </p:sp>
    </p:spTree>
  </p:cSld>
  <p:clrMapOvr>
    <a:masterClrMapping/>
  </p:clrMapOvr>
  <p:transition spd="med" advClick="1">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82128" y="2286000"/>
            <a:ext cx="3749040" cy="3072384"/>
          </a:xfrm>
          <a:prstGeom prst="rect">
            <a:avLst/>
          </a:prstGeom>
        </p:spPr>
      </p:pic>
      <p:sp>
        <p:nvSpPr>
          <p:cNvPr id="3" name="Text 0"/>
          <p:cNvSpPr/>
          <p:nvPr/>
        </p:nvSpPr>
        <p:spPr>
          <a:xfrm>
            <a:off x="548640" y="1143000"/>
            <a:ext cx="7315200" cy="731520"/>
          </a:xfrm>
          <a:prstGeom prst="rect">
            <a:avLst/>
          </a:prstGeom>
          <a:noFill/>
          <a:ln/>
        </p:spPr>
        <p:txBody>
          <a:bodyPr wrap="square" lIns="0" tIns="0" rIns="0" bIns="0" rtlCol="0" anchor="ctr"/>
          <a:lstStyle/>
          <a:p>
            <a:pPr indent="0" marL="0">
              <a:buNone/>
            </a:pPr>
            <a:r>
              <a:rPr lang="en-US" sz="4000" b="1" dirty="0">
                <a:solidFill>
                  <a:srgbClr val="F4F6FB"/>
                </a:solidFill>
                <a:latin typeface="Cambria" pitchFamily="34" charset="0"/>
                <a:ea typeface="Cambria" pitchFamily="34" charset="-122"/>
                <a:cs typeface="Cambria" pitchFamily="34" charset="-120"/>
              </a:rPr>
              <a:t>Ready to play.</a:t>
            </a:r>
            <a:endParaRPr lang="en-US" sz="4000" dirty="0"/>
          </a:p>
        </p:txBody>
      </p:sp>
      <p:sp>
        <p:nvSpPr>
          <p:cNvPr id="4" name="Text 1"/>
          <p:cNvSpPr/>
          <p:nvPr/>
        </p:nvSpPr>
        <p:spPr>
          <a:xfrm>
            <a:off x="548640" y="1920240"/>
            <a:ext cx="7680960" cy="365760"/>
          </a:xfrm>
          <a:prstGeom prst="rect">
            <a:avLst/>
          </a:prstGeom>
          <a:noFill/>
          <a:ln/>
        </p:spPr>
        <p:txBody>
          <a:bodyPr wrap="square" lIns="0" tIns="0" rIns="0" bIns="0" rtlCol="0" anchor="ctr"/>
          <a:lstStyle/>
          <a:p>
            <a:pPr indent="0" marL="0">
              <a:buNone/>
            </a:pPr>
            <a:r>
              <a:rPr lang="en-US" sz="1350" dirty="0">
                <a:solidFill>
                  <a:srgbClr val="93A5C7"/>
                </a:solidFill>
                <a:latin typeface="Calibri" pitchFamily="34" charset="0"/>
                <a:ea typeface="Calibri" pitchFamily="34" charset="-122"/>
                <a:cs typeface="Calibri" pitchFamily="34" charset="-120"/>
              </a:rPr>
              <a:t>Do this one early. It pays for itself across the other three tracks.</a:t>
            </a:r>
            <a:endParaRPr lang="en-US" sz="1350" dirty="0"/>
          </a:p>
        </p:txBody>
      </p:sp>
      <p:sp>
        <p:nvSpPr>
          <p:cNvPr id="5" name="Shape 2"/>
          <p:cNvSpPr/>
          <p:nvPr/>
        </p:nvSpPr>
        <p:spPr>
          <a:xfrm>
            <a:off x="548640" y="2606040"/>
            <a:ext cx="6613855" cy="694944"/>
          </a:xfrm>
          <a:prstGeom prst="roundRect">
            <a:avLst>
              <a:gd name="adj" fmla="val 11842"/>
            </a:avLst>
          </a:prstGeom>
          <a:solidFill>
            <a:srgbClr val="141F30"/>
          </a:solidFill>
          <a:ln/>
        </p:spPr>
      </p:sp>
      <p:sp>
        <p:nvSpPr>
          <p:cNvPr id="6" name="Text 3"/>
          <p:cNvSpPr/>
          <p:nvPr/>
        </p:nvSpPr>
        <p:spPr>
          <a:xfrm>
            <a:off x="932688" y="2606040"/>
            <a:ext cx="457200" cy="694944"/>
          </a:xfrm>
          <a:prstGeom prst="rect">
            <a:avLst/>
          </a:prstGeom>
          <a:noFill/>
          <a:ln/>
        </p:spPr>
        <p:txBody>
          <a:bodyPr wrap="square" lIns="0" tIns="0" rIns="0" bIns="0" rtlCol="0" anchor="ctr"/>
          <a:lstStyle/>
          <a:p>
            <a:pPr indent="0" marL="0">
              <a:buNone/>
            </a:pPr>
            <a:r>
              <a:rPr lang="en-US" sz="1900" b="1" dirty="0">
                <a:solidFill>
                  <a:srgbClr val="35D399"/>
                </a:solidFill>
                <a:latin typeface="Cambria" pitchFamily="34" charset="0"/>
                <a:ea typeface="Cambria" pitchFamily="34" charset="-122"/>
                <a:cs typeface="Cambria" pitchFamily="34" charset="-120"/>
              </a:rPr>
              <a:t>1</a:t>
            </a:r>
            <a:endParaRPr lang="en-US" sz="1900" dirty="0"/>
          </a:p>
        </p:txBody>
      </p:sp>
      <p:sp>
        <p:nvSpPr>
          <p:cNvPr id="7" name="Text 4"/>
          <p:cNvSpPr/>
          <p:nvPr/>
        </p:nvSpPr>
        <p:spPr>
          <a:xfrm>
            <a:off x="1554480" y="2606040"/>
            <a:ext cx="533369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Open "AI Copilot Setup: Start Here" and read the AI-use exception</a:t>
            </a:r>
            <a:endParaRPr lang="en-US" sz="1400" dirty="0"/>
          </a:p>
        </p:txBody>
      </p:sp>
      <p:sp>
        <p:nvSpPr>
          <p:cNvPr id="8" name="Shape 5"/>
          <p:cNvSpPr/>
          <p:nvPr/>
        </p:nvSpPr>
        <p:spPr>
          <a:xfrm>
            <a:off x="548640" y="3438144"/>
            <a:ext cx="6613855" cy="694944"/>
          </a:xfrm>
          <a:prstGeom prst="roundRect">
            <a:avLst>
              <a:gd name="adj" fmla="val 11842"/>
            </a:avLst>
          </a:prstGeom>
          <a:solidFill>
            <a:srgbClr val="1B2740"/>
          </a:solidFill>
          <a:ln/>
        </p:spPr>
      </p:sp>
      <p:sp>
        <p:nvSpPr>
          <p:cNvPr id="9" name="Text 6"/>
          <p:cNvSpPr/>
          <p:nvPr/>
        </p:nvSpPr>
        <p:spPr>
          <a:xfrm>
            <a:off x="932688" y="3438144"/>
            <a:ext cx="457200" cy="694944"/>
          </a:xfrm>
          <a:prstGeom prst="rect">
            <a:avLst/>
          </a:prstGeom>
          <a:noFill/>
          <a:ln/>
        </p:spPr>
        <p:txBody>
          <a:bodyPr wrap="square" lIns="0" tIns="0" rIns="0" bIns="0" rtlCol="0" anchor="ctr"/>
          <a:lstStyle/>
          <a:p>
            <a:pPr indent="0" marL="0">
              <a:buNone/>
            </a:pPr>
            <a:r>
              <a:rPr lang="en-US" sz="1900" b="1" dirty="0">
                <a:solidFill>
                  <a:srgbClr val="35D399"/>
                </a:solidFill>
                <a:latin typeface="Cambria" pitchFamily="34" charset="0"/>
                <a:ea typeface="Cambria" pitchFamily="34" charset="-122"/>
                <a:cs typeface="Cambria" pitchFamily="34" charset="-120"/>
              </a:rPr>
              <a:t>2</a:t>
            </a:r>
            <a:endParaRPr lang="en-US" sz="1900" dirty="0"/>
          </a:p>
        </p:txBody>
      </p:sp>
      <p:sp>
        <p:nvSpPr>
          <p:cNvPr id="10" name="Text 7"/>
          <p:cNvSpPr/>
          <p:nvPr/>
        </p:nvSpPr>
        <p:spPr>
          <a:xfrm>
            <a:off x="1554480" y="3438144"/>
            <a:ext cx="533369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Download and run the bootstrap script for your operating system</a:t>
            </a:r>
            <a:endParaRPr lang="en-US" sz="1400" dirty="0"/>
          </a:p>
        </p:txBody>
      </p:sp>
      <p:sp>
        <p:nvSpPr>
          <p:cNvPr id="11" name="Shape 8"/>
          <p:cNvSpPr/>
          <p:nvPr/>
        </p:nvSpPr>
        <p:spPr>
          <a:xfrm>
            <a:off x="548640" y="4270248"/>
            <a:ext cx="6613855" cy="694944"/>
          </a:xfrm>
          <a:prstGeom prst="roundRect">
            <a:avLst>
              <a:gd name="adj" fmla="val 11842"/>
            </a:avLst>
          </a:prstGeom>
          <a:solidFill>
            <a:srgbClr val="141F30"/>
          </a:solidFill>
          <a:ln/>
        </p:spPr>
      </p:sp>
      <p:sp>
        <p:nvSpPr>
          <p:cNvPr id="12" name="Text 9"/>
          <p:cNvSpPr/>
          <p:nvPr/>
        </p:nvSpPr>
        <p:spPr>
          <a:xfrm>
            <a:off x="932688" y="4270248"/>
            <a:ext cx="457200" cy="694944"/>
          </a:xfrm>
          <a:prstGeom prst="rect">
            <a:avLst/>
          </a:prstGeom>
          <a:noFill/>
          <a:ln/>
        </p:spPr>
        <p:txBody>
          <a:bodyPr wrap="square" lIns="0" tIns="0" rIns="0" bIns="0" rtlCol="0" anchor="ctr"/>
          <a:lstStyle/>
          <a:p>
            <a:pPr indent="0" marL="0">
              <a:buNone/>
            </a:pPr>
            <a:r>
              <a:rPr lang="en-US" sz="1900" b="1" dirty="0">
                <a:solidFill>
                  <a:srgbClr val="35D399"/>
                </a:solidFill>
                <a:latin typeface="Cambria" pitchFamily="34" charset="0"/>
                <a:ea typeface="Cambria" pitchFamily="34" charset="-122"/>
                <a:cs typeface="Cambria" pitchFamily="34" charset="-120"/>
              </a:rPr>
              <a:t>3</a:t>
            </a:r>
            <a:endParaRPr lang="en-US" sz="1900" dirty="0"/>
          </a:p>
        </p:txBody>
      </p:sp>
      <p:sp>
        <p:nvSpPr>
          <p:cNvPr id="13" name="Text 10"/>
          <p:cNvSpPr/>
          <p:nvPr/>
        </p:nvSpPr>
        <p:spPr>
          <a:xfrm>
            <a:off x="1554480" y="4270248"/>
            <a:ext cx="533369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Wait out the first model download — it only happens once</a:t>
            </a:r>
            <a:endParaRPr lang="en-US" sz="1400" dirty="0"/>
          </a:p>
        </p:txBody>
      </p:sp>
      <p:sp>
        <p:nvSpPr>
          <p:cNvPr id="14" name="Shape 11"/>
          <p:cNvSpPr/>
          <p:nvPr/>
        </p:nvSpPr>
        <p:spPr>
          <a:xfrm>
            <a:off x="548640" y="5102352"/>
            <a:ext cx="6613855" cy="694944"/>
          </a:xfrm>
          <a:prstGeom prst="roundRect">
            <a:avLst>
              <a:gd name="adj" fmla="val 11842"/>
            </a:avLst>
          </a:prstGeom>
          <a:solidFill>
            <a:srgbClr val="1B2740"/>
          </a:solidFill>
          <a:ln/>
        </p:spPr>
      </p:sp>
      <p:sp>
        <p:nvSpPr>
          <p:cNvPr id="15" name="Text 12"/>
          <p:cNvSpPr/>
          <p:nvPr/>
        </p:nvSpPr>
        <p:spPr>
          <a:xfrm>
            <a:off x="932688" y="5102352"/>
            <a:ext cx="457200" cy="694944"/>
          </a:xfrm>
          <a:prstGeom prst="rect">
            <a:avLst/>
          </a:prstGeom>
          <a:noFill/>
          <a:ln/>
        </p:spPr>
        <p:txBody>
          <a:bodyPr wrap="square" lIns="0" tIns="0" rIns="0" bIns="0" rtlCol="0" anchor="ctr"/>
          <a:lstStyle/>
          <a:p>
            <a:pPr indent="0" marL="0">
              <a:buNone/>
            </a:pPr>
            <a:r>
              <a:rPr lang="en-US" sz="1900" b="1" dirty="0">
                <a:solidFill>
                  <a:srgbClr val="35D399"/>
                </a:solidFill>
                <a:latin typeface="Cambria" pitchFamily="34" charset="0"/>
                <a:ea typeface="Cambria" pitchFamily="34" charset="-122"/>
                <a:cs typeface="Cambria" pitchFamily="34" charset="-120"/>
              </a:rPr>
              <a:t>4</a:t>
            </a:r>
            <a:endParaRPr lang="en-US" sz="1900" dirty="0"/>
          </a:p>
        </p:txBody>
      </p:sp>
      <p:sp>
        <p:nvSpPr>
          <p:cNvPr id="16" name="Text 13"/>
          <p:cNvSpPr/>
          <p:nvPr/>
        </p:nvSpPr>
        <p:spPr>
          <a:xfrm>
            <a:off x="1554480" y="5102352"/>
            <a:ext cx="533369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Run ctf-agent-verify and collect the flags it reports</a:t>
            </a:r>
            <a:endParaRPr lang="en-US" sz="1400" dirty="0"/>
          </a:p>
        </p:txBody>
      </p:sp>
      <p:sp>
        <p:nvSpPr>
          <p:cNvPr id="17" name="Text 14"/>
          <p:cNvSpPr/>
          <p:nvPr/>
        </p:nvSpPr>
        <p:spPr>
          <a:xfrm>
            <a:off x="548640" y="5989320"/>
            <a:ext cx="5486400" cy="320040"/>
          </a:xfrm>
          <a:prstGeom prst="rect">
            <a:avLst/>
          </a:prstGeom>
          <a:noFill/>
          <a:ln/>
        </p:spPr>
        <p:txBody>
          <a:bodyPr wrap="square" lIns="0" tIns="0" rIns="0" bIns="0" rtlCol="0" anchor="ctr"/>
          <a:lstStyle/>
          <a:p>
            <a:pPr indent="0" marL="0">
              <a:buNone/>
            </a:pPr>
            <a:r>
              <a:rPr lang="en-US" sz="1400" i="1" dirty="0">
                <a:solidFill>
                  <a:srgbClr val="35D399"/>
                </a:solidFill>
                <a:latin typeface="Calibri" pitchFamily="34" charset="0"/>
                <a:ea typeface="Calibri" pitchFamily="34" charset="-122"/>
                <a:cs typeface="Calibri" pitchFamily="34" charset="-120"/>
              </a:rPr>
              <a:t>Good luck.</a:t>
            </a:r>
            <a:endParaRPr lang="en-US" sz="1400" dirty="0"/>
          </a:p>
        </p:txBody>
      </p:sp>
      <p:sp>
        <p:nvSpPr>
          <p:cNvPr id="18" name="Text 15"/>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9" name="Text 16"/>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12</a:t>
            </a:r>
            <a:endParaRPr lang="en-US" sz="900" dirty="0"/>
          </a:p>
        </p:txBody>
      </p:sp>
    </p:spTree>
  </p:cSld>
  <p:clrMapOvr>
    <a:masterClrMapping/>
  </p:clrMapOvr>
  <p:transition spd="med" advClick="1">
    <p:push dir="u"/>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CEI 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CEI Labs</dc:creator>
  <cp:lastModifiedBy>CEI Labs</cp:lastModifiedBy>
  <cp:revision>1</cp:revision>
  <dcterms:created xsi:type="dcterms:W3CDTF">2026-08-04T12:28:52Z</dcterms:created>
  <dcterms:modified xsi:type="dcterms:W3CDTF">2026-08-04T12:28:52Z</dcterms:modified>
</cp:coreProperties>
</file>