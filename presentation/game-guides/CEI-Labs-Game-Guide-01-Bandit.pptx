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Bandit is the track everyone starts on. It teaches the Linux command line from absolute zero to genuinely advanced material, over 34 levels plus a Start Here. Every level hands you the password for the next one, so the track is strictly linear — you cannot skip ahead. The story framing (The Vault at Dryrock) is CEI Labs' own; it exists to make the login banners feel like one continuous journey, and never encodes a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boundaries follow the material, not an even numeric split — the cron levels stay together, the git levels stay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 pause. Say what is coming and roughly how long it will take, then work through the topics. None of them is a level and none is a method — it is the shared vocabulary the track assumes. If you are running short, this list is also the menu: cut topics from it rather than rushing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filesystem. One tree, and almost everything on the machine appears somewhere in it.
The left column is the explanation; the right is a worked example you can talk through line by line. The example is a generic illustration of the concept — it is not a payload, path or command for any actual level, so it can be shown in full without spoiling anything.
Land this: Half of "the file is missing" is really "the listing didn't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Streams and pipes. Programs read from one stream and write to another; the shell connects them.
The left column is the explanation; the right is a worked example you can talk through line by line. The example is a generic illustration of the concept — it is not a payload, path or command for any actual level, so it can be shown in full without spoiling anything.
Land this: If a single command can't do it, two probably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and identity. Every file has an owner, a group, and nine bits deciding who may do what.
The left column is the explanation; the right is a worked example you can talk through line by line. The example is a generic illustration of the concept — it is not a payload, path or command for any actual level, so it can be shown in full without spoiling anything.
Land this: Always ask who you currently are, not just what you're trying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Ports, services and SSH. A server waits on a numbered port; a client connects, and the two talk.
The left column is the explanation; the right is a worked example you can talk through line by line. The example is a generic illustration of the concept — it is not a payload, path or command for any actual level, so it can be shown in full without spoiling anything.
Land this: A port tells you where to knock, never who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Scheduled jobs. A table of times, and commands that run when the clock matches.
The left column is the explanation; the right is a worked example you can talk through line by line. The example is a generic illustration of the concept — it is not a payload, path or command for any actual level, so it can be shown in full without spoiling anything.
Land this: Scheduled work is somebody else's hands, moving on a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as a record. A project's entire history, kept locally, and readable.
The left column is the explanation; the right is a worked example you can talk through line by line. The example is a generic illustration of the concept — it is not a payload, path or command for any actual level, so it can be shown in full without spoiling anything.
Land this: Deleting something in the newest commit does not delete the older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Shells and the environment. The shell is a program too, and it can be changed, restricted or replaced.
The left column is the explanation; the right is a worked example you can talk through line by line. The example is a generic illustration of the concept — it is not a payload, path or command for any actual level, so it can be shown in full without spoiling anything.
Land this: By the end of Bandit, the environment is the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First, Reboot versus Relaunch: reboot keeps everything you have done inside the box, relaunch throws it away — people reach for relaunch first and lose their own notes. Second, all 34 levels share one box, so they launch it once and keep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points, five minutes, and it proves your whole toolchain works before any real level counts against your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leave it up while people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778240" y="-2011680"/>
            <a:ext cx="5669280" cy="5669280"/>
          </a:xfrm>
          <a:prstGeom prst="ellipse">
            <a:avLst/>
          </a:prstGeom>
          <a:solidFill>
            <a:srgbClr val="141F30"/>
          </a:solidFill>
          <a:ln/>
        </p:spPr>
      </p:sp>
      <p:sp>
        <p:nvSpPr>
          <p:cNvPr id="3" name="Shape 1"/>
          <p:cNvSpPr/>
          <p:nvPr/>
        </p:nvSpPr>
        <p:spPr>
          <a:xfrm>
            <a:off x="-2194560" y="4480560"/>
            <a:ext cx="4206240" cy="4206240"/>
          </a:xfrm>
          <a:prstGeom prst="ellipse">
            <a:avLst/>
          </a:prstGeom>
          <a:solidFill>
            <a:srgbClr val="141F30"/>
          </a:solidFill>
          <a:ln/>
        </p:spPr>
      </p:sp>
      <p:sp>
        <p:nvSpPr>
          <p:cNvPr id="4" name="Shape 2"/>
          <p:cNvSpPr/>
          <p:nvPr/>
        </p:nvSpPr>
        <p:spPr>
          <a:xfrm>
            <a:off x="548640" y="960120"/>
            <a:ext cx="786384" cy="786384"/>
          </a:xfrm>
          <a:prstGeom prst="ellipse">
            <a:avLst/>
          </a:prstGeom>
          <a:solidFill>
            <a:srgbClr val="E0A340"/>
          </a:solidFill>
          <a:ln/>
        </p:spPr>
      </p:sp>
      <p:pic>
        <p:nvPicPr>
          <p:cNvPr id="5" name="Image 0" descr="preencoded.png">    </p:cNvPr>
          <p:cNvPicPr>
            <a:picLocks noChangeAspect="1"/>
          </p:cNvPicPr>
          <p:nvPr/>
        </p:nvPicPr>
        <p:blipFill>
          <a:blip r:embed="rId1"/>
          <a:stretch>
            <a:fillRect/>
          </a:stretch>
        </p:blipFill>
        <p:spPr>
          <a:xfrm>
            <a:off x="753100" y="1164580"/>
            <a:ext cx="377464" cy="377464"/>
          </a:xfrm>
          <a:prstGeom prst="rect">
            <a:avLst/>
          </a:prstGeom>
        </p:spPr>
      </p:pic>
      <p:sp>
        <p:nvSpPr>
          <p:cNvPr id="6" name="Text 3"/>
          <p:cNvSpPr/>
          <p:nvPr/>
        </p:nvSpPr>
        <p:spPr>
          <a:xfrm>
            <a:off x="548640" y="3017520"/>
            <a:ext cx="9144000" cy="822960"/>
          </a:xfrm>
          <a:prstGeom prst="rect">
            <a:avLst/>
          </a:prstGeom>
          <a:noFill/>
          <a:ln/>
        </p:spPr>
        <p:txBody>
          <a:bodyPr wrap="square" lIns="0" tIns="0" rIns="0" bIns="0" rtlCol="0" anchor="ctr"/>
          <a:lstStyle/>
          <a:p>
            <a:pPr indent="0" marL="0">
              <a:buNone/>
            </a:pPr>
            <a:r>
              <a:rPr lang="en-US" sz="4400" b="1" dirty="0">
                <a:solidFill>
                  <a:srgbClr val="F4F6FB"/>
                </a:solidFill>
                <a:latin typeface="Cambria" pitchFamily="34" charset="0"/>
                <a:ea typeface="Cambria" pitchFamily="34" charset="-122"/>
                <a:cs typeface="Cambria" pitchFamily="34" charset="-120"/>
              </a:rPr>
              <a:t>BANDIT</a:t>
            </a:r>
            <a:endParaRPr lang="en-US" sz="4400" dirty="0"/>
          </a:p>
        </p:txBody>
      </p:sp>
      <p:sp>
        <p:nvSpPr>
          <p:cNvPr id="7" name="Text 4"/>
          <p:cNvSpPr/>
          <p:nvPr/>
        </p:nvSpPr>
        <p:spPr>
          <a:xfrm>
            <a:off x="548640" y="3886200"/>
            <a:ext cx="9144000" cy="411480"/>
          </a:xfrm>
          <a:prstGeom prst="rect">
            <a:avLst/>
          </a:prstGeom>
          <a:noFill/>
          <a:ln/>
        </p:spPr>
        <p:txBody>
          <a:bodyPr wrap="square" lIns="0" tIns="0" rIns="0" bIns="0" rtlCol="0" anchor="ctr"/>
          <a:lstStyle/>
          <a:p>
            <a:pPr indent="0" marL="0">
              <a:buNone/>
            </a:pPr>
            <a:r>
              <a:rPr lang="en-US" sz="2200" b="1" i="1" dirty="0">
                <a:solidFill>
                  <a:srgbClr val="E0A340"/>
                </a:solidFill>
                <a:latin typeface="Cambria" pitchFamily="34" charset="0"/>
                <a:ea typeface="Cambria" pitchFamily="34" charset="-122"/>
                <a:cs typeface="Cambria" pitchFamily="34" charset="-120"/>
              </a:rPr>
              <a:t>The Vault at Dryrock</a:t>
            </a:r>
            <a:endParaRPr lang="en-US" sz="2200" dirty="0"/>
          </a:p>
        </p:txBody>
      </p:sp>
      <p:sp>
        <p:nvSpPr>
          <p:cNvPr id="8" name="Text 5"/>
          <p:cNvSpPr/>
          <p:nvPr/>
        </p:nvSpPr>
        <p:spPr>
          <a:xfrm>
            <a:off x="548640" y="4434840"/>
            <a:ext cx="7863840" cy="365760"/>
          </a:xfrm>
          <a:prstGeom prst="rect">
            <a:avLst/>
          </a:prstGeom>
          <a:noFill/>
          <a:ln/>
        </p:spPr>
        <p:txBody>
          <a:bodyPr wrap="square" lIns="0" tIns="0" rIns="0" bIns="0" rtlCol="0" anchor="ctr"/>
          <a:lstStyle/>
          <a:p>
            <a:pPr indent="0" marL="0">
              <a:lnSpc>
                <a:spcPct val="115000"/>
              </a:lnSpc>
              <a:buNone/>
            </a:pPr>
            <a:r>
              <a:rPr lang="en-US" sz="1350" dirty="0">
                <a:solidFill>
                  <a:srgbClr val="93A5C7"/>
                </a:solidFill>
                <a:latin typeface="Calibri" pitchFamily="34" charset="0"/>
                <a:ea typeface="Calibri" pitchFamily="34" charset="-122"/>
                <a:cs typeface="Calibri" pitchFamily="34" charset="-120"/>
              </a:rPr>
              <a:t>34 levels of Linux command line, played as one long night inside a walled compound.</a:t>
            </a:r>
            <a:endParaRPr lang="en-US" sz="1350" dirty="0"/>
          </a:p>
        </p:txBody>
      </p:sp>
      <p:sp>
        <p:nvSpPr>
          <p:cNvPr id="9" name="Text 6"/>
          <p:cNvSpPr/>
          <p:nvPr/>
        </p:nvSpPr>
        <p:spPr>
          <a:xfrm>
            <a:off x="548640" y="4983480"/>
            <a:ext cx="7589520" cy="1188720"/>
          </a:xfrm>
          <a:prstGeom prst="rect">
            <a:avLst/>
          </a:prstGeom>
          <a:noFill/>
          <a:ln/>
        </p:spPr>
        <p:txBody>
          <a:bodyPr wrap="square" lIns="0" tIns="0" rIns="0" bIns="0" rtlCol="0" anchor="ctr"/>
          <a:lstStyle/>
          <a:p>
            <a:pPr indent="0" marL="0">
              <a:lnSpc>
                <a:spcPct val="122000"/>
              </a:lnSpc>
              <a:buNone/>
            </a:pPr>
            <a:r>
              <a:rPr lang="en-US" sz="1150" i="1" dirty="0">
                <a:solidFill>
                  <a:srgbClr val="5B6B8C"/>
                </a:solidFill>
                <a:latin typeface="Calibri" pitchFamily="34" charset="0"/>
                <a:ea typeface="Calibri" pitchFamily="34" charset="-122"/>
                <a:cs typeface="Calibri" pitchFamily="34" charset="-120"/>
              </a:rPr>
              <a:t>An outlaw known only by reputation slips into the walled desert compound of Dryrock Hold after dark, hunting a ledger locked in its deepest vault. Room by room they search, borrow authority that isn't theirs, wait out the bell, and work deeper — until the record room opens and the escape is made through the far wall.</a:t>
            </a:r>
            <a:endParaRPr lang="en-US" sz="1150" dirty="0"/>
          </a:p>
        </p:txBody>
      </p:sp>
      <p:sp>
        <p:nvSpPr>
          <p:cNvPr id="10" name="Text 7"/>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1" name="Text 8"/>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01</a:t>
            </a:r>
            <a:endParaRPr lang="en-US" sz="90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 MAP</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Eight chapters, thirty-four levels</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Chapter boundaries follow the material, not an even numeric split — the cron levels stay together, the git levels stay together.</a:t>
            </a:r>
            <a:endParaRPr lang="en-US" sz="1300" dirty="0"/>
          </a:p>
        </p:txBody>
      </p:sp>
      <p:sp>
        <p:nvSpPr>
          <p:cNvPr id="5" name="Shape 3"/>
          <p:cNvSpPr/>
          <p:nvPr/>
        </p:nvSpPr>
        <p:spPr>
          <a:xfrm>
            <a:off x="548640" y="1975104"/>
            <a:ext cx="2581580" cy="1572768"/>
          </a:xfrm>
          <a:prstGeom prst="roundRect">
            <a:avLst>
              <a:gd name="adj" fmla="val 5233"/>
            </a:avLst>
          </a:prstGeom>
          <a:solidFill>
            <a:srgbClr val="141F30"/>
          </a:solidFill>
          <a:ln/>
        </p:spPr>
      </p:sp>
      <p:sp>
        <p:nvSpPr>
          <p:cNvPr id="6" name="Text 4"/>
          <p:cNvSpPr/>
          <p:nvPr/>
        </p:nvSpPr>
        <p:spPr>
          <a:xfrm>
            <a:off x="786384" y="21579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0–4</a:t>
            </a:r>
            <a:endParaRPr lang="en-US" sz="1050" dirty="0"/>
          </a:p>
        </p:txBody>
      </p:sp>
      <p:sp>
        <p:nvSpPr>
          <p:cNvPr id="7" name="Text 5"/>
          <p:cNvSpPr/>
          <p:nvPr/>
        </p:nvSpPr>
        <p:spPr>
          <a:xfrm>
            <a:off x="786384" y="23957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Over the Wall</a:t>
            </a:r>
            <a:endParaRPr lang="en-US" sz="1400" dirty="0"/>
          </a:p>
        </p:txBody>
      </p:sp>
      <p:sp>
        <p:nvSpPr>
          <p:cNvPr id="8" name="Text 6"/>
          <p:cNvSpPr/>
          <p:nvPr/>
        </p:nvSpPr>
        <p:spPr>
          <a:xfrm>
            <a:off x="786384" y="26791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The outer gate, and the first steps inside.</a:t>
            </a:r>
            <a:endParaRPr lang="en-US" sz="1000" dirty="0"/>
          </a:p>
        </p:txBody>
      </p:sp>
      <p:sp>
        <p:nvSpPr>
          <p:cNvPr id="9" name="Shape 7"/>
          <p:cNvSpPr/>
          <p:nvPr/>
        </p:nvSpPr>
        <p:spPr>
          <a:xfrm>
            <a:off x="3386252" y="1975104"/>
            <a:ext cx="2581580" cy="1572768"/>
          </a:xfrm>
          <a:prstGeom prst="roundRect">
            <a:avLst>
              <a:gd name="adj" fmla="val 5233"/>
            </a:avLst>
          </a:prstGeom>
          <a:solidFill>
            <a:srgbClr val="141F30"/>
          </a:solidFill>
          <a:ln/>
        </p:spPr>
      </p:sp>
      <p:sp>
        <p:nvSpPr>
          <p:cNvPr id="10" name="Text 8"/>
          <p:cNvSpPr/>
          <p:nvPr/>
        </p:nvSpPr>
        <p:spPr>
          <a:xfrm>
            <a:off x="3623996" y="21579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5–10</a:t>
            </a:r>
            <a:endParaRPr lang="en-US" sz="1050" dirty="0"/>
          </a:p>
        </p:txBody>
      </p:sp>
      <p:sp>
        <p:nvSpPr>
          <p:cNvPr id="11" name="Text 9"/>
          <p:cNvSpPr/>
          <p:nvPr/>
        </p:nvSpPr>
        <p:spPr>
          <a:xfrm>
            <a:off x="3623996" y="23957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Storeyard</a:t>
            </a:r>
            <a:endParaRPr lang="en-US" sz="1400" dirty="0"/>
          </a:p>
        </p:txBody>
      </p:sp>
      <p:sp>
        <p:nvSpPr>
          <p:cNvPr id="12" name="Text 10"/>
          <p:cNvSpPr/>
          <p:nvPr/>
        </p:nvSpPr>
        <p:spPr>
          <a:xfrm>
            <a:off x="3623996" y="26791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A yard of crates, searched for anything useful.</a:t>
            </a:r>
            <a:endParaRPr lang="en-US" sz="1000" dirty="0"/>
          </a:p>
        </p:txBody>
      </p:sp>
      <p:sp>
        <p:nvSpPr>
          <p:cNvPr id="13" name="Shape 11"/>
          <p:cNvSpPr/>
          <p:nvPr/>
        </p:nvSpPr>
        <p:spPr>
          <a:xfrm>
            <a:off x="6223864" y="1975104"/>
            <a:ext cx="2581580" cy="1572768"/>
          </a:xfrm>
          <a:prstGeom prst="roundRect">
            <a:avLst>
              <a:gd name="adj" fmla="val 5233"/>
            </a:avLst>
          </a:prstGeom>
          <a:solidFill>
            <a:srgbClr val="141F30"/>
          </a:solidFill>
          <a:ln/>
        </p:spPr>
      </p:sp>
      <p:sp>
        <p:nvSpPr>
          <p:cNvPr id="14" name="Text 12"/>
          <p:cNvSpPr/>
          <p:nvPr/>
        </p:nvSpPr>
        <p:spPr>
          <a:xfrm>
            <a:off x="6461608" y="21579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11–16</a:t>
            </a:r>
            <a:endParaRPr lang="en-US" sz="1050" dirty="0"/>
          </a:p>
        </p:txBody>
      </p:sp>
      <p:sp>
        <p:nvSpPr>
          <p:cNvPr id="15" name="Text 13"/>
          <p:cNvSpPr/>
          <p:nvPr/>
        </p:nvSpPr>
        <p:spPr>
          <a:xfrm>
            <a:off x="6461608" y="23957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Inner Halls</a:t>
            </a:r>
            <a:endParaRPr lang="en-US" sz="1400" dirty="0"/>
          </a:p>
        </p:txBody>
      </p:sp>
      <p:sp>
        <p:nvSpPr>
          <p:cNvPr id="16" name="Text 14"/>
          <p:cNvSpPr/>
          <p:nvPr/>
        </p:nvSpPr>
        <p:spPr>
          <a:xfrm>
            <a:off x="6461608" y="26791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Corridors, and doors that want keys.</a:t>
            </a:r>
            <a:endParaRPr lang="en-US" sz="1000" dirty="0"/>
          </a:p>
        </p:txBody>
      </p:sp>
      <p:sp>
        <p:nvSpPr>
          <p:cNvPr id="17" name="Shape 15"/>
          <p:cNvSpPr/>
          <p:nvPr/>
        </p:nvSpPr>
        <p:spPr>
          <a:xfrm>
            <a:off x="9061475" y="1975104"/>
            <a:ext cx="2581580" cy="1572768"/>
          </a:xfrm>
          <a:prstGeom prst="roundRect">
            <a:avLst>
              <a:gd name="adj" fmla="val 5233"/>
            </a:avLst>
          </a:prstGeom>
          <a:solidFill>
            <a:srgbClr val="141F30"/>
          </a:solidFill>
          <a:ln/>
        </p:spPr>
      </p:sp>
      <p:sp>
        <p:nvSpPr>
          <p:cNvPr id="18" name="Text 16"/>
          <p:cNvSpPr/>
          <p:nvPr/>
        </p:nvSpPr>
        <p:spPr>
          <a:xfrm>
            <a:off x="9299219" y="21579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17–20</a:t>
            </a:r>
            <a:endParaRPr lang="en-US" sz="1050" dirty="0"/>
          </a:p>
        </p:txBody>
      </p:sp>
      <p:sp>
        <p:nvSpPr>
          <p:cNvPr id="19" name="Text 17"/>
          <p:cNvSpPr/>
          <p:nvPr/>
        </p:nvSpPr>
        <p:spPr>
          <a:xfrm>
            <a:off x="9299219" y="23957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Guardroom</a:t>
            </a:r>
            <a:endParaRPr lang="en-US" sz="1400" dirty="0"/>
          </a:p>
        </p:txBody>
      </p:sp>
      <p:sp>
        <p:nvSpPr>
          <p:cNvPr id="20" name="Text 18"/>
          <p:cNvSpPr/>
          <p:nvPr/>
        </p:nvSpPr>
        <p:spPr>
          <a:xfrm>
            <a:off x="9299219" y="26791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Where the compound's authority is kept.</a:t>
            </a:r>
            <a:endParaRPr lang="en-US" sz="1000" dirty="0"/>
          </a:p>
        </p:txBody>
      </p:sp>
      <p:sp>
        <p:nvSpPr>
          <p:cNvPr id="21" name="Shape 19"/>
          <p:cNvSpPr/>
          <p:nvPr/>
        </p:nvSpPr>
        <p:spPr>
          <a:xfrm>
            <a:off x="548640" y="3803904"/>
            <a:ext cx="2581580" cy="1572768"/>
          </a:xfrm>
          <a:prstGeom prst="roundRect">
            <a:avLst>
              <a:gd name="adj" fmla="val 5233"/>
            </a:avLst>
          </a:prstGeom>
          <a:solidFill>
            <a:srgbClr val="1B2740"/>
          </a:solidFill>
          <a:ln/>
        </p:spPr>
      </p:sp>
      <p:sp>
        <p:nvSpPr>
          <p:cNvPr id="22" name="Text 20"/>
          <p:cNvSpPr/>
          <p:nvPr/>
        </p:nvSpPr>
        <p:spPr>
          <a:xfrm>
            <a:off x="786384" y="39867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21–23</a:t>
            </a:r>
            <a:endParaRPr lang="en-US" sz="1050" dirty="0"/>
          </a:p>
        </p:txBody>
      </p:sp>
      <p:sp>
        <p:nvSpPr>
          <p:cNvPr id="23" name="Text 21"/>
          <p:cNvSpPr/>
          <p:nvPr/>
        </p:nvSpPr>
        <p:spPr>
          <a:xfrm>
            <a:off x="786384" y="42245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Bell Tower</a:t>
            </a:r>
            <a:endParaRPr lang="en-US" sz="1400" dirty="0"/>
          </a:p>
        </p:txBody>
      </p:sp>
      <p:sp>
        <p:nvSpPr>
          <p:cNvPr id="24" name="Text 22"/>
          <p:cNvSpPr/>
          <p:nvPr/>
        </p:nvSpPr>
        <p:spPr>
          <a:xfrm>
            <a:off x="786384" y="45079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Everything here runs on a schedule.</a:t>
            </a:r>
            <a:endParaRPr lang="en-US" sz="1000" dirty="0"/>
          </a:p>
        </p:txBody>
      </p:sp>
      <p:sp>
        <p:nvSpPr>
          <p:cNvPr id="25" name="Shape 23"/>
          <p:cNvSpPr/>
          <p:nvPr/>
        </p:nvSpPr>
        <p:spPr>
          <a:xfrm>
            <a:off x="3386252" y="3803904"/>
            <a:ext cx="2581580" cy="1572768"/>
          </a:xfrm>
          <a:prstGeom prst="roundRect">
            <a:avLst>
              <a:gd name="adj" fmla="val 5233"/>
            </a:avLst>
          </a:prstGeom>
          <a:solidFill>
            <a:srgbClr val="1B2740"/>
          </a:solidFill>
          <a:ln/>
        </p:spPr>
      </p:sp>
      <p:sp>
        <p:nvSpPr>
          <p:cNvPr id="26" name="Text 24"/>
          <p:cNvSpPr/>
          <p:nvPr/>
        </p:nvSpPr>
        <p:spPr>
          <a:xfrm>
            <a:off x="3623996" y="39867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24–26</a:t>
            </a:r>
            <a:endParaRPr lang="en-US" sz="1050" dirty="0"/>
          </a:p>
        </p:txBody>
      </p:sp>
      <p:sp>
        <p:nvSpPr>
          <p:cNvPr id="27" name="Text 25"/>
          <p:cNvSpPr/>
          <p:nvPr/>
        </p:nvSpPr>
        <p:spPr>
          <a:xfrm>
            <a:off x="3623996" y="42245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Locked Wing</a:t>
            </a:r>
            <a:endParaRPr lang="en-US" sz="1400" dirty="0"/>
          </a:p>
        </p:txBody>
      </p:sp>
      <p:sp>
        <p:nvSpPr>
          <p:cNvPr id="28" name="Text 26"/>
          <p:cNvSpPr/>
          <p:nvPr/>
        </p:nvSpPr>
        <p:spPr>
          <a:xfrm>
            <a:off x="3623996" y="45079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Rooms built to hold you, worked open.</a:t>
            </a:r>
            <a:endParaRPr lang="en-US" sz="1000" dirty="0"/>
          </a:p>
        </p:txBody>
      </p:sp>
      <p:sp>
        <p:nvSpPr>
          <p:cNvPr id="29" name="Shape 27"/>
          <p:cNvSpPr/>
          <p:nvPr/>
        </p:nvSpPr>
        <p:spPr>
          <a:xfrm>
            <a:off x="6223864" y="3803904"/>
            <a:ext cx="2581580" cy="1572768"/>
          </a:xfrm>
          <a:prstGeom prst="roundRect">
            <a:avLst>
              <a:gd name="adj" fmla="val 5233"/>
            </a:avLst>
          </a:prstGeom>
          <a:solidFill>
            <a:srgbClr val="1B2740"/>
          </a:solidFill>
          <a:ln/>
        </p:spPr>
      </p:sp>
      <p:sp>
        <p:nvSpPr>
          <p:cNvPr id="30" name="Text 28"/>
          <p:cNvSpPr/>
          <p:nvPr/>
        </p:nvSpPr>
        <p:spPr>
          <a:xfrm>
            <a:off x="6461608" y="39867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27–31</a:t>
            </a:r>
            <a:endParaRPr lang="en-US" sz="1050" dirty="0"/>
          </a:p>
        </p:txBody>
      </p:sp>
      <p:sp>
        <p:nvSpPr>
          <p:cNvPr id="31" name="Text 29"/>
          <p:cNvSpPr/>
          <p:nvPr/>
        </p:nvSpPr>
        <p:spPr>
          <a:xfrm>
            <a:off x="6461608" y="42245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Archive</a:t>
            </a:r>
            <a:endParaRPr lang="en-US" sz="1400" dirty="0"/>
          </a:p>
        </p:txBody>
      </p:sp>
      <p:sp>
        <p:nvSpPr>
          <p:cNvPr id="32" name="Text 30"/>
          <p:cNvSpPr/>
          <p:nvPr/>
        </p:nvSpPr>
        <p:spPr>
          <a:xfrm>
            <a:off x="6461608" y="45079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The ledger, and its whole history.</a:t>
            </a:r>
            <a:endParaRPr lang="en-US" sz="1000" dirty="0"/>
          </a:p>
        </p:txBody>
      </p:sp>
      <p:sp>
        <p:nvSpPr>
          <p:cNvPr id="33" name="Shape 31"/>
          <p:cNvSpPr/>
          <p:nvPr/>
        </p:nvSpPr>
        <p:spPr>
          <a:xfrm>
            <a:off x="9061475" y="3803904"/>
            <a:ext cx="2581580" cy="1572768"/>
          </a:xfrm>
          <a:prstGeom prst="roundRect">
            <a:avLst>
              <a:gd name="adj" fmla="val 5233"/>
            </a:avLst>
          </a:prstGeom>
          <a:solidFill>
            <a:srgbClr val="1B2740"/>
          </a:solidFill>
          <a:ln/>
        </p:spPr>
      </p:sp>
      <p:sp>
        <p:nvSpPr>
          <p:cNvPr id="34" name="Text 32"/>
          <p:cNvSpPr/>
          <p:nvPr/>
        </p:nvSpPr>
        <p:spPr>
          <a:xfrm>
            <a:off x="9299219" y="3986784"/>
            <a:ext cx="2106092" cy="219456"/>
          </a:xfrm>
          <a:prstGeom prst="rect">
            <a:avLst/>
          </a:prstGeom>
          <a:noFill/>
          <a:ln/>
        </p:spPr>
        <p:txBody>
          <a:bodyPr wrap="square" lIns="0" tIns="0" rIns="0" bIns="0" rtlCol="0" anchor="t"/>
          <a:lstStyle/>
          <a:p>
            <a:pPr indent="0" marL="0">
              <a:buNone/>
            </a:pPr>
            <a:r>
              <a:rPr lang="en-US" sz="1050" b="1" spc="80" kern="0" dirty="0">
                <a:solidFill>
                  <a:srgbClr val="E0A340"/>
                </a:solidFill>
                <a:latin typeface="Calibri" pitchFamily="34" charset="0"/>
                <a:ea typeface="Calibri" pitchFamily="34" charset="-122"/>
                <a:cs typeface="Calibri" pitchFamily="34" charset="-120"/>
              </a:rPr>
              <a:t>32–33</a:t>
            </a:r>
            <a:endParaRPr lang="en-US" sz="1050" dirty="0"/>
          </a:p>
        </p:txBody>
      </p:sp>
      <p:sp>
        <p:nvSpPr>
          <p:cNvPr id="35" name="Text 33"/>
          <p:cNvSpPr/>
          <p:nvPr/>
        </p:nvSpPr>
        <p:spPr>
          <a:xfrm>
            <a:off x="9299219" y="4224528"/>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The Escape</a:t>
            </a:r>
            <a:endParaRPr lang="en-US" sz="1400" dirty="0"/>
          </a:p>
        </p:txBody>
      </p:sp>
      <p:sp>
        <p:nvSpPr>
          <p:cNvPr id="36" name="Text 34"/>
          <p:cNvSpPr/>
          <p:nvPr/>
        </p:nvSpPr>
        <p:spPr>
          <a:xfrm>
            <a:off x="9299219" y="4507992"/>
            <a:ext cx="2106092" cy="78638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Out through the far wall with it.</a:t>
            </a:r>
            <a:endParaRPr lang="en-US" sz="1000" dirty="0"/>
          </a:p>
        </p:txBody>
      </p:sp>
      <p:sp>
        <p:nvSpPr>
          <p:cNvPr id="37" name="Text 35"/>
          <p:cNvSpPr/>
          <p:nvPr/>
        </p:nvSpPr>
        <p:spPr>
          <a:xfrm>
            <a:off x="548640" y="5504688"/>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All 34 levels share one box. Launch it once and it stays yours.</a:t>
            </a:r>
            <a:endParaRPr lang="en-US" sz="1250" dirty="0"/>
          </a:p>
        </p:txBody>
      </p:sp>
      <p:sp>
        <p:nvSpPr>
          <p:cNvPr id="38" name="Text 36"/>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39" name="Text 37"/>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02</a:t>
            </a:r>
            <a:endParaRPr lang="en-US" sz="90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035040" cy="6035040"/>
          </a:xfrm>
          <a:prstGeom prst="ellipse">
            <a:avLst/>
          </a:prstGeom>
          <a:solidFill>
            <a:srgbClr val="141F30"/>
          </a:solidFill>
          <a:ln/>
        </p:spPr>
      </p:sp>
      <p:sp>
        <p:nvSpPr>
          <p:cNvPr id="3" name="Text 1"/>
          <p:cNvSpPr/>
          <p:nvPr/>
        </p:nvSpPr>
        <p:spPr>
          <a:xfrm>
            <a:off x="548640" y="1783080"/>
            <a:ext cx="5486400" cy="292608"/>
          </a:xfrm>
          <a:prstGeom prst="rect">
            <a:avLst/>
          </a:prstGeom>
          <a:noFill/>
          <a:ln/>
        </p:spPr>
        <p:txBody>
          <a:bodyPr wrap="square" lIns="0" tIns="0" rIns="0" bIns="0" rtlCol="0" anchor="ctr"/>
          <a:lstStyle/>
          <a:p>
            <a:pPr indent="0" marL="0">
              <a:buNone/>
            </a:pPr>
            <a:r>
              <a:rPr lang="en-US" sz="1100" b="1" spc="140" kern="0" dirty="0">
                <a:solidFill>
                  <a:srgbClr val="E0A340"/>
                </a:solidFill>
                <a:latin typeface="Calibri" pitchFamily="34" charset="0"/>
                <a:ea typeface="Calibri" pitchFamily="34" charset="-122"/>
                <a:cs typeface="Calibri" pitchFamily="34" charset="-120"/>
              </a:rPr>
              <a:t>THE IDEAS</a:t>
            </a:r>
            <a:endParaRPr lang="en-US" sz="1100" dirty="0"/>
          </a:p>
        </p:txBody>
      </p:sp>
      <p:sp>
        <p:nvSpPr>
          <p:cNvPr id="4" name="Text 2"/>
          <p:cNvSpPr/>
          <p:nvPr/>
        </p:nvSpPr>
        <p:spPr>
          <a:xfrm>
            <a:off x="548640" y="2103120"/>
            <a:ext cx="8595360" cy="960120"/>
          </a:xfrm>
          <a:prstGeom prst="rect">
            <a:avLst/>
          </a:prstGeom>
          <a:noFill/>
          <a:ln/>
        </p:spPr>
        <p:txBody>
          <a:bodyPr wrap="square" lIns="0" tIns="0" rIns="0" bIns="0" rtlCol="0" anchor="t"/>
          <a:lstStyle/>
          <a:p>
            <a:pPr indent="0" marL="0">
              <a:buNone/>
            </a:pPr>
            <a:r>
              <a:rPr lang="en-US" sz="3800" b="1" dirty="0">
                <a:solidFill>
                  <a:srgbClr val="F4F6FB"/>
                </a:solidFill>
                <a:latin typeface="Cambria" pitchFamily="34" charset="0"/>
                <a:ea typeface="Cambria" pitchFamily="34" charset="-122"/>
                <a:cs typeface="Cambria" pitchFamily="34" charset="-120"/>
              </a:rPr>
              <a:t>Seven ideas Linux is built on</a:t>
            </a:r>
            <a:endParaRPr lang="en-US" sz="3800" dirty="0"/>
          </a:p>
        </p:txBody>
      </p:sp>
      <p:sp>
        <p:nvSpPr>
          <p:cNvPr id="5" name="Text 3"/>
          <p:cNvSpPr/>
          <p:nvPr/>
        </p:nvSpPr>
        <p:spPr>
          <a:xfrm>
            <a:off x="548640" y="3017520"/>
            <a:ext cx="6949440" cy="548640"/>
          </a:xfrm>
          <a:prstGeom prst="rect">
            <a:avLst/>
          </a:prstGeom>
          <a:noFill/>
          <a:ln/>
        </p:spPr>
        <p:txBody>
          <a:bodyPr wrap="square" lIns="0" tIns="0" rIns="0" bIns="0" rtlCol="0" anchor="ctr"/>
          <a:lstStyle/>
          <a:p>
            <a:pPr indent="0" marL="0">
              <a:lnSpc>
                <a:spcPct val="118000"/>
              </a:lnSpc>
              <a:buNone/>
            </a:pPr>
            <a:r>
              <a:rPr lang="en-US" sz="1350" dirty="0">
                <a:solidFill>
                  <a:srgbClr val="93A5C7"/>
                </a:solidFill>
                <a:latin typeface="Calibri" pitchFamily="34" charset="0"/>
                <a:ea typeface="Calibri" pitchFamily="34" charset="-122"/>
                <a:cs typeface="Calibri" pitchFamily="34" charset="-120"/>
              </a:rPr>
              <a:t>Not levels, and not methods — the mental model the whole track quietly assumes you already have. Worth the ten minutes even if you think you know it.</a:t>
            </a:r>
            <a:endParaRPr lang="en-US" sz="1350" dirty="0"/>
          </a:p>
        </p:txBody>
      </p:sp>
      <p:sp>
        <p:nvSpPr>
          <p:cNvPr id="6" name="Text 4"/>
          <p:cNvSpPr/>
          <p:nvPr/>
        </p:nvSpPr>
        <p:spPr>
          <a:xfrm>
            <a:off x="548640" y="3977640"/>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1005840" y="3977640"/>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The filesystem</a:t>
            </a:r>
            <a:endParaRPr lang="en-US" sz="1300" dirty="0"/>
          </a:p>
        </p:txBody>
      </p:sp>
      <p:sp>
        <p:nvSpPr>
          <p:cNvPr id="8" name="Text 6"/>
          <p:cNvSpPr/>
          <p:nvPr/>
        </p:nvSpPr>
        <p:spPr>
          <a:xfrm>
            <a:off x="548640" y="4379976"/>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02</a:t>
            </a:r>
            <a:endParaRPr lang="en-US" sz="1200" dirty="0"/>
          </a:p>
        </p:txBody>
      </p:sp>
      <p:sp>
        <p:nvSpPr>
          <p:cNvPr id="9" name="Text 7"/>
          <p:cNvSpPr/>
          <p:nvPr/>
        </p:nvSpPr>
        <p:spPr>
          <a:xfrm>
            <a:off x="1005840" y="4379976"/>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Streams and pipes</a:t>
            </a:r>
            <a:endParaRPr lang="en-US" sz="1300" dirty="0"/>
          </a:p>
        </p:txBody>
      </p:sp>
      <p:sp>
        <p:nvSpPr>
          <p:cNvPr id="10" name="Text 8"/>
          <p:cNvSpPr/>
          <p:nvPr/>
        </p:nvSpPr>
        <p:spPr>
          <a:xfrm>
            <a:off x="548640" y="4782312"/>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03</a:t>
            </a:r>
            <a:endParaRPr lang="en-US" sz="1200" dirty="0"/>
          </a:p>
        </p:txBody>
      </p:sp>
      <p:sp>
        <p:nvSpPr>
          <p:cNvPr id="11" name="Text 9"/>
          <p:cNvSpPr/>
          <p:nvPr/>
        </p:nvSpPr>
        <p:spPr>
          <a:xfrm>
            <a:off x="1005840" y="4782312"/>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Permissions and identity</a:t>
            </a:r>
            <a:endParaRPr lang="en-US" sz="1300" dirty="0"/>
          </a:p>
        </p:txBody>
      </p:sp>
      <p:sp>
        <p:nvSpPr>
          <p:cNvPr id="12" name="Text 10"/>
          <p:cNvSpPr/>
          <p:nvPr/>
        </p:nvSpPr>
        <p:spPr>
          <a:xfrm>
            <a:off x="548640" y="5184648"/>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04</a:t>
            </a:r>
            <a:endParaRPr lang="en-US" sz="1200" dirty="0"/>
          </a:p>
        </p:txBody>
      </p:sp>
      <p:sp>
        <p:nvSpPr>
          <p:cNvPr id="13" name="Text 11"/>
          <p:cNvSpPr/>
          <p:nvPr/>
        </p:nvSpPr>
        <p:spPr>
          <a:xfrm>
            <a:off x="1005840" y="5184648"/>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Ports, services and SSH</a:t>
            </a:r>
            <a:endParaRPr lang="en-US" sz="1300" dirty="0"/>
          </a:p>
        </p:txBody>
      </p:sp>
      <p:sp>
        <p:nvSpPr>
          <p:cNvPr id="14" name="Text 12"/>
          <p:cNvSpPr/>
          <p:nvPr/>
        </p:nvSpPr>
        <p:spPr>
          <a:xfrm>
            <a:off x="6126480" y="3977640"/>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05</a:t>
            </a:r>
            <a:endParaRPr lang="en-US" sz="1200" dirty="0"/>
          </a:p>
        </p:txBody>
      </p:sp>
      <p:sp>
        <p:nvSpPr>
          <p:cNvPr id="15" name="Text 13"/>
          <p:cNvSpPr/>
          <p:nvPr/>
        </p:nvSpPr>
        <p:spPr>
          <a:xfrm>
            <a:off x="6583680" y="3977640"/>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Scheduled jobs</a:t>
            </a:r>
            <a:endParaRPr lang="en-US" sz="1300" dirty="0"/>
          </a:p>
        </p:txBody>
      </p:sp>
      <p:sp>
        <p:nvSpPr>
          <p:cNvPr id="16" name="Text 14"/>
          <p:cNvSpPr/>
          <p:nvPr/>
        </p:nvSpPr>
        <p:spPr>
          <a:xfrm>
            <a:off x="6126480" y="4379976"/>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06</a:t>
            </a:r>
            <a:endParaRPr lang="en-US" sz="1200" dirty="0"/>
          </a:p>
        </p:txBody>
      </p:sp>
      <p:sp>
        <p:nvSpPr>
          <p:cNvPr id="17" name="Text 15"/>
          <p:cNvSpPr/>
          <p:nvPr/>
        </p:nvSpPr>
        <p:spPr>
          <a:xfrm>
            <a:off x="6583680" y="4379976"/>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Git as a record</a:t>
            </a:r>
            <a:endParaRPr lang="en-US" sz="1300" dirty="0"/>
          </a:p>
        </p:txBody>
      </p:sp>
      <p:sp>
        <p:nvSpPr>
          <p:cNvPr id="18" name="Text 16"/>
          <p:cNvSpPr/>
          <p:nvPr/>
        </p:nvSpPr>
        <p:spPr>
          <a:xfrm>
            <a:off x="6126480" y="4782312"/>
            <a:ext cx="411480" cy="402336"/>
          </a:xfrm>
          <a:prstGeom prst="rect">
            <a:avLst/>
          </a:prstGeom>
          <a:noFill/>
          <a:ln/>
        </p:spPr>
        <p:txBody>
          <a:bodyPr wrap="square" lIns="0" tIns="0" rIns="0" bIns="0" rtlCol="0" anchor="ctr"/>
          <a:lstStyle/>
          <a:p>
            <a:pPr indent="0" marL="0">
              <a:buNone/>
            </a:pPr>
            <a:r>
              <a:rPr lang="en-US" sz="1200" b="1" dirty="0">
                <a:solidFill>
                  <a:srgbClr val="E0A340"/>
                </a:solidFill>
                <a:latin typeface="Cambria" pitchFamily="34" charset="0"/>
                <a:ea typeface="Cambria" pitchFamily="34" charset="-122"/>
                <a:cs typeface="Cambria" pitchFamily="34" charset="-120"/>
              </a:rPr>
              <a:t>07</a:t>
            </a:r>
            <a:endParaRPr lang="en-US" sz="1200" dirty="0"/>
          </a:p>
        </p:txBody>
      </p:sp>
      <p:sp>
        <p:nvSpPr>
          <p:cNvPr id="19" name="Text 17"/>
          <p:cNvSpPr/>
          <p:nvPr/>
        </p:nvSpPr>
        <p:spPr>
          <a:xfrm>
            <a:off x="6583680" y="4782312"/>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Shells and the environment</a:t>
            </a:r>
            <a:endParaRPr lang="en-US" sz="1300" dirty="0"/>
          </a:p>
        </p:txBody>
      </p:sp>
      <p:sp>
        <p:nvSpPr>
          <p:cNvPr id="20" name="Text 18"/>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21" name="Text 19"/>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03</a:t>
            </a:r>
            <a:endParaRPr lang="en-US" sz="900" dirty="0"/>
          </a:p>
        </p:txBody>
      </p:sp>
    </p:spTree>
  </p:cSld>
  <p:clrMapOvr>
    <a:masterClrMapping/>
  </p:clrMapOvr>
  <p:transition spd="med" advClick="1">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01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The filesystem</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One tree, and almost everything on the machine appears somewhere in it.</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Linux arranges everything under a single root, /. Directories are themselves just files that list other files. Devices, running processes and even kernel settings show up in the tree too, which is why one small handful of tools can read almost anything on the system.</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Most of this track is finding a file. A name can begin with a dot and be hidden from a default listing, begin with a dash and look like an option, or contain spaces and look like several names. Knowing that is the difference between "it isn't there" and "I haven't looked properly yet".</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an annotated listing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drwxr-xr-x   .            the directory itself</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-rw-r--r--   readme       an ordinary file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-rw-r--r--   .quiet       dot: hidden by default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-rw-r--r--   -dash        looks like an option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-rw-r--r--   two words    one name, not two</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tree has one root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the top of everything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/home/you   your own corner of it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/etc        system configuration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/proc       running processes, as files</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Half of "the file is missing" is really "the listing didn't show it".</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04</a:t>
            </a:r>
            <a:endParaRPr lang="en-US" sz="90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02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Streams and pipes</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Programs read from one stream and write to another; the shell connects them.</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Every process is given three streams: one to read input from, one to write results to, and a separate one for errors. A pipe joins one program's output stream directly to the next program's input stream, so several small tools become a single larger operation with no file in between.</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Linux gives you very few large tools and a great many small ones. Almost every "how do I..." on this track is answered by chaining three simple things together, not by finding one clever thing that does the whole job.</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three tools, one line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cat file | sort | uniq</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read it  order  collapse repeats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three streams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stdin   what goes in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stdout  the answer</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stderr  the complaints, kept separate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errors travel separately on purpose</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a pipe carries results, not noise</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If a single command can't do it, two probably can.</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05</a:t>
            </a:r>
            <a:endParaRPr lang="en-US" sz="90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03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Permissions and identity</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Every file has an owner, a group, and nine bits deciding who may do what.</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The characters at the start of a listing are a type flag followed by three sets of read, write and execute permissions: one for the owner, one for the group, and one for everybody else. A process acts with the identity of whoever started it, and may only touch what that identity is allowed to touch.</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"Permission denied" is not a dead end, it is information: you are the wrong person, and the level is about becoming the right one. A program flagged setuid runs as its owner rather than as you, which is precisely what makes such programs worth noticing.</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reading a permission string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rwx  r-x  ---   owner   group</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everyone else: nothing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group: read, execute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owner: read, write, execute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type: - file, d directory, l link</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identity is a property of the process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normal program  runs as you</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setuid program  runs as its owner</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Always ask who you currently are, not just what you're trying to read.</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06</a:t>
            </a:r>
            <a:endParaRPr lang="en-US" sz="90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04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Ports, services and SSH</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A server waits on a numbered port; a client connects, and the two talk.</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A network service is a program waiting on a port for someone to connect to it. The port number is only an address: nothing about it guarantees what is on the other end, or whether the conversation is protected. SSH is one such service, giving you a shell on a remote machine over an encrypted link.</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Several levels amount to "something is listening, go and talk to it". Whether you need a plain connection or an encrypted one is decided by the service at the far end, not by you, and the two are not interchangeable.</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what a connection actually is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you  ----&gt;  host : port  ----&gt;  a program</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connect             that was listening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same idea, two wrappings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plain      what you send goes as-is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encrypted  what you send is wrapped first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ssh is a shell at the far end,</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over an encrypted connection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ssh user@host -p 2220</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A port tells you where to knock, never who answers.</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07</a:t>
            </a:r>
            <a:endParaRPr lang="en-US" sz="90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05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Scheduled jobs</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A table of times, and commands that run when the clock matches.</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The system keeps a table in which every line is five time fields followed by a command. When the clock matches all five fields the command runs — as whichever user owns that table, not as you. A star in a field means "every".</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Anything on a schedule runs repeatedly, unattended, as somebody else. Reading a schedule therefore tells you two useful things at once: what is about to happen, and who it will happen as.</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five fields, then a command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  *   /path/to/command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  day of week  (0-6)</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  month        (1-12)</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day of month    (1-31)</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hour              (0-23)</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minute               (0-59)</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worked examples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*/5 *  *  *  *   every five minutes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0   3  *  *  *   at 03:00, every day</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Scheduled work is somebody else's hands, moving on a timer.</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08</a:t>
            </a:r>
            <a:endParaRPr lang="en-US" sz="90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06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Git as a record</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A project's entire history, kept locally, and readable.</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Git stores a chain of snapshots. Each commit records what changed, when, and by whom. Branches are alternative chains, tags are labels pinned to particular commits, and cloning copies all of it — including material that was later removed from the current version.</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The current state of a repository is only the last frame of the film. The history is a record of everything that was ever true in it, and nothing falls out of that record just because a later commit tidied it away.</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a history, oldest first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a1b2c3  initial commit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d4e5f6  add configuration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7890ab  remove value from config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cdef01  tidy up</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current files no longer show it</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commit before it still does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branches and tags point at commits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main   -&gt;  cdef01</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v1.0   -&gt;  d4e5f6</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Deleting something in the newest commit does not delete the older ones.</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09</a:t>
            </a:r>
            <a:endParaRPr lang="en-US" sz="90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THEORY  07 / 07</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Shells and the environment</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The shell is a program too, and it can be changed, restricted or replaced.</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Logging in normally starts a shell that reads your commands. Which shell runs, and what it will permit, is configuration. A restricted shell removes capabilities; startup files execute before you ever see a prompt; and the environment decides where commands are looked for at all.</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The last stretch of this track is about the shell itself rather than about files. When the environment is working against you, the question stops being "which command" and becomes "what is actually running my command, and as what".</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what happens before you get a prompt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login  -&gt;  startup files run  -&gt;  shell starts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can print, can act    may be restricted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where commands are found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PATH=/usr/local/bin:/usr/bin:/bin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searched left to right,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first match wins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the name you type and the program</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that runs are not the same thing</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By the end of Bandit, the environment is the puzzle.</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GETTING IN</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You connect with SSH</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Bandit gives you a host and a port. You log in from your own terminal — no browser desktop needed.</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04872"/>
            <a:ext cx="4956048"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STEP BY STEP</a:t>
            </a:r>
            <a:endParaRPr lang="en-US" sz="950" dirty="0"/>
          </a:p>
        </p:txBody>
      </p:sp>
      <p:sp>
        <p:nvSpPr>
          <p:cNvPr id="7" name="Text 5"/>
          <p:cNvSpPr/>
          <p:nvPr/>
        </p:nvSpPr>
        <p:spPr>
          <a:xfrm>
            <a:off x="859536" y="2770632"/>
            <a:ext cx="365760" cy="621792"/>
          </a:xfrm>
          <a:prstGeom prst="rect">
            <a:avLst/>
          </a:prstGeom>
          <a:noFill/>
          <a:ln/>
        </p:spPr>
        <p:txBody>
          <a:bodyPr wrap="square" lIns="0" tIns="0" rIns="0" bIns="0" rtlCol="0" anchor="ctr"/>
          <a:lstStyle/>
          <a:p>
            <a:pPr indent="0" marL="0">
              <a:buNone/>
            </a:pPr>
            <a:r>
              <a:rPr lang="en-US" sz="1600" b="1" dirty="0">
                <a:solidFill>
                  <a:srgbClr val="E0A340"/>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2807208"/>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Launch Environment</a:t>
            </a:r>
            <a:endParaRPr lang="en-US" sz="1250" dirty="0"/>
          </a:p>
        </p:txBody>
      </p:sp>
      <p:sp>
        <p:nvSpPr>
          <p:cNvPr id="9" name="Text 7"/>
          <p:cNvSpPr/>
          <p:nvPr/>
        </p:nvSpPr>
        <p:spPr>
          <a:xfrm>
            <a:off x="1280160" y="3044952"/>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On the challenge itself. Wait for a host and port to appear.</a:t>
            </a:r>
            <a:endParaRPr lang="en-US" sz="1100" dirty="0"/>
          </a:p>
        </p:txBody>
      </p:sp>
      <p:sp>
        <p:nvSpPr>
          <p:cNvPr id="10" name="Text 8"/>
          <p:cNvSpPr/>
          <p:nvPr/>
        </p:nvSpPr>
        <p:spPr>
          <a:xfrm>
            <a:off x="859536" y="3392424"/>
            <a:ext cx="365760" cy="621792"/>
          </a:xfrm>
          <a:prstGeom prst="rect">
            <a:avLst/>
          </a:prstGeom>
          <a:noFill/>
          <a:ln/>
        </p:spPr>
        <p:txBody>
          <a:bodyPr wrap="square" lIns="0" tIns="0" rIns="0" bIns="0" rtlCol="0" anchor="ctr"/>
          <a:lstStyle/>
          <a:p>
            <a:pPr indent="0" marL="0">
              <a:buNone/>
            </a:pPr>
            <a:r>
              <a:rPr lang="en-US" sz="1600" b="1" dirty="0">
                <a:solidFill>
                  <a:srgbClr val="E0A340"/>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280160" y="3429000"/>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SSH in</a:t>
            </a:r>
            <a:endParaRPr lang="en-US" sz="1250" dirty="0"/>
          </a:p>
        </p:txBody>
      </p:sp>
      <p:sp>
        <p:nvSpPr>
          <p:cNvPr id="12" name="Text 10"/>
          <p:cNvSpPr/>
          <p:nvPr/>
        </p:nvSpPr>
        <p:spPr>
          <a:xfrm>
            <a:off x="1280160" y="3666744"/>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Use the level's username and the previous level's password.</a:t>
            </a:r>
            <a:endParaRPr lang="en-US" sz="1100" dirty="0"/>
          </a:p>
        </p:txBody>
      </p:sp>
      <p:sp>
        <p:nvSpPr>
          <p:cNvPr id="13" name="Text 11"/>
          <p:cNvSpPr/>
          <p:nvPr/>
        </p:nvSpPr>
        <p:spPr>
          <a:xfrm>
            <a:off x="859536" y="4014216"/>
            <a:ext cx="365760" cy="621792"/>
          </a:xfrm>
          <a:prstGeom prst="rect">
            <a:avLst/>
          </a:prstGeom>
          <a:noFill/>
          <a:ln/>
        </p:spPr>
        <p:txBody>
          <a:bodyPr wrap="square" lIns="0" tIns="0" rIns="0" bIns="0" rtlCol="0" anchor="ctr"/>
          <a:lstStyle/>
          <a:p>
            <a:pPr indent="0" marL="0">
              <a:buNone/>
            </a:pPr>
            <a:r>
              <a:rPr lang="en-US" sz="1600" b="1" dirty="0">
                <a:solidFill>
                  <a:srgbClr val="E0A340"/>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280160" y="4050792"/>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Solve and read</a:t>
            </a:r>
            <a:endParaRPr lang="en-US" sz="1250" dirty="0"/>
          </a:p>
        </p:txBody>
      </p:sp>
      <p:sp>
        <p:nvSpPr>
          <p:cNvPr id="15" name="Text 13"/>
          <p:cNvSpPr/>
          <p:nvPr/>
        </p:nvSpPr>
        <p:spPr>
          <a:xfrm>
            <a:off x="1280160" y="4288536"/>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Work in the shell until you find the next level's password.</a:t>
            </a:r>
            <a:endParaRPr lang="en-US" sz="1100" dirty="0"/>
          </a:p>
        </p:txBody>
      </p:sp>
      <p:sp>
        <p:nvSpPr>
          <p:cNvPr id="16" name="Text 14"/>
          <p:cNvSpPr/>
          <p:nvPr/>
        </p:nvSpPr>
        <p:spPr>
          <a:xfrm>
            <a:off x="859536" y="4636008"/>
            <a:ext cx="365760" cy="621792"/>
          </a:xfrm>
          <a:prstGeom prst="rect">
            <a:avLst/>
          </a:prstGeom>
          <a:noFill/>
          <a:ln/>
        </p:spPr>
        <p:txBody>
          <a:bodyPr wrap="square" lIns="0" tIns="0" rIns="0" bIns="0" rtlCol="0" anchor="ctr"/>
          <a:lstStyle/>
          <a:p>
            <a:pPr indent="0" marL="0">
              <a:buNone/>
            </a:pPr>
            <a:r>
              <a:rPr lang="en-US" sz="1600" b="1" dirty="0">
                <a:solidFill>
                  <a:srgbClr val="E0A340"/>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1280160" y="4672584"/>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Submit the flag</a:t>
            </a:r>
            <a:endParaRPr lang="en-US" sz="1250" dirty="0"/>
          </a:p>
        </p:txBody>
      </p:sp>
      <p:sp>
        <p:nvSpPr>
          <p:cNvPr id="18" name="Text 16"/>
          <p:cNvSpPr/>
          <p:nvPr/>
        </p:nvSpPr>
        <p:spPr>
          <a:xfrm>
            <a:off x="1280160" y="4910328"/>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Paste it into CTFd. Points go up, the next level opens.</a:t>
            </a:r>
            <a:endParaRPr lang="en-US" sz="1100" dirty="0"/>
          </a:p>
        </p:txBody>
      </p:sp>
      <p:sp>
        <p:nvSpPr>
          <p:cNvPr id="19" name="Shape 17"/>
          <p:cNvSpPr/>
          <p:nvPr/>
        </p:nvSpPr>
        <p:spPr>
          <a:xfrm>
            <a:off x="6382512" y="2148840"/>
            <a:ext cx="5260543" cy="3127248"/>
          </a:xfrm>
          <a:prstGeom prst="roundRect">
            <a:avLst>
              <a:gd name="adj" fmla="val 2632"/>
            </a:avLst>
          </a:prstGeom>
          <a:solidFill>
            <a:srgbClr val="141F30"/>
          </a:solidFill>
          <a:ln/>
        </p:spPr>
      </p:sp>
      <p:sp>
        <p:nvSpPr>
          <p:cNvPr id="20" name="Text 18"/>
          <p:cNvSpPr/>
          <p:nvPr/>
        </p:nvSpPr>
        <p:spPr>
          <a:xfrm>
            <a:off x="6656832" y="2404872"/>
            <a:ext cx="4711903" cy="237744"/>
          </a:xfrm>
          <a:prstGeom prst="rect">
            <a:avLst/>
          </a:prstGeom>
          <a:noFill/>
          <a:ln/>
        </p:spPr>
        <p:txBody>
          <a:bodyPr wrap="square" lIns="0" tIns="0" rIns="0" bIns="0" rtlCol="0" anchor="ctr"/>
          <a:lstStyle/>
          <a:p>
            <a:pPr indent="0" marL="0">
              <a:buNone/>
            </a:pPr>
            <a:r>
              <a:rPr lang="en-US" sz="950" b="1" spc="110" kern="0" dirty="0">
                <a:solidFill>
                  <a:srgbClr val="E0A340"/>
                </a:solidFill>
                <a:latin typeface="Calibri" pitchFamily="34" charset="0"/>
                <a:ea typeface="Calibri" pitchFamily="34" charset="-122"/>
                <a:cs typeface="Calibri" pitchFamily="34" charset="-120"/>
              </a:rPr>
              <a:t>THE LAUNCH PANEL</a:t>
            </a:r>
            <a:endParaRPr lang="en-US" sz="950" dirty="0"/>
          </a:p>
        </p:txBody>
      </p:sp>
      <p:sp>
        <p:nvSpPr>
          <p:cNvPr id="21" name="Shape 19"/>
          <p:cNvSpPr/>
          <p:nvPr/>
        </p:nvSpPr>
        <p:spPr>
          <a:xfrm>
            <a:off x="6656832" y="2843784"/>
            <a:ext cx="402336" cy="402336"/>
          </a:xfrm>
          <a:prstGeom prst="ellipse">
            <a:avLst/>
          </a:prstGeom>
          <a:solidFill>
            <a:srgbClr val="E0A340"/>
          </a:solidFill>
          <a:ln/>
        </p:spPr>
      </p:sp>
      <p:pic>
        <p:nvPicPr>
          <p:cNvPr id="22" name="Image 0" descr="preencoded.png">    </p:cNvPr>
          <p:cNvPicPr>
            <a:picLocks noChangeAspect="1"/>
          </p:cNvPicPr>
          <p:nvPr/>
        </p:nvPicPr>
        <p:blipFill>
          <a:blip r:embed="rId1"/>
          <a:stretch>
            <a:fillRect/>
          </a:stretch>
        </p:blipFill>
        <p:spPr>
          <a:xfrm>
            <a:off x="6761439" y="2948391"/>
            <a:ext cx="193121" cy="193121"/>
          </a:xfrm>
          <a:prstGeom prst="rect">
            <a:avLst/>
          </a:prstGeom>
        </p:spPr>
      </p:pic>
      <p:sp>
        <p:nvSpPr>
          <p:cNvPr id="23" name="Text 20"/>
          <p:cNvSpPr/>
          <p:nvPr/>
        </p:nvSpPr>
        <p:spPr>
          <a:xfrm>
            <a:off x="7223760" y="2788920"/>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Launch Environment</a:t>
            </a:r>
            <a:endParaRPr lang="en-US" sz="1250" dirty="0"/>
          </a:p>
        </p:txBody>
      </p:sp>
      <p:sp>
        <p:nvSpPr>
          <p:cNvPr id="24" name="Text 21"/>
          <p:cNvSpPr/>
          <p:nvPr/>
        </p:nvSpPr>
        <p:spPr>
          <a:xfrm>
            <a:off x="7223760" y="3026664"/>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Starts your box, or reconnects you to one already running.</a:t>
            </a:r>
            <a:endParaRPr lang="en-US" sz="1100" dirty="0"/>
          </a:p>
        </p:txBody>
      </p:sp>
      <p:sp>
        <p:nvSpPr>
          <p:cNvPr id="25" name="Shape 22"/>
          <p:cNvSpPr/>
          <p:nvPr/>
        </p:nvSpPr>
        <p:spPr>
          <a:xfrm>
            <a:off x="6656832" y="3465576"/>
            <a:ext cx="402336" cy="402336"/>
          </a:xfrm>
          <a:prstGeom prst="ellipse">
            <a:avLst/>
          </a:prstGeom>
          <a:solidFill>
            <a:srgbClr val="E0A340"/>
          </a:solidFill>
          <a:ln/>
        </p:spPr>
      </p:sp>
      <p:pic>
        <p:nvPicPr>
          <p:cNvPr id="26" name="Image 1" descr="preencoded.png">    </p:cNvPr>
          <p:cNvPicPr>
            <a:picLocks noChangeAspect="1"/>
          </p:cNvPicPr>
          <p:nvPr/>
        </p:nvPicPr>
        <p:blipFill>
          <a:blip r:embed="rId2"/>
          <a:stretch>
            <a:fillRect/>
          </a:stretch>
        </p:blipFill>
        <p:spPr>
          <a:xfrm>
            <a:off x="6761439" y="3570183"/>
            <a:ext cx="193121" cy="193121"/>
          </a:xfrm>
          <a:prstGeom prst="rect">
            <a:avLst/>
          </a:prstGeom>
        </p:spPr>
      </p:pic>
      <p:sp>
        <p:nvSpPr>
          <p:cNvPr id="27" name="Text 23"/>
          <p:cNvSpPr/>
          <p:nvPr/>
        </p:nvSpPr>
        <p:spPr>
          <a:xfrm>
            <a:off x="7223760" y="3410712"/>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Reboot Host</a:t>
            </a:r>
            <a:endParaRPr lang="en-US" sz="1250" dirty="0"/>
          </a:p>
        </p:txBody>
      </p:sp>
      <p:sp>
        <p:nvSpPr>
          <p:cNvPr id="28" name="Text 24"/>
          <p:cNvSpPr/>
          <p:nvPr/>
        </p:nvSpPr>
        <p:spPr>
          <a:xfrm>
            <a:off x="7223760" y="3648456"/>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Restarts it in place. Same connection details afterward.</a:t>
            </a:r>
            <a:endParaRPr lang="en-US" sz="1100" dirty="0"/>
          </a:p>
        </p:txBody>
      </p:sp>
      <p:sp>
        <p:nvSpPr>
          <p:cNvPr id="29" name="Shape 25"/>
          <p:cNvSpPr/>
          <p:nvPr/>
        </p:nvSpPr>
        <p:spPr>
          <a:xfrm>
            <a:off x="6656832" y="4087368"/>
            <a:ext cx="402336" cy="402336"/>
          </a:xfrm>
          <a:prstGeom prst="ellipse">
            <a:avLst/>
          </a:prstGeom>
          <a:solidFill>
            <a:srgbClr val="E0A340"/>
          </a:solidFill>
          <a:ln/>
        </p:spPr>
      </p:sp>
      <p:pic>
        <p:nvPicPr>
          <p:cNvPr id="30" name="Image 2" descr="preencoded.png">    </p:cNvPr>
          <p:cNvPicPr>
            <a:picLocks noChangeAspect="1"/>
          </p:cNvPicPr>
          <p:nvPr/>
        </p:nvPicPr>
        <p:blipFill>
          <a:blip r:embed="rId3"/>
          <a:stretch>
            <a:fillRect/>
          </a:stretch>
        </p:blipFill>
        <p:spPr>
          <a:xfrm>
            <a:off x="6761439" y="4191975"/>
            <a:ext cx="193121" cy="193121"/>
          </a:xfrm>
          <a:prstGeom prst="rect">
            <a:avLst/>
          </a:prstGeom>
        </p:spPr>
      </p:pic>
      <p:sp>
        <p:nvSpPr>
          <p:cNvPr id="31" name="Text 26"/>
          <p:cNvSpPr/>
          <p:nvPr/>
        </p:nvSpPr>
        <p:spPr>
          <a:xfrm>
            <a:off x="7223760" y="4032504"/>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Relaunch Environment</a:t>
            </a:r>
            <a:endParaRPr lang="en-US" sz="1250" dirty="0"/>
          </a:p>
        </p:txBody>
      </p:sp>
      <p:sp>
        <p:nvSpPr>
          <p:cNvPr id="32" name="Text 27"/>
          <p:cNvSpPr/>
          <p:nvPr/>
        </p:nvSpPr>
        <p:spPr>
          <a:xfrm>
            <a:off x="7223760" y="4270248"/>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Rebuilds from scratch. Anything you changed inside is lost.</a:t>
            </a:r>
            <a:endParaRPr lang="en-US" sz="1100" dirty="0"/>
          </a:p>
        </p:txBody>
      </p:sp>
      <p:sp>
        <p:nvSpPr>
          <p:cNvPr id="33" name="Shape 28"/>
          <p:cNvSpPr/>
          <p:nvPr/>
        </p:nvSpPr>
        <p:spPr>
          <a:xfrm>
            <a:off x="6656832" y="4709160"/>
            <a:ext cx="402336" cy="402336"/>
          </a:xfrm>
          <a:prstGeom prst="ellipse">
            <a:avLst/>
          </a:prstGeom>
          <a:solidFill>
            <a:srgbClr val="E0A340"/>
          </a:solidFill>
          <a:ln/>
        </p:spPr>
      </p:sp>
      <p:pic>
        <p:nvPicPr>
          <p:cNvPr id="34" name="Image 3" descr="preencoded.png">    </p:cNvPr>
          <p:cNvPicPr>
            <a:picLocks noChangeAspect="1"/>
          </p:cNvPicPr>
          <p:nvPr/>
        </p:nvPicPr>
        <p:blipFill>
          <a:blip r:embed="rId4"/>
          <a:stretch>
            <a:fillRect/>
          </a:stretch>
        </p:blipFill>
        <p:spPr>
          <a:xfrm>
            <a:off x="6761439" y="4813767"/>
            <a:ext cx="193121" cy="193121"/>
          </a:xfrm>
          <a:prstGeom prst="rect">
            <a:avLst/>
          </a:prstGeom>
        </p:spPr>
      </p:pic>
      <p:sp>
        <p:nvSpPr>
          <p:cNvPr id="35" name="Text 29"/>
          <p:cNvSpPr/>
          <p:nvPr/>
        </p:nvSpPr>
        <p:spPr>
          <a:xfrm>
            <a:off x="7223760" y="4654296"/>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+5 more minutes</a:t>
            </a:r>
            <a:endParaRPr lang="en-US" sz="1250" dirty="0"/>
          </a:p>
        </p:txBody>
      </p:sp>
      <p:sp>
        <p:nvSpPr>
          <p:cNvPr id="36" name="Text 30"/>
          <p:cNvSpPr/>
          <p:nvPr/>
        </p:nvSpPr>
        <p:spPr>
          <a:xfrm>
            <a:off x="7223760" y="4892040"/>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Appears only once the track is solved and a shutdown has started.</a:t>
            </a:r>
            <a:endParaRPr lang="en-US" sz="1100" dirty="0"/>
          </a:p>
        </p:txBody>
      </p:sp>
      <p:sp>
        <p:nvSpPr>
          <p:cNvPr id="37" name="Text 31"/>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Never used SSH before? Bandit's Start Here challenge walks you through it, one step at a time.</a:t>
            </a:r>
            <a:endParaRPr lang="en-US" sz="1250" dirty="0"/>
          </a:p>
        </p:txBody>
      </p:sp>
      <p:sp>
        <p:nvSpPr>
          <p:cNvPr id="38" name="Text 32"/>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39" name="Text 3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med"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E0A340"/>
                </a:solidFill>
                <a:latin typeface="Calibri" pitchFamily="34" charset="0"/>
                <a:ea typeface="Calibri" pitchFamily="34" charset="-122"/>
                <a:cs typeface="Calibri" pitchFamily="34" charset="-120"/>
              </a:rPr>
              <a:t>YOUR FIRST FLAG</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Start Here, step by step</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Ten points, five minutes, and it proves your whole toolchain works before any real level counts against your clock.</a:t>
            </a:r>
            <a:endParaRPr lang="en-US" sz="1300" dirty="0"/>
          </a:p>
        </p:txBody>
      </p:sp>
      <p:sp>
        <p:nvSpPr>
          <p:cNvPr id="5" name="Shape 3"/>
          <p:cNvSpPr/>
          <p:nvPr/>
        </p:nvSpPr>
        <p:spPr>
          <a:xfrm>
            <a:off x="548640" y="2194560"/>
            <a:ext cx="2430704" cy="2788920"/>
          </a:xfrm>
          <a:prstGeom prst="roundRect">
            <a:avLst>
              <a:gd name="adj" fmla="val 3386"/>
            </a:avLst>
          </a:prstGeom>
          <a:solidFill>
            <a:srgbClr val="141F30"/>
          </a:solidFill>
          <a:ln/>
        </p:spPr>
      </p:sp>
      <p:sp>
        <p:nvSpPr>
          <p:cNvPr id="6" name="Text 4"/>
          <p:cNvSpPr/>
          <p:nvPr/>
        </p:nvSpPr>
        <p:spPr>
          <a:xfrm>
            <a:off x="841248" y="2432304"/>
            <a:ext cx="548640" cy="457200"/>
          </a:xfrm>
          <a:prstGeom prst="rect">
            <a:avLst/>
          </a:prstGeom>
          <a:noFill/>
          <a:ln/>
        </p:spPr>
        <p:txBody>
          <a:bodyPr wrap="square" lIns="0" tIns="0" rIns="0" bIns="0" rtlCol="0" anchor="ctr"/>
          <a:lstStyle/>
          <a:p>
            <a:pPr indent="0" marL="0">
              <a:buNone/>
            </a:pPr>
            <a:r>
              <a:rPr lang="en-US" sz="2600" b="1" dirty="0">
                <a:solidFill>
                  <a:srgbClr val="E0A340"/>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841248"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Click Launch</a:t>
            </a:r>
            <a:endParaRPr lang="en-US" sz="1500" dirty="0"/>
          </a:p>
        </p:txBody>
      </p:sp>
      <p:sp>
        <p:nvSpPr>
          <p:cNvPr id="8" name="Text 6"/>
          <p:cNvSpPr/>
          <p:nvPr/>
        </p:nvSpPr>
        <p:spPr>
          <a:xfrm>
            <a:off x="841248"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On the "Bandit: Start Here" challenge in CTFd.</a:t>
            </a:r>
            <a:endParaRPr lang="en-US" sz="1200" dirty="0"/>
          </a:p>
        </p:txBody>
      </p:sp>
      <p:sp>
        <p:nvSpPr>
          <p:cNvPr id="9" name="Text 7"/>
          <p:cNvSpPr/>
          <p:nvPr/>
        </p:nvSpPr>
        <p:spPr>
          <a:xfrm>
            <a:off x="2979344"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436544" y="2194560"/>
            <a:ext cx="2430704" cy="2788920"/>
          </a:xfrm>
          <a:prstGeom prst="roundRect">
            <a:avLst>
              <a:gd name="adj" fmla="val 3386"/>
            </a:avLst>
          </a:prstGeom>
          <a:solidFill>
            <a:srgbClr val="141F30"/>
          </a:solidFill>
          <a:ln/>
        </p:spPr>
      </p:sp>
      <p:sp>
        <p:nvSpPr>
          <p:cNvPr id="11" name="Text 9"/>
          <p:cNvSpPr/>
          <p:nvPr/>
        </p:nvSpPr>
        <p:spPr>
          <a:xfrm>
            <a:off x="3729152" y="2432304"/>
            <a:ext cx="548640" cy="457200"/>
          </a:xfrm>
          <a:prstGeom prst="rect">
            <a:avLst/>
          </a:prstGeom>
          <a:noFill/>
          <a:ln/>
        </p:spPr>
        <p:txBody>
          <a:bodyPr wrap="square" lIns="0" tIns="0" rIns="0" bIns="0" rtlCol="0" anchor="ctr"/>
          <a:lstStyle/>
          <a:p>
            <a:pPr indent="0" marL="0">
              <a:buNone/>
            </a:pPr>
            <a:r>
              <a:rPr lang="en-US" sz="2600" b="1" dirty="0">
                <a:solidFill>
                  <a:srgbClr val="E0A340"/>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3729152"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Log in</a:t>
            </a:r>
            <a:endParaRPr lang="en-US" sz="1500" dirty="0"/>
          </a:p>
        </p:txBody>
      </p:sp>
      <p:sp>
        <p:nvSpPr>
          <p:cNvPr id="13" name="Text 11"/>
          <p:cNvSpPr/>
          <p:nvPr/>
        </p:nvSpPr>
        <p:spPr>
          <a:xfrm>
            <a:off x="3729152"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Connect as bandit0 with password bandit0 — the fixed, publicly known entry account.</a:t>
            </a:r>
            <a:endParaRPr lang="en-US" sz="1200" dirty="0"/>
          </a:p>
        </p:txBody>
      </p:sp>
      <p:sp>
        <p:nvSpPr>
          <p:cNvPr id="14" name="Text 12"/>
          <p:cNvSpPr/>
          <p:nvPr/>
        </p:nvSpPr>
        <p:spPr>
          <a:xfrm>
            <a:off x="5867248"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324448" y="2194560"/>
            <a:ext cx="2430704" cy="2788920"/>
          </a:xfrm>
          <a:prstGeom prst="roundRect">
            <a:avLst>
              <a:gd name="adj" fmla="val 3386"/>
            </a:avLst>
          </a:prstGeom>
          <a:solidFill>
            <a:srgbClr val="141F30"/>
          </a:solidFill>
          <a:ln/>
        </p:spPr>
      </p:sp>
      <p:sp>
        <p:nvSpPr>
          <p:cNvPr id="16" name="Text 14"/>
          <p:cNvSpPr/>
          <p:nvPr/>
        </p:nvSpPr>
        <p:spPr>
          <a:xfrm>
            <a:off x="6617056" y="2432304"/>
            <a:ext cx="548640" cy="457200"/>
          </a:xfrm>
          <a:prstGeom prst="rect">
            <a:avLst/>
          </a:prstGeom>
          <a:noFill/>
          <a:ln/>
        </p:spPr>
        <p:txBody>
          <a:bodyPr wrap="square" lIns="0" tIns="0" rIns="0" bIns="0" rtlCol="0" anchor="ctr"/>
          <a:lstStyle/>
          <a:p>
            <a:pPr indent="0" marL="0">
              <a:buNone/>
            </a:pPr>
            <a:r>
              <a:rPr lang="en-US" sz="2600" b="1" dirty="0">
                <a:solidFill>
                  <a:srgbClr val="E0A340"/>
                </a:solidFill>
                <a:latin typeface="Cambria" pitchFamily="34" charset="0"/>
                <a:ea typeface="Cambria" pitchFamily="34" charset="-122"/>
                <a:cs typeface="Cambria" pitchFamily="34" charset="-120"/>
              </a:rPr>
              <a:t>3</a:t>
            </a:r>
            <a:endParaRPr lang="en-US" sz="2600" dirty="0"/>
          </a:p>
        </p:txBody>
      </p:sp>
      <p:sp>
        <p:nvSpPr>
          <p:cNvPr id="17" name="Text 15"/>
          <p:cNvSpPr/>
          <p:nvPr/>
        </p:nvSpPr>
        <p:spPr>
          <a:xfrm>
            <a:off x="6617056"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Read welcome.txt</a:t>
            </a:r>
            <a:endParaRPr lang="en-US" sz="1500" dirty="0"/>
          </a:p>
        </p:txBody>
      </p:sp>
      <p:sp>
        <p:nvSpPr>
          <p:cNvPr id="18" name="Text 16"/>
          <p:cNvSpPr/>
          <p:nvPr/>
        </p:nvSpPr>
        <p:spPr>
          <a:xfrm>
            <a:off x="6617056"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In the home directory. Not readme — that one is level 0's real puzzle.</a:t>
            </a:r>
            <a:endParaRPr lang="en-US" sz="1200" dirty="0"/>
          </a:p>
        </p:txBody>
      </p:sp>
      <p:sp>
        <p:nvSpPr>
          <p:cNvPr id="19" name="Text 17"/>
          <p:cNvSpPr/>
          <p:nvPr/>
        </p:nvSpPr>
        <p:spPr>
          <a:xfrm>
            <a:off x="8755151"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212351" y="2194560"/>
            <a:ext cx="2430704" cy="2788920"/>
          </a:xfrm>
          <a:prstGeom prst="roundRect">
            <a:avLst>
              <a:gd name="adj" fmla="val 3386"/>
            </a:avLst>
          </a:prstGeom>
          <a:solidFill>
            <a:srgbClr val="141F30"/>
          </a:solidFill>
          <a:ln/>
        </p:spPr>
      </p:sp>
      <p:sp>
        <p:nvSpPr>
          <p:cNvPr id="21" name="Text 19"/>
          <p:cNvSpPr/>
          <p:nvPr/>
        </p:nvSpPr>
        <p:spPr>
          <a:xfrm>
            <a:off x="9504959" y="2432304"/>
            <a:ext cx="548640" cy="457200"/>
          </a:xfrm>
          <a:prstGeom prst="rect">
            <a:avLst/>
          </a:prstGeom>
          <a:noFill/>
          <a:ln/>
        </p:spPr>
        <p:txBody>
          <a:bodyPr wrap="square" lIns="0" tIns="0" rIns="0" bIns="0" rtlCol="0" anchor="ctr"/>
          <a:lstStyle/>
          <a:p>
            <a:pPr indent="0" marL="0">
              <a:buNone/>
            </a:pPr>
            <a:r>
              <a:rPr lang="en-US" sz="2600" b="1" dirty="0">
                <a:solidFill>
                  <a:srgbClr val="E0A340"/>
                </a:solidFill>
                <a:latin typeface="Cambria" pitchFamily="34" charset="0"/>
                <a:ea typeface="Cambria" pitchFamily="34" charset="-122"/>
                <a:cs typeface="Cambria" pitchFamily="34" charset="-120"/>
              </a:rPr>
              <a:t>4</a:t>
            </a:r>
            <a:endParaRPr lang="en-US" sz="2600" dirty="0"/>
          </a:p>
        </p:txBody>
      </p:sp>
      <p:sp>
        <p:nvSpPr>
          <p:cNvPr id="22" name="Text 20"/>
          <p:cNvSpPr/>
          <p:nvPr/>
        </p:nvSpPr>
        <p:spPr>
          <a:xfrm>
            <a:off x="9504959"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Submit it</a:t>
            </a:r>
            <a:endParaRPr lang="en-US" sz="1500" dirty="0"/>
          </a:p>
        </p:txBody>
      </p:sp>
      <p:sp>
        <p:nvSpPr>
          <p:cNvPr id="23" name="Text 21"/>
          <p:cNvSpPr/>
          <p:nvPr/>
        </p:nvSpPr>
        <p:spPr>
          <a:xfrm>
            <a:off x="9504959"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Its contents are your flag. Then begin Bandit 0 → 1.</a:t>
            </a:r>
            <a:endParaRPr lang="en-US" sz="1200" dirty="0"/>
          </a:p>
        </p:txBody>
      </p:sp>
      <p:sp>
        <p:nvSpPr>
          <p:cNvPr id="24" name="Text 22"/>
          <p:cNvSpPr/>
          <p:nvPr/>
        </p:nvSpPr>
        <p:spPr>
          <a:xfrm>
            <a:off x="548640" y="5349240"/>
            <a:ext cx="11094415" cy="274320"/>
          </a:xfrm>
          <a:prstGeom prst="rect">
            <a:avLst/>
          </a:prstGeom>
          <a:noFill/>
          <a:ln/>
        </p:spPr>
        <p:txBody>
          <a:bodyPr wrap="square" lIns="0" tIns="0" rIns="0" bIns="0" rtlCol="0" anchor="ctr"/>
          <a:lstStyle/>
          <a:p>
            <a:pPr indent="0" marL="0">
              <a:buNone/>
            </a:pPr>
            <a:r>
              <a:rPr lang="en-US" sz="1250" i="1" dirty="0">
                <a:solidFill>
                  <a:srgbClr val="E0A340"/>
                </a:solidFill>
                <a:latin typeface="Calibri" pitchFamily="34" charset="0"/>
                <a:ea typeface="Calibri" pitchFamily="34" charset="-122"/>
                <a:cs typeface="Calibri" pitchFamily="34" charset="-120"/>
              </a:rPr>
              <a:t>Every track has a Start Here. Always do it first.</a:t>
            </a:r>
            <a:endParaRPr lang="en-US" sz="1250" dirty="0"/>
          </a:p>
        </p:txBody>
      </p:sp>
      <p:sp>
        <p:nvSpPr>
          <p:cNvPr id="25" name="Text 23"/>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26" name="Text 24"/>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med" advClick="1">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778240" y="-2011680"/>
            <a:ext cx="5669280" cy="5669280"/>
          </a:xfrm>
          <a:prstGeom prst="ellipse">
            <a:avLst/>
          </a:prstGeom>
          <a:solidFill>
            <a:srgbClr val="141F30"/>
          </a:solidFill>
          <a:ln/>
        </p:spPr>
      </p:sp>
      <p:sp>
        <p:nvSpPr>
          <p:cNvPr id="3" name="Text 1"/>
          <p:cNvSpPr/>
          <p:nvPr/>
        </p:nvSpPr>
        <p:spPr>
          <a:xfrm>
            <a:off x="548640" y="1143000"/>
            <a:ext cx="7315200" cy="731520"/>
          </a:xfrm>
          <a:prstGeom prst="rect">
            <a:avLst/>
          </a:prstGeom>
          <a:noFill/>
          <a:ln/>
        </p:spPr>
        <p:txBody>
          <a:bodyPr wrap="square" lIns="0" tIns="0" rIns="0" bIns="0" rtlCol="0" anchor="ctr"/>
          <a:lstStyle/>
          <a:p>
            <a:pPr indent="0" marL="0">
              <a:buNone/>
            </a:pPr>
            <a:r>
              <a:rPr lang="en-US" sz="4000" b="1" dirty="0">
                <a:solidFill>
                  <a:srgbClr val="F4F6FB"/>
                </a:solidFill>
                <a:latin typeface="Cambria" pitchFamily="34" charset="0"/>
                <a:ea typeface="Cambria" pitchFamily="34" charset="-122"/>
                <a:cs typeface="Cambria" pitchFamily="34" charset="-120"/>
              </a:rPr>
              <a:t>Ready to play.</a:t>
            </a:r>
            <a:endParaRPr lang="en-US" sz="4000" dirty="0"/>
          </a:p>
        </p:txBody>
      </p:sp>
      <p:sp>
        <p:nvSpPr>
          <p:cNvPr id="4" name="Text 2"/>
          <p:cNvSpPr/>
          <p:nvPr/>
        </p:nvSpPr>
        <p:spPr>
          <a:xfrm>
            <a:off x="548640" y="1920240"/>
            <a:ext cx="7680960" cy="365760"/>
          </a:xfrm>
          <a:prstGeom prst="rect">
            <a:avLst/>
          </a:prstGeom>
          <a:noFill/>
          <a:ln/>
        </p:spPr>
        <p:txBody>
          <a:bodyPr wrap="square" lIns="0" tIns="0" rIns="0" bIns="0" rtlCol="0" anchor="ctr"/>
          <a:lstStyle/>
          <a:p>
            <a:pPr indent="0" marL="0">
              <a:buNone/>
            </a:pPr>
            <a:r>
              <a:rPr lang="en-US" sz="1350" dirty="0">
                <a:solidFill>
                  <a:srgbClr val="93A5C7"/>
                </a:solidFill>
                <a:latin typeface="Calibri" pitchFamily="34" charset="0"/>
                <a:ea typeface="Calibri" pitchFamily="34" charset="-122"/>
                <a:cs typeface="Calibri" pitchFamily="34" charset="-120"/>
              </a:rPr>
              <a:t>Bandit is the longest track and the one everything else builds on.</a:t>
            </a:r>
            <a:endParaRPr lang="en-US" sz="1350" dirty="0"/>
          </a:p>
        </p:txBody>
      </p:sp>
      <p:sp>
        <p:nvSpPr>
          <p:cNvPr id="5" name="Shape 3"/>
          <p:cNvSpPr/>
          <p:nvPr/>
        </p:nvSpPr>
        <p:spPr>
          <a:xfrm>
            <a:off x="548640" y="2606040"/>
            <a:ext cx="9082735" cy="694944"/>
          </a:xfrm>
          <a:prstGeom prst="roundRect">
            <a:avLst>
              <a:gd name="adj" fmla="val 11842"/>
            </a:avLst>
          </a:prstGeom>
          <a:solidFill>
            <a:srgbClr val="141F30"/>
          </a:solidFill>
          <a:ln/>
        </p:spPr>
      </p:sp>
      <p:sp>
        <p:nvSpPr>
          <p:cNvPr id="6" name="Text 4"/>
          <p:cNvSpPr/>
          <p:nvPr/>
        </p:nvSpPr>
        <p:spPr>
          <a:xfrm>
            <a:off x="932688" y="2606040"/>
            <a:ext cx="457200" cy="694944"/>
          </a:xfrm>
          <a:prstGeom prst="rect">
            <a:avLst/>
          </a:prstGeom>
          <a:noFill/>
          <a:ln/>
        </p:spPr>
        <p:txBody>
          <a:bodyPr wrap="square" lIns="0" tIns="0" rIns="0" bIns="0" rtlCol="0" anchor="ctr"/>
          <a:lstStyle/>
          <a:p>
            <a:pPr indent="0" marL="0">
              <a:buNone/>
            </a:pPr>
            <a:r>
              <a:rPr lang="en-US" sz="1900" b="1" dirty="0">
                <a:solidFill>
                  <a:srgbClr val="E0A340"/>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554480" y="2606040"/>
            <a:ext cx="780257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Log in to CTFd and open the Bandit category</a:t>
            </a:r>
            <a:endParaRPr lang="en-US" sz="1400" dirty="0"/>
          </a:p>
        </p:txBody>
      </p:sp>
      <p:sp>
        <p:nvSpPr>
          <p:cNvPr id="8" name="Shape 6"/>
          <p:cNvSpPr/>
          <p:nvPr/>
        </p:nvSpPr>
        <p:spPr>
          <a:xfrm>
            <a:off x="548640" y="3438144"/>
            <a:ext cx="9082735" cy="694944"/>
          </a:xfrm>
          <a:prstGeom prst="roundRect">
            <a:avLst>
              <a:gd name="adj" fmla="val 11842"/>
            </a:avLst>
          </a:prstGeom>
          <a:solidFill>
            <a:srgbClr val="1B2740"/>
          </a:solidFill>
          <a:ln/>
        </p:spPr>
      </p:sp>
      <p:sp>
        <p:nvSpPr>
          <p:cNvPr id="9" name="Text 7"/>
          <p:cNvSpPr/>
          <p:nvPr/>
        </p:nvSpPr>
        <p:spPr>
          <a:xfrm>
            <a:off x="932688" y="3438144"/>
            <a:ext cx="457200" cy="694944"/>
          </a:xfrm>
          <a:prstGeom prst="rect">
            <a:avLst/>
          </a:prstGeom>
          <a:noFill/>
          <a:ln/>
        </p:spPr>
        <p:txBody>
          <a:bodyPr wrap="square" lIns="0" tIns="0" rIns="0" bIns="0" rtlCol="0" anchor="ctr"/>
          <a:lstStyle/>
          <a:p>
            <a:pPr indent="0" marL="0">
              <a:buNone/>
            </a:pPr>
            <a:r>
              <a:rPr lang="en-US" sz="1900" b="1" dirty="0">
                <a:solidFill>
                  <a:srgbClr val="E0A340"/>
                </a:solidFill>
                <a:latin typeface="Cambria" pitchFamily="34" charset="0"/>
                <a:ea typeface="Cambria" pitchFamily="34" charset="-122"/>
                <a:cs typeface="Cambria" pitchFamily="34" charset="-120"/>
              </a:rPr>
              <a:t>2</a:t>
            </a:r>
            <a:endParaRPr lang="en-US" sz="1900" dirty="0"/>
          </a:p>
        </p:txBody>
      </p:sp>
      <p:sp>
        <p:nvSpPr>
          <p:cNvPr id="10" name="Text 8"/>
          <p:cNvSpPr/>
          <p:nvPr/>
        </p:nvSpPr>
        <p:spPr>
          <a:xfrm>
            <a:off x="1554480" y="3438144"/>
            <a:ext cx="780257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Solve "Bandit: Start Here" to check your connection</a:t>
            </a:r>
            <a:endParaRPr lang="en-US" sz="1400" dirty="0"/>
          </a:p>
        </p:txBody>
      </p:sp>
      <p:sp>
        <p:nvSpPr>
          <p:cNvPr id="11" name="Shape 9"/>
          <p:cNvSpPr/>
          <p:nvPr/>
        </p:nvSpPr>
        <p:spPr>
          <a:xfrm>
            <a:off x="548640" y="4270248"/>
            <a:ext cx="9082735" cy="694944"/>
          </a:xfrm>
          <a:prstGeom prst="roundRect">
            <a:avLst>
              <a:gd name="adj" fmla="val 11842"/>
            </a:avLst>
          </a:prstGeom>
          <a:solidFill>
            <a:srgbClr val="141F30"/>
          </a:solidFill>
          <a:ln/>
        </p:spPr>
      </p:sp>
      <p:sp>
        <p:nvSpPr>
          <p:cNvPr id="12" name="Text 10"/>
          <p:cNvSpPr/>
          <p:nvPr/>
        </p:nvSpPr>
        <p:spPr>
          <a:xfrm>
            <a:off x="932688" y="4270248"/>
            <a:ext cx="457200" cy="694944"/>
          </a:xfrm>
          <a:prstGeom prst="rect">
            <a:avLst/>
          </a:prstGeom>
          <a:noFill/>
          <a:ln/>
        </p:spPr>
        <p:txBody>
          <a:bodyPr wrap="square" lIns="0" tIns="0" rIns="0" bIns="0" rtlCol="0" anchor="ctr"/>
          <a:lstStyle/>
          <a:p>
            <a:pPr indent="0" marL="0">
              <a:buNone/>
            </a:pPr>
            <a:r>
              <a:rPr lang="en-US" sz="1900" b="1" dirty="0">
                <a:solidFill>
                  <a:srgbClr val="E0A340"/>
                </a:solidFill>
                <a:latin typeface="Cambria" pitchFamily="34" charset="0"/>
                <a:ea typeface="Cambria" pitchFamily="34" charset="-122"/>
                <a:cs typeface="Cambria" pitchFamily="34" charset="-120"/>
              </a:rPr>
              <a:t>3</a:t>
            </a:r>
            <a:endParaRPr lang="en-US" sz="1900" dirty="0"/>
          </a:p>
        </p:txBody>
      </p:sp>
      <p:sp>
        <p:nvSpPr>
          <p:cNvPr id="13" name="Text 11"/>
          <p:cNvSpPr/>
          <p:nvPr/>
        </p:nvSpPr>
        <p:spPr>
          <a:xfrm>
            <a:off x="1554480" y="4270248"/>
            <a:ext cx="780257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Launch the environment — all 34 levels share it</a:t>
            </a:r>
            <a:endParaRPr lang="en-US" sz="1400" dirty="0"/>
          </a:p>
        </p:txBody>
      </p:sp>
      <p:sp>
        <p:nvSpPr>
          <p:cNvPr id="14" name="Shape 12"/>
          <p:cNvSpPr/>
          <p:nvPr/>
        </p:nvSpPr>
        <p:spPr>
          <a:xfrm>
            <a:off x="548640" y="5102352"/>
            <a:ext cx="9082735" cy="694944"/>
          </a:xfrm>
          <a:prstGeom prst="roundRect">
            <a:avLst>
              <a:gd name="adj" fmla="val 11842"/>
            </a:avLst>
          </a:prstGeom>
          <a:solidFill>
            <a:srgbClr val="1B2740"/>
          </a:solidFill>
          <a:ln/>
        </p:spPr>
      </p:sp>
      <p:sp>
        <p:nvSpPr>
          <p:cNvPr id="15" name="Text 13"/>
          <p:cNvSpPr/>
          <p:nvPr/>
        </p:nvSpPr>
        <p:spPr>
          <a:xfrm>
            <a:off x="932688" y="5102352"/>
            <a:ext cx="457200" cy="694944"/>
          </a:xfrm>
          <a:prstGeom prst="rect">
            <a:avLst/>
          </a:prstGeom>
          <a:noFill/>
          <a:ln/>
        </p:spPr>
        <p:txBody>
          <a:bodyPr wrap="square" lIns="0" tIns="0" rIns="0" bIns="0" rtlCol="0" anchor="ctr"/>
          <a:lstStyle/>
          <a:p>
            <a:pPr indent="0" marL="0">
              <a:buNone/>
            </a:pPr>
            <a:r>
              <a:rPr lang="en-US" sz="1900" b="1" dirty="0">
                <a:solidFill>
                  <a:srgbClr val="E0A340"/>
                </a:solidFill>
                <a:latin typeface="Cambria" pitchFamily="34" charset="0"/>
                <a:ea typeface="Cambria" pitchFamily="34" charset="-122"/>
                <a:cs typeface="Cambria" pitchFamily="34" charset="-120"/>
              </a:rPr>
              <a:t>4</a:t>
            </a:r>
            <a:endParaRPr lang="en-US" sz="1900" dirty="0"/>
          </a:p>
        </p:txBody>
      </p:sp>
      <p:sp>
        <p:nvSpPr>
          <p:cNvPr id="16" name="Text 14"/>
          <p:cNvSpPr/>
          <p:nvPr/>
        </p:nvSpPr>
        <p:spPr>
          <a:xfrm>
            <a:off x="1554480" y="5102352"/>
            <a:ext cx="780257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Work level 0 upward; each password opens the next</a:t>
            </a:r>
            <a:endParaRPr lang="en-US" sz="1400" dirty="0"/>
          </a:p>
        </p:txBody>
      </p:sp>
      <p:sp>
        <p:nvSpPr>
          <p:cNvPr id="17" name="Text 15"/>
          <p:cNvSpPr/>
          <p:nvPr/>
        </p:nvSpPr>
        <p:spPr>
          <a:xfrm>
            <a:off x="548640" y="5989320"/>
            <a:ext cx="5486400" cy="320040"/>
          </a:xfrm>
          <a:prstGeom prst="rect">
            <a:avLst/>
          </a:prstGeom>
          <a:noFill/>
          <a:ln/>
        </p:spPr>
        <p:txBody>
          <a:bodyPr wrap="square" lIns="0" tIns="0" rIns="0" bIns="0" rtlCol="0" anchor="ctr"/>
          <a:lstStyle/>
          <a:p>
            <a:pPr indent="0" marL="0">
              <a:buNone/>
            </a:pPr>
            <a:r>
              <a:rPr lang="en-US" sz="1400" i="1" dirty="0">
                <a:solidFill>
                  <a:srgbClr val="E0A340"/>
                </a:solidFill>
                <a:latin typeface="Calibri" pitchFamily="34" charset="0"/>
                <a:ea typeface="Calibri" pitchFamily="34" charset="-122"/>
                <a:cs typeface="Calibri" pitchFamily="34" charset="-120"/>
              </a:rPr>
              <a:t>Good luck.</a:t>
            </a:r>
            <a:endParaRPr lang="en-US" sz="1400" dirty="0"/>
          </a:p>
        </p:txBody>
      </p:sp>
      <p:sp>
        <p:nvSpPr>
          <p:cNvPr id="18" name="Text 16"/>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9" name="Text 17"/>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13</a:t>
            </a:r>
            <a:endParaRPr lang="en-US" sz="900" dirty="0"/>
          </a:p>
        </p:txBody>
      </p:sp>
    </p:spTree>
  </p:cSld>
  <p:clrMapOvr>
    <a:masterClrMapping/>
  </p:clrMapOvr>
  <p:transition spd="med" advClick="1">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CEI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CEI Labs</dc:creator>
  <cp:lastModifiedBy>CEI Labs</cp:lastModifiedBy>
  <cp:revision>1</cp:revision>
  <dcterms:created xsi:type="dcterms:W3CDTF">2026-08-04T12:08:52Z</dcterms:created>
  <dcterms:modified xsi:type="dcterms:W3CDTF">2026-08-04T12:08:52Z</dcterms:modified>
</cp:coreProperties>
</file>