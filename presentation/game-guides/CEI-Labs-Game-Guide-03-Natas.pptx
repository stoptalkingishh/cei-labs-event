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g" ContentType="image/jpeg"/>
  <Default Extension="jpeg" ContentType="image/jpeg"/>
  <Default Extension="gif" ContentType="image/gif"/>
  <Default Extension="svg" ContentType="image/svg+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p="http://schemas.openxmlformats.org/presentationml/2006/main" xmlns:a="http://schemas.openxmlformats.org/drawingml/2006/main" xmlns:r="http://schemas.openxmlformats.org/officeDocument/2006/relationships"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notesMasterIdLst>
    <p:notesMasterId r:id="rId16"/>
  </p:notesMasterIdLst>
  <p:sldSz cx="12192000" cy="6858000" type="custom"/>
  <p:notesSz cx="12192000" cy="6858000"/>
</p:presentation>
</file>

<file path=ppt/presProps.xml><?xml version="1.0" encoding="utf-8"?>
<p:presentationPr xmlns:p="http://schemas.openxmlformats.org/presentationml/2006/main" xmlns:a="http://schemas.openxmlformats.org/drawingml/2006/main" xmlns:r="http://schemas.openxmlformats.org/officeDocument/2006/relationships"/>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a="http://schemas.openxmlformats.org/drawingml/2006/main" xmlns:r="http://schemas.openxmlformats.org/officeDocument/2006/relationships">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ableStyles" Target="tableStyles.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p:nvPr>
            <p:ph type="body" idx="1"/>
          </p:nvPr>
        </p:nvSpPr>
        <p:spPr/>
        <p:txBody>
          <a:bodyPr/>
          <a:lstStyle/>
          <a:p/>
        </p:txBody>
      </p:sp>
    </p:spTree>
  </p:cSld>
  <p:clrMap bg1="lt1" tx1="dk1" bg2="lt2" tx2="dk2" accent1="accent1" accent2="accent2" accent3="accent3" accent4="accent4" accent5="accent5" accent6="accent6" hlink="hlink" folHlink="folHlink"/>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Natas is the web track and the one that works differently from the other two: launching gives you an attacker workstation, not a direct line to the target. Every target is reachable only from inside that workstation. There is no SSH requirement — one click gives a full Kali desktop in the browser over noVNC. 'Natas' is 'Satan' spelled backwards, which is where the mirrored-underworld theme comes from.</a:t>
            </a:r>
          </a:p>
          <a:p>
            <a:r>
              <a:rPr lang="en-US" sz="1200" noProof="1"/>
              <a:t>1</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The first few are things you can do with nothing but a browser. The last few reach the server itself.</a:t>
            </a:r>
          </a:p>
          <a:p>
            <a:r>
              <a:rPr lang="en-US" sz="1200" noProof="1"/>
              <a:t>2</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A deliberate pause. Say what is coming and roughly how long it will take, then work through the topics. None of them is a level and none is a method — it is the shared vocabulary the track assumes. If you are running short, this list is also the menu: cut topics from it rather than rushing all of them.</a:t>
            </a:r>
          </a:p>
          <a:p>
            <a:r>
              <a:rPr lang="en-US" sz="1200" noProof="1"/>
              <a:t>3</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Request and response. HTTP is one request, one reply, and no memory of either afterwards.</a:t>
            </a:r>
          </a:p>
          <a:p>
            <a:r>
              <a:rPr lang="en-US" sz="1200" noProof="1"/>
              <a:t/>
            </a:r>
          </a:p>
          <a:p>
            <a:r>
              <a:rPr lang="en-US" sz="1200" noProof="1"/>
              <a:t>The left column is the explanation; the right is a worked example you can talk through line by line. The example is a generic illustration of the concept — it is not a payload, path or command for any actual level, so it can be shown in full without spoiling anything.</a:t>
            </a:r>
          </a:p>
          <a:p>
            <a:r>
              <a:rPr lang="en-US" sz="1200" noProof="1"/>
              <a:t/>
            </a:r>
          </a:p>
          <a:p>
            <a:r>
              <a:rPr lang="en-US" sz="1200" noProof="1"/>
              <a:t>Land this: Name the part a value lives in, and you have named where to change it.</a:t>
            </a:r>
          </a:p>
          <a:p>
            <a:r>
              <a:rPr lang="en-US" sz="1200" noProof="1"/>
              <a:t>4</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The client is not a boundary. Everything the browser does happens on your machine, under your control.</a:t>
            </a:r>
          </a:p>
          <a:p>
            <a:r>
              <a:rPr lang="en-US" sz="1200" noProof="1"/>
              <a:t/>
            </a:r>
          </a:p>
          <a:p>
            <a:r>
              <a:rPr lang="en-US" sz="1200" noProof="1"/>
              <a:t>The left column is the explanation; the right is a worked example you can talk through line by line. The example is a generic illustration of the concept — it is not a payload, path or command for any actual level, so it can be shown in full without spoiling anything.</a:t>
            </a:r>
          </a:p>
          <a:p>
            <a:r>
              <a:rPr lang="en-US" sz="1200" noProof="1"/>
              <a:t/>
            </a:r>
          </a:p>
          <a:p>
            <a:r>
              <a:rPr lang="en-US" sz="1200" noProof="1"/>
              <a:t>Land this: The page is a suggestion. The request is what counts.</a:t>
            </a:r>
          </a:p>
          <a:p>
            <a:r>
              <a:rPr lang="en-US" sz="1200" noProof="1"/>
              <a:t>5</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Paths and traversal. A path is a string the server turns into a location on disk.</a:t>
            </a:r>
          </a:p>
          <a:p>
            <a:r>
              <a:rPr lang="en-US" sz="1200" noProof="1"/>
              <a:t/>
            </a:r>
          </a:p>
          <a:p>
            <a:r>
              <a:rPr lang="en-US" sz="1200" noProof="1"/>
              <a:t>The left column is the explanation; the right is a worked example you can talk through line by line. The example is a generic illustration of the concept — it is not a payload, path or command for any actual level, so it can be shown in full without spoiling anything.</a:t>
            </a:r>
          </a:p>
          <a:p>
            <a:r>
              <a:rPr lang="en-US" sz="1200" noProof="1"/>
              <a:t/>
            </a:r>
          </a:p>
          <a:p>
            <a:r>
              <a:rPr lang="en-US" sz="1200" noProof="1"/>
              <a:t>Land this: The server did nothing wrong. It did exactly what it was told.</a:t>
            </a:r>
          </a:p>
          <a:p>
            <a:r>
              <a:rPr lang="en-US" sz="1200" noProof="1"/>
              <a:t>6</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Cookies, headers and sessions. A forgetful protocol remembers you by handing you something to give back.</a:t>
            </a:r>
          </a:p>
          <a:p>
            <a:r>
              <a:rPr lang="en-US" sz="1200" noProof="1"/>
              <a:t/>
            </a:r>
          </a:p>
          <a:p>
            <a:r>
              <a:rPr lang="en-US" sz="1200" noProof="1"/>
              <a:t>The left column is the explanation; the right is a worked example you can talk through line by line. The example is a generic illustration of the concept — it is not a payload, path or command for any actual level, so it can be shown in full without spoiling anything.</a:t>
            </a:r>
          </a:p>
          <a:p>
            <a:r>
              <a:rPr lang="en-US" sz="1200" noProof="1"/>
              <a:t/>
            </a:r>
          </a:p>
          <a:p>
            <a:r>
              <a:rPr lang="en-US" sz="1200" noProof="1"/>
              <a:t>Land this: Received is not the same as verified.</a:t>
            </a:r>
          </a:p>
          <a:p>
            <a:r>
              <a:rPr lang="en-US" sz="1200" noProof="1"/>
              <a:t>7</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Input that becomes instruction. The bug appears when a value supplied as data gets executed as a command.</a:t>
            </a:r>
          </a:p>
          <a:p>
            <a:r>
              <a:rPr lang="en-US" sz="1200" noProof="1"/>
              <a:t/>
            </a:r>
          </a:p>
          <a:p>
            <a:r>
              <a:rPr lang="en-US" sz="1200" noProof="1"/>
              <a:t>The left column is the explanation; the right is a worked example you can talk through line by line. The example is a generic illustration of the concept — it is not a payload, path or command for any actual level, so it can be shown in full without spoiling anything.</a:t>
            </a:r>
          </a:p>
          <a:p>
            <a:r>
              <a:rPr lang="en-US" sz="1200" noProof="1"/>
              <a:t/>
            </a:r>
          </a:p>
          <a:p>
            <a:r>
              <a:rPr lang="en-US" sz="1200" noProof="1"/>
              <a:t>Land this: Ask on every level: where does my text stop being text?</a:t>
            </a:r>
          </a:p>
          <a:p>
            <a:r>
              <a:rPr lang="en-US" sz="1200" noProof="1"/>
              <a:t>8</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Reversible is not secret. If it can be undone with what you already hold, it protects nothing.</a:t>
            </a:r>
          </a:p>
          <a:p>
            <a:r>
              <a:rPr lang="en-US" sz="1200" noProof="1"/>
              <a:t/>
            </a:r>
          </a:p>
          <a:p>
            <a:r>
              <a:rPr lang="en-US" sz="1200" noProof="1"/>
              <a:t>The left column is the explanation; the right is a worked example you can talk through line by line. The example is a generic illustration of the concept — it is not a payload, path or command for any actual level, so it can be shown in full without spoiling anything.</a:t>
            </a:r>
          </a:p>
          <a:p>
            <a:r>
              <a:rPr lang="en-US" sz="1200" noProof="1"/>
              <a:t/>
            </a:r>
          </a:p>
          <a:p>
            <a:r>
              <a:rPr lang="en-US" sz="1200" noProof="1"/>
              <a:t>Land this: Scrambled and secret are not the same property.</a:t>
            </a:r>
          </a:p>
          <a:p>
            <a:r>
              <a:rPr lang="en-US" sz="1200" noProof="1"/>
              <a:t>9</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The data layer. Behind most of the web sits a database, answering questions written as text.</a:t>
            </a:r>
          </a:p>
          <a:p>
            <a:r>
              <a:rPr lang="en-US" sz="1200" noProof="1"/>
              <a:t/>
            </a:r>
          </a:p>
          <a:p>
            <a:r>
              <a:rPr lang="en-US" sz="1200" noProof="1"/>
              <a:t>The left column is the explanation; the right is a worked example you can talk through line by line. The example is a generic illustration of the concept — it is not a payload, path or command for any actual level, so it can be shown in full without spoiling anything.</a:t>
            </a:r>
          </a:p>
          <a:p>
            <a:r>
              <a:rPr lang="en-US" sz="1200" noProof="1"/>
              <a:t/>
            </a:r>
          </a:p>
          <a:p>
            <a:r>
              <a:rPr lang="en-US" sz="1200" noProof="1"/>
              <a:t>Land this: The database is not fooled. It was never told there was a difference.</a:t>
            </a:r>
          </a:p>
          <a:p>
            <a:r>
              <a:rPr lang="en-US" sz="1200" noProof="1"/>
              <a:t>10</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This is the slide people get wrong. The launch gives them an attacker workstation, and the targets are reachable ONLY from inside it — not from their own laptop. Say that twice. The noVNC desktop needs nothing installed, which makes this the right track for anyone on a locked-down machine.</a:t>
            </a:r>
          </a:p>
          <a:p>
            <a:r>
              <a:rPr lang="en-US" sz="1200" noProof="1"/>
              <a:t>11</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Ten points, and it proves the part people actually get stuck on: that targets live behind the workstation.</a:t>
            </a:r>
          </a:p>
          <a:p>
            <a:r>
              <a:rPr lang="en-US" sz="1200" noProof="1"/>
              <a:t>12</a:t>
            </a:r>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Closing slide — leave it up while people get started.</a:t>
            </a:r>
          </a:p>
          <a:p>
            <a:r>
              <a:rPr lang="en-US" sz="1200" noProof="1"/>
              <a:t>13</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_1.png"/><Relationship Id="rId3" Type="http://schemas.openxmlformats.org/officeDocument/2006/relationships/image" Target="../media/image1_2.png"/><Relationship Id="rId4"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_1.png"/><Relationship Id="rId3" Type="http://schemas.openxmlformats.org/officeDocument/2006/relationships/image" Target="../media/image2_2.png"/><Relationship Id="rId4" Type="http://schemas.openxmlformats.org/officeDocument/2006/relationships/image" Target="../media/image2_3.png"/><Relationship Id="rId5" Type="http://schemas.openxmlformats.org/officeDocument/2006/relationships/image" Target="../media/image2_4.png"/><Relationship Id="rId6" Type="http://schemas.openxmlformats.org/officeDocument/2006/relationships/image" Target="../media/image2_5.png"/><Relationship Id="rId7" Type="http://schemas.openxmlformats.org/officeDocument/2006/relationships/image" Target="../media/image2_6.png"/><Relationship Id="rId8" Type="http://schemas.openxmlformats.org/officeDocument/2006/relationships/image" Target="../media/image2_7.png"/><Relationship Id="rId9"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_1.png"/><Relationship Id="rId3" Type="http://schemas.openxmlformats.org/officeDocument/2006/relationships/image" Target="../media/image11_2.png"/><Relationship Id="rId4" Type="http://schemas.openxmlformats.org/officeDocument/2006/relationships/image" Target="../media/image11_3.png"/><Relationship Id="rId5" Type="http://schemas.openxmlformats.org/officeDocument/2006/relationships/image" Target="../media/image11_4.png"/><Relationship Id="rId6" Type="http://schemas.openxmlformats.org/officeDocument/2006/relationships/image" Target="../media/image11_5.png"/><Relationship Id="rId7"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_1.png"/><Relationship Id="rId3"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_1.png"/><Relationship Id="rId3" Type="http://schemas.openxmlformats.org/officeDocument/2006/relationships/notesSlide" Target="../notesSlides/notesSlide13.xml"/></Relationships>
</file>

<file path=ppt/slides/slide1.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2194560" y="4480560"/>
            <a:ext cx="4206240" cy="4206240"/>
          </a:xfrm>
          <a:prstGeom prst="ellipse">
            <a:avLst/>
          </a:prstGeom>
          <a:solidFill>
            <a:srgbClr val="141F30"/>
          </a:solidFill>
          <a:ln>
            <a:noFill/>
          </a:ln>
        </p:spPr>
      </p:sp>
      <p:pic>
        <p:nvPicPr>
          <p:cNvPr id="3" name="Image 0"/>
          <p:cNvPicPr/>
          <p:nvPr/>
        </p:nvPicPr>
        <p:blipFill>
          <a:blip r:embed="rId2"/>
          <a:stretch>
            <a:fillRect/>
          </a:stretch>
        </p:blipFill>
        <p:spPr>
          <a:xfrm>
            <a:off x="6903720" y="1051560"/>
            <a:ext cx="4800600" cy="3931920"/>
          </a:xfrm>
          <a:prstGeom prst="rect">
            <a:avLst/>
          </a:prstGeom>
          <a:ln>
            <a:noFill/>
          </a:ln>
        </p:spPr>
      </p:pic>
      <p:sp>
        <p:nvSpPr>
          <p:cNvPr id="4" name="Shape 1"/>
          <p:cNvSpPr/>
          <p:nvPr/>
        </p:nvSpPr>
        <p:spPr>
          <a:xfrm>
            <a:off x="548640" y="960120"/>
            <a:ext cx="786130" cy="786130"/>
          </a:xfrm>
          <a:prstGeom prst="ellipse">
            <a:avLst/>
          </a:prstGeom>
          <a:solidFill>
            <a:srgbClr val="E0559E"/>
          </a:solidFill>
          <a:ln>
            <a:noFill/>
          </a:ln>
        </p:spPr>
      </p:sp>
      <p:pic>
        <p:nvPicPr>
          <p:cNvPr id="5" name="Image 1"/>
          <p:cNvPicPr/>
          <p:nvPr/>
        </p:nvPicPr>
        <p:blipFill>
          <a:blip r:embed="rId3"/>
          <a:stretch>
            <a:fillRect/>
          </a:stretch>
        </p:blipFill>
        <p:spPr>
          <a:xfrm>
            <a:off x="753110" y="1164590"/>
            <a:ext cx="377190" cy="377190"/>
          </a:xfrm>
          <a:prstGeom prst="rect">
            <a:avLst/>
          </a:prstGeom>
          <a:ln>
            <a:noFill/>
          </a:ln>
        </p:spPr>
      </p:pic>
      <p:sp>
        <p:nvSpPr>
          <p:cNvPr id="6" name="Text 2"/>
          <p:cNvSpPr txBox="1"/>
          <p:nvPr/>
        </p:nvSpPr>
        <p:spPr>
          <a:xfrm>
            <a:off x="548640" y="3017520"/>
            <a:ext cx="6126480" cy="822960"/>
          </a:xfrm>
          <a:prstGeom prst="rect">
            <a:avLst/>
          </a:prstGeom>
          <a:noFill/>
          <a:ln>
            <a:noFill/>
          </a:ln>
        </p:spPr>
        <p:txBody>
          <a:bodyPr lIns="0" rIns="0" tIns="0" bIns="0" wrap="square" rtlCol="0" anchor="ctr"/>
          <a:lstStyle/>
          <a:p>
            <a:pPr algn="l" marL="0">
              <a:lnSpc>
                <a:spcPct val="120000"/>
              </a:lnSpc>
            </a:pPr>
            <a:r>
              <a:rPr lang="en-US" sz="4400" noProof="1" b="1">
                <a:solidFill>
                  <a:srgbClr val="F4F6FB"/>
                </a:solidFill>
                <a:latin typeface="Cambria"/>
                <a:ea typeface="Cambria"/>
              </a:rPr>
              <a:t>NATAS</a:t>
            </a:r>
            <a:endParaRPr lang="en-US" sz="4400" noProof="1"/>
          </a:p>
        </p:txBody>
      </p:sp>
      <p:sp>
        <p:nvSpPr>
          <p:cNvPr id="7" name="Text 3"/>
          <p:cNvSpPr txBox="1"/>
          <p:nvPr/>
        </p:nvSpPr>
        <p:spPr>
          <a:xfrm>
            <a:off x="548640" y="3886200"/>
            <a:ext cx="6126480" cy="411480"/>
          </a:xfrm>
          <a:prstGeom prst="rect">
            <a:avLst/>
          </a:prstGeom>
          <a:noFill/>
          <a:ln>
            <a:noFill/>
          </a:ln>
        </p:spPr>
        <p:txBody>
          <a:bodyPr lIns="0" rIns="0" tIns="0" bIns="0" wrap="square" rtlCol="0" anchor="ctr"/>
          <a:lstStyle/>
          <a:p>
            <a:pPr algn="l" marL="0">
              <a:lnSpc>
                <a:spcPct val="120000"/>
              </a:lnSpc>
            </a:pPr>
            <a:r>
              <a:rPr lang="en-US" sz="2200" noProof="1" b="1" i="1">
                <a:solidFill>
                  <a:srgbClr val="E0559E"/>
                </a:solidFill>
                <a:latin typeface="Cambria"/>
                <a:ea typeface="Cambria"/>
              </a:rPr>
              <a:t>Into the Mirror</a:t>
            </a:r>
            <a:endParaRPr lang="en-US" sz="2200" noProof="1"/>
          </a:p>
        </p:txBody>
      </p:sp>
      <p:sp>
        <p:nvSpPr>
          <p:cNvPr id="8" name="Text 4"/>
          <p:cNvSpPr txBox="1"/>
          <p:nvPr/>
        </p:nvSpPr>
        <p:spPr>
          <a:xfrm>
            <a:off x="548640" y="4389120"/>
            <a:ext cx="6217920" cy="566420"/>
          </a:xfrm>
          <a:prstGeom prst="rect">
            <a:avLst/>
          </a:prstGeom>
          <a:noFill/>
          <a:ln>
            <a:noFill/>
          </a:ln>
        </p:spPr>
        <p:txBody>
          <a:bodyPr lIns="0" rIns="0" tIns="0" bIns="0" wrap="square" rtlCol="0" anchor="ctr"/>
          <a:lstStyle/>
          <a:p>
            <a:pPr algn="l" marL="0">
              <a:lnSpc>
                <a:spcPct val="115000"/>
              </a:lnSpc>
            </a:pPr>
            <a:r>
              <a:rPr lang="en-US" sz="1350" noProof="1">
                <a:solidFill>
                  <a:srgbClr val="B8C7E4"/>
                </a:solidFill>
                <a:latin typeface="Calibri"/>
                <a:ea typeface="Calibri"/>
              </a:rPr>
              <a:t>15 levels of server-side web security, played as a descent through an inverted underworld.</a:t>
            </a:r>
            <a:endParaRPr lang="en-US" sz="1350" noProof="1"/>
          </a:p>
        </p:txBody>
      </p:sp>
      <p:sp>
        <p:nvSpPr>
          <p:cNvPr id="9" name="Text 5"/>
          <p:cNvSpPr txBox="1"/>
          <p:nvPr/>
        </p:nvSpPr>
        <p:spPr>
          <a:xfrm>
            <a:off x="548640" y="5029200"/>
            <a:ext cx="6217920" cy="1188720"/>
          </a:xfrm>
          <a:prstGeom prst="rect">
            <a:avLst/>
          </a:prstGeom>
          <a:noFill/>
          <a:ln>
            <a:noFill/>
          </a:ln>
        </p:spPr>
        <p:txBody>
          <a:bodyPr lIns="0" rIns="0" tIns="0" bIns="0" wrap="square" rtlCol="0" anchor="ctr"/>
          <a:lstStyle/>
          <a:p>
            <a:pPr algn="l" marL="0">
              <a:lnSpc>
                <a:spcPct val="122000"/>
              </a:lnSpc>
            </a:pPr>
            <a:r>
              <a:rPr lang="en-US" sz="1300" noProof="1" i="1">
                <a:solidFill>
                  <a:srgbClr val="B8C7E4"/>
                </a:solidFill>
                <a:latin typeface="Calibri"/>
                <a:ea typeface="Calibri"/>
              </a:rPr>
              <a:t>A researcher logs into a web application built like an inverted underworld — every layer of ordinary web logic mirrored, twisted, or hidden just beneath the surface. Each floor down leads further from what a browser is supposed to show you, toward the raw records at the bottom.</a:t>
            </a:r>
            <a:endParaRPr lang="en-US" sz="1300" noProof="1"/>
          </a:p>
        </p:txBody>
      </p:sp>
      <p:sp>
        <p:nvSpPr>
          <p:cNvPr id="10" name="Text 6"/>
          <p:cNvSpPr txBox="1"/>
          <p:nvPr/>
        </p:nvSpPr>
        <p:spPr>
          <a:xfrm>
            <a:off x="548640" y="6446520"/>
            <a:ext cx="40640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03 / 04</a:t>
            </a:r>
            <a:endParaRPr lang="en-US" sz="1000" noProof="1"/>
          </a:p>
        </p:txBody>
      </p:sp>
      <p:sp>
        <p:nvSpPr>
          <p:cNvPr id="11" name="Text 7"/>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01</a:t>
            </a:r>
            <a:endParaRPr lang="en-US" sz="1000" noProof="1"/>
          </a:p>
        </p:txBody>
      </p:sp>
    </p:spTree>
  </p:cSld>
  <p:clrMapOvr>
    <a:masterClrMapping/>
  </p:clrMapOvr>
  <p:transition spd="fast" advClick="1">
    <p:fade/>
  </p:transition>
</p:sld>
</file>

<file path=ppt/slides/slide2.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57200"/>
            <a:ext cx="11094720" cy="274320"/>
          </a:xfrm>
          <a:prstGeom prst="rect">
            <a:avLst/>
          </a:prstGeom>
          <a:noFill/>
          <a:ln>
            <a:noFill/>
          </a:ln>
        </p:spPr>
        <p:txBody>
          <a:bodyPr lIns="0" rIns="0" tIns="0" bIns="0" wrap="square" rtlCol="0" anchor="ctr"/>
          <a:lstStyle/>
          <a:p>
            <a:pPr algn="l" marL="0">
              <a:lnSpc>
                <a:spcPct val="120000"/>
              </a:lnSpc>
            </a:pPr>
            <a:r>
              <a:rPr lang="en-US" sz="1100" noProof="1" b="1" spc="120" kern="0">
                <a:solidFill>
                  <a:srgbClr val="E0559E"/>
                </a:solidFill>
                <a:latin typeface="Calibri"/>
                <a:ea typeface="Calibri"/>
              </a:rPr>
              <a:t>THE MAP</a:t>
            </a:r>
            <a:endParaRPr lang="en-US" sz="1100" noProof="1"/>
          </a:p>
        </p:txBody>
      </p:sp>
      <p:sp>
        <p:nvSpPr>
          <p:cNvPr id="3" name="Text 1"/>
          <p:cNvSpPr txBox="1"/>
          <p:nvPr/>
        </p:nvSpPr>
        <p:spPr>
          <a:xfrm>
            <a:off x="548640" y="749300"/>
            <a:ext cx="11094720" cy="566420"/>
          </a:xfrm>
          <a:prstGeom prst="rect">
            <a:avLst/>
          </a:prstGeom>
          <a:noFill/>
          <a:ln>
            <a:noFill/>
          </a:ln>
        </p:spPr>
        <p:txBody>
          <a:bodyPr lIns="0" rIns="0" tIns="0" bIns="0" wrap="square" rtlCol="0" anchor="ctr"/>
          <a:lstStyle/>
          <a:p>
            <a:pPr algn="l" marL="0">
              <a:lnSpc>
                <a:spcPct val="120000"/>
              </a:lnSpc>
            </a:pPr>
            <a:r>
              <a:rPr lang="en-US" sz="3200" noProof="1" b="1">
                <a:solidFill>
                  <a:srgbClr val="F4F6FB"/>
                </a:solidFill>
                <a:latin typeface="Cambria"/>
                <a:ea typeface="Cambria"/>
              </a:rPr>
              <a:t>Fifteen levels, one long descent</a:t>
            </a:r>
            <a:endParaRPr lang="en-US" sz="3200" noProof="1"/>
          </a:p>
        </p:txBody>
      </p:sp>
      <p:sp>
        <p:nvSpPr>
          <p:cNvPr id="4" name="Text 2"/>
          <p:cNvSpPr txBox="1"/>
          <p:nvPr/>
        </p:nvSpPr>
        <p:spPr>
          <a:xfrm>
            <a:off x="548640" y="1389380"/>
            <a:ext cx="9814560" cy="304800"/>
          </a:xfrm>
          <a:prstGeom prst="rect">
            <a:avLst/>
          </a:prstGeom>
          <a:noFill/>
          <a:ln>
            <a:noFill/>
          </a:ln>
        </p:spPr>
        <p:txBody>
          <a:bodyPr lIns="0" rIns="0" tIns="0" bIns="0" wrap="square" rtlCol="0" anchor="ctr"/>
          <a:lstStyle/>
          <a:p>
            <a:pPr algn="l" marL="0">
              <a:lnSpc>
                <a:spcPct val="115000"/>
              </a:lnSpc>
            </a:pPr>
            <a:r>
              <a:rPr lang="en-US" sz="1400" noProof="1">
                <a:solidFill>
                  <a:srgbClr val="B8C7E4"/>
                </a:solidFill>
                <a:latin typeface="Calibri"/>
                <a:ea typeface="Calibri"/>
              </a:rPr>
              <a:t>The first few are things you can do with nothing but a browser. The last few reach the server itself.</a:t>
            </a:r>
            <a:endParaRPr lang="en-US" sz="1400" noProof="1"/>
          </a:p>
        </p:txBody>
      </p:sp>
      <p:sp>
        <p:nvSpPr>
          <p:cNvPr id="5" name="Text 2b"/>
          <p:cNvSpPr txBox="1"/>
          <p:nvPr/>
        </p:nvSpPr>
        <p:spPr>
          <a:xfrm>
            <a:off x="548640" y="1739900"/>
            <a:ext cx="9814560" cy="228600"/>
          </a:xfrm>
          <a:prstGeom prst="rect">
            <a:avLst/>
          </a:prstGeom>
          <a:noFill/>
          <a:ln>
            <a:noFill/>
          </a:ln>
        </p:spPr>
        <p:txBody>
          <a:bodyPr lIns="0" rIns="0" tIns="0" bIns="0" wrap="square" rtlCol="0" anchor="ctr"/>
          <a:lstStyle/>
          <a:p>
            <a:pPr algn="l" marL="0">
              <a:lnSpc>
                <a:spcPct val="115000"/>
              </a:lnSpc>
            </a:pPr>
            <a:r>
              <a:rPr lang="en-US" sz="1400" noProof="1">
                <a:solidFill>
                  <a:srgbClr val="B8C7E4"/>
                </a:solidFill>
                <a:latin typeface="Calibri"/>
                <a:ea typeface="Calibri"/>
              </a:rPr>
              <a:t>Points run 200 up to 900 across the fifteen levels — 8,250 in total. Theory section below: about ten minutes of reading.</a:t>
            </a:r>
            <a:endParaRPr lang="en-US" sz="1400" noProof="1"/>
          </a:p>
        </p:txBody>
      </p:sp>
      <p:sp>
        <p:nvSpPr>
          <p:cNvPr id="6" name="Shape 3"/>
          <p:cNvSpPr/>
          <p:nvPr/>
        </p:nvSpPr>
        <p:spPr>
          <a:xfrm>
            <a:off x="548640" y="2006600"/>
            <a:ext cx="2581910" cy="1943100"/>
          </a:xfrm>
          <a:prstGeom prst="roundRect">
            <a:avLst>
              <a:gd name="adj" fmla="val 4390"/>
            </a:avLst>
          </a:prstGeom>
          <a:solidFill>
            <a:srgbClr val="141F30"/>
          </a:solidFill>
          <a:ln>
            <a:noFill/>
          </a:ln>
        </p:spPr>
      </p:sp>
      <p:pic>
        <p:nvPicPr>
          <p:cNvPr id="7" name="Image 0"/>
          <p:cNvPicPr/>
          <p:nvPr/>
        </p:nvPicPr>
        <p:blipFill>
          <a:blip r:embed="rId2"/>
          <a:stretch>
            <a:fillRect/>
          </a:stretch>
        </p:blipFill>
        <p:spPr>
          <a:xfrm>
            <a:off x="676910" y="2134870"/>
            <a:ext cx="2325370" cy="640080"/>
          </a:xfrm>
          <a:prstGeom prst="rect">
            <a:avLst/>
          </a:prstGeom>
          <a:ln>
            <a:noFill/>
          </a:ln>
        </p:spPr>
      </p:pic>
      <p:sp>
        <p:nvSpPr>
          <p:cNvPr id="8" name="Text 4"/>
          <p:cNvSpPr txBox="1"/>
          <p:nvPr/>
        </p:nvSpPr>
        <p:spPr>
          <a:xfrm>
            <a:off x="786130" y="2913380"/>
            <a:ext cx="2105660" cy="219710"/>
          </a:xfrm>
          <a:prstGeom prst="rect">
            <a:avLst/>
          </a:prstGeom>
          <a:noFill/>
          <a:ln>
            <a:noFill/>
          </a:ln>
        </p:spPr>
        <p:txBody>
          <a:bodyPr lIns="0" rIns="0" tIns="0" bIns="0" wrap="square" rtlCol="0" anchor="t"/>
          <a:lstStyle/>
          <a:p>
            <a:pPr algn="l" marL="0">
              <a:lnSpc>
                <a:spcPct val="120000"/>
              </a:lnSpc>
            </a:pPr>
            <a:r>
              <a:rPr lang="en-US" sz="1050" noProof="1" b="1" spc="80" kern="0">
                <a:solidFill>
                  <a:srgbClr val="E0559E"/>
                </a:solidFill>
                <a:latin typeface="Calibri"/>
                <a:ea typeface="Calibri"/>
              </a:rPr>
              <a:t>00–01</a:t>
            </a:r>
            <a:endParaRPr lang="en-US" sz="1050" noProof="1"/>
          </a:p>
        </p:txBody>
      </p:sp>
      <p:sp>
        <p:nvSpPr>
          <p:cNvPr id="9" name="Text 5"/>
          <p:cNvSpPr txBox="1"/>
          <p:nvPr/>
        </p:nvSpPr>
        <p:spPr>
          <a:xfrm>
            <a:off x="786130" y="3150870"/>
            <a:ext cx="2105660" cy="274320"/>
          </a:xfrm>
          <a:prstGeom prst="rect">
            <a:avLst/>
          </a:prstGeom>
          <a:noFill/>
          <a:ln>
            <a:noFill/>
          </a:ln>
        </p:spPr>
        <p:txBody>
          <a:bodyPr lIns="0" rIns="0" tIns="0" bIns="0" wrap="square" rtlCol="0" anchor="t"/>
          <a:lstStyle/>
          <a:p>
            <a:pPr algn="l" marL="0">
              <a:lnSpc>
                <a:spcPct val="120000"/>
              </a:lnSpc>
            </a:pPr>
            <a:r>
              <a:rPr lang="en-US" sz="1400" noProof="1" b="1">
                <a:solidFill>
                  <a:srgbClr val="F4F6FB"/>
                </a:solidFill>
                <a:latin typeface="Cambria"/>
                <a:ea typeface="Cambria"/>
              </a:rPr>
              <a:t>Source &amp; Blockers</a:t>
            </a:r>
            <a:endParaRPr lang="en-US" sz="1400" noProof="1"/>
          </a:p>
        </p:txBody>
      </p:sp>
      <p:sp>
        <p:nvSpPr>
          <p:cNvPr id="10" name="Text 6"/>
          <p:cNvSpPr txBox="1"/>
          <p:nvPr/>
        </p:nvSpPr>
        <p:spPr>
          <a:xfrm>
            <a:off x="786130" y="3434080"/>
            <a:ext cx="2105660" cy="365760"/>
          </a:xfrm>
          <a:prstGeom prst="rect">
            <a:avLst/>
          </a:prstGeom>
          <a:noFill/>
          <a:ln>
            <a:noFill/>
          </a:ln>
        </p:spPr>
        <p:txBody>
          <a:bodyPr lIns="0" rIns="0" tIns="0" bIns="0" wrap="square" rtlCol="0" anchor="t"/>
          <a:lstStyle/>
          <a:p>
            <a:pPr algn="l" marL="0">
              <a:lnSpc>
                <a:spcPct val="110000"/>
              </a:lnSpc>
            </a:pPr>
            <a:r>
              <a:rPr lang="en-US" sz="1000" noProof="1">
                <a:solidFill>
                  <a:srgbClr val="B8C7E4"/>
                </a:solidFill>
                <a:latin typeface="Calibri"/>
                <a:ea typeface="Calibri"/>
              </a:rPr>
              <a:t>What the page is made of, and a barrier that only looks like one.</a:t>
            </a:r>
            <a:endParaRPr lang="en-US" sz="1000" noProof="1"/>
          </a:p>
        </p:txBody>
      </p:sp>
      <p:sp>
        <p:nvSpPr>
          <p:cNvPr id="11" name="Shape 7"/>
          <p:cNvSpPr/>
          <p:nvPr/>
        </p:nvSpPr>
        <p:spPr>
          <a:xfrm>
            <a:off x="3385820" y="2006600"/>
            <a:ext cx="2581910" cy="1943100"/>
          </a:xfrm>
          <a:prstGeom prst="roundRect">
            <a:avLst>
              <a:gd name="adj" fmla="val 4390"/>
            </a:avLst>
          </a:prstGeom>
          <a:solidFill>
            <a:srgbClr val="141F30"/>
          </a:solidFill>
          <a:ln>
            <a:noFill/>
          </a:ln>
        </p:spPr>
      </p:sp>
      <p:pic>
        <p:nvPicPr>
          <p:cNvPr id="12" name="Image 1"/>
          <p:cNvPicPr/>
          <p:nvPr/>
        </p:nvPicPr>
        <p:blipFill>
          <a:blip r:embed="rId3"/>
          <a:stretch>
            <a:fillRect/>
          </a:stretch>
        </p:blipFill>
        <p:spPr>
          <a:xfrm>
            <a:off x="3514090" y="2134870"/>
            <a:ext cx="2325370" cy="640080"/>
          </a:xfrm>
          <a:prstGeom prst="rect">
            <a:avLst/>
          </a:prstGeom>
          <a:ln>
            <a:noFill/>
          </a:ln>
        </p:spPr>
      </p:pic>
      <p:sp>
        <p:nvSpPr>
          <p:cNvPr id="13" name="Text 8"/>
          <p:cNvSpPr txBox="1"/>
          <p:nvPr/>
        </p:nvSpPr>
        <p:spPr>
          <a:xfrm>
            <a:off x="3624580" y="2913380"/>
            <a:ext cx="2105660" cy="219710"/>
          </a:xfrm>
          <a:prstGeom prst="rect">
            <a:avLst/>
          </a:prstGeom>
          <a:noFill/>
          <a:ln>
            <a:noFill/>
          </a:ln>
        </p:spPr>
        <p:txBody>
          <a:bodyPr lIns="0" rIns="0" tIns="0" bIns="0" wrap="square" rtlCol="0" anchor="t"/>
          <a:lstStyle/>
          <a:p>
            <a:pPr algn="l" marL="0">
              <a:lnSpc>
                <a:spcPct val="120000"/>
              </a:lnSpc>
            </a:pPr>
            <a:r>
              <a:rPr lang="en-US" sz="1050" noProof="1" b="1" spc="80" kern="0">
                <a:solidFill>
                  <a:srgbClr val="E0559E"/>
                </a:solidFill>
                <a:latin typeface="Calibri"/>
                <a:ea typeface="Calibri"/>
              </a:rPr>
              <a:t>02–03</a:t>
            </a:r>
            <a:endParaRPr lang="en-US" sz="1050" noProof="1"/>
          </a:p>
        </p:txBody>
      </p:sp>
      <p:sp>
        <p:nvSpPr>
          <p:cNvPr id="14" name="Text 9"/>
          <p:cNvSpPr txBox="1"/>
          <p:nvPr/>
        </p:nvSpPr>
        <p:spPr>
          <a:xfrm>
            <a:off x="3624580" y="3150870"/>
            <a:ext cx="2105660" cy="274320"/>
          </a:xfrm>
          <a:prstGeom prst="rect">
            <a:avLst/>
          </a:prstGeom>
          <a:noFill/>
          <a:ln>
            <a:noFill/>
          </a:ln>
        </p:spPr>
        <p:txBody>
          <a:bodyPr lIns="0" rIns="0" tIns="0" bIns="0" wrap="square" rtlCol="0" anchor="t"/>
          <a:lstStyle/>
          <a:p>
            <a:pPr algn="l" marL="0">
              <a:lnSpc>
                <a:spcPct val="120000"/>
              </a:lnSpc>
            </a:pPr>
            <a:r>
              <a:rPr lang="en-US" sz="1400" noProof="1" b="1">
                <a:solidFill>
                  <a:srgbClr val="F4F6FB"/>
                </a:solidFill>
                <a:latin typeface="Cambria"/>
                <a:ea typeface="Cambria"/>
              </a:rPr>
              <a:t>Unlisted Paths</a:t>
            </a:r>
            <a:endParaRPr lang="en-US" sz="1400" noProof="1"/>
          </a:p>
        </p:txBody>
      </p:sp>
      <p:sp>
        <p:nvSpPr>
          <p:cNvPr id="15" name="Text 10"/>
          <p:cNvSpPr txBox="1"/>
          <p:nvPr/>
        </p:nvSpPr>
        <p:spPr>
          <a:xfrm>
            <a:off x="3624580" y="3434080"/>
            <a:ext cx="2105660" cy="365760"/>
          </a:xfrm>
          <a:prstGeom prst="rect">
            <a:avLst/>
          </a:prstGeom>
          <a:noFill/>
          <a:ln>
            <a:noFill/>
          </a:ln>
        </p:spPr>
        <p:txBody>
          <a:bodyPr lIns="0" rIns="0" tIns="0" bIns="0" wrap="square" rtlCol="0" anchor="t"/>
          <a:lstStyle/>
          <a:p>
            <a:pPr algn="l" marL="0">
              <a:lnSpc>
                <a:spcPct val="110000"/>
              </a:lnSpc>
            </a:pPr>
            <a:r>
              <a:rPr lang="en-US" sz="1000" noProof="1">
                <a:solidFill>
                  <a:srgbClr val="B8C7E4"/>
                </a:solidFill>
                <a:latin typeface="Calibri"/>
                <a:ea typeface="Calibri"/>
              </a:rPr>
              <a:t>Corridors never meant to be found; a sign that only asks.</a:t>
            </a:r>
            <a:endParaRPr lang="en-US" sz="1000" noProof="1"/>
          </a:p>
        </p:txBody>
      </p:sp>
      <p:sp>
        <p:nvSpPr>
          <p:cNvPr id="16" name="Shape 11"/>
          <p:cNvSpPr/>
          <p:nvPr/>
        </p:nvSpPr>
        <p:spPr>
          <a:xfrm>
            <a:off x="6224270" y="2006600"/>
            <a:ext cx="2581910" cy="1943100"/>
          </a:xfrm>
          <a:prstGeom prst="roundRect">
            <a:avLst>
              <a:gd name="adj" fmla="val 4390"/>
            </a:avLst>
          </a:prstGeom>
          <a:solidFill>
            <a:srgbClr val="141F30"/>
          </a:solidFill>
          <a:ln>
            <a:noFill/>
          </a:ln>
        </p:spPr>
      </p:sp>
      <p:pic>
        <p:nvPicPr>
          <p:cNvPr id="17" name="Image 2"/>
          <p:cNvPicPr/>
          <p:nvPr/>
        </p:nvPicPr>
        <p:blipFill>
          <a:blip r:embed="rId4"/>
          <a:stretch>
            <a:fillRect/>
          </a:stretch>
        </p:blipFill>
        <p:spPr>
          <a:xfrm>
            <a:off x="6351270" y="2134870"/>
            <a:ext cx="2325370" cy="640080"/>
          </a:xfrm>
          <a:prstGeom prst="rect">
            <a:avLst/>
          </a:prstGeom>
          <a:ln>
            <a:noFill/>
          </a:ln>
        </p:spPr>
      </p:pic>
      <p:sp>
        <p:nvSpPr>
          <p:cNvPr id="18" name="Text 12"/>
          <p:cNvSpPr txBox="1"/>
          <p:nvPr/>
        </p:nvSpPr>
        <p:spPr>
          <a:xfrm>
            <a:off x="6461760" y="2913380"/>
            <a:ext cx="2105660" cy="219710"/>
          </a:xfrm>
          <a:prstGeom prst="rect">
            <a:avLst/>
          </a:prstGeom>
          <a:noFill/>
          <a:ln>
            <a:noFill/>
          </a:ln>
        </p:spPr>
        <p:txBody>
          <a:bodyPr lIns="0" rIns="0" tIns="0" bIns="0" wrap="square" rtlCol="0" anchor="t"/>
          <a:lstStyle/>
          <a:p>
            <a:pPr algn="l" marL="0">
              <a:lnSpc>
                <a:spcPct val="120000"/>
              </a:lnSpc>
            </a:pPr>
            <a:r>
              <a:rPr lang="en-US" sz="1050" noProof="1" b="1" spc="80" kern="0">
                <a:solidFill>
                  <a:srgbClr val="E0559E"/>
                </a:solidFill>
                <a:latin typeface="Calibri"/>
                <a:ea typeface="Calibri"/>
              </a:rPr>
              <a:t>04–05</a:t>
            </a:r>
            <a:endParaRPr lang="en-US" sz="1050" noProof="1"/>
          </a:p>
        </p:txBody>
      </p:sp>
      <p:sp>
        <p:nvSpPr>
          <p:cNvPr id="19" name="Text 13"/>
          <p:cNvSpPr txBox="1"/>
          <p:nvPr/>
        </p:nvSpPr>
        <p:spPr>
          <a:xfrm>
            <a:off x="6461760" y="3150870"/>
            <a:ext cx="2105660" cy="274320"/>
          </a:xfrm>
          <a:prstGeom prst="rect">
            <a:avLst/>
          </a:prstGeom>
          <a:noFill/>
          <a:ln>
            <a:noFill/>
          </a:ln>
        </p:spPr>
        <p:txBody>
          <a:bodyPr lIns="0" rIns="0" tIns="0" bIns="0" wrap="square" rtlCol="0" anchor="t"/>
          <a:lstStyle/>
          <a:p>
            <a:pPr algn="l" marL="0">
              <a:lnSpc>
                <a:spcPct val="120000"/>
              </a:lnSpc>
            </a:pPr>
            <a:r>
              <a:rPr lang="en-US" sz="1400" noProof="1" b="1">
                <a:solidFill>
                  <a:srgbClr val="F4F6FB"/>
                </a:solidFill>
                <a:latin typeface="Cambria"/>
                <a:ea typeface="Cambria"/>
              </a:rPr>
              <a:t>Forged Claims</a:t>
            </a:r>
            <a:endParaRPr lang="en-US" sz="1400" noProof="1"/>
          </a:p>
        </p:txBody>
      </p:sp>
      <p:sp>
        <p:nvSpPr>
          <p:cNvPr id="20" name="Text 14"/>
          <p:cNvSpPr txBox="1"/>
          <p:nvPr/>
        </p:nvSpPr>
        <p:spPr>
          <a:xfrm>
            <a:off x="6461760" y="3434080"/>
            <a:ext cx="2105660" cy="365760"/>
          </a:xfrm>
          <a:prstGeom prst="rect">
            <a:avLst/>
          </a:prstGeom>
          <a:noFill/>
          <a:ln>
            <a:noFill/>
          </a:ln>
        </p:spPr>
        <p:txBody>
          <a:bodyPr lIns="0" rIns="0" tIns="0" bIns="0" wrap="square" rtlCol="0" anchor="t"/>
          <a:lstStyle/>
          <a:p>
            <a:pPr algn="l" marL="0">
              <a:lnSpc>
                <a:spcPct val="110000"/>
              </a:lnSpc>
            </a:pPr>
            <a:r>
              <a:rPr lang="en-US" sz="1000" noProof="1">
                <a:solidFill>
                  <a:srgbClr val="B8C7E4"/>
                </a:solidFill>
                <a:latin typeface="Calibri"/>
                <a:ea typeface="Calibri"/>
              </a:rPr>
              <a:t>Referer and cookies — arriving from somewhere you never were.</a:t>
            </a:r>
            <a:endParaRPr lang="en-US" sz="1000" noProof="1"/>
          </a:p>
        </p:txBody>
      </p:sp>
      <p:sp>
        <p:nvSpPr>
          <p:cNvPr id="21" name="Shape 15"/>
          <p:cNvSpPr/>
          <p:nvPr/>
        </p:nvSpPr>
        <p:spPr>
          <a:xfrm>
            <a:off x="9061450" y="2006600"/>
            <a:ext cx="2581910" cy="1943100"/>
          </a:xfrm>
          <a:prstGeom prst="roundRect">
            <a:avLst>
              <a:gd name="adj" fmla="val 4390"/>
            </a:avLst>
          </a:prstGeom>
          <a:solidFill>
            <a:srgbClr val="141F30"/>
          </a:solidFill>
          <a:ln>
            <a:noFill/>
          </a:ln>
        </p:spPr>
      </p:sp>
      <p:pic>
        <p:nvPicPr>
          <p:cNvPr id="22" name="Image 3"/>
          <p:cNvPicPr/>
          <p:nvPr/>
        </p:nvPicPr>
        <p:blipFill>
          <a:blip r:embed="rId5"/>
          <a:stretch>
            <a:fillRect/>
          </a:stretch>
        </p:blipFill>
        <p:spPr>
          <a:xfrm>
            <a:off x="9189720" y="2134870"/>
            <a:ext cx="2325370" cy="640080"/>
          </a:xfrm>
          <a:prstGeom prst="rect">
            <a:avLst/>
          </a:prstGeom>
          <a:ln>
            <a:noFill/>
          </a:ln>
        </p:spPr>
      </p:pic>
      <p:sp>
        <p:nvSpPr>
          <p:cNvPr id="23" name="Text 16"/>
          <p:cNvSpPr txBox="1"/>
          <p:nvPr/>
        </p:nvSpPr>
        <p:spPr>
          <a:xfrm>
            <a:off x="9298940" y="2913380"/>
            <a:ext cx="2105660" cy="219710"/>
          </a:xfrm>
          <a:prstGeom prst="rect">
            <a:avLst/>
          </a:prstGeom>
          <a:noFill/>
          <a:ln>
            <a:noFill/>
          </a:ln>
        </p:spPr>
        <p:txBody>
          <a:bodyPr lIns="0" rIns="0" tIns="0" bIns="0" wrap="square" rtlCol="0" anchor="t"/>
          <a:lstStyle/>
          <a:p>
            <a:pPr algn="l" marL="0">
              <a:lnSpc>
                <a:spcPct val="120000"/>
              </a:lnSpc>
            </a:pPr>
            <a:r>
              <a:rPr lang="en-US" sz="1050" noProof="1" b="1" spc="80" kern="0">
                <a:solidFill>
                  <a:srgbClr val="E0559E"/>
                </a:solidFill>
                <a:latin typeface="Calibri"/>
                <a:ea typeface="Calibri"/>
              </a:rPr>
              <a:t>06–07</a:t>
            </a:r>
            <a:endParaRPr lang="en-US" sz="1050" noProof="1"/>
          </a:p>
        </p:txBody>
      </p:sp>
      <p:sp>
        <p:nvSpPr>
          <p:cNvPr id="24" name="Text 17"/>
          <p:cNvSpPr txBox="1"/>
          <p:nvPr/>
        </p:nvSpPr>
        <p:spPr>
          <a:xfrm>
            <a:off x="9298940" y="3150870"/>
            <a:ext cx="2105660" cy="274320"/>
          </a:xfrm>
          <a:prstGeom prst="rect">
            <a:avLst/>
          </a:prstGeom>
          <a:noFill/>
          <a:ln>
            <a:noFill/>
          </a:ln>
        </p:spPr>
        <p:txBody>
          <a:bodyPr lIns="0" rIns="0" tIns="0" bIns="0" wrap="square" rtlCol="0" anchor="t"/>
          <a:lstStyle/>
          <a:p>
            <a:pPr algn="l" marL="0">
              <a:lnSpc>
                <a:spcPct val="120000"/>
              </a:lnSpc>
            </a:pPr>
            <a:r>
              <a:rPr lang="en-US" sz="1400" noProof="1" b="1">
                <a:solidFill>
                  <a:srgbClr val="F4F6FB"/>
                </a:solidFill>
                <a:latin typeface="Cambria"/>
                <a:ea typeface="Cambria"/>
              </a:rPr>
              <a:t>Hidden Includes</a:t>
            </a:r>
            <a:endParaRPr lang="en-US" sz="1400" noProof="1"/>
          </a:p>
        </p:txBody>
      </p:sp>
      <p:sp>
        <p:nvSpPr>
          <p:cNvPr id="25" name="Text 18"/>
          <p:cNvSpPr txBox="1"/>
          <p:nvPr/>
        </p:nvSpPr>
        <p:spPr>
          <a:xfrm>
            <a:off x="9298940" y="3434080"/>
            <a:ext cx="2105660" cy="365760"/>
          </a:xfrm>
          <a:prstGeom prst="rect">
            <a:avLst/>
          </a:prstGeom>
          <a:noFill/>
          <a:ln>
            <a:noFill/>
          </a:ln>
        </p:spPr>
        <p:txBody>
          <a:bodyPr lIns="0" rIns="0" tIns="0" bIns="0" wrap="square" rtlCol="0" anchor="t"/>
          <a:lstStyle/>
          <a:p>
            <a:pPr algn="l" marL="0">
              <a:lnSpc>
                <a:spcPct val="110000"/>
              </a:lnSpc>
            </a:pPr>
            <a:r>
              <a:rPr lang="en-US" sz="1000" noProof="1">
                <a:solidFill>
                  <a:srgbClr val="B8C7E4"/>
                </a:solidFill>
                <a:latin typeface="Calibri"/>
                <a:ea typeface="Calibri"/>
              </a:rPr>
              <a:t>A trapdoor under something ordinary; a door that opens too far.</a:t>
            </a:r>
            <a:endParaRPr lang="en-US" sz="1000" noProof="1"/>
          </a:p>
        </p:txBody>
      </p:sp>
      <p:sp>
        <p:nvSpPr>
          <p:cNvPr id="26" name="Shape 19"/>
          <p:cNvSpPr/>
          <p:nvPr/>
        </p:nvSpPr>
        <p:spPr>
          <a:xfrm>
            <a:off x="548640" y="4152900"/>
            <a:ext cx="2581910" cy="1943100"/>
          </a:xfrm>
          <a:prstGeom prst="roundRect">
            <a:avLst>
              <a:gd name="adj" fmla="val 4390"/>
            </a:avLst>
          </a:prstGeom>
          <a:solidFill>
            <a:srgbClr val="1B2740"/>
          </a:solidFill>
          <a:ln>
            <a:noFill/>
          </a:ln>
        </p:spPr>
      </p:sp>
      <p:pic>
        <p:nvPicPr>
          <p:cNvPr id="27" name="Image 4"/>
          <p:cNvPicPr/>
          <p:nvPr/>
        </p:nvPicPr>
        <p:blipFill>
          <a:blip r:embed="rId6"/>
          <a:stretch>
            <a:fillRect/>
          </a:stretch>
        </p:blipFill>
        <p:spPr>
          <a:xfrm>
            <a:off x="676910" y="4281170"/>
            <a:ext cx="2325370" cy="640080"/>
          </a:xfrm>
          <a:prstGeom prst="rect">
            <a:avLst/>
          </a:prstGeom>
          <a:ln>
            <a:noFill/>
          </a:ln>
        </p:spPr>
      </p:pic>
      <p:sp>
        <p:nvSpPr>
          <p:cNvPr id="28" name="Text 20"/>
          <p:cNvSpPr txBox="1"/>
          <p:nvPr/>
        </p:nvSpPr>
        <p:spPr>
          <a:xfrm>
            <a:off x="786130" y="5059680"/>
            <a:ext cx="2105660" cy="219710"/>
          </a:xfrm>
          <a:prstGeom prst="rect">
            <a:avLst/>
          </a:prstGeom>
          <a:noFill/>
          <a:ln>
            <a:noFill/>
          </a:ln>
        </p:spPr>
        <p:txBody>
          <a:bodyPr lIns="0" rIns="0" tIns="0" bIns="0" wrap="square" rtlCol="0" anchor="t"/>
          <a:lstStyle/>
          <a:p>
            <a:pPr algn="l" marL="0">
              <a:lnSpc>
                <a:spcPct val="120000"/>
              </a:lnSpc>
            </a:pPr>
            <a:r>
              <a:rPr lang="en-US" sz="1050" noProof="1" b="1" spc="80" kern="0">
                <a:solidFill>
                  <a:srgbClr val="E0559E"/>
                </a:solidFill>
                <a:latin typeface="Calibri"/>
                <a:ea typeface="Calibri"/>
              </a:rPr>
              <a:t>08–09</a:t>
            </a:r>
            <a:endParaRPr lang="en-US" sz="1050" noProof="1"/>
          </a:p>
        </p:txBody>
      </p:sp>
      <p:sp>
        <p:nvSpPr>
          <p:cNvPr id="29" name="Text 21"/>
          <p:cNvSpPr txBox="1"/>
          <p:nvPr/>
        </p:nvSpPr>
        <p:spPr>
          <a:xfrm>
            <a:off x="786130" y="5297170"/>
            <a:ext cx="2105660" cy="274320"/>
          </a:xfrm>
          <a:prstGeom prst="rect">
            <a:avLst/>
          </a:prstGeom>
          <a:noFill/>
          <a:ln>
            <a:noFill/>
          </a:ln>
        </p:spPr>
        <p:txBody>
          <a:bodyPr lIns="0" rIns="0" tIns="0" bIns="0" wrap="square" rtlCol="0" anchor="t"/>
          <a:lstStyle/>
          <a:p>
            <a:pPr algn="l" marL="0">
              <a:lnSpc>
                <a:spcPct val="120000"/>
              </a:lnSpc>
            </a:pPr>
            <a:r>
              <a:rPr lang="en-US" sz="1400" noProof="1" b="1">
                <a:solidFill>
                  <a:srgbClr val="F4F6FB"/>
                </a:solidFill>
                <a:latin typeface="Cambria"/>
                <a:ea typeface="Cambria"/>
              </a:rPr>
              <a:t>Mirror &amp; Injection</a:t>
            </a:r>
            <a:endParaRPr lang="en-US" sz="1400" noProof="1"/>
          </a:p>
        </p:txBody>
      </p:sp>
      <p:sp>
        <p:nvSpPr>
          <p:cNvPr id="30" name="Text 22"/>
          <p:cNvSpPr txBox="1"/>
          <p:nvPr/>
        </p:nvSpPr>
        <p:spPr>
          <a:xfrm>
            <a:off x="786130" y="5580380"/>
            <a:ext cx="2105660" cy="365760"/>
          </a:xfrm>
          <a:prstGeom prst="rect">
            <a:avLst/>
          </a:prstGeom>
          <a:noFill/>
          <a:ln>
            <a:noFill/>
          </a:ln>
        </p:spPr>
        <p:txBody>
          <a:bodyPr lIns="0" rIns="0" tIns="0" bIns="0" wrap="square" rtlCol="0" anchor="t"/>
          <a:lstStyle/>
          <a:p>
            <a:pPr algn="l" marL="0">
              <a:lnSpc>
                <a:spcPct val="110000"/>
              </a:lnSpc>
            </a:pPr>
            <a:r>
              <a:rPr lang="en-US" sz="1000" noProof="1">
                <a:solidFill>
                  <a:srgbClr val="B8C7E4"/>
                </a:solidFill>
                <a:latin typeface="Calibri"/>
                <a:ea typeface="Calibri"/>
              </a:rPr>
              <a:t>A lock that shows its own key; one extra instruction slipped in.</a:t>
            </a:r>
            <a:endParaRPr lang="en-US" sz="1000" noProof="1"/>
          </a:p>
        </p:txBody>
      </p:sp>
      <p:sp>
        <p:nvSpPr>
          <p:cNvPr id="31" name="Shape 23"/>
          <p:cNvSpPr/>
          <p:nvPr/>
        </p:nvSpPr>
        <p:spPr>
          <a:xfrm>
            <a:off x="3385820" y="4152900"/>
            <a:ext cx="2581910" cy="1943100"/>
          </a:xfrm>
          <a:prstGeom prst="roundRect">
            <a:avLst>
              <a:gd name="adj" fmla="val 4390"/>
            </a:avLst>
          </a:prstGeom>
          <a:solidFill>
            <a:srgbClr val="1B2740"/>
          </a:solidFill>
          <a:ln>
            <a:noFill/>
          </a:ln>
        </p:spPr>
      </p:sp>
      <p:pic>
        <p:nvPicPr>
          <p:cNvPr id="32" name="Image 5"/>
          <p:cNvPicPr/>
          <p:nvPr/>
        </p:nvPicPr>
        <p:blipFill>
          <a:blip r:embed="rId7"/>
          <a:stretch>
            <a:fillRect/>
          </a:stretch>
        </p:blipFill>
        <p:spPr>
          <a:xfrm>
            <a:off x="3514090" y="4281170"/>
            <a:ext cx="2325370" cy="640080"/>
          </a:xfrm>
          <a:prstGeom prst="rect">
            <a:avLst/>
          </a:prstGeom>
          <a:ln>
            <a:noFill/>
          </a:ln>
        </p:spPr>
      </p:pic>
      <p:sp>
        <p:nvSpPr>
          <p:cNvPr id="33" name="Text 24"/>
          <p:cNvSpPr txBox="1"/>
          <p:nvPr/>
        </p:nvSpPr>
        <p:spPr>
          <a:xfrm>
            <a:off x="3624580" y="5059680"/>
            <a:ext cx="2105660" cy="219710"/>
          </a:xfrm>
          <a:prstGeom prst="rect">
            <a:avLst/>
          </a:prstGeom>
          <a:noFill/>
          <a:ln>
            <a:noFill/>
          </a:ln>
        </p:spPr>
        <p:txBody>
          <a:bodyPr lIns="0" rIns="0" tIns="0" bIns="0" wrap="square" rtlCol="0" anchor="t"/>
          <a:lstStyle/>
          <a:p>
            <a:pPr algn="l" marL="0">
              <a:lnSpc>
                <a:spcPct val="120000"/>
              </a:lnSpc>
            </a:pPr>
            <a:r>
              <a:rPr lang="en-US" sz="1050" noProof="1" b="1" spc="80" kern="0">
                <a:solidFill>
                  <a:srgbClr val="E0559E"/>
                </a:solidFill>
                <a:latin typeface="Calibri"/>
                <a:ea typeface="Calibri"/>
              </a:rPr>
              <a:t>10–11</a:t>
            </a:r>
            <a:endParaRPr lang="en-US" sz="1050" noProof="1"/>
          </a:p>
        </p:txBody>
      </p:sp>
      <p:sp>
        <p:nvSpPr>
          <p:cNvPr id="34" name="Text 25"/>
          <p:cNvSpPr txBox="1"/>
          <p:nvPr/>
        </p:nvSpPr>
        <p:spPr>
          <a:xfrm>
            <a:off x="3624580" y="5297170"/>
            <a:ext cx="2105660" cy="274320"/>
          </a:xfrm>
          <a:prstGeom prst="rect">
            <a:avLst/>
          </a:prstGeom>
          <a:noFill/>
          <a:ln>
            <a:noFill/>
          </a:ln>
        </p:spPr>
        <p:txBody>
          <a:bodyPr lIns="0" rIns="0" tIns="0" bIns="0" wrap="square" rtlCol="0" anchor="t"/>
          <a:lstStyle/>
          <a:p>
            <a:pPr algn="l" marL="0">
              <a:lnSpc>
                <a:spcPct val="120000"/>
              </a:lnSpc>
            </a:pPr>
            <a:r>
              <a:rPr lang="en-US" sz="1400" noProof="1" b="1">
                <a:solidFill>
                  <a:srgbClr val="F4F6FB"/>
                </a:solidFill>
                <a:latin typeface="Cambria"/>
                <a:ea typeface="Cambria"/>
              </a:rPr>
              <a:t>Guards &amp; Overlap</a:t>
            </a:r>
            <a:endParaRPr lang="en-US" sz="1400" noProof="1"/>
          </a:p>
        </p:txBody>
      </p:sp>
      <p:sp>
        <p:nvSpPr>
          <p:cNvPr id="35" name="Text 26"/>
          <p:cNvSpPr txBox="1"/>
          <p:nvPr/>
        </p:nvSpPr>
        <p:spPr>
          <a:xfrm>
            <a:off x="3624580" y="5580380"/>
            <a:ext cx="2105660" cy="365760"/>
          </a:xfrm>
          <a:prstGeom prst="rect">
            <a:avLst/>
          </a:prstGeom>
          <a:noFill/>
          <a:ln>
            <a:noFill/>
          </a:ln>
        </p:spPr>
        <p:txBody>
          <a:bodyPr lIns="0" rIns="0" tIns="0" bIns="0" wrap="square" rtlCol="0" anchor="t"/>
          <a:lstStyle/>
          <a:p>
            <a:pPr algn="l" marL="0">
              <a:lnSpc>
                <a:spcPct val="110000"/>
              </a:lnSpc>
            </a:pPr>
            <a:r>
              <a:rPr lang="en-US" sz="1000" noProof="1">
                <a:solidFill>
                  <a:srgbClr val="B8C7E4"/>
                </a:solidFill>
                <a:latin typeface="Calibri"/>
                <a:ea typeface="Calibri"/>
              </a:rPr>
              <a:t>The same trick with a guard on it; where two things overlap.</a:t>
            </a:r>
            <a:endParaRPr lang="en-US" sz="1000" noProof="1"/>
          </a:p>
        </p:txBody>
      </p:sp>
      <p:sp>
        <p:nvSpPr>
          <p:cNvPr id="36" name="Shape 27"/>
          <p:cNvSpPr/>
          <p:nvPr/>
        </p:nvSpPr>
        <p:spPr>
          <a:xfrm>
            <a:off x="6224270" y="4152900"/>
            <a:ext cx="2581910" cy="1943100"/>
          </a:xfrm>
          <a:prstGeom prst="roundRect">
            <a:avLst>
              <a:gd name="adj" fmla="val 4390"/>
            </a:avLst>
          </a:prstGeom>
          <a:solidFill>
            <a:srgbClr val="1B2740"/>
          </a:solidFill>
          <a:ln>
            <a:noFill/>
          </a:ln>
        </p:spPr>
      </p:sp>
      <p:pic>
        <p:nvPicPr>
          <p:cNvPr id="37" name="Image 6"/>
          <p:cNvPicPr/>
          <p:nvPr/>
        </p:nvPicPr>
        <p:blipFill>
          <a:blip r:embed="rId8"/>
          <a:stretch>
            <a:fillRect/>
          </a:stretch>
        </p:blipFill>
        <p:spPr>
          <a:xfrm>
            <a:off x="6351270" y="4281170"/>
            <a:ext cx="2325370" cy="640080"/>
          </a:xfrm>
          <a:prstGeom prst="rect">
            <a:avLst/>
          </a:prstGeom>
          <a:ln>
            <a:noFill/>
          </a:ln>
        </p:spPr>
      </p:pic>
      <p:sp>
        <p:nvSpPr>
          <p:cNvPr id="38" name="Text 28"/>
          <p:cNvSpPr txBox="1"/>
          <p:nvPr/>
        </p:nvSpPr>
        <p:spPr>
          <a:xfrm>
            <a:off x="6461760" y="5059680"/>
            <a:ext cx="2105660" cy="219710"/>
          </a:xfrm>
          <a:prstGeom prst="rect">
            <a:avLst/>
          </a:prstGeom>
          <a:noFill/>
          <a:ln>
            <a:noFill/>
          </a:ln>
        </p:spPr>
        <p:txBody>
          <a:bodyPr lIns="0" rIns="0" tIns="0" bIns="0" wrap="square" rtlCol="0" anchor="t"/>
          <a:lstStyle/>
          <a:p>
            <a:pPr algn="l" marL="0">
              <a:lnSpc>
                <a:spcPct val="120000"/>
              </a:lnSpc>
            </a:pPr>
            <a:r>
              <a:rPr lang="en-US" sz="1050" noProof="1" b="1" spc="80" kern="0">
                <a:solidFill>
                  <a:srgbClr val="E0559E"/>
                </a:solidFill>
                <a:latin typeface="Calibri"/>
                <a:ea typeface="Calibri"/>
              </a:rPr>
              <a:t>12–14</a:t>
            </a:r>
            <a:endParaRPr lang="en-US" sz="1050" noProof="1"/>
          </a:p>
        </p:txBody>
      </p:sp>
      <p:sp>
        <p:nvSpPr>
          <p:cNvPr id="39" name="Text 29"/>
          <p:cNvSpPr txBox="1"/>
          <p:nvPr/>
        </p:nvSpPr>
        <p:spPr>
          <a:xfrm>
            <a:off x="6461760" y="5297170"/>
            <a:ext cx="2105660" cy="274320"/>
          </a:xfrm>
          <a:prstGeom prst="rect">
            <a:avLst/>
          </a:prstGeom>
          <a:noFill/>
          <a:ln>
            <a:noFill/>
          </a:ln>
        </p:spPr>
        <p:txBody>
          <a:bodyPr lIns="0" rIns="0" tIns="0" bIns="0" wrap="square" rtlCol="0" anchor="t"/>
          <a:lstStyle/>
          <a:p>
            <a:pPr algn="l" marL="0">
              <a:lnSpc>
                <a:spcPct val="120000"/>
              </a:lnSpc>
            </a:pPr>
            <a:r>
              <a:rPr lang="en-US" sz="1400" noProof="1" b="1">
                <a:solidFill>
                  <a:srgbClr val="F4F6FB"/>
                </a:solidFill>
                <a:latin typeface="Cambria"/>
                <a:ea typeface="Cambria"/>
              </a:rPr>
              <a:t>Uploads &amp; Records</a:t>
            </a:r>
            <a:endParaRPr lang="en-US" sz="1400" noProof="1"/>
          </a:p>
        </p:txBody>
      </p:sp>
      <p:sp>
        <p:nvSpPr>
          <p:cNvPr id="40" name="Text 30"/>
          <p:cNvSpPr txBox="1"/>
          <p:nvPr/>
        </p:nvSpPr>
        <p:spPr>
          <a:xfrm>
            <a:off x="6461760" y="5580380"/>
            <a:ext cx="2105660" cy="365760"/>
          </a:xfrm>
          <a:prstGeom prst="rect">
            <a:avLst/>
          </a:prstGeom>
          <a:noFill/>
          <a:ln>
            <a:noFill/>
          </a:ln>
        </p:spPr>
        <p:txBody>
          <a:bodyPr lIns="0" rIns="0" tIns="0" bIns="0" wrap="square" rtlCol="0" anchor="t"/>
          <a:lstStyle/>
          <a:p>
            <a:pPr algn="l" marL="0">
              <a:lnSpc>
                <a:spcPct val="110000"/>
              </a:lnSpc>
            </a:pPr>
            <a:r>
              <a:rPr lang="en-US" sz="1000" noProof="1">
                <a:solidFill>
                  <a:srgbClr val="B8C7E4"/>
                </a:solidFill>
                <a:latin typeface="Calibri"/>
                <a:ea typeface="Calibri"/>
              </a:rPr>
              <a:t>Your own thing through the slot — then the records themselves.</a:t>
            </a:r>
            <a:endParaRPr lang="en-US" sz="1000" noProof="1"/>
          </a:p>
        </p:txBody>
      </p:sp>
      <p:sp>
        <p:nvSpPr>
          <p:cNvPr id="41" name="Text 31"/>
          <p:cNvSpPr txBox="1"/>
          <p:nvPr/>
        </p:nvSpPr>
        <p:spPr>
          <a:xfrm>
            <a:off x="548640" y="6134100"/>
            <a:ext cx="11094720" cy="274320"/>
          </a:xfrm>
          <a:prstGeom prst="rect">
            <a:avLst/>
          </a:prstGeom>
          <a:noFill/>
          <a:ln>
            <a:noFill/>
          </a:ln>
        </p:spPr>
        <p:txBody>
          <a:bodyPr lIns="0" rIns="0" tIns="0" bIns="0" wrap="square" rtlCol="0" anchor="ctr"/>
          <a:lstStyle/>
          <a:p>
            <a:pPr algn="l" marL="0">
              <a:lnSpc>
                <a:spcPct val="120000"/>
              </a:lnSpc>
            </a:pPr>
            <a:r>
              <a:rPr lang="en-US" sz="1250" noProof="1" i="1">
                <a:solidFill>
                  <a:srgbClr val="E0559E"/>
                </a:solidFill>
                <a:latin typeface="Calibri"/>
                <a:ea typeface="Calibri"/>
              </a:rPr>
              <a:t>All 15 levels share one target box, distinguished by port.</a:t>
            </a:r>
            <a:endParaRPr lang="en-US" sz="1250" noProof="1"/>
          </a:p>
        </p:txBody>
      </p:sp>
      <p:sp>
        <p:nvSpPr>
          <p:cNvPr id="42" name="Text 32"/>
          <p:cNvSpPr txBox="1"/>
          <p:nvPr/>
        </p:nvSpPr>
        <p:spPr>
          <a:xfrm>
            <a:off x="548640" y="6446520"/>
            <a:ext cx="40640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03 / 04</a:t>
            </a:r>
            <a:endParaRPr lang="en-US" sz="1000" noProof="1"/>
          </a:p>
        </p:txBody>
      </p:sp>
      <p:sp>
        <p:nvSpPr>
          <p:cNvPr id="43" name="Text 33"/>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02</a:t>
            </a:r>
            <a:endParaRPr lang="en-US" sz="1000" noProof="1"/>
          </a:p>
        </p:txBody>
      </p:sp>
    </p:spTree>
  </p:cSld>
  <p:clrMapOvr>
    <a:masterClrMapping/>
  </p:clrMapOvr>
  <p:transition spd="fast" advClick="1">
    <p:fade/>
  </p:transition>
</p:sld>
</file>

<file path=ppt/slides/slide3.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595360" y="-2194560"/>
            <a:ext cx="6035040" cy="6035040"/>
          </a:xfrm>
          <a:prstGeom prst="ellipse">
            <a:avLst/>
          </a:prstGeom>
          <a:solidFill>
            <a:srgbClr val="141F30"/>
          </a:solidFill>
          <a:ln>
            <a:noFill/>
          </a:ln>
        </p:spPr>
      </p:sp>
      <p:sp>
        <p:nvSpPr>
          <p:cNvPr id="3" name="Text 1"/>
          <p:cNvSpPr txBox="1"/>
          <p:nvPr/>
        </p:nvSpPr>
        <p:spPr>
          <a:xfrm>
            <a:off x="548640" y="1783080"/>
            <a:ext cx="5486400" cy="292100"/>
          </a:xfrm>
          <a:prstGeom prst="rect">
            <a:avLst/>
          </a:prstGeom>
          <a:noFill/>
          <a:ln>
            <a:noFill/>
          </a:ln>
        </p:spPr>
        <p:txBody>
          <a:bodyPr lIns="0" rIns="0" tIns="0" bIns="0" wrap="square" rtlCol="0" anchor="ctr"/>
          <a:lstStyle/>
          <a:p>
            <a:pPr algn="l" marL="0">
              <a:lnSpc>
                <a:spcPct val="120000"/>
              </a:lnSpc>
            </a:pPr>
            <a:r>
              <a:rPr lang="en-US" sz="1100" noProof="1" b="1" spc="140" kern="0">
                <a:solidFill>
                  <a:srgbClr val="E0559E"/>
                </a:solidFill>
                <a:latin typeface="Calibri"/>
                <a:ea typeface="Calibri"/>
              </a:rPr>
              <a:t>THE IDEAS</a:t>
            </a:r>
            <a:endParaRPr lang="en-US" sz="1100" noProof="1"/>
          </a:p>
        </p:txBody>
      </p:sp>
      <p:sp>
        <p:nvSpPr>
          <p:cNvPr id="4" name="Text 2"/>
          <p:cNvSpPr txBox="1"/>
          <p:nvPr/>
        </p:nvSpPr>
        <p:spPr>
          <a:xfrm>
            <a:off x="548640" y="2103120"/>
            <a:ext cx="8595360" cy="960120"/>
          </a:xfrm>
          <a:prstGeom prst="rect">
            <a:avLst/>
          </a:prstGeom>
          <a:noFill/>
          <a:ln>
            <a:noFill/>
          </a:ln>
        </p:spPr>
        <p:txBody>
          <a:bodyPr lIns="0" rIns="0" tIns="0" bIns="0" wrap="square" rtlCol="0" anchor="t"/>
          <a:lstStyle/>
          <a:p>
            <a:pPr algn="l" marL="0">
              <a:lnSpc>
                <a:spcPct val="120000"/>
              </a:lnSpc>
            </a:pPr>
            <a:r>
              <a:rPr lang="en-US" sz="3800" noProof="1" b="1">
                <a:solidFill>
                  <a:srgbClr val="F4F6FB"/>
                </a:solidFill>
                <a:latin typeface="Cambria"/>
                <a:ea typeface="Cambria"/>
              </a:rPr>
              <a:t>Seven ideas the web is built on</a:t>
            </a:r>
            <a:endParaRPr lang="en-US" sz="3800" noProof="1"/>
          </a:p>
        </p:txBody>
      </p:sp>
      <p:sp>
        <p:nvSpPr>
          <p:cNvPr id="5" name="Text 3"/>
          <p:cNvSpPr txBox="1"/>
          <p:nvPr/>
        </p:nvSpPr>
        <p:spPr>
          <a:xfrm>
            <a:off x="548640" y="3017520"/>
            <a:ext cx="6949440" cy="548640"/>
          </a:xfrm>
          <a:prstGeom prst="rect">
            <a:avLst/>
          </a:prstGeom>
          <a:noFill/>
          <a:ln>
            <a:noFill/>
          </a:ln>
        </p:spPr>
        <p:txBody>
          <a:bodyPr lIns="0" rIns="0" tIns="0" bIns="0" wrap="square" rtlCol="0" anchor="ctr"/>
          <a:lstStyle/>
          <a:p>
            <a:pPr algn="l" marL="0">
              <a:lnSpc>
                <a:spcPct val="118000"/>
              </a:lnSpc>
            </a:pPr>
            <a:r>
              <a:rPr lang="en-US" sz="1350" noProof="1">
                <a:solidFill>
                  <a:srgbClr val="B8C7E4"/>
                </a:solidFill>
                <a:latin typeface="Calibri"/>
                <a:ea typeface="Calibri"/>
              </a:rPr>
              <a:t>Enough of how HTTP actually behaves to make the levels legible. No payloads and no walkthroughs — just the model each level is bending.</a:t>
            </a:r>
            <a:endParaRPr lang="en-US" sz="1350" noProof="1"/>
          </a:p>
        </p:txBody>
      </p:sp>
      <p:sp>
        <p:nvSpPr>
          <p:cNvPr id="6" name="Text 4"/>
          <p:cNvSpPr txBox="1"/>
          <p:nvPr/>
        </p:nvSpPr>
        <p:spPr>
          <a:xfrm>
            <a:off x="548640" y="3977640"/>
            <a:ext cx="411480" cy="402590"/>
          </a:xfrm>
          <a:prstGeom prst="rect">
            <a:avLst/>
          </a:prstGeom>
          <a:noFill/>
          <a:ln>
            <a:noFill/>
          </a:ln>
        </p:spPr>
        <p:txBody>
          <a:bodyPr lIns="0" rIns="0" tIns="0" bIns="0" wrap="square" rtlCol="0" anchor="ctr"/>
          <a:lstStyle/>
          <a:p>
            <a:pPr algn="l" marL="0">
              <a:lnSpc>
                <a:spcPct val="120000"/>
              </a:lnSpc>
            </a:pPr>
            <a:r>
              <a:rPr lang="en-US" sz="1200" noProof="1" b="1">
                <a:solidFill>
                  <a:srgbClr val="E0559E"/>
                </a:solidFill>
                <a:latin typeface="Cambria"/>
                <a:ea typeface="Cambria"/>
              </a:rPr>
              <a:t>01</a:t>
            </a:r>
            <a:endParaRPr lang="en-US" sz="1200" noProof="1"/>
          </a:p>
        </p:txBody>
      </p:sp>
      <p:sp>
        <p:nvSpPr>
          <p:cNvPr id="7" name="Text 5"/>
          <p:cNvSpPr txBox="1"/>
          <p:nvPr/>
        </p:nvSpPr>
        <p:spPr>
          <a:xfrm>
            <a:off x="1005840" y="3977640"/>
            <a:ext cx="4663440" cy="402590"/>
          </a:xfrm>
          <a:prstGeom prst="rect">
            <a:avLst/>
          </a:prstGeom>
          <a:noFill/>
          <a:ln>
            <a:noFill/>
          </a:ln>
        </p:spPr>
        <p:txBody>
          <a:bodyPr lIns="0" rIns="0" tIns="0" bIns="0" wrap="square" rtlCol="0" anchor="ctr"/>
          <a:lstStyle/>
          <a:p>
            <a:pPr algn="l" marL="0">
              <a:lnSpc>
                <a:spcPct val="120000"/>
              </a:lnSpc>
            </a:pPr>
            <a:r>
              <a:rPr lang="en-US" sz="1300" noProof="1">
                <a:solidFill>
                  <a:srgbClr val="F4F6FB"/>
                </a:solidFill>
                <a:latin typeface="Calibri"/>
                <a:ea typeface="Calibri"/>
              </a:rPr>
              <a:t>Request and response</a:t>
            </a:r>
            <a:endParaRPr lang="en-US" sz="1300" noProof="1"/>
          </a:p>
        </p:txBody>
      </p:sp>
      <p:sp>
        <p:nvSpPr>
          <p:cNvPr id="8" name="Text 6"/>
          <p:cNvSpPr txBox="1"/>
          <p:nvPr/>
        </p:nvSpPr>
        <p:spPr>
          <a:xfrm>
            <a:off x="548640" y="4536440"/>
            <a:ext cx="411480" cy="402590"/>
          </a:xfrm>
          <a:prstGeom prst="rect">
            <a:avLst/>
          </a:prstGeom>
          <a:noFill/>
          <a:ln>
            <a:noFill/>
          </a:ln>
        </p:spPr>
        <p:txBody>
          <a:bodyPr lIns="0" rIns="0" tIns="0" bIns="0" wrap="square" rtlCol="0" anchor="ctr"/>
          <a:lstStyle/>
          <a:p>
            <a:pPr algn="l" marL="0">
              <a:lnSpc>
                <a:spcPct val="120000"/>
              </a:lnSpc>
            </a:pPr>
            <a:r>
              <a:rPr lang="en-US" sz="1200" noProof="1" b="1">
                <a:solidFill>
                  <a:srgbClr val="E0559E"/>
                </a:solidFill>
                <a:latin typeface="Cambria"/>
                <a:ea typeface="Cambria"/>
              </a:rPr>
              <a:t>02</a:t>
            </a:r>
            <a:endParaRPr lang="en-US" sz="1200" noProof="1"/>
          </a:p>
        </p:txBody>
      </p:sp>
      <p:sp>
        <p:nvSpPr>
          <p:cNvPr id="9" name="Text 7"/>
          <p:cNvSpPr txBox="1"/>
          <p:nvPr/>
        </p:nvSpPr>
        <p:spPr>
          <a:xfrm>
            <a:off x="1005840" y="4536440"/>
            <a:ext cx="4663440" cy="402590"/>
          </a:xfrm>
          <a:prstGeom prst="rect">
            <a:avLst/>
          </a:prstGeom>
          <a:noFill/>
          <a:ln>
            <a:noFill/>
          </a:ln>
        </p:spPr>
        <p:txBody>
          <a:bodyPr lIns="0" rIns="0" tIns="0" bIns="0" wrap="square" rtlCol="0" anchor="ctr"/>
          <a:lstStyle/>
          <a:p>
            <a:pPr algn="l" marL="0">
              <a:lnSpc>
                <a:spcPct val="120000"/>
              </a:lnSpc>
            </a:pPr>
            <a:r>
              <a:rPr lang="en-US" sz="1300" noProof="1">
                <a:solidFill>
                  <a:srgbClr val="F4F6FB"/>
                </a:solidFill>
                <a:latin typeface="Calibri"/>
                <a:ea typeface="Calibri"/>
              </a:rPr>
              <a:t>The client is not a boundary</a:t>
            </a:r>
            <a:endParaRPr lang="en-US" sz="1300" noProof="1"/>
          </a:p>
        </p:txBody>
      </p:sp>
      <p:sp>
        <p:nvSpPr>
          <p:cNvPr id="10" name="Text 8"/>
          <p:cNvSpPr txBox="1"/>
          <p:nvPr/>
        </p:nvSpPr>
        <p:spPr>
          <a:xfrm>
            <a:off x="548640" y="5095240"/>
            <a:ext cx="411480" cy="402590"/>
          </a:xfrm>
          <a:prstGeom prst="rect">
            <a:avLst/>
          </a:prstGeom>
          <a:noFill/>
          <a:ln>
            <a:noFill/>
          </a:ln>
        </p:spPr>
        <p:txBody>
          <a:bodyPr lIns="0" rIns="0" tIns="0" bIns="0" wrap="square" rtlCol="0" anchor="ctr"/>
          <a:lstStyle/>
          <a:p>
            <a:pPr algn="l" marL="0">
              <a:lnSpc>
                <a:spcPct val="120000"/>
              </a:lnSpc>
            </a:pPr>
            <a:r>
              <a:rPr lang="en-US" sz="1200" noProof="1" b="1">
                <a:solidFill>
                  <a:srgbClr val="E0559E"/>
                </a:solidFill>
                <a:latin typeface="Cambria"/>
                <a:ea typeface="Cambria"/>
              </a:rPr>
              <a:t>03</a:t>
            </a:r>
            <a:endParaRPr lang="en-US" sz="1200" noProof="1"/>
          </a:p>
        </p:txBody>
      </p:sp>
      <p:sp>
        <p:nvSpPr>
          <p:cNvPr id="11" name="Text 9"/>
          <p:cNvSpPr txBox="1"/>
          <p:nvPr/>
        </p:nvSpPr>
        <p:spPr>
          <a:xfrm>
            <a:off x="1005840" y="5095240"/>
            <a:ext cx="4663440" cy="402590"/>
          </a:xfrm>
          <a:prstGeom prst="rect">
            <a:avLst/>
          </a:prstGeom>
          <a:noFill/>
          <a:ln>
            <a:noFill/>
          </a:ln>
        </p:spPr>
        <p:txBody>
          <a:bodyPr lIns="0" rIns="0" tIns="0" bIns="0" wrap="square" rtlCol="0" anchor="ctr"/>
          <a:lstStyle/>
          <a:p>
            <a:pPr algn="l" marL="0">
              <a:lnSpc>
                <a:spcPct val="120000"/>
              </a:lnSpc>
            </a:pPr>
            <a:r>
              <a:rPr lang="en-US" sz="1300" noProof="1">
                <a:solidFill>
                  <a:srgbClr val="F4F6FB"/>
                </a:solidFill>
                <a:latin typeface="Calibri"/>
                <a:ea typeface="Calibri"/>
              </a:rPr>
              <a:t>Paths and traversal</a:t>
            </a:r>
            <a:endParaRPr lang="en-US" sz="1300" noProof="1"/>
          </a:p>
        </p:txBody>
      </p:sp>
      <p:sp>
        <p:nvSpPr>
          <p:cNvPr id="12" name="Text 10"/>
          <p:cNvSpPr txBox="1"/>
          <p:nvPr/>
        </p:nvSpPr>
        <p:spPr>
          <a:xfrm>
            <a:off x="548640" y="5654040"/>
            <a:ext cx="411480" cy="402590"/>
          </a:xfrm>
          <a:prstGeom prst="rect">
            <a:avLst/>
          </a:prstGeom>
          <a:noFill/>
          <a:ln>
            <a:noFill/>
          </a:ln>
        </p:spPr>
        <p:txBody>
          <a:bodyPr lIns="0" rIns="0" tIns="0" bIns="0" wrap="square" rtlCol="0" anchor="ctr"/>
          <a:lstStyle/>
          <a:p>
            <a:pPr algn="l" marL="0">
              <a:lnSpc>
                <a:spcPct val="120000"/>
              </a:lnSpc>
            </a:pPr>
            <a:r>
              <a:rPr lang="en-US" sz="1200" noProof="1" b="1">
                <a:solidFill>
                  <a:srgbClr val="E0559E"/>
                </a:solidFill>
                <a:latin typeface="Cambria"/>
                <a:ea typeface="Cambria"/>
              </a:rPr>
              <a:t>04</a:t>
            </a:r>
            <a:endParaRPr lang="en-US" sz="1200" noProof="1"/>
          </a:p>
        </p:txBody>
      </p:sp>
      <p:sp>
        <p:nvSpPr>
          <p:cNvPr id="13" name="Text 11"/>
          <p:cNvSpPr txBox="1"/>
          <p:nvPr/>
        </p:nvSpPr>
        <p:spPr>
          <a:xfrm>
            <a:off x="1005840" y="5654040"/>
            <a:ext cx="4663440" cy="402590"/>
          </a:xfrm>
          <a:prstGeom prst="rect">
            <a:avLst/>
          </a:prstGeom>
          <a:noFill/>
          <a:ln>
            <a:noFill/>
          </a:ln>
        </p:spPr>
        <p:txBody>
          <a:bodyPr lIns="0" rIns="0" tIns="0" bIns="0" wrap="square" rtlCol="0" anchor="ctr"/>
          <a:lstStyle/>
          <a:p>
            <a:pPr algn="l" marL="0">
              <a:lnSpc>
                <a:spcPct val="120000"/>
              </a:lnSpc>
            </a:pPr>
            <a:r>
              <a:rPr lang="en-US" sz="1300" noProof="1">
                <a:solidFill>
                  <a:srgbClr val="F4F6FB"/>
                </a:solidFill>
                <a:latin typeface="Calibri"/>
                <a:ea typeface="Calibri"/>
              </a:rPr>
              <a:t>Cookies, headers and sessions</a:t>
            </a:r>
            <a:endParaRPr lang="en-US" sz="1300" noProof="1"/>
          </a:p>
        </p:txBody>
      </p:sp>
      <p:sp>
        <p:nvSpPr>
          <p:cNvPr id="14" name="Text 12"/>
          <p:cNvSpPr txBox="1"/>
          <p:nvPr/>
        </p:nvSpPr>
        <p:spPr>
          <a:xfrm>
            <a:off x="6126480" y="3977640"/>
            <a:ext cx="411480" cy="402590"/>
          </a:xfrm>
          <a:prstGeom prst="rect">
            <a:avLst/>
          </a:prstGeom>
          <a:noFill/>
          <a:ln>
            <a:noFill/>
          </a:ln>
        </p:spPr>
        <p:txBody>
          <a:bodyPr lIns="0" rIns="0" tIns="0" bIns="0" wrap="square" rtlCol="0" anchor="ctr"/>
          <a:lstStyle/>
          <a:p>
            <a:pPr algn="l" marL="0">
              <a:lnSpc>
                <a:spcPct val="120000"/>
              </a:lnSpc>
            </a:pPr>
            <a:r>
              <a:rPr lang="en-US" sz="1200" noProof="1" b="1">
                <a:solidFill>
                  <a:srgbClr val="E0559E"/>
                </a:solidFill>
                <a:latin typeface="Cambria"/>
                <a:ea typeface="Cambria"/>
              </a:rPr>
              <a:t>05</a:t>
            </a:r>
            <a:endParaRPr lang="en-US" sz="1200" noProof="1"/>
          </a:p>
        </p:txBody>
      </p:sp>
      <p:sp>
        <p:nvSpPr>
          <p:cNvPr id="15" name="Text 13"/>
          <p:cNvSpPr txBox="1"/>
          <p:nvPr/>
        </p:nvSpPr>
        <p:spPr>
          <a:xfrm>
            <a:off x="6583680" y="3977640"/>
            <a:ext cx="4663440" cy="402590"/>
          </a:xfrm>
          <a:prstGeom prst="rect">
            <a:avLst/>
          </a:prstGeom>
          <a:noFill/>
          <a:ln>
            <a:noFill/>
          </a:ln>
        </p:spPr>
        <p:txBody>
          <a:bodyPr lIns="0" rIns="0" tIns="0" bIns="0" wrap="square" rtlCol="0" anchor="ctr"/>
          <a:lstStyle/>
          <a:p>
            <a:pPr algn="l" marL="0">
              <a:lnSpc>
                <a:spcPct val="120000"/>
              </a:lnSpc>
            </a:pPr>
            <a:r>
              <a:rPr lang="en-US" sz="1300" noProof="1">
                <a:solidFill>
                  <a:srgbClr val="F4F6FB"/>
                </a:solidFill>
                <a:latin typeface="Calibri"/>
                <a:ea typeface="Calibri"/>
              </a:rPr>
              <a:t>Input that becomes instruction</a:t>
            </a:r>
            <a:endParaRPr lang="en-US" sz="1300" noProof="1"/>
          </a:p>
        </p:txBody>
      </p:sp>
      <p:sp>
        <p:nvSpPr>
          <p:cNvPr id="16" name="Text 14"/>
          <p:cNvSpPr txBox="1"/>
          <p:nvPr/>
        </p:nvSpPr>
        <p:spPr>
          <a:xfrm>
            <a:off x="6126480" y="4536440"/>
            <a:ext cx="411480" cy="402590"/>
          </a:xfrm>
          <a:prstGeom prst="rect">
            <a:avLst/>
          </a:prstGeom>
          <a:noFill/>
          <a:ln>
            <a:noFill/>
          </a:ln>
        </p:spPr>
        <p:txBody>
          <a:bodyPr lIns="0" rIns="0" tIns="0" bIns="0" wrap="square" rtlCol="0" anchor="ctr"/>
          <a:lstStyle/>
          <a:p>
            <a:pPr algn="l" marL="0">
              <a:lnSpc>
                <a:spcPct val="120000"/>
              </a:lnSpc>
            </a:pPr>
            <a:r>
              <a:rPr lang="en-US" sz="1200" noProof="1" b="1">
                <a:solidFill>
                  <a:srgbClr val="E0559E"/>
                </a:solidFill>
                <a:latin typeface="Cambria"/>
                <a:ea typeface="Cambria"/>
              </a:rPr>
              <a:t>06</a:t>
            </a:r>
            <a:endParaRPr lang="en-US" sz="1200" noProof="1"/>
          </a:p>
        </p:txBody>
      </p:sp>
      <p:sp>
        <p:nvSpPr>
          <p:cNvPr id="17" name="Text 15"/>
          <p:cNvSpPr txBox="1"/>
          <p:nvPr/>
        </p:nvSpPr>
        <p:spPr>
          <a:xfrm>
            <a:off x="6583680" y="4536440"/>
            <a:ext cx="4663440" cy="402590"/>
          </a:xfrm>
          <a:prstGeom prst="rect">
            <a:avLst/>
          </a:prstGeom>
          <a:noFill/>
          <a:ln>
            <a:noFill/>
          </a:ln>
        </p:spPr>
        <p:txBody>
          <a:bodyPr lIns="0" rIns="0" tIns="0" bIns="0" wrap="square" rtlCol="0" anchor="ctr"/>
          <a:lstStyle/>
          <a:p>
            <a:pPr algn="l" marL="0">
              <a:lnSpc>
                <a:spcPct val="120000"/>
              </a:lnSpc>
            </a:pPr>
            <a:r>
              <a:rPr lang="en-US" sz="1300" noProof="1">
                <a:solidFill>
                  <a:srgbClr val="F4F6FB"/>
                </a:solidFill>
                <a:latin typeface="Calibri"/>
                <a:ea typeface="Calibri"/>
              </a:rPr>
              <a:t>Reversible is not secret</a:t>
            </a:r>
            <a:endParaRPr lang="en-US" sz="1300" noProof="1"/>
          </a:p>
        </p:txBody>
      </p:sp>
      <p:sp>
        <p:nvSpPr>
          <p:cNvPr id="18" name="Text 16"/>
          <p:cNvSpPr txBox="1"/>
          <p:nvPr/>
        </p:nvSpPr>
        <p:spPr>
          <a:xfrm>
            <a:off x="6126480" y="5095240"/>
            <a:ext cx="411480" cy="402590"/>
          </a:xfrm>
          <a:prstGeom prst="rect">
            <a:avLst/>
          </a:prstGeom>
          <a:noFill/>
          <a:ln>
            <a:noFill/>
          </a:ln>
        </p:spPr>
        <p:txBody>
          <a:bodyPr lIns="0" rIns="0" tIns="0" bIns="0" wrap="square" rtlCol="0" anchor="ctr"/>
          <a:lstStyle/>
          <a:p>
            <a:pPr algn="l" marL="0">
              <a:lnSpc>
                <a:spcPct val="120000"/>
              </a:lnSpc>
            </a:pPr>
            <a:r>
              <a:rPr lang="en-US" sz="1200" noProof="1" b="1">
                <a:solidFill>
                  <a:srgbClr val="E0559E"/>
                </a:solidFill>
                <a:latin typeface="Cambria"/>
                <a:ea typeface="Cambria"/>
              </a:rPr>
              <a:t>07</a:t>
            </a:r>
            <a:endParaRPr lang="en-US" sz="1200" noProof="1"/>
          </a:p>
        </p:txBody>
      </p:sp>
      <p:sp>
        <p:nvSpPr>
          <p:cNvPr id="19" name="Text 17"/>
          <p:cNvSpPr txBox="1"/>
          <p:nvPr/>
        </p:nvSpPr>
        <p:spPr>
          <a:xfrm>
            <a:off x="6583680" y="5095240"/>
            <a:ext cx="4663440" cy="402590"/>
          </a:xfrm>
          <a:prstGeom prst="rect">
            <a:avLst/>
          </a:prstGeom>
          <a:noFill/>
          <a:ln>
            <a:noFill/>
          </a:ln>
        </p:spPr>
        <p:txBody>
          <a:bodyPr lIns="0" rIns="0" tIns="0" bIns="0" wrap="square" rtlCol="0" anchor="ctr"/>
          <a:lstStyle/>
          <a:p>
            <a:pPr algn="l" marL="0">
              <a:lnSpc>
                <a:spcPct val="120000"/>
              </a:lnSpc>
            </a:pPr>
            <a:r>
              <a:rPr lang="en-US" sz="1300" noProof="1">
                <a:solidFill>
                  <a:srgbClr val="F4F6FB"/>
                </a:solidFill>
                <a:latin typeface="Calibri"/>
                <a:ea typeface="Calibri"/>
              </a:rPr>
              <a:t>The data layer</a:t>
            </a:r>
            <a:endParaRPr lang="en-US" sz="1300" noProof="1"/>
          </a:p>
        </p:txBody>
      </p:sp>
      <p:sp>
        <p:nvSpPr>
          <p:cNvPr id="20" name="Text 18"/>
          <p:cNvSpPr txBox="1"/>
          <p:nvPr/>
        </p:nvSpPr>
        <p:spPr>
          <a:xfrm>
            <a:off x="548640" y="6446520"/>
            <a:ext cx="40640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03 / 04</a:t>
            </a:r>
            <a:endParaRPr lang="en-US" sz="1000" noProof="1"/>
          </a:p>
        </p:txBody>
      </p:sp>
      <p:sp>
        <p:nvSpPr>
          <p:cNvPr id="21" name="Text 19"/>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03</a:t>
            </a:r>
            <a:endParaRPr lang="en-US" sz="1000" noProof="1"/>
          </a:p>
        </p:txBody>
      </p:sp>
    </p:spTree>
  </p:cSld>
  <p:clrMapOvr>
    <a:masterClrMapping/>
  </p:clrMapOvr>
  <p:transition spd="fast" advClick="1">
    <p:fade/>
  </p:transition>
</p:sld>
</file>

<file path=ppt/slides/slide4.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57200"/>
            <a:ext cx="11094720" cy="274320"/>
          </a:xfrm>
          <a:prstGeom prst="rect">
            <a:avLst/>
          </a:prstGeom>
          <a:noFill/>
          <a:ln>
            <a:noFill/>
          </a:ln>
        </p:spPr>
        <p:txBody>
          <a:bodyPr lIns="0" rIns="0" tIns="0" bIns="0" wrap="square" rtlCol="0" anchor="ctr"/>
          <a:lstStyle/>
          <a:p>
            <a:pPr algn="l" marL="0">
              <a:lnSpc>
                <a:spcPct val="120000"/>
              </a:lnSpc>
            </a:pPr>
            <a:r>
              <a:rPr lang="en-US" sz="1100" noProof="1" b="1" spc="120" kern="0">
                <a:solidFill>
                  <a:srgbClr val="E0559E"/>
                </a:solidFill>
                <a:latin typeface="Calibri"/>
                <a:ea typeface="Calibri"/>
              </a:rPr>
              <a:t>THEORY  01 / 07</a:t>
            </a:r>
            <a:endParaRPr lang="en-US" sz="1100" noProof="1"/>
          </a:p>
        </p:txBody>
      </p:sp>
      <p:sp>
        <p:nvSpPr>
          <p:cNvPr id="3" name="Text 1"/>
          <p:cNvSpPr txBox="1"/>
          <p:nvPr/>
        </p:nvSpPr>
        <p:spPr>
          <a:xfrm>
            <a:off x="548640" y="749300"/>
            <a:ext cx="11094720" cy="566420"/>
          </a:xfrm>
          <a:prstGeom prst="rect">
            <a:avLst/>
          </a:prstGeom>
          <a:noFill/>
          <a:ln>
            <a:noFill/>
          </a:ln>
        </p:spPr>
        <p:txBody>
          <a:bodyPr lIns="0" rIns="0" tIns="0" bIns="0" wrap="square" rtlCol="0" anchor="ctr"/>
          <a:lstStyle/>
          <a:p>
            <a:pPr algn="l" marL="0">
              <a:lnSpc>
                <a:spcPct val="120000"/>
              </a:lnSpc>
            </a:pPr>
            <a:r>
              <a:rPr lang="en-US" sz="3200" noProof="1" b="1">
                <a:solidFill>
                  <a:srgbClr val="F4F6FB"/>
                </a:solidFill>
                <a:latin typeface="Cambria"/>
                <a:ea typeface="Cambria"/>
              </a:rPr>
              <a:t>Request and response</a:t>
            </a:r>
            <a:endParaRPr lang="en-US" sz="3200" noProof="1"/>
          </a:p>
        </p:txBody>
      </p:sp>
      <p:sp>
        <p:nvSpPr>
          <p:cNvPr id="4" name="Text 2"/>
          <p:cNvSpPr txBox="1"/>
          <p:nvPr/>
        </p:nvSpPr>
        <p:spPr>
          <a:xfrm>
            <a:off x="548640" y="1389380"/>
            <a:ext cx="9814560" cy="474980"/>
          </a:xfrm>
          <a:prstGeom prst="rect">
            <a:avLst/>
          </a:prstGeom>
          <a:noFill/>
          <a:ln>
            <a:noFill/>
          </a:ln>
        </p:spPr>
        <p:txBody>
          <a:bodyPr lIns="0" rIns="0" tIns="0" bIns="0" wrap="square" rtlCol="0" anchor="ctr"/>
          <a:lstStyle/>
          <a:p>
            <a:pPr algn="l" marL="0">
              <a:lnSpc>
                <a:spcPct val="115000"/>
              </a:lnSpc>
            </a:pPr>
            <a:r>
              <a:rPr lang="en-US" sz="1400" noProof="1">
                <a:solidFill>
                  <a:srgbClr val="B8C7E4"/>
                </a:solidFill>
                <a:latin typeface="Calibri"/>
                <a:ea typeface="Calibri"/>
              </a:rPr>
              <a:t>HTTP is one request, one reply, and no memory of either afterwards.</a:t>
            </a:r>
            <a:endParaRPr lang="en-US" sz="1400" noProof="1"/>
          </a:p>
        </p:txBody>
      </p:sp>
      <p:sp>
        <p:nvSpPr>
          <p:cNvPr id="5" name="Shape 3"/>
          <p:cNvSpPr/>
          <p:nvPr/>
        </p:nvSpPr>
        <p:spPr>
          <a:xfrm>
            <a:off x="548640" y="2148840"/>
            <a:ext cx="5577840" cy="3683000"/>
          </a:xfrm>
          <a:prstGeom prst="roundRect">
            <a:avLst>
              <a:gd name="adj" fmla="val 2632"/>
            </a:avLst>
          </a:prstGeom>
          <a:solidFill>
            <a:srgbClr val="141F30"/>
          </a:solidFill>
          <a:ln>
            <a:noFill/>
          </a:ln>
        </p:spPr>
      </p:sp>
      <p:sp>
        <p:nvSpPr>
          <p:cNvPr id="6" name="Text 4"/>
          <p:cNvSpPr txBox="1"/>
          <p:nvPr/>
        </p:nvSpPr>
        <p:spPr>
          <a:xfrm>
            <a:off x="859790" y="242316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E0559E"/>
                </a:solidFill>
                <a:latin typeface="Calibri"/>
                <a:ea typeface="Calibri"/>
              </a:rPr>
              <a:t>WHAT IT IS</a:t>
            </a:r>
            <a:endParaRPr lang="en-US" sz="950" noProof="1"/>
          </a:p>
        </p:txBody>
      </p:sp>
      <p:sp>
        <p:nvSpPr>
          <p:cNvPr id="7" name="Text 5"/>
          <p:cNvSpPr txBox="1"/>
          <p:nvPr/>
        </p:nvSpPr>
        <p:spPr>
          <a:xfrm>
            <a:off x="859790" y="2697480"/>
            <a:ext cx="4955540" cy="13716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A browser sends a request: a method, a path, a set of headers and sometimes a body. The server replies with a status, its own headers and some content. Then it forgets you entirely. Anything the server needs to know next time has to be carried along in the next request.</a:t>
            </a:r>
            <a:endParaRPr lang="en-US" sz="1200" noProof="1"/>
          </a:p>
        </p:txBody>
      </p:sp>
      <p:sp>
        <p:nvSpPr>
          <p:cNvPr id="8" name="Text 6"/>
          <p:cNvSpPr txBox="1"/>
          <p:nvPr/>
        </p:nvSpPr>
        <p:spPr>
          <a:xfrm>
            <a:off x="859790" y="421386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E0559E"/>
                </a:solidFill>
                <a:latin typeface="Calibri"/>
                <a:ea typeface="Calibri"/>
              </a:rPr>
              <a:t>WHY IT MATTERS HERE</a:t>
            </a:r>
            <a:endParaRPr lang="en-US" sz="950" noProof="1"/>
          </a:p>
        </p:txBody>
      </p:sp>
      <p:sp>
        <p:nvSpPr>
          <p:cNvPr id="9" name="Text 7"/>
          <p:cNvSpPr txBox="1"/>
          <p:nvPr/>
        </p:nvSpPr>
        <p:spPr>
          <a:xfrm>
            <a:off x="859790" y="4488180"/>
            <a:ext cx="4955540" cy="13716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Every input on this track arrives inside one of those parts. Being able to say exactly where a value lives — in the path, a header, a cookie or the body — is most of the work on most levels.</a:t>
            </a:r>
            <a:endParaRPr lang="en-US" sz="1200" noProof="1"/>
          </a:p>
        </p:txBody>
      </p:sp>
      <p:sp>
        <p:nvSpPr>
          <p:cNvPr id="10" name="Shape 8"/>
          <p:cNvSpPr/>
          <p:nvPr/>
        </p:nvSpPr>
        <p:spPr>
          <a:xfrm>
            <a:off x="6383020" y="2148840"/>
            <a:ext cx="5260340" cy="3683000"/>
          </a:xfrm>
          <a:prstGeom prst="roundRect">
            <a:avLst>
              <a:gd name="adj" fmla="val 2632"/>
            </a:avLst>
          </a:prstGeom>
          <a:solidFill>
            <a:srgbClr val="141F30"/>
          </a:solidFill>
          <a:ln>
            <a:noFill/>
          </a:ln>
        </p:spPr>
      </p:sp>
      <p:sp>
        <p:nvSpPr>
          <p:cNvPr id="11" name="Text 9"/>
          <p:cNvSpPr txBox="1"/>
          <p:nvPr/>
        </p:nvSpPr>
        <p:spPr>
          <a:xfrm>
            <a:off x="6657340" y="2405380"/>
            <a:ext cx="4711700" cy="3175000"/>
          </a:xfrm>
          <a:prstGeom prst="rect">
            <a:avLst/>
          </a:prstGeom>
          <a:noFill/>
          <a:ln>
            <a:noFill/>
          </a:ln>
        </p:spPr>
        <p:txBody>
          <a:bodyPr lIns="0" rIns="0" tIns="0" bIns="0" wrap="square" rtlCol="0" anchor="t"/>
          <a:lstStyle/>
          <a:p>
            <a:pPr algn="l" marL="0">
              <a:lnSpc>
                <a:spcPct val="112000"/>
              </a:lnSpc>
            </a:pPr>
            <a:r>
              <a:rPr lang="en-US" sz="1050" noProof="1">
                <a:solidFill>
                  <a:srgbClr val="F4F6FB"/>
                </a:solidFill>
                <a:latin typeface="Courier New"/>
                <a:ea typeface="Courier New"/>
              </a:rPr>
              <a:t>GET /index.php HTTP/1.1      &lt;- method, path</a:t>
            </a:r>
            <a:endParaRPr lang="en-US" sz="1050" noProof="1"/>
          </a:p>
          <a:p>
            <a:pPr algn="l" marL="0">
              <a:lnSpc>
                <a:spcPct val="112000"/>
              </a:lnSpc>
            </a:pPr>
            <a:r>
              <a:rPr lang="en-US" sz="1050" noProof="1">
                <a:solidFill>
                  <a:srgbClr val="F4F6FB"/>
                </a:solidFill>
                <a:latin typeface="Courier New"/>
                <a:ea typeface="Courier New"/>
              </a:rPr>
              <a:t>Host: target                 &lt;- headers</a:t>
            </a:r>
            <a:endParaRPr lang="en-US" sz="1050" noProof="1"/>
          </a:p>
          <a:p>
            <a:pPr algn="l" marL="0">
              <a:lnSpc>
                <a:spcPct val="112000"/>
              </a:lnSpc>
            </a:pPr>
            <a:r>
              <a:rPr lang="en-US" sz="1050" noProof="1">
                <a:solidFill>
                  <a:srgbClr val="F4F6FB"/>
                </a:solidFill>
                <a:latin typeface="Courier New"/>
                <a:ea typeface="Courier New"/>
              </a:rPr>
              <a:t>Cookie: session=abc123</a:t>
            </a:r>
            <a:endParaRPr lang="en-US" sz="1050" noProof="1"/>
          </a:p>
          <a:p>
            <a:pPr algn="l" marL="0">
              <a:lnSpc>
                <a:spcPct val="112000"/>
              </a:lnSpc>
            </a:pPr>
            <a:r>
              <a:rPr lang="en-US" sz="1050" noProof="1">
                <a:solidFill>
                  <a:srgbClr val="F4F6FB"/>
                </a:solidFill>
                <a:latin typeface="Courier New"/>
                <a:ea typeface="Courier New"/>
              </a:rPr>
              <a:t>Referer: http://example/</a:t>
            </a:r>
            <a:endParaRPr lang="en-US" sz="1050" noProof="1"/>
          </a:p>
          <a:p>
            <a:pPr algn="l" marL="0">
              <a:lnSpc>
                <a:spcPct val="112000"/>
              </a:lnSpc>
            </a:pPr>
            <a:r>
              <a:rPr lang="en-US" sz="1050" noProof="1">
                <a:solidFill>
                  <a:srgbClr val="F4F6FB"/>
                </a:solidFill>
                <a:latin typeface="Courier New"/>
                <a:ea typeface="Courier New"/>
              </a:rPr>
              <a:t>User-Agent: Mozilla/5.0</a:t>
            </a:r>
            <a:endParaRPr lang="en-US" sz="1050" noProof="1"/>
          </a:p>
          <a:p>
            <a:pPr algn="l" marL="0">
              <a:lnSpc>
                <a:spcPct val="112000"/>
              </a:lnSpc>
            </a:pPr>
            <a:r>
              <a:rPr lang="en-US" sz="1050" noProof="1">
                <a:solidFill>
                  <a:srgbClr val="F4F6FB"/>
                </a:solidFill>
                <a:latin typeface="Courier New"/>
                <a:ea typeface="Courier New"/>
              </a:rPr>
              <a:t>                             &lt;- blank line</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a:solidFill>
                  <a:srgbClr val="F4F6FB"/>
                </a:solidFill>
                <a:latin typeface="Courier New"/>
                <a:ea typeface="Courier New"/>
              </a:rPr>
              <a:t>HTTP/1.1 200 OK              &lt;- status</a:t>
            </a:r>
            <a:endParaRPr lang="en-US" sz="1050" noProof="1"/>
          </a:p>
          <a:p>
            <a:pPr algn="l" marL="0">
              <a:lnSpc>
                <a:spcPct val="112000"/>
              </a:lnSpc>
            </a:pPr>
            <a:r>
              <a:rPr lang="en-US" sz="1050" noProof="1">
                <a:solidFill>
                  <a:srgbClr val="F4F6FB"/>
                </a:solidFill>
                <a:latin typeface="Courier New"/>
                <a:ea typeface="Courier New"/>
              </a:rPr>
              <a:t>Content-Type: text/html      &lt;- headers</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a:solidFill>
                  <a:srgbClr val="F4F6FB"/>
                </a:solidFill>
                <a:latin typeface="Courier New"/>
                <a:ea typeface="Courier New"/>
              </a:rPr>
              <a:t>&lt;html&gt;...&lt;/html&gt;             &lt;- body</a:t>
            </a:r>
            <a:endParaRPr lang="en-US" sz="1050" noProof="1"/>
          </a:p>
        </p:txBody>
      </p:sp>
      <p:sp>
        <p:nvSpPr>
          <p:cNvPr id="12" name="Text 10"/>
          <p:cNvSpPr txBox="1"/>
          <p:nvPr/>
        </p:nvSpPr>
        <p:spPr>
          <a:xfrm>
            <a:off x="548640" y="6070600"/>
            <a:ext cx="11094720" cy="274320"/>
          </a:xfrm>
          <a:prstGeom prst="rect">
            <a:avLst/>
          </a:prstGeom>
          <a:noFill/>
          <a:ln>
            <a:noFill/>
          </a:ln>
        </p:spPr>
        <p:txBody>
          <a:bodyPr lIns="0" rIns="0" tIns="0" bIns="0" wrap="square" rtlCol="0" anchor="ctr"/>
          <a:lstStyle/>
          <a:p>
            <a:pPr algn="l" marL="0">
              <a:lnSpc>
                <a:spcPct val="120000"/>
              </a:lnSpc>
            </a:pPr>
            <a:r>
              <a:rPr lang="en-US" sz="1250" noProof="1" i="1">
                <a:solidFill>
                  <a:srgbClr val="E0559E"/>
                </a:solidFill>
                <a:latin typeface="Calibri"/>
                <a:ea typeface="Calibri"/>
              </a:rPr>
              <a:t>Name the part a value lives in, and you have named where to change it.</a:t>
            </a:r>
            <a:endParaRPr lang="en-US" sz="1250" noProof="1"/>
          </a:p>
        </p:txBody>
      </p:sp>
      <p:sp>
        <p:nvSpPr>
          <p:cNvPr id="13" name="Text 11"/>
          <p:cNvSpPr txBox="1"/>
          <p:nvPr/>
        </p:nvSpPr>
        <p:spPr>
          <a:xfrm>
            <a:off x="548640" y="6446520"/>
            <a:ext cx="40640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03 / 04</a:t>
            </a:r>
            <a:endParaRPr lang="en-US" sz="1000" noProof="1"/>
          </a:p>
        </p:txBody>
      </p:sp>
      <p:sp>
        <p:nvSpPr>
          <p:cNvPr id="14" name="Text 12"/>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04</a:t>
            </a:r>
            <a:endParaRPr lang="en-US" sz="1000" noProof="1"/>
          </a:p>
        </p:txBody>
      </p:sp>
    </p:spTree>
  </p:cSld>
  <p:clrMapOvr>
    <a:masterClrMapping/>
  </p:clrMapOvr>
  <p:transition spd="fast" advClick="1">
    <p:fade/>
  </p:transition>
</p:sld>
</file>

<file path=ppt/slides/slide5.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57200"/>
            <a:ext cx="11094720" cy="274320"/>
          </a:xfrm>
          <a:prstGeom prst="rect">
            <a:avLst/>
          </a:prstGeom>
          <a:noFill/>
          <a:ln>
            <a:noFill/>
          </a:ln>
        </p:spPr>
        <p:txBody>
          <a:bodyPr lIns="0" rIns="0" tIns="0" bIns="0" wrap="square" rtlCol="0" anchor="ctr"/>
          <a:lstStyle/>
          <a:p>
            <a:pPr algn="l" marL="0">
              <a:lnSpc>
                <a:spcPct val="120000"/>
              </a:lnSpc>
            </a:pPr>
            <a:r>
              <a:rPr lang="en-US" sz="1100" noProof="1" b="1" spc="120" kern="0">
                <a:solidFill>
                  <a:srgbClr val="E0559E"/>
                </a:solidFill>
                <a:latin typeface="Calibri"/>
                <a:ea typeface="Calibri"/>
              </a:rPr>
              <a:t>THEORY  02 / 07</a:t>
            </a:r>
            <a:endParaRPr lang="en-US" sz="1100" noProof="1"/>
          </a:p>
        </p:txBody>
      </p:sp>
      <p:sp>
        <p:nvSpPr>
          <p:cNvPr id="3" name="Text 1"/>
          <p:cNvSpPr txBox="1"/>
          <p:nvPr/>
        </p:nvSpPr>
        <p:spPr>
          <a:xfrm>
            <a:off x="548640" y="749300"/>
            <a:ext cx="11094720" cy="566420"/>
          </a:xfrm>
          <a:prstGeom prst="rect">
            <a:avLst/>
          </a:prstGeom>
          <a:noFill/>
          <a:ln>
            <a:noFill/>
          </a:ln>
        </p:spPr>
        <p:txBody>
          <a:bodyPr lIns="0" rIns="0" tIns="0" bIns="0" wrap="square" rtlCol="0" anchor="ctr"/>
          <a:lstStyle/>
          <a:p>
            <a:pPr algn="l" marL="0">
              <a:lnSpc>
                <a:spcPct val="120000"/>
              </a:lnSpc>
            </a:pPr>
            <a:r>
              <a:rPr lang="en-US" sz="3200" noProof="1" b="1">
                <a:solidFill>
                  <a:srgbClr val="F4F6FB"/>
                </a:solidFill>
                <a:latin typeface="Cambria"/>
                <a:ea typeface="Cambria"/>
              </a:rPr>
              <a:t>The client is not a boundary</a:t>
            </a:r>
            <a:endParaRPr lang="en-US" sz="3200" noProof="1"/>
          </a:p>
        </p:txBody>
      </p:sp>
      <p:sp>
        <p:nvSpPr>
          <p:cNvPr id="4" name="Text 2"/>
          <p:cNvSpPr txBox="1"/>
          <p:nvPr/>
        </p:nvSpPr>
        <p:spPr>
          <a:xfrm>
            <a:off x="548640" y="1389380"/>
            <a:ext cx="9814560" cy="474980"/>
          </a:xfrm>
          <a:prstGeom prst="rect">
            <a:avLst/>
          </a:prstGeom>
          <a:noFill/>
          <a:ln>
            <a:noFill/>
          </a:ln>
        </p:spPr>
        <p:txBody>
          <a:bodyPr lIns="0" rIns="0" tIns="0" bIns="0" wrap="square" rtlCol="0" anchor="ctr"/>
          <a:lstStyle/>
          <a:p>
            <a:pPr algn="l" marL="0">
              <a:lnSpc>
                <a:spcPct val="115000"/>
              </a:lnSpc>
            </a:pPr>
            <a:r>
              <a:rPr lang="en-US" sz="1400" noProof="1">
                <a:solidFill>
                  <a:srgbClr val="B8C7E4"/>
                </a:solidFill>
                <a:latin typeface="Calibri"/>
                <a:ea typeface="Calibri"/>
              </a:rPr>
              <a:t>Everything the browser does happens on your machine, under your control.</a:t>
            </a:r>
            <a:endParaRPr lang="en-US" sz="1400" noProof="1"/>
          </a:p>
        </p:txBody>
      </p:sp>
      <p:sp>
        <p:nvSpPr>
          <p:cNvPr id="5" name="Shape 3"/>
          <p:cNvSpPr/>
          <p:nvPr/>
        </p:nvSpPr>
        <p:spPr>
          <a:xfrm>
            <a:off x="548640" y="2148840"/>
            <a:ext cx="5577840" cy="3683000"/>
          </a:xfrm>
          <a:prstGeom prst="roundRect">
            <a:avLst>
              <a:gd name="adj" fmla="val 2632"/>
            </a:avLst>
          </a:prstGeom>
          <a:solidFill>
            <a:srgbClr val="141F30"/>
          </a:solidFill>
          <a:ln>
            <a:noFill/>
          </a:ln>
        </p:spPr>
      </p:sp>
      <p:sp>
        <p:nvSpPr>
          <p:cNvPr id="6" name="Text 4"/>
          <p:cNvSpPr txBox="1"/>
          <p:nvPr/>
        </p:nvSpPr>
        <p:spPr>
          <a:xfrm>
            <a:off x="859790" y="242316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E0559E"/>
                </a:solidFill>
                <a:latin typeface="Calibri"/>
                <a:ea typeface="Calibri"/>
              </a:rPr>
              <a:t>WHAT IT IS</a:t>
            </a:r>
            <a:endParaRPr lang="en-US" sz="950" noProof="1"/>
          </a:p>
        </p:txBody>
      </p:sp>
      <p:sp>
        <p:nvSpPr>
          <p:cNvPr id="7" name="Text 5"/>
          <p:cNvSpPr txBox="1"/>
          <p:nvPr/>
        </p:nvSpPr>
        <p:spPr>
          <a:xfrm>
            <a:off x="859790" y="2697480"/>
            <a:ext cx="4955540" cy="13716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The page source, the scripts, the hidden fields, the disabled buttons and the validation messages are all delivered to you and run by you. You can read every byte of it, and you can decline to run any of it. A request does not even have to come from a browser.</a:t>
            </a:r>
            <a:endParaRPr lang="en-US" sz="1200" noProof="1"/>
          </a:p>
        </p:txBody>
      </p:sp>
      <p:sp>
        <p:nvSpPr>
          <p:cNvPr id="8" name="Text 6"/>
          <p:cNvSpPr txBox="1"/>
          <p:nvPr/>
        </p:nvSpPr>
        <p:spPr>
          <a:xfrm>
            <a:off x="859790" y="421386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E0559E"/>
                </a:solidFill>
                <a:latin typeface="Calibri"/>
                <a:ea typeface="Calibri"/>
              </a:rPr>
              <a:t>WHY IT MATTERS HERE</a:t>
            </a:r>
            <a:endParaRPr lang="en-US" sz="950" noProof="1"/>
          </a:p>
        </p:txBody>
      </p:sp>
      <p:sp>
        <p:nvSpPr>
          <p:cNvPr id="9" name="Text 7"/>
          <p:cNvSpPr txBox="1"/>
          <p:nvPr/>
        </p:nvSpPr>
        <p:spPr>
          <a:xfrm>
            <a:off x="859790" y="4488180"/>
            <a:ext cx="4955540" cy="13716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A lot of web software confuses "the interface won't let you" with "it cannot happen". Only a check that runs on the server is a check at all. This one idea unlocks the whole track.</a:t>
            </a:r>
            <a:endParaRPr lang="en-US" sz="1200" noProof="1"/>
          </a:p>
        </p:txBody>
      </p:sp>
      <p:sp>
        <p:nvSpPr>
          <p:cNvPr id="10" name="Shape 8"/>
          <p:cNvSpPr/>
          <p:nvPr/>
        </p:nvSpPr>
        <p:spPr>
          <a:xfrm>
            <a:off x="6383020" y="2148840"/>
            <a:ext cx="5260340" cy="3683000"/>
          </a:xfrm>
          <a:prstGeom prst="roundRect">
            <a:avLst>
              <a:gd name="adj" fmla="val 2632"/>
            </a:avLst>
          </a:prstGeom>
          <a:solidFill>
            <a:srgbClr val="141F30"/>
          </a:solidFill>
          <a:ln>
            <a:noFill/>
          </a:ln>
        </p:spPr>
      </p:sp>
      <p:sp>
        <p:nvSpPr>
          <p:cNvPr id="11" name="Text 9"/>
          <p:cNvSpPr txBox="1"/>
          <p:nvPr/>
        </p:nvSpPr>
        <p:spPr>
          <a:xfrm>
            <a:off x="6657340" y="2405380"/>
            <a:ext cx="4711700" cy="3175000"/>
          </a:xfrm>
          <a:prstGeom prst="rect">
            <a:avLst/>
          </a:prstGeom>
          <a:noFill/>
          <a:ln>
            <a:noFill/>
          </a:ln>
        </p:spPr>
        <p:txBody>
          <a:bodyPr lIns="0" rIns="0" tIns="0" bIns="0" wrap="square" rtlCol="0" anchor="t"/>
          <a:lstStyle/>
          <a:p>
            <a:pPr algn="l" marL="0">
              <a:lnSpc>
                <a:spcPct val="112000"/>
              </a:lnSpc>
            </a:pPr>
            <a:r>
              <a:rPr lang="en-US" sz="1050" noProof="1" i="1">
                <a:solidFill>
                  <a:srgbClr val="8FA3C8"/>
                </a:solidFill>
                <a:latin typeface="Courier New"/>
                <a:ea typeface="Courier New"/>
              </a:rPr>
              <a:t>what the server sent to you</a:t>
            </a:r>
            <a:endParaRPr lang="en-US" sz="1050" noProof="1"/>
          </a:p>
          <a:p>
            <a:pPr algn="l" marL="0">
              <a:lnSpc>
                <a:spcPct val="112000"/>
              </a:lnSpc>
            </a:pPr>
            <a:r>
              <a:rPr lang="en-US" sz="1050" noProof="1">
                <a:solidFill>
                  <a:srgbClr val="F4F6FB"/>
                </a:solidFill>
                <a:latin typeface="Courier New"/>
                <a:ea typeface="Courier New"/>
              </a:rPr>
              <a:t>&lt;input type=hidden name=price value=10&gt;</a:t>
            </a:r>
            <a:endParaRPr lang="en-US" sz="1050" noProof="1"/>
          </a:p>
          <a:p>
            <a:pPr algn="l" marL="0">
              <a:lnSpc>
                <a:spcPct val="112000"/>
              </a:lnSpc>
            </a:pPr>
            <a:r>
              <a:rPr lang="en-US" sz="1050" noProof="1">
                <a:solidFill>
                  <a:srgbClr val="F4F6FB"/>
                </a:solidFill>
                <a:latin typeface="Courier New"/>
                <a:ea typeface="Courier New"/>
              </a:rPr>
              <a:t>&lt;button disabled&gt;Submit&lt;/button&gt;</a:t>
            </a:r>
            <a:endParaRPr lang="en-US" sz="1050" noProof="1"/>
          </a:p>
          <a:p>
            <a:pPr algn="l" marL="0">
              <a:lnSpc>
                <a:spcPct val="112000"/>
              </a:lnSpc>
            </a:pPr>
            <a:r>
              <a:rPr lang="en-US" sz="1050" noProof="1">
                <a:solidFill>
                  <a:srgbClr val="F4F6FB"/>
                </a:solidFill>
                <a:latin typeface="Courier New"/>
                <a:ea typeface="Courier New"/>
              </a:rPr>
              <a:t>&lt;script&gt;if (!valid()) return;&lt;/script&gt;</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i="1">
                <a:solidFill>
                  <a:srgbClr val="8FA3C8"/>
                </a:solidFill>
                <a:latin typeface="Courier New"/>
                <a:ea typeface="Courier New"/>
              </a:rPr>
              <a:t>what you may do about it</a:t>
            </a:r>
            <a:endParaRPr lang="en-US" sz="1050" noProof="1"/>
          </a:p>
          <a:p>
            <a:pPr algn="l" marL="0">
              <a:lnSpc>
                <a:spcPct val="112000"/>
              </a:lnSpc>
            </a:pPr>
            <a:r>
              <a:rPr lang="en-US" sz="1050" noProof="1">
                <a:solidFill>
                  <a:srgbClr val="F4F6FB"/>
                </a:solidFill>
                <a:latin typeface="Courier New"/>
                <a:ea typeface="Courier New"/>
              </a:rPr>
              <a:t>- read all of the source, not the page</a:t>
            </a:r>
            <a:endParaRPr lang="en-US" sz="1050" noProof="1"/>
          </a:p>
          <a:p>
            <a:pPr algn="l" marL="0">
              <a:lnSpc>
                <a:spcPct val="112000"/>
              </a:lnSpc>
            </a:pPr>
            <a:r>
              <a:rPr lang="en-US" sz="1050" noProof="1">
                <a:solidFill>
                  <a:srgbClr val="F4F6FB"/>
                </a:solidFill>
                <a:latin typeface="Courier New"/>
                <a:ea typeface="Courier New"/>
              </a:rPr>
              <a:t>- change any value before sending it</a:t>
            </a:r>
            <a:endParaRPr lang="en-US" sz="1050" noProof="1"/>
          </a:p>
          <a:p>
            <a:pPr algn="l" marL="0">
              <a:lnSpc>
                <a:spcPct val="112000"/>
              </a:lnSpc>
            </a:pPr>
            <a:r>
              <a:rPr lang="en-US" sz="1050" noProof="1">
                <a:solidFill>
                  <a:srgbClr val="F4F6FB"/>
                </a:solidFill>
                <a:latin typeface="Courier New"/>
                <a:ea typeface="Courier New"/>
              </a:rPr>
              <a:t>- ignore the script completely</a:t>
            </a:r>
            <a:endParaRPr lang="en-US" sz="1050" noProof="1"/>
          </a:p>
          <a:p>
            <a:pPr algn="l" marL="0">
              <a:lnSpc>
                <a:spcPct val="112000"/>
              </a:lnSpc>
            </a:pPr>
            <a:r>
              <a:rPr lang="en-US" sz="1050" noProof="1">
                <a:solidFill>
                  <a:srgbClr val="F4F6FB"/>
                </a:solidFill>
                <a:latin typeface="Courier New"/>
                <a:ea typeface="Courier New"/>
              </a:rPr>
              <a:t>- send the request without a browser</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i="1">
                <a:solidFill>
                  <a:srgbClr val="8FA3C8"/>
                </a:solidFill>
                <a:latin typeface="Courier New"/>
                <a:ea typeface="Courier New"/>
              </a:rPr>
              <a:t>none of the above is an exploit.</a:t>
            </a:r>
            <a:endParaRPr lang="en-US" sz="1050" noProof="1"/>
          </a:p>
          <a:p>
            <a:pPr algn="l" marL="0">
              <a:lnSpc>
                <a:spcPct val="112000"/>
              </a:lnSpc>
            </a:pPr>
            <a:r>
              <a:rPr lang="en-US" sz="1050" noProof="1" i="1">
                <a:solidFill>
                  <a:srgbClr val="8FA3C8"/>
                </a:solidFill>
                <a:latin typeface="Courier New"/>
                <a:ea typeface="Courier New"/>
              </a:rPr>
              <a:t>it is just using your own computer.</a:t>
            </a:r>
            <a:endParaRPr lang="en-US" sz="1050" noProof="1"/>
          </a:p>
        </p:txBody>
      </p:sp>
      <p:sp>
        <p:nvSpPr>
          <p:cNvPr id="12" name="Text 10"/>
          <p:cNvSpPr txBox="1"/>
          <p:nvPr/>
        </p:nvSpPr>
        <p:spPr>
          <a:xfrm>
            <a:off x="548640" y="6070600"/>
            <a:ext cx="11094720" cy="274320"/>
          </a:xfrm>
          <a:prstGeom prst="rect">
            <a:avLst/>
          </a:prstGeom>
          <a:noFill/>
          <a:ln>
            <a:noFill/>
          </a:ln>
        </p:spPr>
        <p:txBody>
          <a:bodyPr lIns="0" rIns="0" tIns="0" bIns="0" wrap="square" rtlCol="0" anchor="ctr"/>
          <a:lstStyle/>
          <a:p>
            <a:pPr algn="l" marL="0">
              <a:lnSpc>
                <a:spcPct val="120000"/>
              </a:lnSpc>
            </a:pPr>
            <a:r>
              <a:rPr lang="en-US" sz="1250" noProof="1" i="1">
                <a:solidFill>
                  <a:srgbClr val="E0559E"/>
                </a:solidFill>
                <a:latin typeface="Calibri"/>
                <a:ea typeface="Calibri"/>
              </a:rPr>
              <a:t>The page is a suggestion. The request is what counts.</a:t>
            </a:r>
            <a:endParaRPr lang="en-US" sz="1250" noProof="1"/>
          </a:p>
        </p:txBody>
      </p:sp>
      <p:sp>
        <p:nvSpPr>
          <p:cNvPr id="13" name="Text 11"/>
          <p:cNvSpPr txBox="1"/>
          <p:nvPr/>
        </p:nvSpPr>
        <p:spPr>
          <a:xfrm>
            <a:off x="548640" y="6446520"/>
            <a:ext cx="40640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03 / 04</a:t>
            </a:r>
            <a:endParaRPr lang="en-US" sz="1000" noProof="1"/>
          </a:p>
        </p:txBody>
      </p:sp>
      <p:sp>
        <p:nvSpPr>
          <p:cNvPr id="14" name="Text 12"/>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05</a:t>
            </a:r>
            <a:endParaRPr lang="en-US" sz="1000" noProof="1"/>
          </a:p>
        </p:txBody>
      </p:sp>
    </p:spTree>
  </p:cSld>
  <p:clrMapOvr>
    <a:masterClrMapping/>
  </p:clrMapOvr>
  <p:transition spd="fast" advClick="1">
    <p:fade/>
  </p:transition>
</p:sld>
</file>

<file path=ppt/slides/slide6.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57200"/>
            <a:ext cx="11094720" cy="274320"/>
          </a:xfrm>
          <a:prstGeom prst="rect">
            <a:avLst/>
          </a:prstGeom>
          <a:noFill/>
          <a:ln>
            <a:noFill/>
          </a:ln>
        </p:spPr>
        <p:txBody>
          <a:bodyPr lIns="0" rIns="0" tIns="0" bIns="0" wrap="square" rtlCol="0" anchor="ctr"/>
          <a:lstStyle/>
          <a:p>
            <a:pPr algn="l" marL="0">
              <a:lnSpc>
                <a:spcPct val="120000"/>
              </a:lnSpc>
            </a:pPr>
            <a:r>
              <a:rPr lang="en-US" sz="1100" noProof="1" b="1" spc="120" kern="0">
                <a:solidFill>
                  <a:srgbClr val="E0559E"/>
                </a:solidFill>
                <a:latin typeface="Calibri"/>
                <a:ea typeface="Calibri"/>
              </a:rPr>
              <a:t>THEORY  03 / 07</a:t>
            </a:r>
            <a:endParaRPr lang="en-US" sz="1100" noProof="1"/>
          </a:p>
        </p:txBody>
      </p:sp>
      <p:sp>
        <p:nvSpPr>
          <p:cNvPr id="3" name="Text 1"/>
          <p:cNvSpPr txBox="1"/>
          <p:nvPr/>
        </p:nvSpPr>
        <p:spPr>
          <a:xfrm>
            <a:off x="548640" y="749300"/>
            <a:ext cx="11094720" cy="566420"/>
          </a:xfrm>
          <a:prstGeom prst="rect">
            <a:avLst/>
          </a:prstGeom>
          <a:noFill/>
          <a:ln>
            <a:noFill/>
          </a:ln>
        </p:spPr>
        <p:txBody>
          <a:bodyPr lIns="0" rIns="0" tIns="0" bIns="0" wrap="square" rtlCol="0" anchor="ctr"/>
          <a:lstStyle/>
          <a:p>
            <a:pPr algn="l" marL="0">
              <a:lnSpc>
                <a:spcPct val="120000"/>
              </a:lnSpc>
            </a:pPr>
            <a:r>
              <a:rPr lang="en-US" sz="3200" noProof="1" b="1">
                <a:solidFill>
                  <a:srgbClr val="F4F6FB"/>
                </a:solidFill>
                <a:latin typeface="Cambria"/>
                <a:ea typeface="Cambria"/>
              </a:rPr>
              <a:t>Paths and traversal</a:t>
            </a:r>
            <a:endParaRPr lang="en-US" sz="3200" noProof="1"/>
          </a:p>
        </p:txBody>
      </p:sp>
      <p:sp>
        <p:nvSpPr>
          <p:cNvPr id="4" name="Text 2"/>
          <p:cNvSpPr txBox="1"/>
          <p:nvPr/>
        </p:nvSpPr>
        <p:spPr>
          <a:xfrm>
            <a:off x="548640" y="1389380"/>
            <a:ext cx="9814560" cy="474980"/>
          </a:xfrm>
          <a:prstGeom prst="rect">
            <a:avLst/>
          </a:prstGeom>
          <a:noFill/>
          <a:ln>
            <a:noFill/>
          </a:ln>
        </p:spPr>
        <p:txBody>
          <a:bodyPr lIns="0" rIns="0" tIns="0" bIns="0" wrap="square" rtlCol="0" anchor="ctr"/>
          <a:lstStyle/>
          <a:p>
            <a:pPr algn="l" marL="0">
              <a:lnSpc>
                <a:spcPct val="115000"/>
              </a:lnSpc>
            </a:pPr>
            <a:r>
              <a:rPr lang="en-US" sz="1400" noProof="1">
                <a:solidFill>
                  <a:srgbClr val="B8C7E4"/>
                </a:solidFill>
                <a:latin typeface="Calibri"/>
                <a:ea typeface="Calibri"/>
              </a:rPr>
              <a:t>A path is a string the server turns into a location on disk.</a:t>
            </a:r>
            <a:endParaRPr lang="en-US" sz="1400" noProof="1"/>
          </a:p>
        </p:txBody>
      </p:sp>
      <p:sp>
        <p:nvSpPr>
          <p:cNvPr id="5" name="Shape 3"/>
          <p:cNvSpPr/>
          <p:nvPr/>
        </p:nvSpPr>
        <p:spPr>
          <a:xfrm>
            <a:off x="548640" y="2148840"/>
            <a:ext cx="5577840" cy="3683000"/>
          </a:xfrm>
          <a:prstGeom prst="roundRect">
            <a:avLst>
              <a:gd name="adj" fmla="val 2632"/>
            </a:avLst>
          </a:prstGeom>
          <a:solidFill>
            <a:srgbClr val="141F30"/>
          </a:solidFill>
          <a:ln>
            <a:noFill/>
          </a:ln>
        </p:spPr>
      </p:sp>
      <p:sp>
        <p:nvSpPr>
          <p:cNvPr id="6" name="Text 4"/>
          <p:cNvSpPr txBox="1"/>
          <p:nvPr/>
        </p:nvSpPr>
        <p:spPr>
          <a:xfrm>
            <a:off x="859790" y="242316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E0559E"/>
                </a:solidFill>
                <a:latin typeface="Calibri"/>
                <a:ea typeface="Calibri"/>
              </a:rPr>
              <a:t>WHAT IT IS</a:t>
            </a:r>
            <a:endParaRPr lang="en-US" sz="950" noProof="1"/>
          </a:p>
        </p:txBody>
      </p:sp>
      <p:sp>
        <p:nvSpPr>
          <p:cNvPr id="7" name="Text 5"/>
          <p:cNvSpPr txBox="1"/>
          <p:nvPr/>
        </p:nvSpPr>
        <p:spPr>
          <a:xfrm>
            <a:off x="859790" y="2697480"/>
            <a:ext cx="4955540" cy="13716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When a value taken from the request is used to build a filename, the server is trusting that value to stay where it was meant to. Path syntax includes a component meaning "go up one level", so a value meant to name a file can instead point somewhere outside the intended directory.</a:t>
            </a:r>
            <a:endParaRPr lang="en-US" sz="1200" noProof="1"/>
          </a:p>
        </p:txBody>
      </p:sp>
      <p:sp>
        <p:nvSpPr>
          <p:cNvPr id="8" name="Text 6"/>
          <p:cNvSpPr txBox="1"/>
          <p:nvPr/>
        </p:nvSpPr>
        <p:spPr>
          <a:xfrm>
            <a:off x="859790" y="421386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E0559E"/>
                </a:solidFill>
                <a:latin typeface="Calibri"/>
                <a:ea typeface="Calibri"/>
              </a:rPr>
              <a:t>WHY IT MATTERS HERE</a:t>
            </a:r>
            <a:endParaRPr lang="en-US" sz="950" noProof="1"/>
          </a:p>
        </p:txBody>
      </p:sp>
      <p:sp>
        <p:nvSpPr>
          <p:cNvPr id="9" name="Text 7"/>
          <p:cNvSpPr txBox="1"/>
          <p:nvPr/>
        </p:nvSpPr>
        <p:spPr>
          <a:xfrm>
            <a:off x="859790" y="4488180"/>
            <a:ext cx="4955540" cy="13716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The flaw is not the syntax — the syntax is doing exactly what it says. The flaw is building a filesystem path out of user input and never checking where it ends up.</a:t>
            </a:r>
            <a:endParaRPr lang="en-US" sz="1200" noProof="1"/>
          </a:p>
        </p:txBody>
      </p:sp>
      <p:sp>
        <p:nvSpPr>
          <p:cNvPr id="10" name="Shape 8"/>
          <p:cNvSpPr/>
          <p:nvPr/>
        </p:nvSpPr>
        <p:spPr>
          <a:xfrm>
            <a:off x="6383020" y="2148840"/>
            <a:ext cx="5260340" cy="3683000"/>
          </a:xfrm>
          <a:prstGeom prst="roundRect">
            <a:avLst>
              <a:gd name="adj" fmla="val 2632"/>
            </a:avLst>
          </a:prstGeom>
          <a:solidFill>
            <a:srgbClr val="141F30"/>
          </a:solidFill>
          <a:ln>
            <a:noFill/>
          </a:ln>
        </p:spPr>
      </p:sp>
      <p:sp>
        <p:nvSpPr>
          <p:cNvPr id="11" name="Text 9"/>
          <p:cNvSpPr txBox="1"/>
          <p:nvPr/>
        </p:nvSpPr>
        <p:spPr>
          <a:xfrm>
            <a:off x="6657340" y="2405380"/>
            <a:ext cx="4711700" cy="3175000"/>
          </a:xfrm>
          <a:prstGeom prst="rect">
            <a:avLst/>
          </a:prstGeom>
          <a:noFill/>
          <a:ln>
            <a:noFill/>
          </a:ln>
        </p:spPr>
        <p:txBody>
          <a:bodyPr lIns="0" rIns="0" tIns="0" bIns="0" wrap="square" rtlCol="0" anchor="t"/>
          <a:lstStyle/>
          <a:p>
            <a:pPr algn="l" marL="0">
              <a:lnSpc>
                <a:spcPct val="112000"/>
              </a:lnSpc>
            </a:pPr>
            <a:r>
              <a:rPr lang="en-US" sz="1050" noProof="1" i="1">
                <a:solidFill>
                  <a:srgbClr val="8FA3C8"/>
                </a:solidFill>
                <a:latin typeface="Courier New"/>
                <a:ea typeface="Courier New"/>
              </a:rPr>
              <a:t>what the developer pictured</a:t>
            </a:r>
            <a:endParaRPr lang="en-US" sz="1050" noProof="1"/>
          </a:p>
          <a:p>
            <a:pPr algn="l" marL="0">
              <a:lnSpc>
                <a:spcPct val="112000"/>
              </a:lnSpc>
            </a:pPr>
            <a:r>
              <a:rPr lang="en-US" sz="1050" noProof="1">
                <a:solidFill>
                  <a:srgbClr val="F4F6FB"/>
                </a:solidFill>
                <a:latin typeface="Courier New"/>
                <a:ea typeface="Courier New"/>
              </a:rPr>
              <a:t>/var/www/files/  +  report.txt</a:t>
            </a:r>
            <a:endParaRPr lang="en-US" sz="1050" noProof="1"/>
          </a:p>
          <a:p>
            <a:pPr algn="l" marL="0">
              <a:lnSpc>
                <a:spcPct val="112000"/>
              </a:lnSpc>
            </a:pPr>
            <a:r>
              <a:rPr lang="en-US" sz="1050" noProof="1">
                <a:solidFill>
                  <a:srgbClr val="F4F6FB"/>
                </a:solidFill>
                <a:latin typeface="Courier New"/>
                <a:ea typeface="Courier New"/>
              </a:rPr>
              <a:t>=  /var/www/files/report.txt</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i="1">
                <a:solidFill>
                  <a:srgbClr val="8FA3C8"/>
                </a:solidFill>
                <a:latin typeface="Courier New"/>
                <a:ea typeface="Courier New"/>
              </a:rPr>
              <a:t>what the same syntax also permits</a:t>
            </a:r>
            <a:endParaRPr lang="en-US" sz="1050" noProof="1"/>
          </a:p>
          <a:p>
            <a:pPr algn="l" marL="0">
              <a:lnSpc>
                <a:spcPct val="112000"/>
              </a:lnSpc>
            </a:pPr>
            <a:r>
              <a:rPr lang="en-US" sz="1050" noProof="1">
                <a:solidFill>
                  <a:srgbClr val="F4F6FB"/>
                </a:solidFill>
                <a:latin typeface="Courier New"/>
                <a:ea typeface="Courier New"/>
              </a:rPr>
              <a:t>/var/www/files/  +  ../../etc/hostname</a:t>
            </a:r>
            <a:endParaRPr lang="en-US" sz="1050" noProof="1"/>
          </a:p>
          <a:p>
            <a:pPr algn="l" marL="0">
              <a:lnSpc>
                <a:spcPct val="112000"/>
              </a:lnSpc>
            </a:pPr>
            <a:r>
              <a:rPr lang="en-US" sz="1050" noProof="1">
                <a:solidFill>
                  <a:srgbClr val="F4F6FB"/>
                </a:solidFill>
                <a:latin typeface="Courier New"/>
                <a:ea typeface="Courier New"/>
              </a:rPr>
              <a:t>=  /etc/hostname</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i="1">
                <a:solidFill>
                  <a:srgbClr val="8FA3C8"/>
                </a:solidFill>
                <a:latin typeface="Courier New"/>
                <a:ea typeface="Courier New"/>
              </a:rPr>
              <a:t>'..' means 'up one directory'</a:t>
            </a:r>
            <a:endParaRPr lang="en-US" sz="1050" noProof="1"/>
          </a:p>
          <a:p>
            <a:pPr algn="l" marL="0">
              <a:lnSpc>
                <a:spcPct val="112000"/>
              </a:lnSpc>
            </a:pPr>
            <a:r>
              <a:rPr lang="en-US" sz="1050" noProof="1" i="1">
                <a:solidFill>
                  <a:srgbClr val="8FA3C8"/>
                </a:solidFill>
                <a:latin typeface="Courier New"/>
                <a:ea typeface="Courier New"/>
              </a:rPr>
              <a:t>the server resolved it exactly as asked</a:t>
            </a:r>
            <a:endParaRPr lang="en-US" sz="1050" noProof="1"/>
          </a:p>
          <a:p>
            <a:pPr algn="l" marL="0">
              <a:lnSpc>
                <a:spcPct val="112000"/>
              </a:lnSpc>
            </a:pPr>
            <a:r>
              <a:rPr lang="en-US" sz="1050" noProof="1" i="1">
                <a:solidFill>
                  <a:srgbClr val="8FA3C8"/>
                </a:solidFill>
                <a:latin typeface="Courier New"/>
                <a:ea typeface="Courier New"/>
              </a:rPr>
              <a:t>and never checked the destination</a:t>
            </a:r>
            <a:endParaRPr lang="en-US" sz="1050" noProof="1"/>
          </a:p>
        </p:txBody>
      </p:sp>
      <p:sp>
        <p:nvSpPr>
          <p:cNvPr id="12" name="Text 10"/>
          <p:cNvSpPr txBox="1"/>
          <p:nvPr/>
        </p:nvSpPr>
        <p:spPr>
          <a:xfrm>
            <a:off x="548640" y="6070600"/>
            <a:ext cx="11094720" cy="274320"/>
          </a:xfrm>
          <a:prstGeom prst="rect">
            <a:avLst/>
          </a:prstGeom>
          <a:noFill/>
          <a:ln>
            <a:noFill/>
          </a:ln>
        </p:spPr>
        <p:txBody>
          <a:bodyPr lIns="0" rIns="0" tIns="0" bIns="0" wrap="square" rtlCol="0" anchor="ctr"/>
          <a:lstStyle/>
          <a:p>
            <a:pPr algn="l" marL="0">
              <a:lnSpc>
                <a:spcPct val="120000"/>
              </a:lnSpc>
            </a:pPr>
            <a:r>
              <a:rPr lang="en-US" sz="1250" noProof="1" i="1">
                <a:solidFill>
                  <a:srgbClr val="E0559E"/>
                </a:solidFill>
                <a:latin typeface="Calibri"/>
                <a:ea typeface="Calibri"/>
              </a:rPr>
              <a:t>The server did nothing wrong. It did exactly what it was told.</a:t>
            </a:r>
            <a:endParaRPr lang="en-US" sz="1250" noProof="1"/>
          </a:p>
        </p:txBody>
      </p:sp>
      <p:sp>
        <p:nvSpPr>
          <p:cNvPr id="13" name="Text 11"/>
          <p:cNvSpPr txBox="1"/>
          <p:nvPr/>
        </p:nvSpPr>
        <p:spPr>
          <a:xfrm>
            <a:off x="548640" y="6446520"/>
            <a:ext cx="40640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03 / 04</a:t>
            </a:r>
            <a:endParaRPr lang="en-US" sz="1000" noProof="1"/>
          </a:p>
        </p:txBody>
      </p:sp>
      <p:sp>
        <p:nvSpPr>
          <p:cNvPr id="14" name="Text 12"/>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06</a:t>
            </a:r>
            <a:endParaRPr lang="en-US" sz="1000" noProof="1"/>
          </a:p>
        </p:txBody>
      </p:sp>
    </p:spTree>
  </p:cSld>
  <p:clrMapOvr>
    <a:masterClrMapping/>
  </p:clrMapOvr>
  <p:transition spd="fast" advClick="1">
    <p:fade/>
  </p:transition>
</p:sld>
</file>

<file path=ppt/slides/slide7.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57200"/>
            <a:ext cx="11094720" cy="274320"/>
          </a:xfrm>
          <a:prstGeom prst="rect">
            <a:avLst/>
          </a:prstGeom>
          <a:noFill/>
          <a:ln>
            <a:noFill/>
          </a:ln>
        </p:spPr>
        <p:txBody>
          <a:bodyPr lIns="0" rIns="0" tIns="0" bIns="0" wrap="square" rtlCol="0" anchor="ctr"/>
          <a:lstStyle/>
          <a:p>
            <a:pPr algn="l" marL="0">
              <a:lnSpc>
                <a:spcPct val="120000"/>
              </a:lnSpc>
            </a:pPr>
            <a:r>
              <a:rPr lang="en-US" sz="1100" noProof="1" b="1" spc="120" kern="0">
                <a:solidFill>
                  <a:srgbClr val="E0559E"/>
                </a:solidFill>
                <a:latin typeface="Calibri"/>
                <a:ea typeface="Calibri"/>
              </a:rPr>
              <a:t>THEORY  04 / 07</a:t>
            </a:r>
            <a:endParaRPr lang="en-US" sz="1100" noProof="1"/>
          </a:p>
        </p:txBody>
      </p:sp>
      <p:sp>
        <p:nvSpPr>
          <p:cNvPr id="3" name="Text 1"/>
          <p:cNvSpPr txBox="1"/>
          <p:nvPr/>
        </p:nvSpPr>
        <p:spPr>
          <a:xfrm>
            <a:off x="548640" y="749300"/>
            <a:ext cx="11094720" cy="566420"/>
          </a:xfrm>
          <a:prstGeom prst="rect">
            <a:avLst/>
          </a:prstGeom>
          <a:noFill/>
          <a:ln>
            <a:noFill/>
          </a:ln>
        </p:spPr>
        <p:txBody>
          <a:bodyPr lIns="0" rIns="0" tIns="0" bIns="0" wrap="square" rtlCol="0" anchor="ctr"/>
          <a:lstStyle/>
          <a:p>
            <a:pPr algn="l" marL="0">
              <a:lnSpc>
                <a:spcPct val="120000"/>
              </a:lnSpc>
            </a:pPr>
            <a:r>
              <a:rPr lang="en-US" sz="3200" noProof="1" b="1">
                <a:solidFill>
                  <a:srgbClr val="F4F6FB"/>
                </a:solidFill>
                <a:latin typeface="Cambria"/>
                <a:ea typeface="Cambria"/>
              </a:rPr>
              <a:t>Cookies, headers and sessions</a:t>
            </a:r>
            <a:endParaRPr lang="en-US" sz="3200" noProof="1"/>
          </a:p>
        </p:txBody>
      </p:sp>
      <p:sp>
        <p:nvSpPr>
          <p:cNvPr id="4" name="Text 2"/>
          <p:cNvSpPr txBox="1"/>
          <p:nvPr/>
        </p:nvSpPr>
        <p:spPr>
          <a:xfrm>
            <a:off x="548640" y="1389380"/>
            <a:ext cx="9814560" cy="474980"/>
          </a:xfrm>
          <a:prstGeom prst="rect">
            <a:avLst/>
          </a:prstGeom>
          <a:noFill/>
          <a:ln>
            <a:noFill/>
          </a:ln>
        </p:spPr>
        <p:txBody>
          <a:bodyPr lIns="0" rIns="0" tIns="0" bIns="0" wrap="square" rtlCol="0" anchor="ctr"/>
          <a:lstStyle/>
          <a:p>
            <a:pPr algn="l" marL="0">
              <a:lnSpc>
                <a:spcPct val="115000"/>
              </a:lnSpc>
            </a:pPr>
            <a:r>
              <a:rPr lang="en-US" sz="1400" noProof="1">
                <a:solidFill>
                  <a:srgbClr val="B8C7E4"/>
                </a:solidFill>
                <a:latin typeface="Calibri"/>
                <a:ea typeface="Calibri"/>
              </a:rPr>
              <a:t>A forgetful protocol remembers you by handing you something to give back.</a:t>
            </a:r>
            <a:endParaRPr lang="en-US" sz="1400" noProof="1"/>
          </a:p>
        </p:txBody>
      </p:sp>
      <p:sp>
        <p:nvSpPr>
          <p:cNvPr id="5" name="Shape 3"/>
          <p:cNvSpPr/>
          <p:nvPr/>
        </p:nvSpPr>
        <p:spPr>
          <a:xfrm>
            <a:off x="548640" y="2148840"/>
            <a:ext cx="5577840" cy="3683000"/>
          </a:xfrm>
          <a:prstGeom prst="roundRect">
            <a:avLst>
              <a:gd name="adj" fmla="val 2632"/>
            </a:avLst>
          </a:prstGeom>
          <a:solidFill>
            <a:srgbClr val="141F30"/>
          </a:solidFill>
          <a:ln>
            <a:noFill/>
          </a:ln>
        </p:spPr>
      </p:sp>
      <p:sp>
        <p:nvSpPr>
          <p:cNvPr id="6" name="Text 4"/>
          <p:cNvSpPr txBox="1"/>
          <p:nvPr/>
        </p:nvSpPr>
        <p:spPr>
          <a:xfrm>
            <a:off x="859790" y="242316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E0559E"/>
                </a:solidFill>
                <a:latin typeface="Calibri"/>
                <a:ea typeface="Calibri"/>
              </a:rPr>
              <a:t>WHAT IT IS</a:t>
            </a:r>
            <a:endParaRPr lang="en-US" sz="950" noProof="1"/>
          </a:p>
        </p:txBody>
      </p:sp>
      <p:sp>
        <p:nvSpPr>
          <p:cNvPr id="7" name="Text 5"/>
          <p:cNvSpPr txBox="1"/>
          <p:nvPr/>
        </p:nvSpPr>
        <p:spPr>
          <a:xfrm>
            <a:off x="859790" y="2697480"/>
            <a:ext cx="4955540" cy="13716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The server sets a cookie; your browser returns it on every later request. Other headers carry similar claims — where you came from, what browser you are, what you will accept. All of them are just text, stored on your machine, and sent by your machine.</a:t>
            </a:r>
            <a:endParaRPr lang="en-US" sz="1200" noProof="1"/>
          </a:p>
        </p:txBody>
      </p:sp>
      <p:sp>
        <p:nvSpPr>
          <p:cNvPr id="8" name="Text 6"/>
          <p:cNvSpPr txBox="1"/>
          <p:nvPr/>
        </p:nvSpPr>
        <p:spPr>
          <a:xfrm>
            <a:off x="859790" y="421386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E0559E"/>
                </a:solidFill>
                <a:latin typeface="Calibri"/>
                <a:ea typeface="Calibri"/>
              </a:rPr>
              <a:t>WHY IT MATTERS HERE</a:t>
            </a:r>
            <a:endParaRPr lang="en-US" sz="950" noProof="1"/>
          </a:p>
        </p:txBody>
      </p:sp>
      <p:sp>
        <p:nvSpPr>
          <p:cNvPr id="9" name="Text 7"/>
          <p:cNvSpPr txBox="1"/>
          <p:nvPr/>
        </p:nvSpPr>
        <p:spPr>
          <a:xfrm>
            <a:off x="859790" y="4488180"/>
            <a:ext cx="4955540" cy="13716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Anything travelling with the request can be inspected and altered. A value is trustworthy only if the server can verify it independently, not just because the server received it.</a:t>
            </a:r>
            <a:endParaRPr lang="en-US" sz="1200" noProof="1"/>
          </a:p>
        </p:txBody>
      </p:sp>
      <p:sp>
        <p:nvSpPr>
          <p:cNvPr id="10" name="Shape 8"/>
          <p:cNvSpPr/>
          <p:nvPr/>
        </p:nvSpPr>
        <p:spPr>
          <a:xfrm>
            <a:off x="6383020" y="2148840"/>
            <a:ext cx="5260340" cy="3683000"/>
          </a:xfrm>
          <a:prstGeom prst="roundRect">
            <a:avLst>
              <a:gd name="adj" fmla="val 2632"/>
            </a:avLst>
          </a:prstGeom>
          <a:solidFill>
            <a:srgbClr val="141F30"/>
          </a:solidFill>
          <a:ln>
            <a:noFill/>
          </a:ln>
        </p:spPr>
      </p:sp>
      <p:sp>
        <p:nvSpPr>
          <p:cNvPr id="11" name="Text 9"/>
          <p:cNvSpPr txBox="1"/>
          <p:nvPr/>
        </p:nvSpPr>
        <p:spPr>
          <a:xfrm>
            <a:off x="6657340" y="2405380"/>
            <a:ext cx="4711700" cy="3175000"/>
          </a:xfrm>
          <a:prstGeom prst="rect">
            <a:avLst/>
          </a:prstGeom>
          <a:noFill/>
          <a:ln>
            <a:noFill/>
          </a:ln>
        </p:spPr>
        <p:txBody>
          <a:bodyPr lIns="0" rIns="0" tIns="0" bIns="0" wrap="square" rtlCol="0" anchor="t"/>
          <a:lstStyle/>
          <a:p>
            <a:pPr algn="l" marL="0">
              <a:lnSpc>
                <a:spcPct val="112000"/>
              </a:lnSpc>
            </a:pPr>
            <a:r>
              <a:rPr lang="en-US" sz="1050" noProof="1" i="1">
                <a:solidFill>
                  <a:srgbClr val="8FA3C8"/>
                </a:solidFill>
                <a:latin typeface="Courier New"/>
                <a:ea typeface="Courier New"/>
              </a:rPr>
              <a:t>the server hands you something</a:t>
            </a:r>
            <a:endParaRPr lang="en-US" sz="1050" noProof="1"/>
          </a:p>
          <a:p>
            <a:pPr algn="l" marL="0">
              <a:lnSpc>
                <a:spcPct val="112000"/>
              </a:lnSpc>
            </a:pPr>
            <a:r>
              <a:rPr lang="en-US" sz="1050" noProof="1">
                <a:solidFill>
                  <a:srgbClr val="F4F6FB"/>
                </a:solidFill>
                <a:latin typeface="Courier New"/>
                <a:ea typeface="Courier New"/>
              </a:rPr>
              <a:t>Set-Cookie: role=guest; loggedin=0</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i="1">
                <a:solidFill>
                  <a:srgbClr val="8FA3C8"/>
                </a:solidFill>
                <a:latin typeface="Courier New"/>
                <a:ea typeface="Courier New"/>
              </a:rPr>
              <a:t>your browser gives it back, every time</a:t>
            </a:r>
            <a:endParaRPr lang="en-US" sz="1050" noProof="1"/>
          </a:p>
          <a:p>
            <a:pPr algn="l" marL="0">
              <a:lnSpc>
                <a:spcPct val="112000"/>
              </a:lnSpc>
            </a:pPr>
            <a:r>
              <a:rPr lang="en-US" sz="1050" noProof="1">
                <a:solidFill>
                  <a:srgbClr val="F4F6FB"/>
                </a:solidFill>
                <a:latin typeface="Courier New"/>
                <a:ea typeface="Courier New"/>
              </a:rPr>
              <a:t>Cookie: role=guest; loggedin=0</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i="1">
                <a:solidFill>
                  <a:srgbClr val="8FA3C8"/>
                </a:solidFill>
                <a:latin typeface="Courier New"/>
                <a:ea typeface="Courier New"/>
              </a:rPr>
              <a:t>but it is your file, on your disk</a:t>
            </a:r>
            <a:endParaRPr lang="en-US" sz="1050" noProof="1"/>
          </a:p>
          <a:p>
            <a:pPr algn="l" marL="0">
              <a:lnSpc>
                <a:spcPct val="112000"/>
              </a:lnSpc>
            </a:pPr>
            <a:r>
              <a:rPr lang="en-US" sz="1050" noProof="1">
                <a:solidFill>
                  <a:srgbClr val="F4F6FB"/>
                </a:solidFill>
                <a:latin typeface="Courier New"/>
                <a:ea typeface="Courier New"/>
              </a:rPr>
              <a:t>Cookie: role=admin; loggedin=1</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i="1">
                <a:solidFill>
                  <a:srgbClr val="8FA3C8"/>
                </a:solidFill>
                <a:latin typeface="Courier New"/>
                <a:ea typeface="Courier New"/>
              </a:rPr>
              <a:t>other headers make claims too</a:t>
            </a:r>
            <a:endParaRPr lang="en-US" sz="1050" noProof="1"/>
          </a:p>
          <a:p>
            <a:pPr algn="l" marL="0">
              <a:lnSpc>
                <a:spcPct val="112000"/>
              </a:lnSpc>
            </a:pPr>
            <a:r>
              <a:rPr lang="en-US" sz="1050" noProof="1">
                <a:solidFill>
                  <a:srgbClr val="F4F6FB"/>
                </a:solidFill>
                <a:latin typeface="Courier New"/>
                <a:ea typeface="Courier New"/>
              </a:rPr>
              <a:t>Referer     says where you came from</a:t>
            </a:r>
            <a:endParaRPr lang="en-US" sz="1050" noProof="1"/>
          </a:p>
          <a:p>
            <a:pPr algn="l" marL="0">
              <a:lnSpc>
                <a:spcPct val="112000"/>
              </a:lnSpc>
            </a:pPr>
            <a:r>
              <a:rPr lang="en-US" sz="1050" noProof="1">
                <a:solidFill>
                  <a:srgbClr val="F4F6FB"/>
                </a:solidFill>
                <a:latin typeface="Courier New"/>
                <a:ea typeface="Courier New"/>
              </a:rPr>
              <a:t>User-Agent  says what you are</a:t>
            </a:r>
            <a:endParaRPr lang="en-US" sz="1050" noProof="1"/>
          </a:p>
          <a:p>
            <a:pPr algn="l" marL="0">
              <a:lnSpc>
                <a:spcPct val="112000"/>
              </a:lnSpc>
            </a:pPr>
            <a:r>
              <a:rPr lang="en-US" sz="1050" noProof="1" i="1">
                <a:solidFill>
                  <a:srgbClr val="8FA3C8"/>
                </a:solidFill>
                <a:latin typeface="Courier New"/>
                <a:ea typeface="Courier New"/>
              </a:rPr>
              <a:t>neither of them is proof of anything</a:t>
            </a:r>
            <a:endParaRPr lang="en-US" sz="1050" noProof="1"/>
          </a:p>
        </p:txBody>
      </p:sp>
      <p:sp>
        <p:nvSpPr>
          <p:cNvPr id="12" name="Text 10"/>
          <p:cNvSpPr txBox="1"/>
          <p:nvPr/>
        </p:nvSpPr>
        <p:spPr>
          <a:xfrm>
            <a:off x="548640" y="6070600"/>
            <a:ext cx="11094720" cy="274320"/>
          </a:xfrm>
          <a:prstGeom prst="rect">
            <a:avLst/>
          </a:prstGeom>
          <a:noFill/>
          <a:ln>
            <a:noFill/>
          </a:ln>
        </p:spPr>
        <p:txBody>
          <a:bodyPr lIns="0" rIns="0" tIns="0" bIns="0" wrap="square" rtlCol="0" anchor="ctr"/>
          <a:lstStyle/>
          <a:p>
            <a:pPr algn="l" marL="0">
              <a:lnSpc>
                <a:spcPct val="120000"/>
              </a:lnSpc>
            </a:pPr>
            <a:r>
              <a:rPr lang="en-US" sz="1250" noProof="1" i="1">
                <a:solidFill>
                  <a:srgbClr val="E0559E"/>
                </a:solidFill>
                <a:latin typeface="Calibri"/>
                <a:ea typeface="Calibri"/>
              </a:rPr>
              <a:t>Received is not the same as verified.</a:t>
            </a:r>
            <a:endParaRPr lang="en-US" sz="1250" noProof="1"/>
          </a:p>
        </p:txBody>
      </p:sp>
      <p:sp>
        <p:nvSpPr>
          <p:cNvPr id="13" name="Text 11"/>
          <p:cNvSpPr txBox="1"/>
          <p:nvPr/>
        </p:nvSpPr>
        <p:spPr>
          <a:xfrm>
            <a:off x="548640" y="6446520"/>
            <a:ext cx="40640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03 / 04</a:t>
            </a:r>
            <a:endParaRPr lang="en-US" sz="1000" noProof="1"/>
          </a:p>
        </p:txBody>
      </p:sp>
      <p:sp>
        <p:nvSpPr>
          <p:cNvPr id="14" name="Text 12"/>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07</a:t>
            </a:r>
            <a:endParaRPr lang="en-US" sz="1000" noProof="1"/>
          </a:p>
        </p:txBody>
      </p:sp>
    </p:spTree>
  </p:cSld>
  <p:clrMapOvr>
    <a:masterClrMapping/>
  </p:clrMapOvr>
  <p:transition spd="fast" advClick="1">
    <p:fade/>
  </p:transition>
</p:sld>
</file>

<file path=ppt/slides/slide8.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57200"/>
            <a:ext cx="11094720" cy="274320"/>
          </a:xfrm>
          <a:prstGeom prst="rect">
            <a:avLst/>
          </a:prstGeom>
          <a:noFill/>
          <a:ln>
            <a:noFill/>
          </a:ln>
        </p:spPr>
        <p:txBody>
          <a:bodyPr lIns="0" rIns="0" tIns="0" bIns="0" wrap="square" rtlCol="0" anchor="ctr"/>
          <a:lstStyle/>
          <a:p>
            <a:pPr algn="l" marL="0">
              <a:lnSpc>
                <a:spcPct val="120000"/>
              </a:lnSpc>
            </a:pPr>
            <a:r>
              <a:rPr lang="en-US" sz="1100" noProof="1" b="1" spc="120" kern="0">
                <a:solidFill>
                  <a:srgbClr val="E0559E"/>
                </a:solidFill>
                <a:latin typeface="Calibri"/>
                <a:ea typeface="Calibri"/>
              </a:rPr>
              <a:t>THEORY  05 / 07</a:t>
            </a:r>
            <a:endParaRPr lang="en-US" sz="1100" noProof="1"/>
          </a:p>
        </p:txBody>
      </p:sp>
      <p:sp>
        <p:nvSpPr>
          <p:cNvPr id="3" name="Text 1"/>
          <p:cNvSpPr txBox="1"/>
          <p:nvPr/>
        </p:nvSpPr>
        <p:spPr>
          <a:xfrm>
            <a:off x="548640" y="749300"/>
            <a:ext cx="11094720" cy="566420"/>
          </a:xfrm>
          <a:prstGeom prst="rect">
            <a:avLst/>
          </a:prstGeom>
          <a:noFill/>
          <a:ln>
            <a:noFill/>
          </a:ln>
        </p:spPr>
        <p:txBody>
          <a:bodyPr lIns="0" rIns="0" tIns="0" bIns="0" wrap="square" rtlCol="0" anchor="ctr"/>
          <a:lstStyle/>
          <a:p>
            <a:pPr algn="l" marL="0">
              <a:lnSpc>
                <a:spcPct val="120000"/>
              </a:lnSpc>
            </a:pPr>
            <a:r>
              <a:rPr lang="en-US" sz="3200" noProof="1" b="1">
                <a:solidFill>
                  <a:srgbClr val="F4F6FB"/>
                </a:solidFill>
                <a:latin typeface="Cambria"/>
                <a:ea typeface="Cambria"/>
              </a:rPr>
              <a:t>Input that becomes instruction</a:t>
            </a:r>
            <a:endParaRPr lang="en-US" sz="3200" noProof="1"/>
          </a:p>
        </p:txBody>
      </p:sp>
      <p:sp>
        <p:nvSpPr>
          <p:cNvPr id="4" name="Text 2"/>
          <p:cNvSpPr txBox="1"/>
          <p:nvPr/>
        </p:nvSpPr>
        <p:spPr>
          <a:xfrm>
            <a:off x="548640" y="1389380"/>
            <a:ext cx="9814560" cy="474980"/>
          </a:xfrm>
          <a:prstGeom prst="rect">
            <a:avLst/>
          </a:prstGeom>
          <a:noFill/>
          <a:ln>
            <a:noFill/>
          </a:ln>
        </p:spPr>
        <p:txBody>
          <a:bodyPr lIns="0" rIns="0" tIns="0" bIns="0" wrap="square" rtlCol="0" anchor="ctr"/>
          <a:lstStyle/>
          <a:p>
            <a:pPr algn="l" marL="0">
              <a:lnSpc>
                <a:spcPct val="115000"/>
              </a:lnSpc>
            </a:pPr>
            <a:r>
              <a:rPr lang="en-US" sz="1400" noProof="1">
                <a:solidFill>
                  <a:srgbClr val="B8C7E4"/>
                </a:solidFill>
                <a:latin typeface="Calibri"/>
                <a:ea typeface="Calibri"/>
              </a:rPr>
              <a:t>The bug appears when a value supplied as data gets executed as a command.</a:t>
            </a:r>
            <a:endParaRPr lang="en-US" sz="1400" noProof="1"/>
          </a:p>
        </p:txBody>
      </p:sp>
      <p:sp>
        <p:nvSpPr>
          <p:cNvPr id="5" name="Shape 3"/>
          <p:cNvSpPr/>
          <p:nvPr/>
        </p:nvSpPr>
        <p:spPr>
          <a:xfrm>
            <a:off x="548640" y="2148840"/>
            <a:ext cx="5577840" cy="3683000"/>
          </a:xfrm>
          <a:prstGeom prst="roundRect">
            <a:avLst>
              <a:gd name="adj" fmla="val 2632"/>
            </a:avLst>
          </a:prstGeom>
          <a:solidFill>
            <a:srgbClr val="141F30"/>
          </a:solidFill>
          <a:ln>
            <a:noFill/>
          </a:ln>
        </p:spPr>
      </p:sp>
      <p:sp>
        <p:nvSpPr>
          <p:cNvPr id="6" name="Text 4"/>
          <p:cNvSpPr txBox="1"/>
          <p:nvPr/>
        </p:nvSpPr>
        <p:spPr>
          <a:xfrm>
            <a:off x="859790" y="242316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E0559E"/>
                </a:solidFill>
                <a:latin typeface="Calibri"/>
                <a:ea typeface="Calibri"/>
              </a:rPr>
              <a:t>WHAT IT IS</a:t>
            </a:r>
            <a:endParaRPr lang="en-US" sz="950" noProof="1"/>
          </a:p>
        </p:txBody>
      </p:sp>
      <p:sp>
        <p:nvSpPr>
          <p:cNvPr id="7" name="Text 5"/>
          <p:cNvSpPr txBox="1"/>
          <p:nvPr/>
        </p:nvSpPr>
        <p:spPr>
          <a:xfrm>
            <a:off x="859790" y="2697480"/>
            <a:ext cx="4955540" cy="13716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A program builds a command or a query by pasting a value into the middle of a string. To the program it is one piece of text. To whatever reads that text afterwards, part of it is a value and part is syntax — so if the supplied value contains syntax, it stops being data.</a:t>
            </a:r>
            <a:endParaRPr lang="en-US" sz="1200" noProof="1"/>
          </a:p>
        </p:txBody>
      </p:sp>
      <p:sp>
        <p:nvSpPr>
          <p:cNvPr id="8" name="Text 6"/>
          <p:cNvSpPr txBox="1"/>
          <p:nvPr/>
        </p:nvSpPr>
        <p:spPr>
          <a:xfrm>
            <a:off x="859790" y="421386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E0559E"/>
                </a:solidFill>
                <a:latin typeface="Calibri"/>
                <a:ea typeface="Calibri"/>
              </a:rPr>
              <a:t>WHY IT MATTERS HERE</a:t>
            </a:r>
            <a:endParaRPr lang="en-US" sz="950" noProof="1"/>
          </a:p>
        </p:txBody>
      </p:sp>
      <p:sp>
        <p:nvSpPr>
          <p:cNvPr id="9" name="Text 7"/>
          <p:cNvSpPr txBox="1"/>
          <p:nvPr/>
        </p:nvSpPr>
        <p:spPr>
          <a:xfrm>
            <a:off x="859790" y="4488180"/>
            <a:ext cx="4955540" cy="13716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This single shape explains command injection, SQL injection and most of the second half of this track. Filtering particular characters is a patch on the symptom; not building instructions out of input at all is the actual fix.</a:t>
            </a:r>
            <a:endParaRPr lang="en-US" sz="1200" noProof="1"/>
          </a:p>
        </p:txBody>
      </p:sp>
      <p:sp>
        <p:nvSpPr>
          <p:cNvPr id="10" name="Shape 8"/>
          <p:cNvSpPr/>
          <p:nvPr/>
        </p:nvSpPr>
        <p:spPr>
          <a:xfrm>
            <a:off x="6383020" y="2148840"/>
            <a:ext cx="5260340" cy="3683000"/>
          </a:xfrm>
          <a:prstGeom prst="roundRect">
            <a:avLst>
              <a:gd name="adj" fmla="val 2632"/>
            </a:avLst>
          </a:prstGeom>
          <a:solidFill>
            <a:srgbClr val="141F30"/>
          </a:solidFill>
          <a:ln>
            <a:noFill/>
          </a:ln>
        </p:spPr>
      </p:sp>
      <p:sp>
        <p:nvSpPr>
          <p:cNvPr id="11" name="Text 9"/>
          <p:cNvSpPr txBox="1"/>
          <p:nvPr/>
        </p:nvSpPr>
        <p:spPr>
          <a:xfrm>
            <a:off x="6657340" y="2405380"/>
            <a:ext cx="4711700" cy="3175000"/>
          </a:xfrm>
          <a:prstGeom prst="rect">
            <a:avLst/>
          </a:prstGeom>
          <a:noFill/>
          <a:ln>
            <a:noFill/>
          </a:ln>
        </p:spPr>
        <p:txBody>
          <a:bodyPr lIns="0" rIns="0" tIns="0" bIns="0" wrap="square" rtlCol="0" anchor="t"/>
          <a:lstStyle/>
          <a:p>
            <a:pPr algn="l" marL="0">
              <a:lnSpc>
                <a:spcPct val="112000"/>
              </a:lnSpc>
            </a:pPr>
            <a:r>
              <a:rPr lang="en-US" sz="1050" noProof="1" i="1">
                <a:solidFill>
                  <a:srgbClr val="8FA3C8"/>
                </a:solidFill>
                <a:latin typeface="Courier New"/>
                <a:ea typeface="Courier New"/>
              </a:rPr>
              <a:t>the developer's mental model</a:t>
            </a:r>
            <a:endParaRPr lang="en-US" sz="1050" noProof="1"/>
          </a:p>
          <a:p>
            <a:pPr algn="l" marL="0">
              <a:lnSpc>
                <a:spcPct val="112000"/>
              </a:lnSpc>
            </a:pPr>
            <a:r>
              <a:rPr lang="en-US" sz="1050" noProof="1">
                <a:solidFill>
                  <a:srgbClr val="F4F6FB"/>
                </a:solidFill>
                <a:latin typeface="Courier New"/>
                <a:ea typeface="Courier New"/>
              </a:rPr>
              <a:t>run("ping " + userInput)</a:t>
            </a:r>
            <a:endParaRPr lang="en-US" sz="1050" noProof="1"/>
          </a:p>
          <a:p>
            <a:pPr algn="l" marL="0">
              <a:lnSpc>
                <a:spcPct val="112000"/>
              </a:lnSpc>
            </a:pPr>
            <a:r>
              <a:rPr lang="en-US" sz="1050" noProof="1">
                <a:solidFill>
                  <a:srgbClr val="F4F6FB"/>
                </a:solidFill>
                <a:latin typeface="Courier New"/>
                <a:ea typeface="Courier New"/>
              </a:rPr>
              <a:t>     command       a hostname</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i="1">
                <a:solidFill>
                  <a:srgbClr val="8FA3C8"/>
                </a:solidFill>
                <a:latin typeface="Courier New"/>
                <a:ea typeface="Courier New"/>
              </a:rPr>
              <a:t>what usually runs</a:t>
            </a:r>
            <a:endParaRPr lang="en-US" sz="1050" noProof="1"/>
          </a:p>
          <a:p>
            <a:pPr algn="l" marL="0">
              <a:lnSpc>
                <a:spcPct val="112000"/>
              </a:lnSpc>
            </a:pPr>
            <a:r>
              <a:rPr lang="en-US" sz="1050" noProof="1">
                <a:solidFill>
                  <a:srgbClr val="F4F6FB"/>
                </a:solidFill>
                <a:latin typeface="Courier New"/>
                <a:ea typeface="Courier New"/>
              </a:rPr>
              <a:t>ping 127.0.0.1</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i="1">
                <a:solidFill>
                  <a:srgbClr val="8FA3C8"/>
                </a:solidFill>
                <a:latin typeface="Courier New"/>
                <a:ea typeface="Courier New"/>
              </a:rPr>
              <a:t>what a shell also understands</a:t>
            </a:r>
            <a:endParaRPr lang="en-US" sz="1050" noProof="1"/>
          </a:p>
          <a:p>
            <a:pPr algn="l" marL="0">
              <a:lnSpc>
                <a:spcPct val="112000"/>
              </a:lnSpc>
            </a:pPr>
            <a:r>
              <a:rPr lang="en-US" sz="1050" noProof="1">
                <a:solidFill>
                  <a:srgbClr val="F4F6FB"/>
                </a:solidFill>
                <a:latin typeface="Courier New"/>
                <a:ea typeface="Courier New"/>
              </a:rPr>
              <a:t>ping 127.0.0.1 ; whoami</a:t>
            </a:r>
            <a:endParaRPr lang="en-US" sz="1050" noProof="1"/>
          </a:p>
          <a:p>
            <a:pPr algn="l" marL="0">
              <a:lnSpc>
                <a:spcPct val="112000"/>
              </a:lnSpc>
            </a:pPr>
            <a:r>
              <a:rPr lang="en-US" sz="1050" noProof="1">
                <a:solidFill>
                  <a:srgbClr val="F4F6FB"/>
                </a:solidFill>
                <a:latin typeface="Courier New"/>
                <a:ea typeface="Courier New"/>
              </a:rPr>
              <a:t>               ^ no longer a hostname</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i="1">
                <a:solidFill>
                  <a:srgbClr val="8FA3C8"/>
                </a:solidFill>
                <a:latin typeface="Courier New"/>
                <a:ea typeface="Courier New"/>
              </a:rPr>
              <a:t>same shape, different interpreter</a:t>
            </a:r>
            <a:endParaRPr lang="en-US" sz="1050" noProof="1"/>
          </a:p>
          <a:p>
            <a:pPr algn="l" marL="0">
              <a:lnSpc>
                <a:spcPct val="112000"/>
              </a:lnSpc>
            </a:pPr>
            <a:r>
              <a:rPr lang="en-US" sz="1050" noProof="1">
                <a:solidFill>
                  <a:srgbClr val="F4F6FB"/>
                </a:solidFill>
                <a:latin typeface="Courier New"/>
                <a:ea typeface="Courier New"/>
              </a:rPr>
              <a:t>SELECT * FROM t WHERE n = 'value'</a:t>
            </a:r>
            <a:endParaRPr lang="en-US" sz="1050" noProof="1"/>
          </a:p>
        </p:txBody>
      </p:sp>
      <p:sp>
        <p:nvSpPr>
          <p:cNvPr id="12" name="Text 10"/>
          <p:cNvSpPr txBox="1"/>
          <p:nvPr/>
        </p:nvSpPr>
        <p:spPr>
          <a:xfrm>
            <a:off x="548640" y="6070600"/>
            <a:ext cx="11094720" cy="274320"/>
          </a:xfrm>
          <a:prstGeom prst="rect">
            <a:avLst/>
          </a:prstGeom>
          <a:noFill/>
          <a:ln>
            <a:noFill/>
          </a:ln>
        </p:spPr>
        <p:txBody>
          <a:bodyPr lIns="0" rIns="0" tIns="0" bIns="0" wrap="square" rtlCol="0" anchor="ctr"/>
          <a:lstStyle/>
          <a:p>
            <a:pPr algn="l" marL="0">
              <a:lnSpc>
                <a:spcPct val="120000"/>
              </a:lnSpc>
            </a:pPr>
            <a:r>
              <a:rPr lang="en-US" sz="1250" noProof="1" i="1">
                <a:solidFill>
                  <a:srgbClr val="E0559E"/>
                </a:solidFill>
                <a:latin typeface="Calibri"/>
                <a:ea typeface="Calibri"/>
              </a:rPr>
              <a:t>Ask on every level: where does my text stop being text?</a:t>
            </a:r>
            <a:endParaRPr lang="en-US" sz="1250" noProof="1"/>
          </a:p>
        </p:txBody>
      </p:sp>
      <p:sp>
        <p:nvSpPr>
          <p:cNvPr id="13" name="Text 11"/>
          <p:cNvSpPr txBox="1"/>
          <p:nvPr/>
        </p:nvSpPr>
        <p:spPr>
          <a:xfrm>
            <a:off x="548640" y="6446520"/>
            <a:ext cx="40640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03 / 04</a:t>
            </a:r>
            <a:endParaRPr lang="en-US" sz="1000" noProof="1"/>
          </a:p>
        </p:txBody>
      </p:sp>
      <p:sp>
        <p:nvSpPr>
          <p:cNvPr id="14" name="Text 12"/>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08</a:t>
            </a:r>
            <a:endParaRPr lang="en-US" sz="1000" noProof="1"/>
          </a:p>
        </p:txBody>
      </p:sp>
    </p:spTree>
  </p:cSld>
  <p:clrMapOvr>
    <a:masterClrMapping/>
  </p:clrMapOvr>
  <p:transition spd="fast" advClick="1">
    <p:fade/>
  </p:transition>
</p:sld>
</file>

<file path=ppt/slides/slide9.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57200"/>
            <a:ext cx="11094720" cy="274320"/>
          </a:xfrm>
          <a:prstGeom prst="rect">
            <a:avLst/>
          </a:prstGeom>
          <a:noFill/>
          <a:ln>
            <a:noFill/>
          </a:ln>
        </p:spPr>
        <p:txBody>
          <a:bodyPr lIns="0" rIns="0" tIns="0" bIns="0" wrap="square" rtlCol="0" anchor="ctr"/>
          <a:lstStyle/>
          <a:p>
            <a:pPr algn="l" marL="0">
              <a:lnSpc>
                <a:spcPct val="120000"/>
              </a:lnSpc>
            </a:pPr>
            <a:r>
              <a:rPr lang="en-US" sz="1100" noProof="1" b="1" spc="120" kern="0">
                <a:solidFill>
                  <a:srgbClr val="E0559E"/>
                </a:solidFill>
                <a:latin typeface="Calibri"/>
                <a:ea typeface="Calibri"/>
              </a:rPr>
              <a:t>THEORY  06 / 07</a:t>
            </a:r>
            <a:endParaRPr lang="en-US" sz="1100" noProof="1"/>
          </a:p>
        </p:txBody>
      </p:sp>
      <p:sp>
        <p:nvSpPr>
          <p:cNvPr id="3" name="Text 1"/>
          <p:cNvSpPr txBox="1"/>
          <p:nvPr/>
        </p:nvSpPr>
        <p:spPr>
          <a:xfrm>
            <a:off x="548640" y="749300"/>
            <a:ext cx="11094720" cy="566420"/>
          </a:xfrm>
          <a:prstGeom prst="rect">
            <a:avLst/>
          </a:prstGeom>
          <a:noFill/>
          <a:ln>
            <a:noFill/>
          </a:ln>
        </p:spPr>
        <p:txBody>
          <a:bodyPr lIns="0" rIns="0" tIns="0" bIns="0" wrap="square" rtlCol="0" anchor="ctr"/>
          <a:lstStyle/>
          <a:p>
            <a:pPr algn="l" marL="0">
              <a:lnSpc>
                <a:spcPct val="120000"/>
              </a:lnSpc>
            </a:pPr>
            <a:r>
              <a:rPr lang="en-US" sz="3200" noProof="1" b="1">
                <a:solidFill>
                  <a:srgbClr val="F4F6FB"/>
                </a:solidFill>
                <a:latin typeface="Cambria"/>
                <a:ea typeface="Cambria"/>
              </a:rPr>
              <a:t>Reversible is not secret</a:t>
            </a:r>
            <a:endParaRPr lang="en-US" sz="3200" noProof="1"/>
          </a:p>
        </p:txBody>
      </p:sp>
      <p:sp>
        <p:nvSpPr>
          <p:cNvPr id="4" name="Text 2"/>
          <p:cNvSpPr txBox="1"/>
          <p:nvPr/>
        </p:nvSpPr>
        <p:spPr>
          <a:xfrm>
            <a:off x="548640" y="1389380"/>
            <a:ext cx="9814560" cy="474980"/>
          </a:xfrm>
          <a:prstGeom prst="rect">
            <a:avLst/>
          </a:prstGeom>
          <a:noFill/>
          <a:ln>
            <a:noFill/>
          </a:ln>
        </p:spPr>
        <p:txBody>
          <a:bodyPr lIns="0" rIns="0" tIns="0" bIns="0" wrap="square" rtlCol="0" anchor="ctr"/>
          <a:lstStyle/>
          <a:p>
            <a:pPr algn="l" marL="0">
              <a:lnSpc>
                <a:spcPct val="115000"/>
              </a:lnSpc>
            </a:pPr>
            <a:r>
              <a:rPr lang="en-US" sz="1400" noProof="1">
                <a:solidFill>
                  <a:srgbClr val="B8C7E4"/>
                </a:solidFill>
                <a:latin typeface="Calibri"/>
                <a:ea typeface="Calibri"/>
              </a:rPr>
              <a:t>If it can be undone with what you already hold, it protects nothing.</a:t>
            </a:r>
            <a:endParaRPr lang="en-US" sz="1400" noProof="1"/>
          </a:p>
        </p:txBody>
      </p:sp>
      <p:sp>
        <p:nvSpPr>
          <p:cNvPr id="5" name="Shape 3"/>
          <p:cNvSpPr/>
          <p:nvPr/>
        </p:nvSpPr>
        <p:spPr>
          <a:xfrm>
            <a:off x="548640" y="2148840"/>
            <a:ext cx="5577840" cy="3683000"/>
          </a:xfrm>
          <a:prstGeom prst="roundRect">
            <a:avLst>
              <a:gd name="adj" fmla="val 2632"/>
            </a:avLst>
          </a:prstGeom>
          <a:solidFill>
            <a:srgbClr val="141F30"/>
          </a:solidFill>
          <a:ln>
            <a:noFill/>
          </a:ln>
        </p:spPr>
      </p:sp>
      <p:sp>
        <p:nvSpPr>
          <p:cNvPr id="6" name="Text 4"/>
          <p:cNvSpPr txBox="1"/>
          <p:nvPr/>
        </p:nvSpPr>
        <p:spPr>
          <a:xfrm>
            <a:off x="859790" y="242316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E0559E"/>
                </a:solidFill>
                <a:latin typeface="Calibri"/>
                <a:ea typeface="Calibri"/>
              </a:rPr>
              <a:t>WHAT IT IS</a:t>
            </a:r>
            <a:endParaRPr lang="en-US" sz="950" noProof="1"/>
          </a:p>
        </p:txBody>
      </p:sp>
      <p:sp>
        <p:nvSpPr>
          <p:cNvPr id="7" name="Text 5"/>
          <p:cNvSpPr txBox="1"/>
          <p:nvPr/>
        </p:nvSpPr>
        <p:spPr>
          <a:xfrm>
            <a:off x="859790" y="2697480"/>
            <a:ext cx="4955540" cy="13716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Encoding, compression and XOR against a fixed value all transform data without keeping a secret. XOR is its own inverse, so if you can obtain a single matching pair of before and after, the key falls straight out.</a:t>
            </a:r>
            <a:endParaRPr lang="en-US" sz="1200" noProof="1"/>
          </a:p>
        </p:txBody>
      </p:sp>
      <p:sp>
        <p:nvSpPr>
          <p:cNvPr id="8" name="Text 6"/>
          <p:cNvSpPr txBox="1"/>
          <p:nvPr/>
        </p:nvSpPr>
        <p:spPr>
          <a:xfrm>
            <a:off x="859790" y="421386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E0559E"/>
                </a:solidFill>
                <a:latin typeface="Calibri"/>
                <a:ea typeface="Calibri"/>
              </a:rPr>
              <a:t>WHY IT MATTERS HERE</a:t>
            </a:r>
            <a:endParaRPr lang="en-US" sz="950" noProof="1"/>
          </a:p>
        </p:txBody>
      </p:sp>
      <p:sp>
        <p:nvSpPr>
          <p:cNvPr id="9" name="Text 7"/>
          <p:cNvSpPr txBox="1"/>
          <p:nvPr/>
        </p:nvSpPr>
        <p:spPr>
          <a:xfrm>
            <a:off x="859790" y="4488180"/>
            <a:ext cx="4955540" cy="13716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Home-made "encryption" in web applications is nearly always one of these. If you can spot a reversible transformation, you won't treat it as a wall and burn an hour on it.</a:t>
            </a:r>
            <a:endParaRPr lang="en-US" sz="1200" noProof="1"/>
          </a:p>
        </p:txBody>
      </p:sp>
      <p:sp>
        <p:nvSpPr>
          <p:cNvPr id="10" name="Shape 8"/>
          <p:cNvSpPr/>
          <p:nvPr/>
        </p:nvSpPr>
        <p:spPr>
          <a:xfrm>
            <a:off x="6383020" y="2148840"/>
            <a:ext cx="5260340" cy="3683000"/>
          </a:xfrm>
          <a:prstGeom prst="roundRect">
            <a:avLst>
              <a:gd name="adj" fmla="val 2632"/>
            </a:avLst>
          </a:prstGeom>
          <a:solidFill>
            <a:srgbClr val="141F30"/>
          </a:solidFill>
          <a:ln>
            <a:noFill/>
          </a:ln>
        </p:spPr>
      </p:sp>
      <p:sp>
        <p:nvSpPr>
          <p:cNvPr id="11" name="Text 9"/>
          <p:cNvSpPr txBox="1"/>
          <p:nvPr/>
        </p:nvSpPr>
        <p:spPr>
          <a:xfrm>
            <a:off x="6657340" y="2405380"/>
            <a:ext cx="4711700" cy="3175000"/>
          </a:xfrm>
          <a:prstGeom prst="rect">
            <a:avLst/>
          </a:prstGeom>
          <a:noFill/>
          <a:ln>
            <a:noFill/>
          </a:ln>
        </p:spPr>
        <p:txBody>
          <a:bodyPr lIns="0" rIns="0" tIns="0" bIns="0" wrap="square" rtlCol="0" anchor="t"/>
          <a:lstStyle/>
          <a:p>
            <a:pPr algn="l" marL="0">
              <a:lnSpc>
                <a:spcPct val="112000"/>
              </a:lnSpc>
            </a:pPr>
            <a:r>
              <a:rPr lang="en-US" sz="1050" noProof="1" i="1">
                <a:solidFill>
                  <a:srgbClr val="8FA3C8"/>
                </a:solidFill>
                <a:latin typeface="Courier New"/>
                <a:ea typeface="Courier New"/>
              </a:rPr>
              <a:t>XOR is its own inverse</a:t>
            </a:r>
            <a:endParaRPr lang="en-US" sz="1050" noProof="1"/>
          </a:p>
          <a:p>
            <a:pPr algn="l" marL="0">
              <a:lnSpc>
                <a:spcPct val="112000"/>
              </a:lnSpc>
            </a:pPr>
            <a:r>
              <a:rPr lang="en-US" sz="1050" noProof="1">
                <a:solidFill>
                  <a:srgbClr val="F4F6FB"/>
                </a:solidFill>
                <a:latin typeface="Courier New"/>
                <a:ea typeface="Courier New"/>
              </a:rPr>
              <a:t>data      XOR key  =  scrambled</a:t>
            </a:r>
            <a:endParaRPr lang="en-US" sz="1050" noProof="1"/>
          </a:p>
          <a:p>
            <a:pPr algn="l" marL="0">
              <a:lnSpc>
                <a:spcPct val="112000"/>
              </a:lnSpc>
            </a:pPr>
            <a:r>
              <a:rPr lang="en-US" sz="1050" noProof="1">
                <a:solidFill>
                  <a:srgbClr val="F4F6FB"/>
                </a:solidFill>
                <a:latin typeface="Courier New"/>
                <a:ea typeface="Courier New"/>
              </a:rPr>
              <a:t>scrambled XOR key  =  data</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i="1">
                <a:solidFill>
                  <a:srgbClr val="8FA3C8"/>
                </a:solidFill>
                <a:latin typeface="Courier New"/>
                <a:ea typeface="Courier New"/>
              </a:rPr>
              <a:t>and given any matching pair</a:t>
            </a:r>
            <a:endParaRPr lang="en-US" sz="1050" noProof="1"/>
          </a:p>
          <a:p>
            <a:pPr algn="l" marL="0">
              <a:lnSpc>
                <a:spcPct val="112000"/>
              </a:lnSpc>
            </a:pPr>
            <a:r>
              <a:rPr lang="en-US" sz="1050" noProof="1">
                <a:solidFill>
                  <a:srgbClr val="F4F6FB"/>
                </a:solidFill>
                <a:latin typeface="Courier New"/>
                <a:ea typeface="Courier New"/>
              </a:rPr>
              <a:t>data XOR scrambled =  key</a:t>
            </a:r>
            <a:endParaRPr lang="en-US" sz="1050" noProof="1"/>
          </a:p>
          <a:p>
            <a:pPr algn="l" marL="0">
              <a:lnSpc>
                <a:spcPct val="112000"/>
              </a:lnSpc>
            </a:pPr>
            <a:r>
              <a:rPr lang="en-US" sz="1050" noProof="1">
                <a:solidFill>
                  <a:srgbClr val="F4F6FB"/>
                </a:solidFill>
                <a:latin typeface="Courier New"/>
                <a:ea typeface="Courier New"/>
              </a:rPr>
              <a:t>                      ^ the key itself</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i="1">
                <a:solidFill>
                  <a:srgbClr val="8FA3C8"/>
                </a:solidFill>
                <a:latin typeface="Courier New"/>
                <a:ea typeface="Courier New"/>
              </a:rPr>
              <a:t>signs there is no real secret</a:t>
            </a:r>
            <a:endParaRPr lang="en-US" sz="1050" noProof="1"/>
          </a:p>
          <a:p>
            <a:pPr algn="l" marL="0">
              <a:lnSpc>
                <a:spcPct val="112000"/>
              </a:lnSpc>
            </a:pPr>
            <a:r>
              <a:rPr lang="en-US" sz="1050" noProof="1">
                <a:solidFill>
                  <a:srgbClr val="F4F6FB"/>
                </a:solidFill>
                <a:latin typeface="Courier New"/>
                <a:ea typeface="Courier New"/>
              </a:rPr>
              <a:t>- output length equals input length</a:t>
            </a:r>
            <a:endParaRPr lang="en-US" sz="1050" noProof="1"/>
          </a:p>
          <a:p>
            <a:pPr algn="l" marL="0">
              <a:lnSpc>
                <a:spcPct val="112000"/>
              </a:lnSpc>
            </a:pPr>
            <a:r>
              <a:rPr lang="en-US" sz="1050" noProof="1">
                <a:solidFill>
                  <a:srgbClr val="F4F6FB"/>
                </a:solidFill>
                <a:latin typeface="Courier New"/>
                <a:ea typeface="Courier New"/>
              </a:rPr>
              <a:t>- the same input always gives the same</a:t>
            </a:r>
            <a:endParaRPr lang="en-US" sz="1050" noProof="1"/>
          </a:p>
          <a:p>
            <a:pPr algn="l" marL="0">
              <a:lnSpc>
                <a:spcPct val="112000"/>
              </a:lnSpc>
            </a:pPr>
            <a:r>
              <a:rPr lang="en-US" sz="1050" noProof="1">
                <a:solidFill>
                  <a:srgbClr val="F4F6FB"/>
                </a:solidFill>
                <a:latin typeface="Courier New"/>
                <a:ea typeface="Courier New"/>
              </a:rPr>
              <a:t>- the transformation is in the source</a:t>
            </a:r>
            <a:endParaRPr lang="en-US" sz="1050" noProof="1"/>
          </a:p>
        </p:txBody>
      </p:sp>
      <p:sp>
        <p:nvSpPr>
          <p:cNvPr id="12" name="Text 10"/>
          <p:cNvSpPr txBox="1"/>
          <p:nvPr/>
        </p:nvSpPr>
        <p:spPr>
          <a:xfrm>
            <a:off x="548640" y="6070600"/>
            <a:ext cx="11094720" cy="274320"/>
          </a:xfrm>
          <a:prstGeom prst="rect">
            <a:avLst/>
          </a:prstGeom>
          <a:noFill/>
          <a:ln>
            <a:noFill/>
          </a:ln>
        </p:spPr>
        <p:txBody>
          <a:bodyPr lIns="0" rIns="0" tIns="0" bIns="0" wrap="square" rtlCol="0" anchor="ctr"/>
          <a:lstStyle/>
          <a:p>
            <a:pPr algn="l" marL="0">
              <a:lnSpc>
                <a:spcPct val="120000"/>
              </a:lnSpc>
            </a:pPr>
            <a:r>
              <a:rPr lang="en-US" sz="1250" noProof="1" i="1">
                <a:solidFill>
                  <a:srgbClr val="E0559E"/>
                </a:solidFill>
                <a:latin typeface="Calibri"/>
                <a:ea typeface="Calibri"/>
              </a:rPr>
              <a:t>Scrambled and secret are not the same property.</a:t>
            </a:r>
            <a:endParaRPr lang="en-US" sz="1250" noProof="1"/>
          </a:p>
        </p:txBody>
      </p:sp>
      <p:sp>
        <p:nvSpPr>
          <p:cNvPr id="13" name="Text 11"/>
          <p:cNvSpPr txBox="1"/>
          <p:nvPr/>
        </p:nvSpPr>
        <p:spPr>
          <a:xfrm>
            <a:off x="548640" y="6446520"/>
            <a:ext cx="40640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03 / 04</a:t>
            </a:r>
            <a:endParaRPr lang="en-US" sz="1000" noProof="1"/>
          </a:p>
        </p:txBody>
      </p:sp>
      <p:sp>
        <p:nvSpPr>
          <p:cNvPr id="14" name="Text 12"/>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09</a:t>
            </a:r>
            <a:endParaRPr lang="en-US" sz="1000" noProof="1"/>
          </a:p>
        </p:txBody>
      </p:sp>
    </p:spTree>
  </p:cSld>
  <p:clrMapOvr>
    <a:masterClrMapping/>
  </p:clrMapOvr>
  <p:transition spd="fast" advClick="1">
    <p:fade/>
  </p:transition>
</p:sld>
</file>

<file path=ppt/slides/slide10.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57200"/>
            <a:ext cx="11094720" cy="274320"/>
          </a:xfrm>
          <a:prstGeom prst="rect">
            <a:avLst/>
          </a:prstGeom>
          <a:noFill/>
          <a:ln>
            <a:noFill/>
          </a:ln>
        </p:spPr>
        <p:txBody>
          <a:bodyPr lIns="0" rIns="0" tIns="0" bIns="0" wrap="square" rtlCol="0" anchor="ctr"/>
          <a:lstStyle/>
          <a:p>
            <a:pPr algn="l" marL="0">
              <a:lnSpc>
                <a:spcPct val="120000"/>
              </a:lnSpc>
            </a:pPr>
            <a:r>
              <a:rPr lang="en-US" sz="1100" noProof="1" b="1" spc="120" kern="0">
                <a:solidFill>
                  <a:srgbClr val="E0559E"/>
                </a:solidFill>
                <a:latin typeface="Calibri"/>
                <a:ea typeface="Calibri"/>
              </a:rPr>
              <a:t>THEORY  07 / 07</a:t>
            </a:r>
            <a:endParaRPr lang="en-US" sz="1100" noProof="1"/>
          </a:p>
        </p:txBody>
      </p:sp>
      <p:sp>
        <p:nvSpPr>
          <p:cNvPr id="3" name="Text 1"/>
          <p:cNvSpPr txBox="1"/>
          <p:nvPr/>
        </p:nvSpPr>
        <p:spPr>
          <a:xfrm>
            <a:off x="548640" y="749300"/>
            <a:ext cx="11094720" cy="566420"/>
          </a:xfrm>
          <a:prstGeom prst="rect">
            <a:avLst/>
          </a:prstGeom>
          <a:noFill/>
          <a:ln>
            <a:noFill/>
          </a:ln>
        </p:spPr>
        <p:txBody>
          <a:bodyPr lIns="0" rIns="0" tIns="0" bIns="0" wrap="square" rtlCol="0" anchor="ctr"/>
          <a:lstStyle/>
          <a:p>
            <a:pPr algn="l" marL="0">
              <a:lnSpc>
                <a:spcPct val="120000"/>
              </a:lnSpc>
            </a:pPr>
            <a:r>
              <a:rPr lang="en-US" sz="3200" noProof="1" b="1">
                <a:solidFill>
                  <a:srgbClr val="F4F6FB"/>
                </a:solidFill>
                <a:latin typeface="Cambria"/>
                <a:ea typeface="Cambria"/>
              </a:rPr>
              <a:t>The data layer</a:t>
            </a:r>
            <a:endParaRPr lang="en-US" sz="3200" noProof="1"/>
          </a:p>
        </p:txBody>
      </p:sp>
      <p:sp>
        <p:nvSpPr>
          <p:cNvPr id="4" name="Text 2"/>
          <p:cNvSpPr txBox="1"/>
          <p:nvPr/>
        </p:nvSpPr>
        <p:spPr>
          <a:xfrm>
            <a:off x="548640" y="1389380"/>
            <a:ext cx="9814560" cy="474980"/>
          </a:xfrm>
          <a:prstGeom prst="rect">
            <a:avLst/>
          </a:prstGeom>
          <a:noFill/>
          <a:ln>
            <a:noFill/>
          </a:ln>
        </p:spPr>
        <p:txBody>
          <a:bodyPr lIns="0" rIns="0" tIns="0" bIns="0" wrap="square" rtlCol="0" anchor="ctr"/>
          <a:lstStyle/>
          <a:p>
            <a:pPr algn="l" marL="0">
              <a:lnSpc>
                <a:spcPct val="115000"/>
              </a:lnSpc>
            </a:pPr>
            <a:r>
              <a:rPr lang="en-US" sz="1400" noProof="1">
                <a:solidFill>
                  <a:srgbClr val="B8C7E4"/>
                </a:solidFill>
                <a:latin typeface="Calibri"/>
                <a:ea typeface="Calibri"/>
              </a:rPr>
              <a:t>Behind most of the web sits a database, answering questions written as text.</a:t>
            </a:r>
            <a:endParaRPr lang="en-US" sz="1400" noProof="1"/>
          </a:p>
        </p:txBody>
      </p:sp>
      <p:sp>
        <p:nvSpPr>
          <p:cNvPr id="5" name="Shape 3"/>
          <p:cNvSpPr/>
          <p:nvPr/>
        </p:nvSpPr>
        <p:spPr>
          <a:xfrm>
            <a:off x="548640" y="2148840"/>
            <a:ext cx="5577840" cy="3683000"/>
          </a:xfrm>
          <a:prstGeom prst="roundRect">
            <a:avLst>
              <a:gd name="adj" fmla="val 2632"/>
            </a:avLst>
          </a:prstGeom>
          <a:solidFill>
            <a:srgbClr val="141F30"/>
          </a:solidFill>
          <a:ln>
            <a:noFill/>
          </a:ln>
        </p:spPr>
      </p:sp>
      <p:sp>
        <p:nvSpPr>
          <p:cNvPr id="6" name="Text 4"/>
          <p:cNvSpPr txBox="1"/>
          <p:nvPr/>
        </p:nvSpPr>
        <p:spPr>
          <a:xfrm>
            <a:off x="859790" y="242316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E0559E"/>
                </a:solidFill>
                <a:latin typeface="Calibri"/>
                <a:ea typeface="Calibri"/>
              </a:rPr>
              <a:t>WHAT IT IS</a:t>
            </a:r>
            <a:endParaRPr lang="en-US" sz="950" noProof="1"/>
          </a:p>
        </p:txBody>
      </p:sp>
      <p:sp>
        <p:nvSpPr>
          <p:cNvPr id="7" name="Text 5"/>
          <p:cNvSpPr txBox="1"/>
          <p:nvPr/>
        </p:nvSpPr>
        <p:spPr>
          <a:xfrm>
            <a:off x="859790" y="2697480"/>
            <a:ext cx="4955540" cy="13716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A query is a sentence: which columns, from which table, matching which condition. Applications build these sentences while running, often by joining fragments and user input into one string. The database cannot tell which part the developer wrote and which part arrived from outside.</a:t>
            </a:r>
            <a:endParaRPr lang="en-US" sz="1200" noProof="1"/>
          </a:p>
        </p:txBody>
      </p:sp>
      <p:sp>
        <p:nvSpPr>
          <p:cNvPr id="8" name="Text 6"/>
          <p:cNvSpPr txBox="1"/>
          <p:nvPr/>
        </p:nvSpPr>
        <p:spPr>
          <a:xfrm>
            <a:off x="859790" y="421386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E0559E"/>
                </a:solidFill>
                <a:latin typeface="Calibri"/>
                <a:ea typeface="Calibri"/>
              </a:rPr>
              <a:t>WHY IT MATTERS HERE</a:t>
            </a:r>
            <a:endParaRPr lang="en-US" sz="950" noProof="1"/>
          </a:p>
        </p:txBody>
      </p:sp>
      <p:sp>
        <p:nvSpPr>
          <p:cNvPr id="9" name="Text 7"/>
          <p:cNvSpPr txBox="1"/>
          <p:nvPr/>
        </p:nvSpPr>
        <p:spPr>
          <a:xfrm>
            <a:off x="859790" y="4488180"/>
            <a:ext cx="4955540" cy="13716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It is the deepest floor of this track for a reason: the records are the point of the whole building. Every level above it is a route towards here.</a:t>
            </a:r>
            <a:endParaRPr lang="en-US" sz="1200" noProof="1"/>
          </a:p>
        </p:txBody>
      </p:sp>
      <p:sp>
        <p:nvSpPr>
          <p:cNvPr id="10" name="Shape 8"/>
          <p:cNvSpPr/>
          <p:nvPr/>
        </p:nvSpPr>
        <p:spPr>
          <a:xfrm>
            <a:off x="6383020" y="2148840"/>
            <a:ext cx="5260340" cy="3683000"/>
          </a:xfrm>
          <a:prstGeom prst="roundRect">
            <a:avLst>
              <a:gd name="adj" fmla="val 2632"/>
            </a:avLst>
          </a:prstGeom>
          <a:solidFill>
            <a:srgbClr val="141F30"/>
          </a:solidFill>
          <a:ln>
            <a:noFill/>
          </a:ln>
        </p:spPr>
      </p:sp>
      <p:sp>
        <p:nvSpPr>
          <p:cNvPr id="11" name="Text 9"/>
          <p:cNvSpPr txBox="1"/>
          <p:nvPr/>
        </p:nvSpPr>
        <p:spPr>
          <a:xfrm>
            <a:off x="6657340" y="2405380"/>
            <a:ext cx="4711700" cy="3175000"/>
          </a:xfrm>
          <a:prstGeom prst="rect">
            <a:avLst/>
          </a:prstGeom>
          <a:noFill/>
          <a:ln>
            <a:noFill/>
          </a:ln>
        </p:spPr>
        <p:txBody>
          <a:bodyPr lIns="0" rIns="0" tIns="0" bIns="0" wrap="square" rtlCol="0" anchor="t"/>
          <a:lstStyle/>
          <a:p>
            <a:pPr algn="l" marL="0">
              <a:lnSpc>
                <a:spcPct val="112000"/>
              </a:lnSpc>
            </a:pPr>
            <a:r>
              <a:rPr lang="en-US" sz="1050" noProof="1" i="1">
                <a:solidFill>
                  <a:srgbClr val="8FA3C8"/>
                </a:solidFill>
                <a:latin typeface="Courier New"/>
                <a:ea typeface="Courier New"/>
              </a:rPr>
              <a:t>the shape of a query</a:t>
            </a:r>
            <a:endParaRPr lang="en-US" sz="1050" noProof="1"/>
          </a:p>
          <a:p>
            <a:pPr algn="l" marL="0">
              <a:lnSpc>
                <a:spcPct val="112000"/>
              </a:lnSpc>
            </a:pPr>
            <a:r>
              <a:rPr lang="en-US" sz="1050" noProof="1">
                <a:solidFill>
                  <a:srgbClr val="F4F6FB"/>
                </a:solidFill>
                <a:latin typeface="Courier New"/>
                <a:ea typeface="Courier New"/>
              </a:rPr>
              <a:t>SELECT  column    the fields you want</a:t>
            </a:r>
            <a:endParaRPr lang="en-US" sz="1050" noProof="1"/>
          </a:p>
          <a:p>
            <a:pPr algn="l" marL="0">
              <a:lnSpc>
                <a:spcPct val="112000"/>
              </a:lnSpc>
            </a:pPr>
            <a:r>
              <a:rPr lang="en-US" sz="1050" noProof="1">
                <a:solidFill>
                  <a:srgbClr val="F4F6FB"/>
                </a:solidFill>
                <a:latin typeface="Courier New"/>
                <a:ea typeface="Courier New"/>
              </a:rPr>
              <a:t>FROM    table     where they live</a:t>
            </a:r>
            <a:endParaRPr lang="en-US" sz="1050" noProof="1"/>
          </a:p>
          <a:p>
            <a:pPr algn="l" marL="0">
              <a:lnSpc>
                <a:spcPct val="112000"/>
              </a:lnSpc>
            </a:pPr>
            <a:r>
              <a:rPr lang="en-US" sz="1050" noProof="1">
                <a:solidFill>
                  <a:srgbClr val="F4F6FB"/>
                </a:solidFill>
                <a:latin typeface="Courier New"/>
                <a:ea typeface="Courier New"/>
              </a:rPr>
              <a:t>WHERE   name = 'value'    the condition</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i="1">
                <a:solidFill>
                  <a:srgbClr val="8FA3C8"/>
                </a:solidFill>
                <a:latin typeface="Courier New"/>
                <a:ea typeface="Courier New"/>
              </a:rPr>
              <a:t>built by joining strings together</a:t>
            </a:r>
            <a:endParaRPr lang="en-US" sz="1050" noProof="1"/>
          </a:p>
          <a:p>
            <a:pPr algn="l" marL="0">
              <a:lnSpc>
                <a:spcPct val="112000"/>
              </a:lnSpc>
            </a:pPr>
            <a:r>
              <a:rPr lang="en-US" sz="1050" noProof="1">
                <a:solidFill>
                  <a:srgbClr val="F4F6FB"/>
                </a:solidFill>
                <a:latin typeface="Courier New"/>
                <a:ea typeface="Courier New"/>
              </a:rPr>
              <a:t>"... WHERE name = '"  +  input  +  "'"</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i="1">
                <a:solidFill>
                  <a:srgbClr val="8FA3C8"/>
                </a:solidFill>
                <a:latin typeface="Courier New"/>
                <a:ea typeface="Courier New"/>
              </a:rPr>
              <a:t>the quote character ends the value.</a:t>
            </a:r>
            <a:endParaRPr lang="en-US" sz="1050" noProof="1"/>
          </a:p>
          <a:p>
            <a:pPr algn="l" marL="0">
              <a:lnSpc>
                <a:spcPct val="112000"/>
              </a:lnSpc>
            </a:pPr>
            <a:r>
              <a:rPr lang="en-US" sz="1050" noProof="1" i="1">
                <a:solidFill>
                  <a:srgbClr val="8FA3C8"/>
                </a:solidFill>
                <a:latin typeface="Courier New"/>
                <a:ea typeface="Courier New"/>
              </a:rPr>
              <a:t>anything after it is read as more</a:t>
            </a:r>
            <a:endParaRPr lang="en-US" sz="1050" noProof="1"/>
          </a:p>
          <a:p>
            <a:pPr algn="l" marL="0">
              <a:lnSpc>
                <a:spcPct val="112000"/>
              </a:lnSpc>
            </a:pPr>
            <a:r>
              <a:rPr lang="en-US" sz="1050" noProof="1" i="1">
                <a:solidFill>
                  <a:srgbClr val="8FA3C8"/>
                </a:solidFill>
                <a:latin typeface="Courier New"/>
                <a:ea typeface="Courier New"/>
              </a:rPr>
              <a:t>query, not as more data.</a:t>
            </a:r>
            <a:endParaRPr lang="en-US" sz="1050" noProof="1"/>
          </a:p>
        </p:txBody>
      </p:sp>
      <p:sp>
        <p:nvSpPr>
          <p:cNvPr id="12" name="Text 10"/>
          <p:cNvSpPr txBox="1"/>
          <p:nvPr/>
        </p:nvSpPr>
        <p:spPr>
          <a:xfrm>
            <a:off x="548640" y="6070600"/>
            <a:ext cx="11094720" cy="274320"/>
          </a:xfrm>
          <a:prstGeom prst="rect">
            <a:avLst/>
          </a:prstGeom>
          <a:noFill/>
          <a:ln>
            <a:noFill/>
          </a:ln>
        </p:spPr>
        <p:txBody>
          <a:bodyPr lIns="0" rIns="0" tIns="0" bIns="0" wrap="square" rtlCol="0" anchor="ctr"/>
          <a:lstStyle/>
          <a:p>
            <a:pPr algn="l" marL="0">
              <a:lnSpc>
                <a:spcPct val="120000"/>
              </a:lnSpc>
            </a:pPr>
            <a:r>
              <a:rPr lang="en-US" sz="1250" noProof="1" i="1">
                <a:solidFill>
                  <a:srgbClr val="E0559E"/>
                </a:solidFill>
                <a:latin typeface="Calibri"/>
                <a:ea typeface="Calibri"/>
              </a:rPr>
              <a:t>The database is not fooled. It was never told there was a difference.</a:t>
            </a:r>
            <a:endParaRPr lang="en-US" sz="1250" noProof="1"/>
          </a:p>
        </p:txBody>
      </p:sp>
      <p:sp>
        <p:nvSpPr>
          <p:cNvPr id="13" name="Text 11"/>
          <p:cNvSpPr txBox="1"/>
          <p:nvPr/>
        </p:nvSpPr>
        <p:spPr>
          <a:xfrm>
            <a:off x="548640" y="6446520"/>
            <a:ext cx="40640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03 / 04</a:t>
            </a:r>
            <a:endParaRPr lang="en-US" sz="1000" noProof="1"/>
          </a:p>
        </p:txBody>
      </p:sp>
      <p:sp>
        <p:nvSpPr>
          <p:cNvPr id="14" name="Text 12"/>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10</a:t>
            </a:r>
            <a:endParaRPr lang="en-US" sz="1000" noProof="1"/>
          </a:p>
        </p:txBody>
      </p:sp>
    </p:spTree>
  </p:cSld>
  <p:clrMapOvr>
    <a:masterClrMapping/>
  </p:clrMapOvr>
  <p:transition spd="fast" advClick="1">
    <p:fade/>
  </p:transition>
</p:sld>
</file>

<file path=ppt/slides/slide11.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pic>
        <p:nvPicPr>
          <p:cNvPr id="2" name="Image 0"/>
          <p:cNvPicPr/>
          <p:nvPr/>
        </p:nvPicPr>
        <p:blipFill>
          <a:blip r:embed="rId2">
            <a:alphaModFix amt="28000"/>
          </a:blip>
          <a:stretch>
            <a:fillRect/>
          </a:stretch>
        </p:blipFill>
        <p:spPr>
          <a:xfrm>
            <a:off x="8549640" y="109220"/>
            <a:ext cx="3291840" cy="1902460"/>
          </a:xfrm>
          <a:prstGeom prst="rect">
            <a:avLst/>
          </a:prstGeom>
          <a:ln>
            <a:noFill/>
          </a:ln>
        </p:spPr>
      </p:pic>
      <p:sp>
        <p:nvSpPr>
          <p:cNvPr id="3" name="Text 0"/>
          <p:cNvSpPr txBox="1"/>
          <p:nvPr/>
        </p:nvSpPr>
        <p:spPr>
          <a:xfrm>
            <a:off x="548640" y="457200"/>
            <a:ext cx="11094720" cy="274320"/>
          </a:xfrm>
          <a:prstGeom prst="rect">
            <a:avLst/>
          </a:prstGeom>
          <a:noFill/>
          <a:ln>
            <a:noFill/>
          </a:ln>
        </p:spPr>
        <p:txBody>
          <a:bodyPr lIns="0" rIns="0" tIns="0" bIns="0" wrap="square" rtlCol="0" anchor="ctr"/>
          <a:lstStyle/>
          <a:p>
            <a:pPr algn="l" marL="0">
              <a:lnSpc>
                <a:spcPct val="120000"/>
              </a:lnSpc>
            </a:pPr>
            <a:r>
              <a:rPr lang="en-US" sz="1100" noProof="1" b="1" spc="120" kern="0">
                <a:solidFill>
                  <a:srgbClr val="E0559E"/>
                </a:solidFill>
                <a:latin typeface="Calibri"/>
                <a:ea typeface="Calibri"/>
              </a:rPr>
              <a:t>GETTING IN</a:t>
            </a:r>
            <a:endParaRPr lang="en-US" sz="1100" noProof="1"/>
          </a:p>
        </p:txBody>
      </p:sp>
      <p:sp>
        <p:nvSpPr>
          <p:cNvPr id="4" name="Text 1"/>
          <p:cNvSpPr txBox="1"/>
          <p:nvPr/>
        </p:nvSpPr>
        <p:spPr>
          <a:xfrm>
            <a:off x="548640" y="749300"/>
            <a:ext cx="11094720" cy="566420"/>
          </a:xfrm>
          <a:prstGeom prst="rect">
            <a:avLst/>
          </a:prstGeom>
          <a:noFill/>
          <a:ln>
            <a:noFill/>
          </a:ln>
        </p:spPr>
        <p:txBody>
          <a:bodyPr lIns="0" rIns="0" tIns="0" bIns="0" wrap="square" rtlCol="0" anchor="ctr"/>
          <a:lstStyle/>
          <a:p>
            <a:pPr algn="l" marL="0">
              <a:lnSpc>
                <a:spcPct val="120000"/>
              </a:lnSpc>
            </a:pPr>
            <a:r>
              <a:rPr lang="en-US" sz="3200" noProof="1" b="1">
                <a:solidFill>
                  <a:srgbClr val="F4F6FB"/>
                </a:solidFill>
                <a:latin typeface="Cambria"/>
                <a:ea typeface="Cambria"/>
              </a:rPr>
              <a:t>No SSH required</a:t>
            </a:r>
            <a:endParaRPr lang="en-US" sz="3200" noProof="1"/>
          </a:p>
        </p:txBody>
      </p:sp>
      <p:sp>
        <p:nvSpPr>
          <p:cNvPr id="5" name="Text 2"/>
          <p:cNvSpPr txBox="1"/>
          <p:nvPr/>
        </p:nvSpPr>
        <p:spPr>
          <a:xfrm>
            <a:off x="548640" y="1389380"/>
            <a:ext cx="9814560" cy="474980"/>
          </a:xfrm>
          <a:prstGeom prst="rect">
            <a:avLst/>
          </a:prstGeom>
          <a:noFill/>
          <a:ln>
            <a:noFill/>
          </a:ln>
        </p:spPr>
        <p:txBody>
          <a:bodyPr lIns="0" rIns="0" tIns="0" bIns="0" wrap="square" rtlCol="0" anchor="ctr"/>
          <a:lstStyle/>
          <a:p>
            <a:pPr algn="l" marL="0">
              <a:lnSpc>
                <a:spcPct val="115000"/>
              </a:lnSpc>
            </a:pPr>
            <a:r>
              <a:rPr lang="en-US" sz="1400" noProof="1">
                <a:solidFill>
                  <a:srgbClr val="B8C7E4"/>
                </a:solidFill>
                <a:latin typeface="Calibri"/>
                <a:ea typeface="Calibri"/>
              </a:rPr>
              <a:t>Natas is the one track that needs nothing installed. One click gives you a full Linux desktop inside your browser.</a:t>
            </a:r>
            <a:endParaRPr lang="en-US" sz="1400" noProof="1"/>
          </a:p>
        </p:txBody>
      </p:sp>
      <p:sp>
        <p:nvSpPr>
          <p:cNvPr id="6" name="Shape 3"/>
          <p:cNvSpPr/>
          <p:nvPr/>
        </p:nvSpPr>
        <p:spPr>
          <a:xfrm>
            <a:off x="548640" y="2148840"/>
            <a:ext cx="5577840" cy="3556000"/>
          </a:xfrm>
          <a:prstGeom prst="roundRect">
            <a:avLst>
              <a:gd name="adj" fmla="val 2632"/>
            </a:avLst>
          </a:prstGeom>
          <a:solidFill>
            <a:srgbClr val="141F30"/>
          </a:solidFill>
          <a:ln>
            <a:noFill/>
          </a:ln>
        </p:spPr>
      </p:sp>
      <p:sp>
        <p:nvSpPr>
          <p:cNvPr id="7" name="Text 4"/>
          <p:cNvSpPr txBox="1"/>
          <p:nvPr/>
        </p:nvSpPr>
        <p:spPr>
          <a:xfrm>
            <a:off x="859790" y="240538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E0559E"/>
                </a:solidFill>
                <a:latin typeface="Calibri"/>
                <a:ea typeface="Calibri"/>
              </a:rPr>
              <a:t>STEP BY STEP</a:t>
            </a:r>
            <a:endParaRPr lang="en-US" sz="950" noProof="1"/>
          </a:p>
        </p:txBody>
      </p:sp>
      <p:sp>
        <p:nvSpPr>
          <p:cNvPr id="8" name="Text 5"/>
          <p:cNvSpPr txBox="1"/>
          <p:nvPr/>
        </p:nvSpPr>
        <p:spPr>
          <a:xfrm>
            <a:off x="859790" y="2771140"/>
            <a:ext cx="365760" cy="622300"/>
          </a:xfrm>
          <a:prstGeom prst="rect">
            <a:avLst/>
          </a:prstGeom>
          <a:noFill/>
          <a:ln>
            <a:noFill/>
          </a:ln>
        </p:spPr>
        <p:txBody>
          <a:bodyPr lIns="0" rIns="0" tIns="0" bIns="0" wrap="square" rtlCol="0" anchor="ctr"/>
          <a:lstStyle/>
          <a:p>
            <a:pPr algn="l" marL="0">
              <a:lnSpc>
                <a:spcPct val="120000"/>
              </a:lnSpc>
            </a:pPr>
            <a:r>
              <a:rPr lang="en-US" sz="1600" noProof="1" b="1">
                <a:solidFill>
                  <a:srgbClr val="E0559E"/>
                </a:solidFill>
                <a:latin typeface="Cambria"/>
                <a:ea typeface="Cambria"/>
              </a:rPr>
              <a:t>1</a:t>
            </a:r>
            <a:endParaRPr lang="en-US" sz="1600" noProof="1"/>
          </a:p>
        </p:txBody>
      </p:sp>
      <p:sp>
        <p:nvSpPr>
          <p:cNvPr id="9" name="Text 6"/>
          <p:cNvSpPr txBox="1"/>
          <p:nvPr/>
        </p:nvSpPr>
        <p:spPr>
          <a:xfrm>
            <a:off x="1280160" y="2806700"/>
            <a:ext cx="4480560" cy="256540"/>
          </a:xfrm>
          <a:prstGeom prst="rect">
            <a:avLst/>
          </a:prstGeom>
          <a:noFill/>
          <a:ln>
            <a:noFill/>
          </a:ln>
        </p:spPr>
        <p:txBody>
          <a:bodyPr lIns="0" rIns="0" tIns="0" bIns="0" wrap="square" rtlCol="0" anchor="ctr"/>
          <a:lstStyle/>
          <a:p>
            <a:pPr algn="l" marL="0">
              <a:lnSpc>
                <a:spcPct val="120000"/>
              </a:lnSpc>
            </a:pPr>
            <a:r>
              <a:rPr lang="en-US" sz="1250" noProof="1" b="1">
                <a:solidFill>
                  <a:srgbClr val="F4F6FB"/>
                </a:solidFill>
                <a:latin typeface="Calibri"/>
                <a:ea typeface="Calibri"/>
              </a:rPr>
              <a:t>Launch Environment</a:t>
            </a:r>
            <a:endParaRPr lang="en-US" sz="1250" noProof="1"/>
          </a:p>
        </p:txBody>
      </p:sp>
      <p:sp>
        <p:nvSpPr>
          <p:cNvPr id="10" name="Text 7"/>
          <p:cNvSpPr txBox="1"/>
          <p:nvPr/>
        </p:nvSpPr>
        <p:spPr>
          <a:xfrm>
            <a:off x="1280160" y="3045460"/>
            <a:ext cx="4480560" cy="274320"/>
          </a:xfrm>
          <a:prstGeom prst="rect">
            <a:avLst/>
          </a:prstGeom>
          <a:noFill/>
          <a:ln>
            <a:noFill/>
          </a:ln>
        </p:spPr>
        <p:txBody>
          <a:bodyPr lIns="0" rIns="0" tIns="0" bIns="0" wrap="square" rtlCol="0" anchor="ctr"/>
          <a:lstStyle/>
          <a:p>
            <a:pPr algn="l" marL="0">
              <a:lnSpc>
                <a:spcPct val="120000"/>
              </a:lnSpc>
            </a:pPr>
            <a:r>
              <a:rPr lang="en-US" sz="1100" noProof="1">
                <a:solidFill>
                  <a:srgbClr val="B8C7E4"/>
                </a:solidFill>
                <a:latin typeface="Calibri"/>
                <a:ea typeface="Calibri"/>
              </a:rPr>
              <a:t>You get an attacker workstation plus this track's shared target.</a:t>
            </a:r>
            <a:endParaRPr lang="en-US" sz="1100" noProof="1"/>
          </a:p>
        </p:txBody>
      </p:sp>
      <p:sp>
        <p:nvSpPr>
          <p:cNvPr id="11" name="Text 8"/>
          <p:cNvSpPr txBox="1"/>
          <p:nvPr/>
        </p:nvSpPr>
        <p:spPr>
          <a:xfrm>
            <a:off x="859790" y="3392170"/>
            <a:ext cx="365760" cy="622300"/>
          </a:xfrm>
          <a:prstGeom prst="rect">
            <a:avLst/>
          </a:prstGeom>
          <a:noFill/>
          <a:ln>
            <a:noFill/>
          </a:ln>
        </p:spPr>
        <p:txBody>
          <a:bodyPr lIns="0" rIns="0" tIns="0" bIns="0" wrap="square" rtlCol="0" anchor="ctr"/>
          <a:lstStyle/>
          <a:p>
            <a:pPr algn="l" marL="0">
              <a:lnSpc>
                <a:spcPct val="120000"/>
              </a:lnSpc>
            </a:pPr>
            <a:r>
              <a:rPr lang="en-US" sz="1600" noProof="1" b="1">
                <a:solidFill>
                  <a:srgbClr val="E0559E"/>
                </a:solidFill>
                <a:latin typeface="Cambria"/>
                <a:ea typeface="Cambria"/>
              </a:rPr>
              <a:t>2</a:t>
            </a:r>
            <a:endParaRPr lang="en-US" sz="1600" noProof="1"/>
          </a:p>
        </p:txBody>
      </p:sp>
      <p:sp>
        <p:nvSpPr>
          <p:cNvPr id="12" name="Text 9"/>
          <p:cNvSpPr txBox="1"/>
          <p:nvPr/>
        </p:nvSpPr>
        <p:spPr>
          <a:xfrm>
            <a:off x="1280160" y="3429000"/>
            <a:ext cx="4480560" cy="256540"/>
          </a:xfrm>
          <a:prstGeom prst="rect">
            <a:avLst/>
          </a:prstGeom>
          <a:noFill/>
          <a:ln>
            <a:noFill/>
          </a:ln>
        </p:spPr>
        <p:txBody>
          <a:bodyPr lIns="0" rIns="0" tIns="0" bIns="0" wrap="square" rtlCol="0" anchor="ctr"/>
          <a:lstStyle/>
          <a:p>
            <a:pPr algn="l" marL="0">
              <a:lnSpc>
                <a:spcPct val="120000"/>
              </a:lnSpc>
            </a:pPr>
            <a:r>
              <a:rPr lang="en-US" sz="1250" noProof="1" b="1">
                <a:solidFill>
                  <a:srgbClr val="F4F6FB"/>
                </a:solidFill>
                <a:latin typeface="Calibri"/>
                <a:ea typeface="Calibri"/>
              </a:rPr>
              <a:t>Open noVNC</a:t>
            </a:r>
            <a:endParaRPr lang="en-US" sz="1250" noProof="1"/>
          </a:p>
        </p:txBody>
      </p:sp>
      <p:sp>
        <p:nvSpPr>
          <p:cNvPr id="13" name="Text 10"/>
          <p:cNvSpPr txBox="1"/>
          <p:nvPr/>
        </p:nvSpPr>
        <p:spPr>
          <a:xfrm>
            <a:off x="1280160" y="3666490"/>
            <a:ext cx="4480560" cy="274320"/>
          </a:xfrm>
          <a:prstGeom prst="rect">
            <a:avLst/>
          </a:prstGeom>
          <a:noFill/>
          <a:ln>
            <a:noFill/>
          </a:ln>
        </p:spPr>
        <p:txBody>
          <a:bodyPr lIns="0" rIns="0" tIns="0" bIns="0" wrap="square" rtlCol="0" anchor="ctr"/>
          <a:lstStyle/>
          <a:p>
            <a:pPr algn="l" marL="0">
              <a:lnSpc>
                <a:spcPct val="120000"/>
              </a:lnSpc>
            </a:pPr>
            <a:r>
              <a:rPr lang="en-US" sz="1100" noProof="1">
                <a:solidFill>
                  <a:srgbClr val="B8C7E4"/>
                </a:solidFill>
                <a:latin typeface="Calibri"/>
                <a:ea typeface="Calibri"/>
              </a:rPr>
              <a:t>A full desktop in a browser tab. SSH is offered too.</a:t>
            </a:r>
            <a:endParaRPr lang="en-US" sz="1100" noProof="1"/>
          </a:p>
        </p:txBody>
      </p:sp>
      <p:sp>
        <p:nvSpPr>
          <p:cNvPr id="14" name="Text 11"/>
          <p:cNvSpPr txBox="1"/>
          <p:nvPr/>
        </p:nvSpPr>
        <p:spPr>
          <a:xfrm>
            <a:off x="859790" y="4014470"/>
            <a:ext cx="365760" cy="622300"/>
          </a:xfrm>
          <a:prstGeom prst="rect">
            <a:avLst/>
          </a:prstGeom>
          <a:noFill/>
          <a:ln>
            <a:noFill/>
          </a:ln>
        </p:spPr>
        <p:txBody>
          <a:bodyPr lIns="0" rIns="0" tIns="0" bIns="0" wrap="square" rtlCol="0" anchor="ctr"/>
          <a:lstStyle/>
          <a:p>
            <a:pPr algn="l" marL="0">
              <a:lnSpc>
                <a:spcPct val="120000"/>
              </a:lnSpc>
            </a:pPr>
            <a:r>
              <a:rPr lang="en-US" sz="1600" noProof="1" b="1">
                <a:solidFill>
                  <a:srgbClr val="E0559E"/>
                </a:solidFill>
                <a:latin typeface="Cambria"/>
                <a:ea typeface="Cambria"/>
              </a:rPr>
              <a:t>3</a:t>
            </a:r>
            <a:endParaRPr lang="en-US" sz="1600" noProof="1"/>
          </a:p>
        </p:txBody>
      </p:sp>
      <p:sp>
        <p:nvSpPr>
          <p:cNvPr id="15" name="Text 12"/>
          <p:cNvSpPr txBox="1"/>
          <p:nvPr/>
        </p:nvSpPr>
        <p:spPr>
          <a:xfrm>
            <a:off x="1280160" y="4051300"/>
            <a:ext cx="4480560" cy="256540"/>
          </a:xfrm>
          <a:prstGeom prst="rect">
            <a:avLst/>
          </a:prstGeom>
          <a:noFill/>
          <a:ln>
            <a:noFill/>
          </a:ln>
        </p:spPr>
        <p:txBody>
          <a:bodyPr lIns="0" rIns="0" tIns="0" bIns="0" wrap="square" rtlCol="0" anchor="ctr"/>
          <a:lstStyle/>
          <a:p>
            <a:pPr algn="l" marL="0">
              <a:lnSpc>
                <a:spcPct val="120000"/>
              </a:lnSpc>
            </a:pPr>
            <a:r>
              <a:rPr lang="en-US" sz="1250" noProof="1" b="1">
                <a:solidFill>
                  <a:srgbClr val="F4F6FB"/>
                </a:solidFill>
                <a:latin typeface="Calibri"/>
                <a:ea typeface="Calibri"/>
              </a:rPr>
              <a:t>Work from inside</a:t>
            </a:r>
            <a:endParaRPr lang="en-US" sz="1250" noProof="1"/>
          </a:p>
        </p:txBody>
      </p:sp>
      <p:sp>
        <p:nvSpPr>
          <p:cNvPr id="16" name="Text 13"/>
          <p:cNvSpPr txBox="1"/>
          <p:nvPr/>
        </p:nvSpPr>
        <p:spPr>
          <a:xfrm>
            <a:off x="1280160" y="4288790"/>
            <a:ext cx="4480560" cy="274320"/>
          </a:xfrm>
          <a:prstGeom prst="rect">
            <a:avLst/>
          </a:prstGeom>
          <a:noFill/>
          <a:ln>
            <a:noFill/>
          </a:ln>
        </p:spPr>
        <p:txBody>
          <a:bodyPr lIns="0" rIns="0" tIns="0" bIns="0" wrap="square" rtlCol="0" anchor="ctr"/>
          <a:lstStyle/>
          <a:p>
            <a:pPr algn="l" marL="0">
              <a:lnSpc>
                <a:spcPct val="120000"/>
              </a:lnSpc>
            </a:pPr>
            <a:r>
              <a:rPr lang="en-US" sz="1100" noProof="1">
                <a:solidFill>
                  <a:srgbClr val="B8C7E4"/>
                </a:solidFill>
                <a:latin typeface="Calibri"/>
                <a:ea typeface="Calibri"/>
              </a:rPr>
              <a:t>Browse to the target from the workstation, not from your own laptop.</a:t>
            </a:r>
            <a:endParaRPr lang="en-US" sz="1100" noProof="1"/>
          </a:p>
        </p:txBody>
      </p:sp>
      <p:sp>
        <p:nvSpPr>
          <p:cNvPr id="17" name="Text 14"/>
          <p:cNvSpPr txBox="1"/>
          <p:nvPr/>
        </p:nvSpPr>
        <p:spPr>
          <a:xfrm>
            <a:off x="859790" y="4635500"/>
            <a:ext cx="365760" cy="622300"/>
          </a:xfrm>
          <a:prstGeom prst="rect">
            <a:avLst/>
          </a:prstGeom>
          <a:noFill/>
          <a:ln>
            <a:noFill/>
          </a:ln>
        </p:spPr>
        <p:txBody>
          <a:bodyPr lIns="0" rIns="0" tIns="0" bIns="0" wrap="square" rtlCol="0" anchor="ctr"/>
          <a:lstStyle/>
          <a:p>
            <a:pPr algn="l" marL="0">
              <a:lnSpc>
                <a:spcPct val="120000"/>
              </a:lnSpc>
            </a:pPr>
            <a:r>
              <a:rPr lang="en-US" sz="1600" noProof="1" b="1">
                <a:solidFill>
                  <a:srgbClr val="E0559E"/>
                </a:solidFill>
                <a:latin typeface="Cambria"/>
                <a:ea typeface="Cambria"/>
              </a:rPr>
              <a:t>4</a:t>
            </a:r>
            <a:endParaRPr lang="en-US" sz="1600" noProof="1"/>
          </a:p>
        </p:txBody>
      </p:sp>
      <p:sp>
        <p:nvSpPr>
          <p:cNvPr id="18" name="Text 15"/>
          <p:cNvSpPr txBox="1"/>
          <p:nvPr/>
        </p:nvSpPr>
        <p:spPr>
          <a:xfrm>
            <a:off x="1280160" y="4672330"/>
            <a:ext cx="4480560" cy="256540"/>
          </a:xfrm>
          <a:prstGeom prst="rect">
            <a:avLst/>
          </a:prstGeom>
          <a:noFill/>
          <a:ln>
            <a:noFill/>
          </a:ln>
        </p:spPr>
        <p:txBody>
          <a:bodyPr lIns="0" rIns="0" tIns="0" bIns="0" wrap="square" rtlCol="0" anchor="ctr"/>
          <a:lstStyle/>
          <a:p>
            <a:pPr algn="l" marL="0">
              <a:lnSpc>
                <a:spcPct val="120000"/>
              </a:lnSpc>
            </a:pPr>
            <a:r>
              <a:rPr lang="en-US" sz="1250" noProof="1" b="1">
                <a:solidFill>
                  <a:srgbClr val="F4F6FB"/>
                </a:solidFill>
                <a:latin typeface="Calibri"/>
                <a:ea typeface="Calibri"/>
              </a:rPr>
              <a:t>Submit the flag</a:t>
            </a:r>
            <a:endParaRPr lang="en-US" sz="1250" noProof="1"/>
          </a:p>
        </p:txBody>
      </p:sp>
      <p:sp>
        <p:nvSpPr>
          <p:cNvPr id="19" name="Text 16"/>
          <p:cNvSpPr txBox="1"/>
          <p:nvPr/>
        </p:nvSpPr>
        <p:spPr>
          <a:xfrm>
            <a:off x="1280160" y="4909820"/>
            <a:ext cx="4480560" cy="274320"/>
          </a:xfrm>
          <a:prstGeom prst="rect">
            <a:avLst/>
          </a:prstGeom>
          <a:noFill/>
          <a:ln>
            <a:noFill/>
          </a:ln>
        </p:spPr>
        <p:txBody>
          <a:bodyPr lIns="0" rIns="0" tIns="0" bIns="0" wrap="square" rtlCol="0" anchor="ctr"/>
          <a:lstStyle/>
          <a:p>
            <a:pPr algn="l" marL="0">
              <a:lnSpc>
                <a:spcPct val="120000"/>
              </a:lnSpc>
            </a:pPr>
            <a:r>
              <a:rPr lang="en-US" sz="1100" noProof="1">
                <a:solidFill>
                  <a:srgbClr val="B8C7E4"/>
                </a:solidFill>
                <a:latin typeface="Calibri"/>
                <a:ea typeface="Calibri"/>
              </a:rPr>
              <a:t>Each level's password is the login for the next level's page.</a:t>
            </a:r>
            <a:endParaRPr lang="en-US" sz="1100" noProof="1"/>
          </a:p>
        </p:txBody>
      </p:sp>
      <p:sp>
        <p:nvSpPr>
          <p:cNvPr id="20" name="Shape 17"/>
          <p:cNvSpPr/>
          <p:nvPr/>
        </p:nvSpPr>
        <p:spPr>
          <a:xfrm>
            <a:off x="6383020" y="2148840"/>
            <a:ext cx="5260340" cy="3556000"/>
          </a:xfrm>
          <a:prstGeom prst="roundRect">
            <a:avLst>
              <a:gd name="adj" fmla="val 2632"/>
            </a:avLst>
          </a:prstGeom>
          <a:solidFill>
            <a:srgbClr val="141F30"/>
          </a:solidFill>
          <a:ln>
            <a:noFill/>
          </a:ln>
        </p:spPr>
      </p:sp>
      <p:sp>
        <p:nvSpPr>
          <p:cNvPr id="21" name="Text 18"/>
          <p:cNvSpPr txBox="1"/>
          <p:nvPr/>
        </p:nvSpPr>
        <p:spPr>
          <a:xfrm>
            <a:off x="6657340" y="2405380"/>
            <a:ext cx="471170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E0559E"/>
                </a:solidFill>
                <a:latin typeface="Calibri"/>
                <a:ea typeface="Calibri"/>
              </a:rPr>
              <a:t>THE LAUNCH PANEL</a:t>
            </a:r>
            <a:endParaRPr lang="en-US" sz="950" noProof="1"/>
          </a:p>
        </p:txBody>
      </p:sp>
      <p:sp>
        <p:nvSpPr>
          <p:cNvPr id="22" name="Shape 19"/>
          <p:cNvSpPr/>
          <p:nvPr/>
        </p:nvSpPr>
        <p:spPr>
          <a:xfrm>
            <a:off x="6657340" y="2843530"/>
            <a:ext cx="402590" cy="402590"/>
          </a:xfrm>
          <a:prstGeom prst="ellipse">
            <a:avLst/>
          </a:prstGeom>
          <a:solidFill>
            <a:srgbClr val="E0559E"/>
          </a:solidFill>
          <a:ln>
            <a:noFill/>
          </a:ln>
        </p:spPr>
      </p:sp>
      <p:pic>
        <p:nvPicPr>
          <p:cNvPr id="23" name="Image 1"/>
          <p:cNvPicPr/>
          <p:nvPr/>
        </p:nvPicPr>
        <p:blipFill>
          <a:blip r:embed="rId3"/>
          <a:stretch>
            <a:fillRect/>
          </a:stretch>
        </p:blipFill>
        <p:spPr>
          <a:xfrm>
            <a:off x="6761480" y="2948940"/>
            <a:ext cx="193040" cy="193040"/>
          </a:xfrm>
          <a:prstGeom prst="rect">
            <a:avLst/>
          </a:prstGeom>
          <a:ln>
            <a:noFill/>
          </a:ln>
        </p:spPr>
      </p:pic>
      <p:sp>
        <p:nvSpPr>
          <p:cNvPr id="24" name="Text 20"/>
          <p:cNvSpPr txBox="1"/>
          <p:nvPr/>
        </p:nvSpPr>
        <p:spPr>
          <a:xfrm>
            <a:off x="7223760" y="2788920"/>
            <a:ext cx="4117340" cy="256540"/>
          </a:xfrm>
          <a:prstGeom prst="rect">
            <a:avLst/>
          </a:prstGeom>
          <a:noFill/>
          <a:ln>
            <a:noFill/>
          </a:ln>
        </p:spPr>
        <p:txBody>
          <a:bodyPr lIns="0" rIns="0" tIns="0" bIns="0" wrap="square" rtlCol="0" anchor="ctr"/>
          <a:lstStyle/>
          <a:p>
            <a:pPr algn="l" marL="0">
              <a:lnSpc>
                <a:spcPct val="120000"/>
              </a:lnSpc>
            </a:pPr>
            <a:r>
              <a:rPr lang="en-US" sz="1250" noProof="1" b="1">
                <a:solidFill>
                  <a:srgbClr val="F4F6FB"/>
                </a:solidFill>
                <a:latin typeface="Calibri"/>
                <a:ea typeface="Calibri"/>
              </a:rPr>
              <a:t>Launch Environment</a:t>
            </a:r>
            <a:endParaRPr lang="en-US" sz="1250" noProof="1"/>
          </a:p>
        </p:txBody>
      </p:sp>
      <p:sp>
        <p:nvSpPr>
          <p:cNvPr id="25" name="Text 21"/>
          <p:cNvSpPr txBox="1"/>
          <p:nvPr/>
        </p:nvSpPr>
        <p:spPr>
          <a:xfrm>
            <a:off x="7223760" y="3026410"/>
            <a:ext cx="4117340" cy="292100"/>
          </a:xfrm>
          <a:prstGeom prst="rect">
            <a:avLst/>
          </a:prstGeom>
          <a:noFill/>
          <a:ln>
            <a:noFill/>
          </a:ln>
        </p:spPr>
        <p:txBody>
          <a:bodyPr lIns="0" rIns="0" tIns="0" bIns="0" wrap="square" rtlCol="0" anchor="ctr"/>
          <a:lstStyle/>
          <a:p>
            <a:pPr algn="l" marL="0">
              <a:lnSpc>
                <a:spcPct val="120000"/>
              </a:lnSpc>
            </a:pPr>
            <a:r>
              <a:rPr lang="en-US" sz="1100" noProof="1">
                <a:solidFill>
                  <a:srgbClr val="B8C7E4"/>
                </a:solidFill>
                <a:latin typeface="Calibri"/>
                <a:ea typeface="Calibri"/>
              </a:rPr>
              <a:t>Starts your box, or reconnects you to one already running.</a:t>
            </a:r>
            <a:endParaRPr lang="en-US" sz="1100" noProof="1"/>
          </a:p>
        </p:txBody>
      </p:sp>
      <p:sp>
        <p:nvSpPr>
          <p:cNvPr id="26" name="Shape 22"/>
          <p:cNvSpPr/>
          <p:nvPr/>
        </p:nvSpPr>
        <p:spPr>
          <a:xfrm>
            <a:off x="6657340" y="3465830"/>
            <a:ext cx="402590" cy="402590"/>
          </a:xfrm>
          <a:prstGeom prst="ellipse">
            <a:avLst/>
          </a:prstGeom>
          <a:solidFill>
            <a:srgbClr val="E0559E"/>
          </a:solidFill>
          <a:ln>
            <a:noFill/>
          </a:ln>
        </p:spPr>
      </p:sp>
      <p:pic>
        <p:nvPicPr>
          <p:cNvPr id="27" name="Image 2"/>
          <p:cNvPicPr/>
          <p:nvPr/>
        </p:nvPicPr>
        <p:blipFill>
          <a:blip r:embed="rId4"/>
          <a:stretch>
            <a:fillRect/>
          </a:stretch>
        </p:blipFill>
        <p:spPr>
          <a:xfrm>
            <a:off x="6761480" y="3569970"/>
            <a:ext cx="193040" cy="193040"/>
          </a:xfrm>
          <a:prstGeom prst="rect">
            <a:avLst/>
          </a:prstGeom>
          <a:ln>
            <a:noFill/>
          </a:ln>
        </p:spPr>
      </p:pic>
      <p:sp>
        <p:nvSpPr>
          <p:cNvPr id="28" name="Text 23"/>
          <p:cNvSpPr txBox="1"/>
          <p:nvPr/>
        </p:nvSpPr>
        <p:spPr>
          <a:xfrm>
            <a:off x="7223760" y="3411220"/>
            <a:ext cx="4117340" cy="256540"/>
          </a:xfrm>
          <a:prstGeom prst="rect">
            <a:avLst/>
          </a:prstGeom>
          <a:noFill/>
          <a:ln>
            <a:noFill/>
          </a:ln>
        </p:spPr>
        <p:txBody>
          <a:bodyPr lIns="0" rIns="0" tIns="0" bIns="0" wrap="square" rtlCol="0" anchor="ctr"/>
          <a:lstStyle/>
          <a:p>
            <a:pPr algn="l" marL="0">
              <a:lnSpc>
                <a:spcPct val="120000"/>
              </a:lnSpc>
            </a:pPr>
            <a:r>
              <a:rPr lang="en-US" sz="1250" noProof="1" b="1">
                <a:solidFill>
                  <a:srgbClr val="F4F6FB"/>
                </a:solidFill>
                <a:latin typeface="Calibri"/>
                <a:ea typeface="Calibri"/>
              </a:rPr>
              <a:t>Reboot Host</a:t>
            </a:r>
            <a:endParaRPr lang="en-US" sz="1250" noProof="1"/>
          </a:p>
        </p:txBody>
      </p:sp>
      <p:sp>
        <p:nvSpPr>
          <p:cNvPr id="29" name="Text 24"/>
          <p:cNvSpPr txBox="1"/>
          <p:nvPr/>
        </p:nvSpPr>
        <p:spPr>
          <a:xfrm>
            <a:off x="7223760" y="3648710"/>
            <a:ext cx="4117340" cy="292100"/>
          </a:xfrm>
          <a:prstGeom prst="rect">
            <a:avLst/>
          </a:prstGeom>
          <a:noFill/>
          <a:ln>
            <a:noFill/>
          </a:ln>
        </p:spPr>
        <p:txBody>
          <a:bodyPr lIns="0" rIns="0" tIns="0" bIns="0" wrap="square" rtlCol="0" anchor="ctr"/>
          <a:lstStyle/>
          <a:p>
            <a:pPr algn="l" marL="0">
              <a:lnSpc>
                <a:spcPct val="120000"/>
              </a:lnSpc>
            </a:pPr>
            <a:r>
              <a:rPr lang="en-US" sz="1100" noProof="1">
                <a:solidFill>
                  <a:srgbClr val="B8C7E4"/>
                </a:solidFill>
                <a:latin typeface="Calibri"/>
                <a:ea typeface="Calibri"/>
              </a:rPr>
              <a:t>Restarts it in place. Same connection details afterward.</a:t>
            </a:r>
            <a:endParaRPr lang="en-US" sz="1100" noProof="1"/>
          </a:p>
        </p:txBody>
      </p:sp>
      <p:sp>
        <p:nvSpPr>
          <p:cNvPr id="30" name="Shape 25"/>
          <p:cNvSpPr/>
          <p:nvPr/>
        </p:nvSpPr>
        <p:spPr>
          <a:xfrm>
            <a:off x="6657340" y="4086860"/>
            <a:ext cx="402590" cy="402590"/>
          </a:xfrm>
          <a:prstGeom prst="ellipse">
            <a:avLst/>
          </a:prstGeom>
          <a:solidFill>
            <a:srgbClr val="E0559E"/>
          </a:solidFill>
          <a:ln>
            <a:noFill/>
          </a:ln>
        </p:spPr>
      </p:sp>
      <p:pic>
        <p:nvPicPr>
          <p:cNvPr id="31" name="Image 3"/>
          <p:cNvPicPr/>
          <p:nvPr/>
        </p:nvPicPr>
        <p:blipFill>
          <a:blip r:embed="rId5"/>
          <a:stretch>
            <a:fillRect/>
          </a:stretch>
        </p:blipFill>
        <p:spPr>
          <a:xfrm>
            <a:off x="6761480" y="4192270"/>
            <a:ext cx="193040" cy="193040"/>
          </a:xfrm>
          <a:prstGeom prst="rect">
            <a:avLst/>
          </a:prstGeom>
          <a:ln>
            <a:noFill/>
          </a:ln>
        </p:spPr>
      </p:pic>
      <p:sp>
        <p:nvSpPr>
          <p:cNvPr id="32" name="Text 26"/>
          <p:cNvSpPr txBox="1"/>
          <p:nvPr/>
        </p:nvSpPr>
        <p:spPr>
          <a:xfrm>
            <a:off x="7223760" y="4032250"/>
            <a:ext cx="4117340" cy="256540"/>
          </a:xfrm>
          <a:prstGeom prst="rect">
            <a:avLst/>
          </a:prstGeom>
          <a:noFill/>
          <a:ln>
            <a:noFill/>
          </a:ln>
        </p:spPr>
        <p:txBody>
          <a:bodyPr lIns="0" rIns="0" tIns="0" bIns="0" wrap="square" rtlCol="0" anchor="ctr"/>
          <a:lstStyle/>
          <a:p>
            <a:pPr algn="l" marL="0">
              <a:lnSpc>
                <a:spcPct val="120000"/>
              </a:lnSpc>
            </a:pPr>
            <a:r>
              <a:rPr lang="en-US" sz="1250" noProof="1" b="1">
                <a:solidFill>
                  <a:srgbClr val="F4F6FB"/>
                </a:solidFill>
                <a:latin typeface="Calibri"/>
                <a:ea typeface="Calibri"/>
              </a:rPr>
              <a:t>Relaunch Environment</a:t>
            </a:r>
            <a:endParaRPr lang="en-US" sz="1250" noProof="1"/>
          </a:p>
        </p:txBody>
      </p:sp>
      <p:sp>
        <p:nvSpPr>
          <p:cNvPr id="33" name="Text 27"/>
          <p:cNvSpPr txBox="1"/>
          <p:nvPr/>
        </p:nvSpPr>
        <p:spPr>
          <a:xfrm>
            <a:off x="7223760" y="4269740"/>
            <a:ext cx="4117340" cy="292100"/>
          </a:xfrm>
          <a:prstGeom prst="rect">
            <a:avLst/>
          </a:prstGeom>
          <a:noFill/>
          <a:ln>
            <a:noFill/>
          </a:ln>
        </p:spPr>
        <p:txBody>
          <a:bodyPr lIns="0" rIns="0" tIns="0" bIns="0" wrap="square" rtlCol="0" anchor="ctr"/>
          <a:lstStyle/>
          <a:p>
            <a:pPr algn="l" marL="0">
              <a:lnSpc>
                <a:spcPct val="120000"/>
              </a:lnSpc>
            </a:pPr>
            <a:r>
              <a:rPr lang="en-US" sz="1100" noProof="1">
                <a:solidFill>
                  <a:srgbClr val="B8C7E4"/>
                </a:solidFill>
                <a:latin typeface="Calibri"/>
                <a:ea typeface="Calibri"/>
              </a:rPr>
              <a:t>Rebuilds from scratch. Anything you changed inside is lost.</a:t>
            </a:r>
            <a:endParaRPr lang="en-US" sz="1100" noProof="1"/>
          </a:p>
        </p:txBody>
      </p:sp>
      <p:sp>
        <p:nvSpPr>
          <p:cNvPr id="34" name="Shape 28"/>
          <p:cNvSpPr/>
          <p:nvPr/>
        </p:nvSpPr>
        <p:spPr>
          <a:xfrm>
            <a:off x="6657340" y="4709160"/>
            <a:ext cx="402590" cy="402590"/>
          </a:xfrm>
          <a:prstGeom prst="ellipse">
            <a:avLst/>
          </a:prstGeom>
          <a:solidFill>
            <a:srgbClr val="E0559E"/>
          </a:solidFill>
          <a:ln>
            <a:noFill/>
          </a:ln>
        </p:spPr>
      </p:sp>
      <p:pic>
        <p:nvPicPr>
          <p:cNvPr id="35" name="Image 4"/>
          <p:cNvPicPr/>
          <p:nvPr/>
        </p:nvPicPr>
        <p:blipFill>
          <a:blip r:embed="rId6"/>
          <a:stretch>
            <a:fillRect/>
          </a:stretch>
        </p:blipFill>
        <p:spPr>
          <a:xfrm>
            <a:off x="6761480" y="4813300"/>
            <a:ext cx="193040" cy="193040"/>
          </a:xfrm>
          <a:prstGeom prst="rect">
            <a:avLst/>
          </a:prstGeom>
          <a:ln>
            <a:noFill/>
          </a:ln>
        </p:spPr>
      </p:pic>
      <p:sp>
        <p:nvSpPr>
          <p:cNvPr id="36" name="Text 29"/>
          <p:cNvSpPr txBox="1"/>
          <p:nvPr/>
        </p:nvSpPr>
        <p:spPr>
          <a:xfrm>
            <a:off x="7223760" y="4654550"/>
            <a:ext cx="4117340" cy="256540"/>
          </a:xfrm>
          <a:prstGeom prst="rect">
            <a:avLst/>
          </a:prstGeom>
          <a:noFill/>
          <a:ln>
            <a:noFill/>
          </a:ln>
        </p:spPr>
        <p:txBody>
          <a:bodyPr lIns="0" rIns="0" tIns="0" bIns="0" wrap="square" rtlCol="0" anchor="ctr"/>
          <a:lstStyle/>
          <a:p>
            <a:pPr algn="l" marL="0">
              <a:lnSpc>
                <a:spcPct val="120000"/>
              </a:lnSpc>
            </a:pPr>
            <a:r>
              <a:rPr lang="en-US" sz="1250" noProof="1" b="1">
                <a:solidFill>
                  <a:srgbClr val="F4F6FB"/>
                </a:solidFill>
                <a:latin typeface="Calibri"/>
                <a:ea typeface="Calibri"/>
              </a:rPr>
              <a:t>+5 more minutes</a:t>
            </a:r>
            <a:endParaRPr lang="en-US" sz="1250" noProof="1"/>
          </a:p>
        </p:txBody>
      </p:sp>
      <p:sp>
        <p:nvSpPr>
          <p:cNvPr id="37" name="Text 30"/>
          <p:cNvSpPr txBox="1"/>
          <p:nvPr/>
        </p:nvSpPr>
        <p:spPr>
          <a:xfrm>
            <a:off x="7223760" y="4892040"/>
            <a:ext cx="4117340" cy="292100"/>
          </a:xfrm>
          <a:prstGeom prst="rect">
            <a:avLst/>
          </a:prstGeom>
          <a:noFill/>
          <a:ln>
            <a:noFill/>
          </a:ln>
        </p:spPr>
        <p:txBody>
          <a:bodyPr lIns="0" rIns="0" tIns="0" bIns="0" wrap="square" rtlCol="0" anchor="ctr"/>
          <a:lstStyle/>
          <a:p>
            <a:pPr algn="l" marL="0">
              <a:lnSpc>
                <a:spcPct val="120000"/>
              </a:lnSpc>
            </a:pPr>
            <a:r>
              <a:rPr lang="en-US" sz="1100" noProof="1">
                <a:solidFill>
                  <a:srgbClr val="B8C7E4"/>
                </a:solidFill>
                <a:latin typeface="Calibri"/>
                <a:ea typeface="Calibri"/>
              </a:rPr>
              <a:t>Appears only once the track is solved and a shutdown has started.</a:t>
            </a:r>
            <a:endParaRPr lang="en-US" sz="1100" noProof="1"/>
          </a:p>
        </p:txBody>
      </p:sp>
      <p:sp>
        <p:nvSpPr>
          <p:cNvPr id="38" name="Text 31"/>
          <p:cNvSpPr txBox="1"/>
          <p:nvPr/>
        </p:nvSpPr>
        <p:spPr>
          <a:xfrm>
            <a:off x="548640" y="5816600"/>
            <a:ext cx="11094720" cy="274320"/>
          </a:xfrm>
          <a:prstGeom prst="rect">
            <a:avLst/>
          </a:prstGeom>
          <a:noFill/>
          <a:ln>
            <a:noFill/>
          </a:ln>
        </p:spPr>
        <p:txBody>
          <a:bodyPr lIns="0" rIns="0" tIns="0" bIns="0" wrap="square" rtlCol="0" anchor="ctr"/>
          <a:lstStyle/>
          <a:p>
            <a:pPr algn="l" marL="0">
              <a:lnSpc>
                <a:spcPct val="120000"/>
              </a:lnSpc>
            </a:pPr>
            <a:r>
              <a:rPr lang="en-US" sz="1250" noProof="1" i="1">
                <a:solidFill>
                  <a:srgbClr val="E0559E"/>
                </a:solidFill>
                <a:latin typeface="Calibri"/>
                <a:ea typeface="Calibri"/>
              </a:rPr>
              <a:t>This is the track to pick if you're on a locked-down laptop with no terminal.</a:t>
            </a:r>
            <a:endParaRPr lang="en-US" sz="1250" noProof="1"/>
          </a:p>
        </p:txBody>
      </p:sp>
      <p:sp>
        <p:nvSpPr>
          <p:cNvPr id="39" name="Text 31b"/>
          <p:cNvSpPr txBox="1"/>
          <p:nvPr/>
        </p:nvSpPr>
        <p:spPr>
          <a:xfrm>
            <a:off x="548640" y="6121400"/>
            <a:ext cx="11094720" cy="228600"/>
          </a:xfrm>
          <a:prstGeom prst="rect">
            <a:avLst/>
          </a:prstGeom>
          <a:noFill/>
          <a:ln>
            <a:noFill/>
          </a:ln>
        </p:spPr>
        <p:txBody>
          <a:bodyPr lIns="0" rIns="0" tIns="0" bIns="0" wrap="square" rtlCol="0" anchor="ctr"/>
          <a:lstStyle/>
          <a:p>
            <a:pPr algn="l" marL="0">
              <a:lnSpc>
                <a:spcPct val="120000"/>
              </a:lnSpc>
            </a:pPr>
            <a:r>
              <a:rPr lang="en-US" sz="1050" noProof="1" b="1" spc="80" kern="0">
                <a:solidFill>
                  <a:srgbClr val="E0559E"/>
                </a:solidFill>
                <a:latin typeface="Calibri"/>
                <a:ea typeface="Calibri"/>
              </a:rPr>
              <a:t>Want a coach while you play? The AI Copilot track (Guide 04) is the event's one sanctioned AI helper — set it up early.</a:t>
            </a:r>
            <a:endParaRPr lang="en-US" sz="1050" noProof="1"/>
          </a:p>
        </p:txBody>
      </p:sp>
      <p:sp>
        <p:nvSpPr>
          <p:cNvPr id="40" name="Text 32"/>
          <p:cNvSpPr txBox="1"/>
          <p:nvPr/>
        </p:nvSpPr>
        <p:spPr>
          <a:xfrm>
            <a:off x="548640" y="6446520"/>
            <a:ext cx="40640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03 / 04</a:t>
            </a:r>
            <a:endParaRPr lang="en-US" sz="1000" noProof="1"/>
          </a:p>
        </p:txBody>
      </p:sp>
      <p:sp>
        <p:nvSpPr>
          <p:cNvPr id="41" name="Text 33"/>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11</a:t>
            </a:r>
            <a:endParaRPr lang="en-US" sz="1000" noProof="1"/>
          </a:p>
        </p:txBody>
      </p:sp>
    </p:spTree>
  </p:cSld>
  <p:clrMapOvr>
    <a:masterClrMapping/>
  </p:clrMapOvr>
  <p:transition spd="fast" advClick="1">
    <p:fade/>
  </p:transition>
</p:sld>
</file>

<file path=ppt/slides/slide12.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pic>
        <p:nvPicPr>
          <p:cNvPr id="2" name="Image 0"/>
          <p:cNvPicPr/>
          <p:nvPr/>
        </p:nvPicPr>
        <p:blipFill>
          <a:blip r:embed="rId2">
            <a:alphaModFix amt="28000"/>
          </a:blip>
          <a:stretch>
            <a:fillRect/>
          </a:stretch>
        </p:blipFill>
        <p:spPr>
          <a:xfrm>
            <a:off x="8549640" y="109220"/>
            <a:ext cx="3291840" cy="1902460"/>
          </a:xfrm>
          <a:prstGeom prst="rect">
            <a:avLst/>
          </a:prstGeom>
          <a:ln>
            <a:noFill/>
          </a:ln>
        </p:spPr>
      </p:pic>
      <p:sp>
        <p:nvSpPr>
          <p:cNvPr id="3" name="Text 0"/>
          <p:cNvSpPr txBox="1"/>
          <p:nvPr/>
        </p:nvSpPr>
        <p:spPr>
          <a:xfrm>
            <a:off x="548640" y="457200"/>
            <a:ext cx="11094720" cy="274320"/>
          </a:xfrm>
          <a:prstGeom prst="rect">
            <a:avLst/>
          </a:prstGeom>
          <a:noFill/>
          <a:ln>
            <a:noFill/>
          </a:ln>
        </p:spPr>
        <p:txBody>
          <a:bodyPr lIns="0" rIns="0" tIns="0" bIns="0" wrap="square" rtlCol="0" anchor="ctr"/>
          <a:lstStyle/>
          <a:p>
            <a:pPr algn="l" marL="0">
              <a:lnSpc>
                <a:spcPct val="120000"/>
              </a:lnSpc>
            </a:pPr>
            <a:r>
              <a:rPr lang="en-US" sz="1100" noProof="1" b="1" spc="120" kern="0">
                <a:solidFill>
                  <a:srgbClr val="E0559E"/>
                </a:solidFill>
                <a:latin typeface="Calibri"/>
                <a:ea typeface="Calibri"/>
              </a:rPr>
              <a:t>YOUR FIRST FLAG</a:t>
            </a:r>
            <a:endParaRPr lang="en-US" sz="1100" noProof="1"/>
          </a:p>
        </p:txBody>
      </p:sp>
      <p:sp>
        <p:nvSpPr>
          <p:cNvPr id="4" name="Text 1"/>
          <p:cNvSpPr txBox="1"/>
          <p:nvPr/>
        </p:nvSpPr>
        <p:spPr>
          <a:xfrm>
            <a:off x="548640" y="749300"/>
            <a:ext cx="11094720" cy="566420"/>
          </a:xfrm>
          <a:prstGeom prst="rect">
            <a:avLst/>
          </a:prstGeom>
          <a:noFill/>
          <a:ln>
            <a:noFill/>
          </a:ln>
        </p:spPr>
        <p:txBody>
          <a:bodyPr lIns="0" rIns="0" tIns="0" bIns="0" wrap="square" rtlCol="0" anchor="ctr"/>
          <a:lstStyle/>
          <a:p>
            <a:pPr algn="l" marL="0">
              <a:lnSpc>
                <a:spcPct val="120000"/>
              </a:lnSpc>
            </a:pPr>
            <a:r>
              <a:rPr lang="en-US" sz="3200" noProof="1" b="1">
                <a:solidFill>
                  <a:srgbClr val="F4F6FB"/>
                </a:solidFill>
                <a:latin typeface="Cambria"/>
                <a:ea typeface="Cambria"/>
              </a:rPr>
              <a:t>Start Here, step by step</a:t>
            </a:r>
            <a:endParaRPr lang="en-US" sz="3200" noProof="1"/>
          </a:p>
        </p:txBody>
      </p:sp>
      <p:sp>
        <p:nvSpPr>
          <p:cNvPr id="5" name="Text 2"/>
          <p:cNvSpPr txBox="1"/>
          <p:nvPr/>
        </p:nvSpPr>
        <p:spPr>
          <a:xfrm>
            <a:off x="548640" y="1389380"/>
            <a:ext cx="9814560" cy="474980"/>
          </a:xfrm>
          <a:prstGeom prst="rect">
            <a:avLst/>
          </a:prstGeom>
          <a:noFill/>
          <a:ln>
            <a:noFill/>
          </a:ln>
        </p:spPr>
        <p:txBody>
          <a:bodyPr lIns="0" rIns="0" tIns="0" bIns="0" wrap="square" rtlCol="0" anchor="ctr"/>
          <a:lstStyle/>
          <a:p>
            <a:pPr algn="l" marL="0">
              <a:lnSpc>
                <a:spcPct val="115000"/>
              </a:lnSpc>
            </a:pPr>
            <a:r>
              <a:rPr lang="en-US" sz="1400" noProof="1">
                <a:solidFill>
                  <a:srgbClr val="B8C7E4"/>
                </a:solidFill>
                <a:latin typeface="Calibri"/>
                <a:ea typeface="Calibri"/>
              </a:rPr>
              <a:t>Ten points, and it proves the part people actually get stuck on: that targets live behind the workstation.</a:t>
            </a:r>
            <a:endParaRPr lang="en-US" sz="1400" noProof="1"/>
          </a:p>
        </p:txBody>
      </p:sp>
      <p:sp>
        <p:nvSpPr>
          <p:cNvPr id="6" name="Shape 3"/>
          <p:cNvSpPr/>
          <p:nvPr/>
        </p:nvSpPr>
        <p:spPr>
          <a:xfrm>
            <a:off x="548640" y="2194560"/>
            <a:ext cx="2430780" cy="2788920"/>
          </a:xfrm>
          <a:prstGeom prst="roundRect">
            <a:avLst>
              <a:gd name="adj" fmla="val 3386"/>
            </a:avLst>
          </a:prstGeom>
          <a:solidFill>
            <a:srgbClr val="141F30"/>
          </a:solidFill>
          <a:ln>
            <a:noFill/>
          </a:ln>
        </p:spPr>
      </p:sp>
      <p:sp>
        <p:nvSpPr>
          <p:cNvPr id="7" name="Text 4"/>
          <p:cNvSpPr txBox="1"/>
          <p:nvPr/>
        </p:nvSpPr>
        <p:spPr>
          <a:xfrm>
            <a:off x="840740" y="2432050"/>
            <a:ext cx="548640" cy="457200"/>
          </a:xfrm>
          <a:prstGeom prst="rect">
            <a:avLst/>
          </a:prstGeom>
          <a:noFill/>
          <a:ln>
            <a:noFill/>
          </a:ln>
        </p:spPr>
        <p:txBody>
          <a:bodyPr lIns="0" rIns="0" tIns="0" bIns="0" wrap="square" rtlCol="0" anchor="ctr"/>
          <a:lstStyle/>
          <a:p>
            <a:pPr algn="l" marL="0">
              <a:lnSpc>
                <a:spcPct val="120000"/>
              </a:lnSpc>
            </a:pPr>
            <a:r>
              <a:rPr lang="en-US" sz="2600" noProof="1" b="1">
                <a:solidFill>
                  <a:srgbClr val="E0559E"/>
                </a:solidFill>
                <a:latin typeface="Cambria"/>
                <a:ea typeface="Cambria"/>
              </a:rPr>
              <a:t>1</a:t>
            </a:r>
            <a:endParaRPr lang="en-US" sz="2600" noProof="1"/>
          </a:p>
        </p:txBody>
      </p:sp>
      <p:sp>
        <p:nvSpPr>
          <p:cNvPr id="8" name="Text 5"/>
          <p:cNvSpPr txBox="1"/>
          <p:nvPr/>
        </p:nvSpPr>
        <p:spPr>
          <a:xfrm>
            <a:off x="840740" y="2926080"/>
            <a:ext cx="1845310" cy="548640"/>
          </a:xfrm>
          <a:prstGeom prst="rect">
            <a:avLst/>
          </a:prstGeom>
          <a:noFill/>
          <a:ln>
            <a:noFill/>
          </a:ln>
        </p:spPr>
        <p:txBody>
          <a:bodyPr lIns="0" rIns="0" tIns="0" bIns="0" wrap="square" rtlCol="0" anchor="t"/>
          <a:lstStyle/>
          <a:p>
            <a:pPr algn="l" marL="0">
              <a:lnSpc>
                <a:spcPct val="120000"/>
              </a:lnSpc>
            </a:pPr>
            <a:r>
              <a:rPr lang="en-US" sz="1500" noProof="1" b="1">
                <a:solidFill>
                  <a:srgbClr val="F4F6FB"/>
                </a:solidFill>
                <a:latin typeface="Cambria"/>
                <a:ea typeface="Cambria"/>
              </a:rPr>
              <a:t>Click Launch</a:t>
            </a:r>
            <a:endParaRPr lang="en-US" sz="1500" noProof="1"/>
          </a:p>
        </p:txBody>
      </p:sp>
      <p:sp>
        <p:nvSpPr>
          <p:cNvPr id="9" name="Text 6"/>
          <p:cNvSpPr txBox="1"/>
          <p:nvPr/>
        </p:nvSpPr>
        <p:spPr>
          <a:xfrm>
            <a:off x="840740" y="3492500"/>
            <a:ext cx="1845310" cy="1216660"/>
          </a:xfrm>
          <a:prstGeom prst="rect">
            <a:avLst/>
          </a:prstGeom>
          <a:noFill/>
          <a:ln>
            <a:noFill/>
          </a:ln>
        </p:spPr>
        <p:txBody>
          <a:bodyPr lIns="0" rIns="0" tIns="0" bIns="0" wrap="square" rtlCol="0" anchor="t"/>
          <a:lstStyle/>
          <a:p>
            <a:pPr algn="l" marL="0">
              <a:lnSpc>
                <a:spcPct val="115000"/>
              </a:lnSpc>
            </a:pPr>
            <a:r>
              <a:rPr lang="en-US" sz="1200" noProof="1">
                <a:solidFill>
                  <a:srgbClr val="B8C7E4"/>
                </a:solidFill>
                <a:latin typeface="Calibri"/>
                <a:ea typeface="Calibri"/>
              </a:rPr>
              <a:t>On the "Natas: Start Here" challenge in CTFd.</a:t>
            </a:r>
            <a:endParaRPr lang="en-US" sz="1200" noProof="1"/>
          </a:p>
        </p:txBody>
      </p:sp>
      <p:sp>
        <p:nvSpPr>
          <p:cNvPr id="10" name="Text 7"/>
          <p:cNvSpPr txBox="1"/>
          <p:nvPr/>
        </p:nvSpPr>
        <p:spPr>
          <a:xfrm>
            <a:off x="2979420" y="3388360"/>
            <a:ext cx="457200" cy="402590"/>
          </a:xfrm>
          <a:prstGeom prst="rect">
            <a:avLst/>
          </a:prstGeom>
          <a:noFill/>
          <a:ln>
            <a:noFill/>
          </a:ln>
        </p:spPr>
        <p:txBody>
          <a:bodyPr lIns="0" rIns="0" tIns="0" bIns="0" wrap="square" rtlCol="0" anchor="ctr"/>
          <a:lstStyle/>
          <a:p>
            <a:pPr algn="ctr" marL="0">
              <a:lnSpc>
                <a:spcPct val="120000"/>
              </a:lnSpc>
            </a:pPr>
            <a:r>
              <a:rPr lang="en-US" sz="1800" noProof="1">
                <a:solidFill>
                  <a:srgbClr val="8FA3C8"/>
                </a:solidFill>
                <a:latin typeface="Calibri"/>
                <a:ea typeface="Calibri"/>
              </a:rPr>
              <a:t>→</a:t>
            </a:r>
            <a:endParaRPr lang="en-US" sz="1800" noProof="1"/>
          </a:p>
        </p:txBody>
      </p:sp>
      <p:sp>
        <p:nvSpPr>
          <p:cNvPr id="11" name="Shape 8"/>
          <p:cNvSpPr/>
          <p:nvPr/>
        </p:nvSpPr>
        <p:spPr>
          <a:xfrm>
            <a:off x="3436620" y="2194560"/>
            <a:ext cx="2430780" cy="2788920"/>
          </a:xfrm>
          <a:prstGeom prst="roundRect">
            <a:avLst>
              <a:gd name="adj" fmla="val 3386"/>
            </a:avLst>
          </a:prstGeom>
          <a:solidFill>
            <a:srgbClr val="141F30"/>
          </a:solidFill>
          <a:ln>
            <a:noFill/>
          </a:ln>
        </p:spPr>
      </p:sp>
      <p:sp>
        <p:nvSpPr>
          <p:cNvPr id="12" name="Text 9"/>
          <p:cNvSpPr txBox="1"/>
          <p:nvPr/>
        </p:nvSpPr>
        <p:spPr>
          <a:xfrm>
            <a:off x="3728720" y="2432050"/>
            <a:ext cx="548640" cy="457200"/>
          </a:xfrm>
          <a:prstGeom prst="rect">
            <a:avLst/>
          </a:prstGeom>
          <a:noFill/>
          <a:ln>
            <a:noFill/>
          </a:ln>
        </p:spPr>
        <p:txBody>
          <a:bodyPr lIns="0" rIns="0" tIns="0" bIns="0" wrap="square" rtlCol="0" anchor="ctr"/>
          <a:lstStyle/>
          <a:p>
            <a:pPr algn="l" marL="0">
              <a:lnSpc>
                <a:spcPct val="120000"/>
              </a:lnSpc>
            </a:pPr>
            <a:r>
              <a:rPr lang="en-US" sz="2600" noProof="1" b="1">
                <a:solidFill>
                  <a:srgbClr val="E0559E"/>
                </a:solidFill>
                <a:latin typeface="Cambria"/>
                <a:ea typeface="Cambria"/>
              </a:rPr>
              <a:t>2</a:t>
            </a:r>
            <a:endParaRPr lang="en-US" sz="2600" noProof="1"/>
          </a:p>
        </p:txBody>
      </p:sp>
      <p:sp>
        <p:nvSpPr>
          <p:cNvPr id="13" name="Text 10"/>
          <p:cNvSpPr txBox="1"/>
          <p:nvPr/>
        </p:nvSpPr>
        <p:spPr>
          <a:xfrm>
            <a:off x="3728720" y="2926080"/>
            <a:ext cx="1845310" cy="548640"/>
          </a:xfrm>
          <a:prstGeom prst="rect">
            <a:avLst/>
          </a:prstGeom>
          <a:noFill/>
          <a:ln>
            <a:noFill/>
          </a:ln>
        </p:spPr>
        <p:txBody>
          <a:bodyPr lIns="0" rIns="0" tIns="0" bIns="0" wrap="square" rtlCol="0" anchor="t"/>
          <a:lstStyle/>
          <a:p>
            <a:pPr algn="l" marL="0">
              <a:lnSpc>
                <a:spcPct val="120000"/>
              </a:lnSpc>
            </a:pPr>
            <a:r>
              <a:rPr lang="en-US" sz="1500" noProof="1" b="1">
                <a:solidFill>
                  <a:srgbClr val="F4F6FB"/>
                </a:solidFill>
                <a:latin typeface="Cambria"/>
                <a:ea typeface="Cambria"/>
              </a:rPr>
              <a:t>Open the workstation</a:t>
            </a:r>
            <a:endParaRPr lang="en-US" sz="1500" noProof="1"/>
          </a:p>
        </p:txBody>
      </p:sp>
      <p:sp>
        <p:nvSpPr>
          <p:cNvPr id="14" name="Text 11"/>
          <p:cNvSpPr txBox="1"/>
          <p:nvPr/>
        </p:nvSpPr>
        <p:spPr>
          <a:xfrm>
            <a:off x="3728720" y="3492500"/>
            <a:ext cx="1845310" cy="1216660"/>
          </a:xfrm>
          <a:prstGeom prst="rect">
            <a:avLst/>
          </a:prstGeom>
          <a:noFill/>
          <a:ln>
            <a:noFill/>
          </a:ln>
        </p:spPr>
        <p:txBody>
          <a:bodyPr lIns="0" rIns="0" tIns="0" bIns="0" wrap="square" rtlCol="0" anchor="t"/>
          <a:lstStyle/>
          <a:p>
            <a:pPr algn="l" marL="0">
              <a:lnSpc>
                <a:spcPct val="115000"/>
              </a:lnSpc>
            </a:pPr>
            <a:r>
              <a:rPr lang="en-US" sz="1200" noProof="1">
                <a:solidFill>
                  <a:srgbClr val="B8C7E4"/>
                </a:solidFill>
                <a:latin typeface="Calibri"/>
                <a:ea typeface="Calibri"/>
              </a:rPr>
              <a:t>noVNC in your browser, or SSH — your choice.</a:t>
            </a:r>
            <a:endParaRPr lang="en-US" sz="1200" noProof="1"/>
          </a:p>
        </p:txBody>
      </p:sp>
      <p:sp>
        <p:nvSpPr>
          <p:cNvPr id="15" name="Text 12"/>
          <p:cNvSpPr txBox="1"/>
          <p:nvPr/>
        </p:nvSpPr>
        <p:spPr>
          <a:xfrm>
            <a:off x="5867400" y="3388360"/>
            <a:ext cx="457200" cy="402590"/>
          </a:xfrm>
          <a:prstGeom prst="rect">
            <a:avLst/>
          </a:prstGeom>
          <a:noFill/>
          <a:ln>
            <a:noFill/>
          </a:ln>
        </p:spPr>
        <p:txBody>
          <a:bodyPr lIns="0" rIns="0" tIns="0" bIns="0" wrap="square" rtlCol="0" anchor="ctr"/>
          <a:lstStyle/>
          <a:p>
            <a:pPr algn="ctr" marL="0">
              <a:lnSpc>
                <a:spcPct val="120000"/>
              </a:lnSpc>
            </a:pPr>
            <a:r>
              <a:rPr lang="en-US" sz="1800" noProof="1">
                <a:solidFill>
                  <a:srgbClr val="8FA3C8"/>
                </a:solidFill>
                <a:latin typeface="Calibri"/>
                <a:ea typeface="Calibri"/>
              </a:rPr>
              <a:t>→</a:t>
            </a:r>
            <a:endParaRPr lang="en-US" sz="1800" noProof="1"/>
          </a:p>
        </p:txBody>
      </p:sp>
      <p:sp>
        <p:nvSpPr>
          <p:cNvPr id="16" name="Shape 13"/>
          <p:cNvSpPr/>
          <p:nvPr/>
        </p:nvSpPr>
        <p:spPr>
          <a:xfrm>
            <a:off x="6324600" y="2194560"/>
            <a:ext cx="2430780" cy="2788920"/>
          </a:xfrm>
          <a:prstGeom prst="roundRect">
            <a:avLst>
              <a:gd name="adj" fmla="val 3386"/>
            </a:avLst>
          </a:prstGeom>
          <a:solidFill>
            <a:srgbClr val="141F30"/>
          </a:solidFill>
          <a:ln>
            <a:noFill/>
          </a:ln>
        </p:spPr>
      </p:sp>
      <p:sp>
        <p:nvSpPr>
          <p:cNvPr id="17" name="Text 14"/>
          <p:cNvSpPr txBox="1"/>
          <p:nvPr/>
        </p:nvSpPr>
        <p:spPr>
          <a:xfrm>
            <a:off x="6616700" y="2432050"/>
            <a:ext cx="548640" cy="457200"/>
          </a:xfrm>
          <a:prstGeom prst="rect">
            <a:avLst/>
          </a:prstGeom>
          <a:noFill/>
          <a:ln>
            <a:noFill/>
          </a:ln>
        </p:spPr>
        <p:txBody>
          <a:bodyPr lIns="0" rIns="0" tIns="0" bIns="0" wrap="square" rtlCol="0" anchor="ctr"/>
          <a:lstStyle/>
          <a:p>
            <a:pPr algn="l" marL="0">
              <a:lnSpc>
                <a:spcPct val="120000"/>
              </a:lnSpc>
            </a:pPr>
            <a:r>
              <a:rPr lang="en-US" sz="2600" noProof="1" b="1">
                <a:solidFill>
                  <a:srgbClr val="E0559E"/>
                </a:solidFill>
                <a:latin typeface="Cambria"/>
                <a:ea typeface="Cambria"/>
              </a:rPr>
              <a:t>3</a:t>
            </a:r>
            <a:endParaRPr lang="en-US" sz="2600" noProof="1"/>
          </a:p>
        </p:txBody>
      </p:sp>
      <p:sp>
        <p:nvSpPr>
          <p:cNvPr id="18" name="Text 15"/>
          <p:cNvSpPr txBox="1"/>
          <p:nvPr/>
        </p:nvSpPr>
        <p:spPr>
          <a:xfrm>
            <a:off x="6616700" y="2926080"/>
            <a:ext cx="1845310" cy="548640"/>
          </a:xfrm>
          <a:prstGeom prst="rect">
            <a:avLst/>
          </a:prstGeom>
          <a:noFill/>
          <a:ln>
            <a:noFill/>
          </a:ln>
        </p:spPr>
        <p:txBody>
          <a:bodyPr lIns="0" rIns="0" tIns="0" bIns="0" wrap="square" rtlCol="0" anchor="t"/>
          <a:lstStyle/>
          <a:p>
            <a:pPr algn="l" marL="0">
              <a:lnSpc>
                <a:spcPct val="120000"/>
              </a:lnSpc>
            </a:pPr>
            <a:r>
              <a:rPr lang="en-US" sz="1500" noProof="1" b="1">
                <a:solidFill>
                  <a:srgbClr val="F4F6FB"/>
                </a:solidFill>
                <a:latin typeface="Cambria"/>
                <a:ea typeface="Cambria"/>
              </a:rPr>
              <a:t>Browse from inside it</a:t>
            </a:r>
            <a:endParaRPr lang="en-US" sz="1500" noProof="1"/>
          </a:p>
        </p:txBody>
      </p:sp>
      <p:sp>
        <p:nvSpPr>
          <p:cNvPr id="19" name="Text 16"/>
          <p:cNvSpPr txBox="1"/>
          <p:nvPr/>
        </p:nvSpPr>
        <p:spPr>
          <a:xfrm>
            <a:off x="6616700" y="3492500"/>
            <a:ext cx="1845310" cy="1216660"/>
          </a:xfrm>
          <a:prstGeom prst="rect">
            <a:avLst/>
          </a:prstGeom>
          <a:noFill/>
          <a:ln>
            <a:noFill/>
          </a:ln>
        </p:spPr>
        <p:txBody>
          <a:bodyPr lIns="0" rIns="0" tIns="0" bIns="0" wrap="square" rtlCol="0" anchor="t"/>
          <a:lstStyle/>
          <a:p>
            <a:pPr algn="l" marL="0">
              <a:lnSpc>
                <a:spcPct val="115000"/>
              </a:lnSpc>
            </a:pPr>
            <a:r>
              <a:rPr lang="en-US" sz="1200" noProof="1">
                <a:solidFill>
                  <a:srgbClr val="B8C7E4"/>
                </a:solidFill>
                <a:latin typeface="Calibri"/>
                <a:ea typeface="Calibri"/>
              </a:rPr>
              <a:t>Open the target host on port 8000 and read welcome.txt.</a:t>
            </a:r>
            <a:endParaRPr lang="en-US" sz="1200" noProof="1"/>
          </a:p>
        </p:txBody>
      </p:sp>
      <p:sp>
        <p:nvSpPr>
          <p:cNvPr id="20" name="Text 17"/>
          <p:cNvSpPr txBox="1"/>
          <p:nvPr/>
        </p:nvSpPr>
        <p:spPr>
          <a:xfrm>
            <a:off x="8755380" y="3388360"/>
            <a:ext cx="457200" cy="402590"/>
          </a:xfrm>
          <a:prstGeom prst="rect">
            <a:avLst/>
          </a:prstGeom>
          <a:noFill/>
          <a:ln>
            <a:noFill/>
          </a:ln>
        </p:spPr>
        <p:txBody>
          <a:bodyPr lIns="0" rIns="0" tIns="0" bIns="0" wrap="square" rtlCol="0" anchor="ctr"/>
          <a:lstStyle/>
          <a:p>
            <a:pPr algn="ctr" marL="0">
              <a:lnSpc>
                <a:spcPct val="120000"/>
              </a:lnSpc>
            </a:pPr>
            <a:r>
              <a:rPr lang="en-US" sz="1800" noProof="1">
                <a:solidFill>
                  <a:srgbClr val="8FA3C8"/>
                </a:solidFill>
                <a:latin typeface="Calibri"/>
                <a:ea typeface="Calibri"/>
              </a:rPr>
              <a:t>→</a:t>
            </a:r>
            <a:endParaRPr lang="en-US" sz="1800" noProof="1"/>
          </a:p>
        </p:txBody>
      </p:sp>
      <p:sp>
        <p:nvSpPr>
          <p:cNvPr id="21" name="Shape 18"/>
          <p:cNvSpPr/>
          <p:nvPr/>
        </p:nvSpPr>
        <p:spPr>
          <a:xfrm>
            <a:off x="9212580" y="2194560"/>
            <a:ext cx="2430780" cy="2788920"/>
          </a:xfrm>
          <a:prstGeom prst="roundRect">
            <a:avLst>
              <a:gd name="adj" fmla="val 3386"/>
            </a:avLst>
          </a:prstGeom>
          <a:solidFill>
            <a:srgbClr val="141F30"/>
          </a:solidFill>
          <a:ln>
            <a:noFill/>
          </a:ln>
        </p:spPr>
      </p:sp>
      <p:sp>
        <p:nvSpPr>
          <p:cNvPr id="22" name="Text 19"/>
          <p:cNvSpPr txBox="1"/>
          <p:nvPr/>
        </p:nvSpPr>
        <p:spPr>
          <a:xfrm>
            <a:off x="9504680" y="2432050"/>
            <a:ext cx="548640" cy="457200"/>
          </a:xfrm>
          <a:prstGeom prst="rect">
            <a:avLst/>
          </a:prstGeom>
          <a:noFill/>
          <a:ln>
            <a:noFill/>
          </a:ln>
        </p:spPr>
        <p:txBody>
          <a:bodyPr lIns="0" rIns="0" tIns="0" bIns="0" wrap="square" rtlCol="0" anchor="ctr"/>
          <a:lstStyle/>
          <a:p>
            <a:pPr algn="l" marL="0">
              <a:lnSpc>
                <a:spcPct val="120000"/>
              </a:lnSpc>
            </a:pPr>
            <a:r>
              <a:rPr lang="en-US" sz="2600" noProof="1" b="1">
                <a:solidFill>
                  <a:srgbClr val="E0559E"/>
                </a:solidFill>
                <a:latin typeface="Cambria"/>
                <a:ea typeface="Cambria"/>
              </a:rPr>
              <a:t>4</a:t>
            </a:r>
            <a:endParaRPr lang="en-US" sz="2600" noProof="1"/>
          </a:p>
        </p:txBody>
      </p:sp>
      <p:sp>
        <p:nvSpPr>
          <p:cNvPr id="23" name="Text 20"/>
          <p:cNvSpPr txBox="1"/>
          <p:nvPr/>
        </p:nvSpPr>
        <p:spPr>
          <a:xfrm>
            <a:off x="9504680" y="2926080"/>
            <a:ext cx="1845310" cy="548640"/>
          </a:xfrm>
          <a:prstGeom prst="rect">
            <a:avLst/>
          </a:prstGeom>
          <a:noFill/>
          <a:ln>
            <a:noFill/>
          </a:ln>
        </p:spPr>
        <p:txBody>
          <a:bodyPr lIns="0" rIns="0" tIns="0" bIns="0" wrap="square" rtlCol="0" anchor="t"/>
          <a:lstStyle/>
          <a:p>
            <a:pPr algn="l" marL="0">
              <a:lnSpc>
                <a:spcPct val="120000"/>
              </a:lnSpc>
            </a:pPr>
            <a:r>
              <a:rPr lang="en-US" sz="1500" noProof="1" b="1">
                <a:solidFill>
                  <a:srgbClr val="F4F6FB"/>
                </a:solidFill>
                <a:latin typeface="Cambria"/>
                <a:ea typeface="Cambria"/>
              </a:rPr>
              <a:t>Submit it</a:t>
            </a:r>
            <a:endParaRPr lang="en-US" sz="1500" noProof="1"/>
          </a:p>
        </p:txBody>
      </p:sp>
      <p:sp>
        <p:nvSpPr>
          <p:cNvPr id="24" name="Text 21"/>
          <p:cNvSpPr txBox="1"/>
          <p:nvPr/>
        </p:nvSpPr>
        <p:spPr>
          <a:xfrm>
            <a:off x="9504680" y="3492500"/>
            <a:ext cx="1845310" cy="1216660"/>
          </a:xfrm>
          <a:prstGeom prst="rect">
            <a:avLst/>
          </a:prstGeom>
          <a:noFill/>
          <a:ln>
            <a:noFill/>
          </a:ln>
        </p:spPr>
        <p:txBody>
          <a:bodyPr lIns="0" rIns="0" tIns="0" bIns="0" wrap="square" rtlCol="0" anchor="t"/>
          <a:lstStyle/>
          <a:p>
            <a:pPr algn="l" marL="0">
              <a:lnSpc>
                <a:spcPct val="115000"/>
              </a:lnSpc>
            </a:pPr>
            <a:r>
              <a:rPr lang="en-US" sz="1200" noProof="1">
                <a:solidFill>
                  <a:srgbClr val="B8C7E4"/>
                </a:solidFill>
                <a:latin typeface="Calibri"/>
                <a:ea typeface="Calibri"/>
              </a:rPr>
              <a:t>Then begin Natas 0: View Source.</a:t>
            </a:r>
            <a:endParaRPr lang="en-US" sz="1200" noProof="1"/>
          </a:p>
        </p:txBody>
      </p:sp>
      <p:sp>
        <p:nvSpPr>
          <p:cNvPr id="25" name="Text 22"/>
          <p:cNvSpPr txBox="1"/>
          <p:nvPr/>
        </p:nvSpPr>
        <p:spPr>
          <a:xfrm>
            <a:off x="548640" y="5349240"/>
            <a:ext cx="11094720" cy="274320"/>
          </a:xfrm>
          <a:prstGeom prst="rect">
            <a:avLst/>
          </a:prstGeom>
          <a:noFill/>
          <a:ln>
            <a:noFill/>
          </a:ln>
        </p:spPr>
        <p:txBody>
          <a:bodyPr lIns="0" rIns="0" tIns="0" bIns="0" wrap="square" rtlCol="0" anchor="ctr"/>
          <a:lstStyle/>
          <a:p>
            <a:pPr algn="l" marL="0">
              <a:lnSpc>
                <a:spcPct val="120000"/>
              </a:lnSpc>
            </a:pPr>
            <a:r>
              <a:rPr lang="en-US" sz="1250" noProof="1" i="1">
                <a:solidFill>
                  <a:srgbClr val="E0559E"/>
                </a:solidFill>
                <a:latin typeface="Calibri"/>
                <a:ea typeface="Calibri"/>
              </a:rPr>
              <a:t>If the target won't load, check you're browsing from the workstation and not your own machine.</a:t>
            </a:r>
            <a:endParaRPr lang="en-US" sz="1250" noProof="1"/>
          </a:p>
        </p:txBody>
      </p:sp>
      <p:sp>
        <p:nvSpPr>
          <p:cNvPr id="26" name="Text 23"/>
          <p:cNvSpPr txBox="1"/>
          <p:nvPr/>
        </p:nvSpPr>
        <p:spPr>
          <a:xfrm>
            <a:off x="548640" y="6446520"/>
            <a:ext cx="40640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03 / 04</a:t>
            </a:r>
            <a:endParaRPr lang="en-US" sz="1000" noProof="1"/>
          </a:p>
        </p:txBody>
      </p:sp>
      <p:sp>
        <p:nvSpPr>
          <p:cNvPr id="27" name="Text 24"/>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12</a:t>
            </a:r>
            <a:endParaRPr lang="en-US" sz="1000" noProof="1"/>
          </a:p>
        </p:txBody>
      </p:sp>
    </p:spTree>
  </p:cSld>
  <p:clrMapOvr>
    <a:masterClrMapping/>
  </p:clrMapOvr>
  <p:transition spd="fast" advClick="1">
    <p:fade/>
  </p:transition>
</p:sld>
</file>

<file path=ppt/slides/slide13.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pic>
        <p:nvPicPr>
          <p:cNvPr id="2" name="Image 0"/>
          <p:cNvPicPr/>
          <p:nvPr/>
        </p:nvPicPr>
        <p:blipFill>
          <a:blip r:embed="rId2"/>
          <a:stretch>
            <a:fillRect/>
          </a:stretch>
        </p:blipFill>
        <p:spPr>
          <a:xfrm>
            <a:off x="7881620" y="2286000"/>
            <a:ext cx="3749040" cy="3072130"/>
          </a:xfrm>
          <a:prstGeom prst="rect">
            <a:avLst/>
          </a:prstGeom>
          <a:ln>
            <a:noFill/>
          </a:ln>
        </p:spPr>
      </p:pic>
      <p:sp>
        <p:nvSpPr>
          <p:cNvPr id="3" name="Text 0"/>
          <p:cNvSpPr txBox="1"/>
          <p:nvPr/>
        </p:nvSpPr>
        <p:spPr>
          <a:xfrm>
            <a:off x="548640" y="1143000"/>
            <a:ext cx="7315200" cy="731520"/>
          </a:xfrm>
          <a:prstGeom prst="rect">
            <a:avLst/>
          </a:prstGeom>
          <a:noFill/>
          <a:ln>
            <a:noFill/>
          </a:ln>
        </p:spPr>
        <p:txBody>
          <a:bodyPr lIns="0" rIns="0" tIns="0" bIns="0" wrap="square" rtlCol="0" anchor="ctr"/>
          <a:lstStyle/>
          <a:p>
            <a:pPr algn="l" marL="0">
              <a:lnSpc>
                <a:spcPct val="120000"/>
              </a:lnSpc>
            </a:pPr>
            <a:r>
              <a:rPr lang="en-US" sz="4000" noProof="1" b="1">
                <a:solidFill>
                  <a:srgbClr val="F4F6FB"/>
                </a:solidFill>
                <a:latin typeface="Cambria"/>
                <a:ea typeface="Cambria"/>
              </a:rPr>
              <a:t>Ready to play.</a:t>
            </a:r>
            <a:endParaRPr lang="en-US" sz="4000" noProof="1"/>
          </a:p>
        </p:txBody>
      </p:sp>
      <p:sp>
        <p:nvSpPr>
          <p:cNvPr id="4" name="Text 1"/>
          <p:cNvSpPr txBox="1"/>
          <p:nvPr/>
        </p:nvSpPr>
        <p:spPr>
          <a:xfrm>
            <a:off x="548640" y="1920240"/>
            <a:ext cx="7680960" cy="365760"/>
          </a:xfrm>
          <a:prstGeom prst="rect">
            <a:avLst/>
          </a:prstGeom>
          <a:noFill/>
          <a:ln>
            <a:noFill/>
          </a:ln>
        </p:spPr>
        <p:txBody>
          <a:bodyPr lIns="0" rIns="0" tIns="0" bIns="0" wrap="square" rtlCol="0" anchor="ctr"/>
          <a:lstStyle/>
          <a:p>
            <a:pPr algn="l" marL="0">
              <a:lnSpc>
                <a:spcPct val="120000"/>
              </a:lnSpc>
            </a:pPr>
            <a:r>
              <a:rPr lang="en-US" sz="1350" noProof="1">
                <a:solidFill>
                  <a:srgbClr val="B8C7E4"/>
                </a:solidFill>
                <a:latin typeface="Calibri"/>
                <a:ea typeface="Calibri"/>
              </a:rPr>
              <a:t>Natas needs nothing installed — just a browser.</a:t>
            </a:r>
            <a:endParaRPr lang="en-US" sz="1350" noProof="1"/>
          </a:p>
        </p:txBody>
      </p:sp>
      <p:sp>
        <p:nvSpPr>
          <p:cNvPr id="5" name="Shape 2"/>
          <p:cNvSpPr/>
          <p:nvPr/>
        </p:nvSpPr>
        <p:spPr>
          <a:xfrm>
            <a:off x="548640" y="2540000"/>
            <a:ext cx="6614160" cy="635000"/>
          </a:xfrm>
          <a:prstGeom prst="roundRect">
            <a:avLst>
              <a:gd name="adj" fmla="val 11842"/>
            </a:avLst>
          </a:prstGeom>
          <a:solidFill>
            <a:srgbClr val="141F30"/>
          </a:solidFill>
          <a:ln>
            <a:noFill/>
          </a:ln>
        </p:spPr>
      </p:sp>
      <p:sp>
        <p:nvSpPr>
          <p:cNvPr id="6" name="Text 3"/>
          <p:cNvSpPr txBox="1"/>
          <p:nvPr/>
        </p:nvSpPr>
        <p:spPr>
          <a:xfrm>
            <a:off x="932180" y="2540000"/>
            <a:ext cx="457200" cy="635000"/>
          </a:xfrm>
          <a:prstGeom prst="rect">
            <a:avLst/>
          </a:prstGeom>
          <a:noFill/>
          <a:ln>
            <a:noFill/>
          </a:ln>
        </p:spPr>
        <p:txBody>
          <a:bodyPr lIns="0" rIns="0" tIns="0" bIns="0" wrap="square" rtlCol="0" anchor="ctr"/>
          <a:lstStyle/>
          <a:p>
            <a:pPr algn="l" marL="0">
              <a:lnSpc>
                <a:spcPct val="120000"/>
              </a:lnSpc>
            </a:pPr>
            <a:r>
              <a:rPr lang="en-US" sz="1900" noProof="1" b="1">
                <a:solidFill>
                  <a:srgbClr val="E0559E"/>
                </a:solidFill>
                <a:latin typeface="Cambria"/>
                <a:ea typeface="Cambria"/>
              </a:rPr>
              <a:t>1</a:t>
            </a:r>
            <a:endParaRPr lang="en-US" sz="1900" noProof="1"/>
          </a:p>
        </p:txBody>
      </p:sp>
      <p:sp>
        <p:nvSpPr>
          <p:cNvPr id="7" name="Text 4"/>
          <p:cNvSpPr txBox="1"/>
          <p:nvPr/>
        </p:nvSpPr>
        <p:spPr>
          <a:xfrm>
            <a:off x="1554480" y="2540000"/>
            <a:ext cx="5334000" cy="635000"/>
          </a:xfrm>
          <a:prstGeom prst="rect">
            <a:avLst/>
          </a:prstGeom>
          <a:noFill/>
          <a:ln>
            <a:noFill/>
          </a:ln>
        </p:spPr>
        <p:txBody>
          <a:bodyPr lIns="0" rIns="0" tIns="0" bIns="0" wrap="square" rtlCol="0" anchor="ctr"/>
          <a:lstStyle/>
          <a:p>
            <a:pPr algn="l" marL="0">
              <a:lnSpc>
                <a:spcPct val="120000"/>
              </a:lnSpc>
            </a:pPr>
            <a:r>
              <a:rPr lang="en-US" sz="1400" noProof="1">
                <a:solidFill>
                  <a:srgbClr val="F4F6FB"/>
                </a:solidFill>
                <a:latin typeface="Calibri"/>
                <a:ea typeface="Calibri"/>
              </a:rPr>
              <a:t>Log in to CTFd and open the Web Security category</a:t>
            </a:r>
            <a:endParaRPr lang="en-US" sz="1400" noProof="1"/>
          </a:p>
        </p:txBody>
      </p:sp>
      <p:sp>
        <p:nvSpPr>
          <p:cNvPr id="8" name="Shape 5"/>
          <p:cNvSpPr/>
          <p:nvPr/>
        </p:nvSpPr>
        <p:spPr>
          <a:xfrm>
            <a:off x="548640" y="3225800"/>
            <a:ext cx="6614160" cy="635000"/>
          </a:xfrm>
          <a:prstGeom prst="roundRect">
            <a:avLst>
              <a:gd name="adj" fmla="val 11842"/>
            </a:avLst>
          </a:prstGeom>
          <a:solidFill>
            <a:srgbClr val="1B2740"/>
          </a:solidFill>
          <a:ln>
            <a:noFill/>
          </a:ln>
        </p:spPr>
      </p:sp>
      <p:sp>
        <p:nvSpPr>
          <p:cNvPr id="9" name="Text 6"/>
          <p:cNvSpPr txBox="1"/>
          <p:nvPr/>
        </p:nvSpPr>
        <p:spPr>
          <a:xfrm>
            <a:off x="932180" y="3225800"/>
            <a:ext cx="457200" cy="635000"/>
          </a:xfrm>
          <a:prstGeom prst="rect">
            <a:avLst/>
          </a:prstGeom>
          <a:noFill/>
          <a:ln>
            <a:noFill/>
          </a:ln>
        </p:spPr>
        <p:txBody>
          <a:bodyPr lIns="0" rIns="0" tIns="0" bIns="0" wrap="square" rtlCol="0" anchor="ctr"/>
          <a:lstStyle/>
          <a:p>
            <a:pPr algn="l" marL="0">
              <a:lnSpc>
                <a:spcPct val="120000"/>
              </a:lnSpc>
            </a:pPr>
            <a:r>
              <a:rPr lang="en-US" sz="1900" noProof="1" b="1">
                <a:solidFill>
                  <a:srgbClr val="E0559E"/>
                </a:solidFill>
                <a:latin typeface="Cambria"/>
                <a:ea typeface="Cambria"/>
              </a:rPr>
              <a:t>2</a:t>
            </a:r>
            <a:endParaRPr lang="en-US" sz="1900" noProof="1"/>
          </a:p>
        </p:txBody>
      </p:sp>
      <p:sp>
        <p:nvSpPr>
          <p:cNvPr id="10" name="Text 7"/>
          <p:cNvSpPr txBox="1"/>
          <p:nvPr/>
        </p:nvSpPr>
        <p:spPr>
          <a:xfrm>
            <a:off x="1554480" y="3225800"/>
            <a:ext cx="5334000" cy="635000"/>
          </a:xfrm>
          <a:prstGeom prst="rect">
            <a:avLst/>
          </a:prstGeom>
          <a:noFill/>
          <a:ln>
            <a:noFill/>
          </a:ln>
        </p:spPr>
        <p:txBody>
          <a:bodyPr lIns="0" rIns="0" tIns="0" bIns="0" wrap="square" rtlCol="0" anchor="ctr"/>
          <a:lstStyle/>
          <a:p>
            <a:pPr algn="l" marL="0">
              <a:lnSpc>
                <a:spcPct val="120000"/>
              </a:lnSpc>
            </a:pPr>
            <a:r>
              <a:rPr lang="en-US" sz="1400" noProof="1">
                <a:solidFill>
                  <a:srgbClr val="F4F6FB"/>
                </a:solidFill>
                <a:latin typeface="Calibri"/>
                <a:ea typeface="Calibri"/>
              </a:rPr>
              <a:t>Solve "Natas: Start Here" to reach the workstation</a:t>
            </a:r>
            <a:endParaRPr lang="en-US" sz="1400" noProof="1"/>
          </a:p>
        </p:txBody>
      </p:sp>
      <p:sp>
        <p:nvSpPr>
          <p:cNvPr id="11" name="Shape 8"/>
          <p:cNvSpPr/>
          <p:nvPr/>
        </p:nvSpPr>
        <p:spPr>
          <a:xfrm>
            <a:off x="548640" y="3911600"/>
            <a:ext cx="6614160" cy="635000"/>
          </a:xfrm>
          <a:prstGeom prst="roundRect">
            <a:avLst>
              <a:gd name="adj" fmla="val 11842"/>
            </a:avLst>
          </a:prstGeom>
          <a:solidFill>
            <a:srgbClr val="141F30"/>
          </a:solidFill>
          <a:ln>
            <a:noFill/>
          </a:ln>
        </p:spPr>
      </p:sp>
      <p:sp>
        <p:nvSpPr>
          <p:cNvPr id="12" name="Text 9"/>
          <p:cNvSpPr txBox="1"/>
          <p:nvPr/>
        </p:nvSpPr>
        <p:spPr>
          <a:xfrm>
            <a:off x="932180" y="3911600"/>
            <a:ext cx="457200" cy="635000"/>
          </a:xfrm>
          <a:prstGeom prst="rect">
            <a:avLst/>
          </a:prstGeom>
          <a:noFill/>
          <a:ln>
            <a:noFill/>
          </a:ln>
        </p:spPr>
        <p:txBody>
          <a:bodyPr lIns="0" rIns="0" tIns="0" bIns="0" wrap="square" rtlCol="0" anchor="ctr"/>
          <a:lstStyle/>
          <a:p>
            <a:pPr algn="l" marL="0">
              <a:lnSpc>
                <a:spcPct val="120000"/>
              </a:lnSpc>
            </a:pPr>
            <a:r>
              <a:rPr lang="en-US" sz="1900" noProof="1" b="1">
                <a:solidFill>
                  <a:srgbClr val="E0559E"/>
                </a:solidFill>
                <a:latin typeface="Cambria"/>
                <a:ea typeface="Cambria"/>
              </a:rPr>
              <a:t>3</a:t>
            </a:r>
            <a:endParaRPr lang="en-US" sz="1900" noProof="1"/>
          </a:p>
        </p:txBody>
      </p:sp>
      <p:sp>
        <p:nvSpPr>
          <p:cNvPr id="13" name="Text 10"/>
          <p:cNvSpPr txBox="1"/>
          <p:nvPr/>
        </p:nvSpPr>
        <p:spPr>
          <a:xfrm>
            <a:off x="1554480" y="3911600"/>
            <a:ext cx="5334000" cy="635000"/>
          </a:xfrm>
          <a:prstGeom prst="rect">
            <a:avLst/>
          </a:prstGeom>
          <a:noFill/>
          <a:ln>
            <a:noFill/>
          </a:ln>
        </p:spPr>
        <p:txBody>
          <a:bodyPr lIns="0" rIns="0" tIns="0" bIns="0" wrap="square" rtlCol="0" anchor="ctr"/>
          <a:lstStyle/>
          <a:p>
            <a:pPr algn="l" marL="0">
              <a:lnSpc>
                <a:spcPct val="120000"/>
              </a:lnSpc>
            </a:pPr>
            <a:r>
              <a:rPr lang="en-US" sz="1400" noProof="1">
                <a:solidFill>
                  <a:srgbClr val="F4F6FB"/>
                </a:solidFill>
                <a:latin typeface="Calibri"/>
                <a:ea typeface="Calibri"/>
              </a:rPr>
              <a:t>Open noVNC and browse to the target from inside it</a:t>
            </a:r>
            <a:endParaRPr lang="en-US" sz="1400" noProof="1"/>
          </a:p>
        </p:txBody>
      </p:sp>
      <p:sp>
        <p:nvSpPr>
          <p:cNvPr id="14" name="Shape 11"/>
          <p:cNvSpPr/>
          <p:nvPr/>
        </p:nvSpPr>
        <p:spPr>
          <a:xfrm>
            <a:off x="548640" y="4597400"/>
            <a:ext cx="6614160" cy="635000"/>
          </a:xfrm>
          <a:prstGeom prst="roundRect">
            <a:avLst>
              <a:gd name="adj" fmla="val 11842"/>
            </a:avLst>
          </a:prstGeom>
          <a:solidFill>
            <a:srgbClr val="1B2740"/>
          </a:solidFill>
          <a:ln>
            <a:noFill/>
          </a:ln>
        </p:spPr>
      </p:sp>
      <p:sp>
        <p:nvSpPr>
          <p:cNvPr id="15" name="Text 12"/>
          <p:cNvSpPr txBox="1"/>
          <p:nvPr/>
        </p:nvSpPr>
        <p:spPr>
          <a:xfrm>
            <a:off x="932180" y="4597400"/>
            <a:ext cx="457200" cy="635000"/>
          </a:xfrm>
          <a:prstGeom prst="rect">
            <a:avLst/>
          </a:prstGeom>
          <a:noFill/>
          <a:ln>
            <a:noFill/>
          </a:ln>
        </p:spPr>
        <p:txBody>
          <a:bodyPr lIns="0" rIns="0" tIns="0" bIns="0" wrap="square" rtlCol="0" anchor="ctr"/>
          <a:lstStyle/>
          <a:p>
            <a:pPr algn="l" marL="0">
              <a:lnSpc>
                <a:spcPct val="120000"/>
              </a:lnSpc>
            </a:pPr>
            <a:r>
              <a:rPr lang="en-US" sz="1900" noProof="1" b="1">
                <a:solidFill>
                  <a:srgbClr val="E0559E"/>
                </a:solidFill>
                <a:latin typeface="Cambria"/>
                <a:ea typeface="Cambria"/>
              </a:rPr>
              <a:t>4</a:t>
            </a:r>
            <a:endParaRPr lang="en-US" sz="1900" noProof="1"/>
          </a:p>
        </p:txBody>
      </p:sp>
      <p:sp>
        <p:nvSpPr>
          <p:cNvPr id="16" name="Text 13"/>
          <p:cNvSpPr txBox="1"/>
          <p:nvPr/>
        </p:nvSpPr>
        <p:spPr>
          <a:xfrm>
            <a:off x="1554480" y="4597400"/>
            <a:ext cx="5334000" cy="635000"/>
          </a:xfrm>
          <a:prstGeom prst="rect">
            <a:avLst/>
          </a:prstGeom>
          <a:noFill/>
          <a:ln>
            <a:noFill/>
          </a:ln>
        </p:spPr>
        <p:txBody>
          <a:bodyPr lIns="0" rIns="0" tIns="0" bIns="0" wrap="square" rtlCol="0" anchor="ctr"/>
          <a:lstStyle/>
          <a:p>
            <a:pPr algn="l" marL="0">
              <a:lnSpc>
                <a:spcPct val="120000"/>
              </a:lnSpc>
            </a:pPr>
            <a:r>
              <a:rPr lang="en-US" sz="1400" noProof="1">
                <a:solidFill>
                  <a:srgbClr val="F4F6FB"/>
                </a:solidFill>
                <a:latin typeface="Calibri"/>
                <a:ea typeface="Calibri"/>
              </a:rPr>
              <a:t>Work level 0 downward; view source before anything else</a:t>
            </a:r>
            <a:endParaRPr lang="en-US" sz="1400" noProof="1"/>
          </a:p>
        </p:txBody>
      </p:sp>
      <p:sp>
        <p:nvSpPr>
          <p:cNvPr id="17" name="Shape 14"/>
          <p:cNvSpPr/>
          <p:nvPr/>
        </p:nvSpPr>
        <p:spPr>
          <a:xfrm>
            <a:off x="548640" y="5283200"/>
            <a:ext cx="6614160" cy="635000"/>
          </a:xfrm>
          <a:prstGeom prst="roundRect">
            <a:avLst>
              <a:gd name="adj" fmla="val 11842"/>
            </a:avLst>
          </a:prstGeom>
          <a:solidFill>
            <a:srgbClr val="141F30"/>
          </a:solidFill>
          <a:ln>
            <a:noFill/>
          </a:ln>
        </p:spPr>
      </p:sp>
      <p:sp>
        <p:nvSpPr>
          <p:cNvPr id="18" name="Text 13a"/>
          <p:cNvSpPr txBox="1"/>
          <p:nvPr/>
        </p:nvSpPr>
        <p:spPr>
          <a:xfrm>
            <a:off x="932180" y="5283200"/>
            <a:ext cx="457200" cy="635000"/>
          </a:xfrm>
          <a:prstGeom prst="rect">
            <a:avLst/>
          </a:prstGeom>
          <a:noFill/>
          <a:ln>
            <a:noFill/>
          </a:ln>
        </p:spPr>
        <p:txBody>
          <a:bodyPr lIns="0" rIns="0" tIns="0" bIns="0" wrap="square" rtlCol="0" anchor="ctr"/>
          <a:lstStyle/>
          <a:p>
            <a:pPr algn="l" marL="0">
              <a:lnSpc>
                <a:spcPct val="120000"/>
              </a:lnSpc>
            </a:pPr>
            <a:r>
              <a:rPr lang="en-US" sz="1900" noProof="1" b="1">
                <a:solidFill>
                  <a:srgbClr val="E0559E"/>
                </a:solidFill>
                <a:latin typeface="Cambria"/>
                <a:ea typeface="Cambria"/>
              </a:rPr>
              <a:t>5</a:t>
            </a:r>
            <a:endParaRPr lang="en-US" sz="1900" noProof="1"/>
          </a:p>
        </p:txBody>
      </p:sp>
      <p:sp>
        <p:nvSpPr>
          <p:cNvPr id="19" name="Text 13b"/>
          <p:cNvSpPr txBox="1"/>
          <p:nvPr/>
        </p:nvSpPr>
        <p:spPr>
          <a:xfrm>
            <a:off x="1554480" y="5283200"/>
            <a:ext cx="5334000" cy="635000"/>
          </a:xfrm>
          <a:prstGeom prst="rect">
            <a:avLst/>
          </a:prstGeom>
          <a:noFill/>
          <a:ln>
            <a:noFill/>
          </a:ln>
        </p:spPr>
        <p:txBody>
          <a:bodyPr lIns="0" rIns="0" tIns="0" bIns="0" wrap="square" rtlCol="0" anchor="ctr"/>
          <a:lstStyle/>
          <a:p>
            <a:pPr algn="l" marL="0">
              <a:lnSpc>
                <a:spcPct val="120000"/>
              </a:lnSpc>
            </a:pPr>
            <a:r>
              <a:rPr lang="en-US" sz="1400" noProof="1">
                <a:solidFill>
                  <a:srgbClr val="F4F6FB"/>
                </a:solidFill>
                <a:latin typeface="Calibri"/>
                <a:ea typeface="Calibri"/>
              </a:rPr>
              <a:t>Stuck? Find a staff member. Hints cost a share of the challenge's points — the cost is shown before you open one.</a:t>
            </a:r>
            <a:endParaRPr lang="en-US" sz="1400" noProof="1"/>
          </a:p>
        </p:txBody>
      </p:sp>
      <p:sp>
        <p:nvSpPr>
          <p:cNvPr id="20" name="Text 14"/>
          <p:cNvSpPr txBox="1"/>
          <p:nvPr/>
        </p:nvSpPr>
        <p:spPr>
          <a:xfrm>
            <a:off x="548640" y="6070600"/>
            <a:ext cx="5486400" cy="320040"/>
          </a:xfrm>
          <a:prstGeom prst="rect">
            <a:avLst/>
          </a:prstGeom>
          <a:noFill/>
          <a:ln>
            <a:noFill/>
          </a:ln>
        </p:spPr>
        <p:txBody>
          <a:bodyPr lIns="0" rIns="0" tIns="0" bIns="0" wrap="square" rtlCol="0" anchor="ctr"/>
          <a:lstStyle/>
          <a:p>
            <a:pPr algn="l" marL="0">
              <a:lnSpc>
                <a:spcPct val="120000"/>
              </a:lnSpc>
            </a:pPr>
            <a:r>
              <a:rPr lang="en-US" sz="1400" noProof="1" i="1">
                <a:solidFill>
                  <a:srgbClr val="E0559E"/>
                </a:solidFill>
                <a:latin typeface="Calibri"/>
                <a:ea typeface="Calibri"/>
              </a:rPr>
              <a:t>Good luck.</a:t>
            </a:r>
            <a:endParaRPr lang="en-US" sz="1400" noProof="1"/>
          </a:p>
        </p:txBody>
      </p:sp>
      <p:sp>
        <p:nvSpPr>
          <p:cNvPr id="21" name="Text 15"/>
          <p:cNvSpPr txBox="1"/>
          <p:nvPr/>
        </p:nvSpPr>
        <p:spPr>
          <a:xfrm>
            <a:off x="548640" y="6446520"/>
            <a:ext cx="40640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03 / 04</a:t>
            </a:r>
            <a:endParaRPr lang="en-US" sz="1000" noProof="1"/>
          </a:p>
        </p:txBody>
      </p:sp>
      <p:sp>
        <p:nvSpPr>
          <p:cNvPr id="22" name="Text 16"/>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13</a:t>
            </a:r>
            <a:endParaRPr lang="en-US" sz="1000" noProof="1"/>
          </a:p>
        </p:txBody>
      </p:sp>
    </p:spTree>
  </p:cSld>
  <p:clrMapOvr>
    <a:masterClrMapping/>
  </p:clrMapOvr>
  <p:transition spd="fast" advClick="1">
    <p:fade/>
  </p:transition>
</p:sld>
</file>

<file path=ppt/theme/theme1.xml><?xml version="1.0" encoding="utf-8"?>
<a:theme xmlns:a="http://schemas.openxmlformats.org/drawingml/2006/main" name="PPTD">
  <a:themeElements>
    <a:clrScheme name="PPTD">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PTD">
      <a:majorFont>
        <a:latin typeface="MiSans"/>
        <a:ea typeface="MiSans"/>
        <a:cs typeface="MiSans"/>
      </a:majorFont>
      <a:minorFont>
        <a:latin typeface="MiSans"/>
        <a:ea typeface="MiSans"/>
        <a:cs typeface="MiSans"/>
      </a:minorFont>
    </a:fontScheme>
    <a:fmtScheme name="PPTD">
      <a:fillStyleLst>
        <a:solidFill>
          <a:schemeClr val="accent1"/>
        </a:solidFill>
        <a:solidFill>
          <a:schemeClr val="accent2"/>
        </a:solidFill>
        <a:solidFill>
          <a:schemeClr val="accent3"/>
        </a:solidFill>
      </a:fillStyleLst>
      <a:lnStyleLst>
        <a:ln w="6350" cap="flat" cmpd="sng" algn="ctr">
          <a:solidFill>
            <a:schemeClr val="accent1"/>
          </a:solidFill>
          <a:prstDash val="solid"/>
        </a:ln>
        <a:ln w="12700" cap="flat" cmpd="sng" algn="ctr">
          <a:solidFill>
            <a:schemeClr val="accent1"/>
          </a:solidFill>
          <a:prstDash val="solid"/>
        </a:ln>
        <a:ln w="19050" cap="flat" cmpd="sng" algn="ctr">
          <a:solidFill>
            <a:schemeClr val="accent1"/>
          </a:solidFill>
          <a:prstDash val="solid"/>
        </a:ln>
      </a:lnStyleLst>
      <a:effectStyleLst>
        <a:effectStyle>
          <a:effectLst/>
        </a:effectStyle>
        <a:effectStyle>
          <a:effectLst/>
        </a:effectStyle>
        <a:effectStyle>
          <a:effectLst/>
        </a:effectStyle>
      </a:effectStyleLst>
      <a:bgFillStyleLst>
        <a:solidFill>
          <a:schemeClr val="lt1"/>
        </a:solidFill>
        <a:solidFill>
          <a:schemeClr val="lt2"/>
        </a:solidFill>
        <a:solidFill>
          <a:schemeClr val="dk1"/>
        </a:solidFill>
      </a:bgFillStyleLst>
    </a:fmtScheme>
  </a:themeElements>
</a:theme>
</file>

<file path=customXml/provenance.xml><?xml version="1.0" encoding="utf-8"?>
<provenance xmlns="urn:kimi:pptd:provenance">
  <producer>Kimi Slides/Design</producer>
  <statement>Built by Kimi Slides/Design with PPTD</statement>
</provenance>
</file>

<file path=docProps/app.xml><?xml version="1.0" encoding="utf-8"?>
<Properties xmlns="http://schemas.openxmlformats.org/officeDocument/2006/extended-properties">
  <Application>Neo Design</Application>
  <Company>Moonshot</Company>
  <Slides>13</Slides>
</Properties>
</file>

<file path=docProps/core.xml><?xml version="1.0" encoding="utf-8"?>
<cp:coreProperties xmlns:cp="http://schemas.openxmlformats.org/package/2006/metadata/core-properties" xmlns:dc="http://purl.org/dc/elements/1.1/">
  <dc:title>PptxGenJS Presentation</dc:title>
  <dc:subject>PptxGenJS Presentation</dc:subject>
  <dc:creator>Kimi</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{"Label":"PptxGenJS Presentation","ContentProducer":"001191110108MACG2KBH8F10000","ProduceID":"19fccfe1-f622-8828-8000-00005701aa60","ReservedCode1":"","ContentPropagator":"001191110108MACG2KBH8F20000","PropagateID":"19fca1d9-cf32-8a8a-8000-093feda7e9b7","ReservedCode2":""}</vt:lpwstr>
  </property>
</Properties>
</file>