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Natas is the web track and the one that works differently from the other two: launching gives you an attacker workstation, not a direct line to the target. Every target is reachable only from inside that workstation. There is no SSH requirement — one click gives a full Kali desktop in the browser over noVNC. 'Natas' is 'Satan' spelled backwards, which is where the mirrored-underworld theme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few are things you can do with nothing but a browser. The last few reach the server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 pause. Say what is coming and roughly how long it will take, then work through the topics. None of them is a level and none is a method — it is the shared vocabulary the track assumes. If you are running short, this list is also the menu: cut topics from it rather than rushing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 and response. HTTP is one request, one reply, and no memory of either afterwards.
The left column is the explanation; the right is a worked example you can talk through line by line. The example is a generic illustration of the concept — it is not a payload, path or command for any actual level, so it can be shown in full without spoiling anything.
Land this: Name the part a value lives in, and you have named where to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is not a boundary. Everything the browser does happens on your machine, under your control.
The left column is the explanation; the right is a worked example you can talk through line by line. The example is a generic illustration of the concept — it is not a payload, path or command for any actual level, so it can be shown in full without spoiling anything.
Land this: The page is a suggestion. The request is what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Paths and traversal. A path is a string the server turns into a location on disk.
The left column is the explanation; the right is a worked example you can talk through line by line. The example is a generic illustration of the concept — it is not a payload, path or command for any actual level, so it can be shown in full without spoiling anything.
Land this: The server did nothing wrong. It did exactly what it was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Cookies, headers and sessions. A forgetful protocol remembers you by handing you something to give back.
The left column is the explanation; the right is a worked example you can talk through line by line. The example is a generic illustration of the concept — it is not a payload, path or command for any actual level, so it can be shown in full without spoiling anything.
Land this: Received is not the same as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that becomes instruction. The bug appears when a value supplied as data gets executed as a command.
The left column is the explanation; the right is a worked example you can talk through line by line. The example is a generic illustration of the concept — it is not a payload, path or command for any actual level, so it can be shown in full without spoiling anything.
Land this: Ask on every level: where does my text stop being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Reversible is not secret. If it can be undone with what you already hold, it protects nothing.
The left column is the explanation; the right is a worked example you can talk through line by line. The example is a generic illustration of the concept — it is not a payload, path or command for any actual level, so it can be shown in full without spoiling anything.
Land this: Scrambled and secret are not the same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layer. Behind most of the web sits a database, answering questions written as text.
The left column is the explanation; the right is a worked example you can talk through line by line. The example is a generic illustration of the concept — it is not a payload, path or command for any actual level, so it can be shown in full without spoiling anything.
Land this: The database is not fooled. It was never told there was a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people get wrong. The launch gives them an attacker workstation, and the targets are reachable ONLY from inside it — not from their own laptop. Say that twice. The noVNC desktop needs nothing installed, which makes this the right track for anyone on a locked-down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points, and it proves the part people actually get stuck on: that targets live behind the workstation.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leave it up while people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778240" y="-2011680"/>
            <a:ext cx="5669280" cy="5669280"/>
          </a:xfrm>
          <a:prstGeom prst="ellipse">
            <a:avLst/>
          </a:prstGeom>
          <a:solidFill>
            <a:srgbClr val="141F30"/>
          </a:solidFill>
          <a:ln/>
        </p:spPr>
      </p:sp>
      <p:sp>
        <p:nvSpPr>
          <p:cNvPr id="3" name="Shape 1"/>
          <p:cNvSpPr/>
          <p:nvPr/>
        </p:nvSpPr>
        <p:spPr>
          <a:xfrm>
            <a:off x="-2194560" y="4480560"/>
            <a:ext cx="4206240" cy="4206240"/>
          </a:xfrm>
          <a:prstGeom prst="ellipse">
            <a:avLst/>
          </a:prstGeom>
          <a:solidFill>
            <a:srgbClr val="141F30"/>
          </a:solidFill>
          <a:ln/>
        </p:spPr>
      </p:sp>
      <p:sp>
        <p:nvSpPr>
          <p:cNvPr id="4" name="Shape 2"/>
          <p:cNvSpPr/>
          <p:nvPr/>
        </p:nvSpPr>
        <p:spPr>
          <a:xfrm>
            <a:off x="548640" y="960120"/>
            <a:ext cx="786384" cy="786384"/>
          </a:xfrm>
          <a:prstGeom prst="ellipse">
            <a:avLst/>
          </a:prstGeom>
          <a:solidFill>
            <a:srgbClr val="E0559E"/>
          </a:solidFill>
          <a:ln/>
        </p:spPr>
      </p:sp>
      <p:pic>
        <p:nvPicPr>
          <p:cNvPr id="5" name="Image 0" descr="preencoded.png">    </p:cNvPr>
          <p:cNvPicPr>
            <a:picLocks noChangeAspect="1"/>
          </p:cNvPicPr>
          <p:nvPr/>
        </p:nvPicPr>
        <p:blipFill>
          <a:blip r:embed="rId1"/>
          <a:stretch>
            <a:fillRect/>
          </a:stretch>
        </p:blipFill>
        <p:spPr>
          <a:xfrm>
            <a:off x="753100" y="1164580"/>
            <a:ext cx="377464" cy="377464"/>
          </a:xfrm>
          <a:prstGeom prst="rect">
            <a:avLst/>
          </a:prstGeom>
        </p:spPr>
      </p:pic>
      <p:sp>
        <p:nvSpPr>
          <p:cNvPr id="6" name="Text 3"/>
          <p:cNvSpPr/>
          <p:nvPr/>
        </p:nvSpPr>
        <p:spPr>
          <a:xfrm>
            <a:off x="548640" y="3017520"/>
            <a:ext cx="9144000" cy="822960"/>
          </a:xfrm>
          <a:prstGeom prst="rect">
            <a:avLst/>
          </a:prstGeom>
          <a:noFill/>
          <a:ln/>
        </p:spPr>
        <p:txBody>
          <a:bodyPr wrap="square" lIns="0" tIns="0" rIns="0" bIns="0" rtlCol="0" anchor="ctr"/>
          <a:lstStyle/>
          <a:p>
            <a:pPr indent="0" marL="0">
              <a:buNone/>
            </a:pPr>
            <a:r>
              <a:rPr lang="en-US" sz="4400" b="1" dirty="0">
                <a:solidFill>
                  <a:srgbClr val="F4F6FB"/>
                </a:solidFill>
                <a:latin typeface="Cambria" pitchFamily="34" charset="0"/>
                <a:ea typeface="Cambria" pitchFamily="34" charset="-122"/>
                <a:cs typeface="Cambria" pitchFamily="34" charset="-120"/>
              </a:rPr>
              <a:t>NATAS</a:t>
            </a:r>
            <a:endParaRPr lang="en-US" sz="4400" dirty="0"/>
          </a:p>
        </p:txBody>
      </p:sp>
      <p:sp>
        <p:nvSpPr>
          <p:cNvPr id="7" name="Text 4"/>
          <p:cNvSpPr/>
          <p:nvPr/>
        </p:nvSpPr>
        <p:spPr>
          <a:xfrm>
            <a:off x="548640" y="3886200"/>
            <a:ext cx="9144000" cy="411480"/>
          </a:xfrm>
          <a:prstGeom prst="rect">
            <a:avLst/>
          </a:prstGeom>
          <a:noFill/>
          <a:ln/>
        </p:spPr>
        <p:txBody>
          <a:bodyPr wrap="square" lIns="0" tIns="0" rIns="0" bIns="0" rtlCol="0" anchor="ctr"/>
          <a:lstStyle/>
          <a:p>
            <a:pPr indent="0" marL="0">
              <a:buNone/>
            </a:pPr>
            <a:r>
              <a:rPr lang="en-US" sz="2200" b="1" i="1" dirty="0">
                <a:solidFill>
                  <a:srgbClr val="E0559E"/>
                </a:solidFill>
                <a:latin typeface="Cambria" pitchFamily="34" charset="0"/>
                <a:ea typeface="Cambria" pitchFamily="34" charset="-122"/>
                <a:cs typeface="Cambria" pitchFamily="34" charset="-120"/>
              </a:rPr>
              <a:t>Into the Mirror</a:t>
            </a:r>
            <a:endParaRPr lang="en-US" sz="2200" dirty="0"/>
          </a:p>
        </p:txBody>
      </p:sp>
      <p:sp>
        <p:nvSpPr>
          <p:cNvPr id="8" name="Text 5"/>
          <p:cNvSpPr/>
          <p:nvPr/>
        </p:nvSpPr>
        <p:spPr>
          <a:xfrm>
            <a:off x="548640" y="4434840"/>
            <a:ext cx="7863840" cy="365760"/>
          </a:xfrm>
          <a:prstGeom prst="rect">
            <a:avLst/>
          </a:prstGeom>
          <a:noFill/>
          <a:ln/>
        </p:spPr>
        <p:txBody>
          <a:bodyPr wrap="square" lIns="0" tIns="0" rIns="0" bIns="0" rtlCol="0" anchor="ctr"/>
          <a:lstStyle/>
          <a:p>
            <a:pPr indent="0" marL="0">
              <a:lnSpc>
                <a:spcPct val="115000"/>
              </a:lnSpc>
              <a:buNone/>
            </a:pPr>
            <a:r>
              <a:rPr lang="en-US" sz="1350" dirty="0">
                <a:solidFill>
                  <a:srgbClr val="93A5C7"/>
                </a:solidFill>
                <a:latin typeface="Calibri" pitchFamily="34" charset="0"/>
                <a:ea typeface="Calibri" pitchFamily="34" charset="-122"/>
                <a:cs typeface="Calibri" pitchFamily="34" charset="-120"/>
              </a:rPr>
              <a:t>15 levels of server-side web security, played as a descent through an inverted underworld.</a:t>
            </a:r>
            <a:endParaRPr lang="en-US" sz="1350" dirty="0"/>
          </a:p>
        </p:txBody>
      </p:sp>
      <p:sp>
        <p:nvSpPr>
          <p:cNvPr id="9" name="Text 6"/>
          <p:cNvSpPr/>
          <p:nvPr/>
        </p:nvSpPr>
        <p:spPr>
          <a:xfrm>
            <a:off x="548640" y="4983480"/>
            <a:ext cx="7589520" cy="1188720"/>
          </a:xfrm>
          <a:prstGeom prst="rect">
            <a:avLst/>
          </a:prstGeom>
          <a:noFill/>
          <a:ln/>
        </p:spPr>
        <p:txBody>
          <a:bodyPr wrap="square" lIns="0" tIns="0" rIns="0" bIns="0" rtlCol="0" anchor="ctr"/>
          <a:lstStyle/>
          <a:p>
            <a:pPr indent="0" marL="0">
              <a:lnSpc>
                <a:spcPct val="122000"/>
              </a:lnSpc>
              <a:buNone/>
            </a:pPr>
            <a:r>
              <a:rPr lang="en-US" sz="1150" i="1" dirty="0">
                <a:solidFill>
                  <a:srgbClr val="5B6B8C"/>
                </a:solidFill>
                <a:latin typeface="Calibri" pitchFamily="34" charset="0"/>
                <a:ea typeface="Calibri" pitchFamily="34" charset="-122"/>
                <a:cs typeface="Calibri" pitchFamily="34" charset="-120"/>
              </a:rPr>
              <a:t>A researcher logs into a web application built like an inverted underworld — every layer of ordinary web logic mirrored, twisted, or hidden just beneath the surface. Each floor down leads further from what a browser is supposed to show you, toward the raw records at the bottom.</a:t>
            </a:r>
            <a:endParaRPr lang="en-US" sz="1150" dirty="0"/>
          </a:p>
        </p:txBody>
      </p:sp>
      <p:sp>
        <p:nvSpPr>
          <p:cNvPr id="10" name="Text 7"/>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1" name="Text 8"/>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01</a:t>
            </a:r>
            <a:endParaRPr lang="en-US" sz="9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 MAP</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Fifteen levels, one long descent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first few are things you can do with nothing but a browser. The last few reach the server itself.</a:t>
            </a:r>
            <a:endParaRPr lang="en-US" sz="1300" dirty="0"/>
          </a:p>
        </p:txBody>
      </p:sp>
      <p:sp>
        <p:nvSpPr>
          <p:cNvPr id="5" name="Shape 3"/>
          <p:cNvSpPr/>
          <p:nvPr/>
        </p:nvSpPr>
        <p:spPr>
          <a:xfrm>
            <a:off x="548640" y="1975104"/>
            <a:ext cx="2581580" cy="1572768"/>
          </a:xfrm>
          <a:prstGeom prst="roundRect">
            <a:avLst>
              <a:gd name="adj" fmla="val 5233"/>
            </a:avLst>
          </a:prstGeom>
          <a:solidFill>
            <a:srgbClr val="141F30"/>
          </a:solidFill>
          <a:ln/>
        </p:spPr>
      </p:sp>
      <p:sp>
        <p:nvSpPr>
          <p:cNvPr id="6" name="Text 4"/>
          <p:cNvSpPr/>
          <p:nvPr/>
        </p:nvSpPr>
        <p:spPr>
          <a:xfrm>
            <a:off x="786384" y="21579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00–01</a:t>
            </a:r>
            <a:endParaRPr lang="en-US" sz="1050" dirty="0"/>
          </a:p>
        </p:txBody>
      </p:sp>
      <p:sp>
        <p:nvSpPr>
          <p:cNvPr id="7" name="Text 5"/>
          <p:cNvSpPr/>
          <p:nvPr/>
        </p:nvSpPr>
        <p:spPr>
          <a:xfrm>
            <a:off x="786384"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Source &amp; Blockers</a:t>
            </a:r>
            <a:endParaRPr lang="en-US" sz="1400" dirty="0"/>
          </a:p>
        </p:txBody>
      </p:sp>
      <p:sp>
        <p:nvSpPr>
          <p:cNvPr id="8" name="Text 6"/>
          <p:cNvSpPr/>
          <p:nvPr/>
        </p:nvSpPr>
        <p:spPr>
          <a:xfrm>
            <a:off x="786384"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What the page is made of, and a barrier that only looks like one.</a:t>
            </a:r>
            <a:endParaRPr lang="en-US" sz="1000" dirty="0"/>
          </a:p>
        </p:txBody>
      </p:sp>
      <p:sp>
        <p:nvSpPr>
          <p:cNvPr id="9" name="Shape 7"/>
          <p:cNvSpPr/>
          <p:nvPr/>
        </p:nvSpPr>
        <p:spPr>
          <a:xfrm>
            <a:off x="3386252" y="1975104"/>
            <a:ext cx="2581580" cy="1572768"/>
          </a:xfrm>
          <a:prstGeom prst="roundRect">
            <a:avLst>
              <a:gd name="adj" fmla="val 5233"/>
            </a:avLst>
          </a:prstGeom>
          <a:solidFill>
            <a:srgbClr val="141F30"/>
          </a:solidFill>
          <a:ln/>
        </p:spPr>
      </p:sp>
      <p:sp>
        <p:nvSpPr>
          <p:cNvPr id="10" name="Text 8"/>
          <p:cNvSpPr/>
          <p:nvPr/>
        </p:nvSpPr>
        <p:spPr>
          <a:xfrm>
            <a:off x="3623996" y="21579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02–03</a:t>
            </a:r>
            <a:endParaRPr lang="en-US" sz="1050" dirty="0"/>
          </a:p>
        </p:txBody>
      </p:sp>
      <p:sp>
        <p:nvSpPr>
          <p:cNvPr id="11" name="Text 9"/>
          <p:cNvSpPr/>
          <p:nvPr/>
        </p:nvSpPr>
        <p:spPr>
          <a:xfrm>
            <a:off x="3623996"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Unlisted Paths</a:t>
            </a:r>
            <a:endParaRPr lang="en-US" sz="1400" dirty="0"/>
          </a:p>
        </p:txBody>
      </p:sp>
      <p:sp>
        <p:nvSpPr>
          <p:cNvPr id="12" name="Text 10"/>
          <p:cNvSpPr/>
          <p:nvPr/>
        </p:nvSpPr>
        <p:spPr>
          <a:xfrm>
            <a:off x="3623996"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Corridors never meant to be found; a sign that only asks.</a:t>
            </a:r>
            <a:endParaRPr lang="en-US" sz="1000" dirty="0"/>
          </a:p>
        </p:txBody>
      </p:sp>
      <p:sp>
        <p:nvSpPr>
          <p:cNvPr id="13" name="Shape 11"/>
          <p:cNvSpPr/>
          <p:nvPr/>
        </p:nvSpPr>
        <p:spPr>
          <a:xfrm>
            <a:off x="6223864" y="1975104"/>
            <a:ext cx="2581580" cy="1572768"/>
          </a:xfrm>
          <a:prstGeom prst="roundRect">
            <a:avLst>
              <a:gd name="adj" fmla="val 5233"/>
            </a:avLst>
          </a:prstGeom>
          <a:solidFill>
            <a:srgbClr val="141F30"/>
          </a:solidFill>
          <a:ln/>
        </p:spPr>
      </p:sp>
      <p:sp>
        <p:nvSpPr>
          <p:cNvPr id="14" name="Text 12"/>
          <p:cNvSpPr/>
          <p:nvPr/>
        </p:nvSpPr>
        <p:spPr>
          <a:xfrm>
            <a:off x="6461608" y="21579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04–05</a:t>
            </a:r>
            <a:endParaRPr lang="en-US" sz="1050" dirty="0"/>
          </a:p>
        </p:txBody>
      </p:sp>
      <p:sp>
        <p:nvSpPr>
          <p:cNvPr id="15" name="Text 13"/>
          <p:cNvSpPr/>
          <p:nvPr/>
        </p:nvSpPr>
        <p:spPr>
          <a:xfrm>
            <a:off x="6461608"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Forged Claims</a:t>
            </a:r>
            <a:endParaRPr lang="en-US" sz="1400" dirty="0"/>
          </a:p>
        </p:txBody>
      </p:sp>
      <p:sp>
        <p:nvSpPr>
          <p:cNvPr id="16" name="Text 14"/>
          <p:cNvSpPr/>
          <p:nvPr/>
        </p:nvSpPr>
        <p:spPr>
          <a:xfrm>
            <a:off x="6461608"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Referer and cookies — arriving from somewhere you never were.</a:t>
            </a:r>
            <a:endParaRPr lang="en-US" sz="1000" dirty="0"/>
          </a:p>
        </p:txBody>
      </p:sp>
      <p:sp>
        <p:nvSpPr>
          <p:cNvPr id="17" name="Shape 15"/>
          <p:cNvSpPr/>
          <p:nvPr/>
        </p:nvSpPr>
        <p:spPr>
          <a:xfrm>
            <a:off x="9061475" y="1975104"/>
            <a:ext cx="2581580" cy="1572768"/>
          </a:xfrm>
          <a:prstGeom prst="roundRect">
            <a:avLst>
              <a:gd name="adj" fmla="val 5233"/>
            </a:avLst>
          </a:prstGeom>
          <a:solidFill>
            <a:srgbClr val="141F30"/>
          </a:solidFill>
          <a:ln/>
        </p:spPr>
      </p:sp>
      <p:sp>
        <p:nvSpPr>
          <p:cNvPr id="18" name="Text 16"/>
          <p:cNvSpPr/>
          <p:nvPr/>
        </p:nvSpPr>
        <p:spPr>
          <a:xfrm>
            <a:off x="9299219" y="21579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06–07</a:t>
            </a:r>
            <a:endParaRPr lang="en-US" sz="1050" dirty="0"/>
          </a:p>
        </p:txBody>
      </p:sp>
      <p:sp>
        <p:nvSpPr>
          <p:cNvPr id="19" name="Text 17"/>
          <p:cNvSpPr/>
          <p:nvPr/>
        </p:nvSpPr>
        <p:spPr>
          <a:xfrm>
            <a:off x="9299219"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Hidden Includes</a:t>
            </a:r>
            <a:endParaRPr lang="en-US" sz="1400" dirty="0"/>
          </a:p>
        </p:txBody>
      </p:sp>
      <p:sp>
        <p:nvSpPr>
          <p:cNvPr id="20" name="Text 18"/>
          <p:cNvSpPr/>
          <p:nvPr/>
        </p:nvSpPr>
        <p:spPr>
          <a:xfrm>
            <a:off x="9299219"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trapdoor under something ordinary; a door that opens too far.</a:t>
            </a:r>
            <a:endParaRPr lang="en-US" sz="1000" dirty="0"/>
          </a:p>
        </p:txBody>
      </p:sp>
      <p:sp>
        <p:nvSpPr>
          <p:cNvPr id="21" name="Shape 19"/>
          <p:cNvSpPr/>
          <p:nvPr/>
        </p:nvSpPr>
        <p:spPr>
          <a:xfrm>
            <a:off x="548640" y="3803904"/>
            <a:ext cx="2581580" cy="1572768"/>
          </a:xfrm>
          <a:prstGeom prst="roundRect">
            <a:avLst>
              <a:gd name="adj" fmla="val 5233"/>
            </a:avLst>
          </a:prstGeom>
          <a:solidFill>
            <a:srgbClr val="1B2740"/>
          </a:solidFill>
          <a:ln/>
        </p:spPr>
      </p:sp>
      <p:sp>
        <p:nvSpPr>
          <p:cNvPr id="22" name="Text 20"/>
          <p:cNvSpPr/>
          <p:nvPr/>
        </p:nvSpPr>
        <p:spPr>
          <a:xfrm>
            <a:off x="786384" y="39867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08–09</a:t>
            </a:r>
            <a:endParaRPr lang="en-US" sz="1050" dirty="0"/>
          </a:p>
        </p:txBody>
      </p:sp>
      <p:sp>
        <p:nvSpPr>
          <p:cNvPr id="23" name="Text 21"/>
          <p:cNvSpPr/>
          <p:nvPr/>
        </p:nvSpPr>
        <p:spPr>
          <a:xfrm>
            <a:off x="786384"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Mirror &amp; Injection</a:t>
            </a:r>
            <a:endParaRPr lang="en-US" sz="1400" dirty="0"/>
          </a:p>
        </p:txBody>
      </p:sp>
      <p:sp>
        <p:nvSpPr>
          <p:cNvPr id="24" name="Text 22"/>
          <p:cNvSpPr/>
          <p:nvPr/>
        </p:nvSpPr>
        <p:spPr>
          <a:xfrm>
            <a:off x="786384"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lock that shows its own key; one extra instruction slipped in.</a:t>
            </a:r>
            <a:endParaRPr lang="en-US" sz="1000" dirty="0"/>
          </a:p>
        </p:txBody>
      </p:sp>
      <p:sp>
        <p:nvSpPr>
          <p:cNvPr id="25" name="Shape 23"/>
          <p:cNvSpPr/>
          <p:nvPr/>
        </p:nvSpPr>
        <p:spPr>
          <a:xfrm>
            <a:off x="3386252" y="3803904"/>
            <a:ext cx="2581580" cy="1572768"/>
          </a:xfrm>
          <a:prstGeom prst="roundRect">
            <a:avLst>
              <a:gd name="adj" fmla="val 5233"/>
            </a:avLst>
          </a:prstGeom>
          <a:solidFill>
            <a:srgbClr val="1B2740"/>
          </a:solidFill>
          <a:ln/>
        </p:spPr>
      </p:sp>
      <p:sp>
        <p:nvSpPr>
          <p:cNvPr id="26" name="Text 24"/>
          <p:cNvSpPr/>
          <p:nvPr/>
        </p:nvSpPr>
        <p:spPr>
          <a:xfrm>
            <a:off x="3623996" y="39867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10–11</a:t>
            </a:r>
            <a:endParaRPr lang="en-US" sz="1050" dirty="0"/>
          </a:p>
        </p:txBody>
      </p:sp>
      <p:sp>
        <p:nvSpPr>
          <p:cNvPr id="27" name="Text 25"/>
          <p:cNvSpPr/>
          <p:nvPr/>
        </p:nvSpPr>
        <p:spPr>
          <a:xfrm>
            <a:off x="3623996"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Guards &amp; Overlap</a:t>
            </a:r>
            <a:endParaRPr lang="en-US" sz="1400" dirty="0"/>
          </a:p>
        </p:txBody>
      </p:sp>
      <p:sp>
        <p:nvSpPr>
          <p:cNvPr id="28" name="Text 26"/>
          <p:cNvSpPr/>
          <p:nvPr/>
        </p:nvSpPr>
        <p:spPr>
          <a:xfrm>
            <a:off x="3623996"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The same trick with a guard on it; where two things overlap.</a:t>
            </a:r>
            <a:endParaRPr lang="en-US" sz="1000" dirty="0"/>
          </a:p>
        </p:txBody>
      </p:sp>
      <p:sp>
        <p:nvSpPr>
          <p:cNvPr id="29" name="Shape 27"/>
          <p:cNvSpPr/>
          <p:nvPr/>
        </p:nvSpPr>
        <p:spPr>
          <a:xfrm>
            <a:off x="6223864" y="3803904"/>
            <a:ext cx="2581580" cy="1572768"/>
          </a:xfrm>
          <a:prstGeom prst="roundRect">
            <a:avLst>
              <a:gd name="adj" fmla="val 5233"/>
            </a:avLst>
          </a:prstGeom>
          <a:solidFill>
            <a:srgbClr val="1B2740"/>
          </a:solidFill>
          <a:ln/>
        </p:spPr>
      </p:sp>
      <p:sp>
        <p:nvSpPr>
          <p:cNvPr id="30" name="Text 28"/>
          <p:cNvSpPr/>
          <p:nvPr/>
        </p:nvSpPr>
        <p:spPr>
          <a:xfrm>
            <a:off x="6461608" y="3986784"/>
            <a:ext cx="2106092" cy="219456"/>
          </a:xfrm>
          <a:prstGeom prst="rect">
            <a:avLst/>
          </a:prstGeom>
          <a:noFill/>
          <a:ln/>
        </p:spPr>
        <p:txBody>
          <a:bodyPr wrap="square" lIns="0" tIns="0" rIns="0" bIns="0" rtlCol="0" anchor="t"/>
          <a:lstStyle/>
          <a:p>
            <a:pPr indent="0" marL="0">
              <a:buNone/>
            </a:pPr>
            <a:r>
              <a:rPr lang="en-US" sz="1050" b="1" spc="80" kern="0" dirty="0">
                <a:solidFill>
                  <a:srgbClr val="E0559E"/>
                </a:solidFill>
                <a:latin typeface="Calibri" pitchFamily="34" charset="0"/>
                <a:ea typeface="Calibri" pitchFamily="34" charset="-122"/>
                <a:cs typeface="Calibri" pitchFamily="34" charset="-120"/>
              </a:rPr>
              <a:t>12–14</a:t>
            </a:r>
            <a:endParaRPr lang="en-US" sz="1050" dirty="0"/>
          </a:p>
        </p:txBody>
      </p:sp>
      <p:sp>
        <p:nvSpPr>
          <p:cNvPr id="31" name="Text 29"/>
          <p:cNvSpPr/>
          <p:nvPr/>
        </p:nvSpPr>
        <p:spPr>
          <a:xfrm>
            <a:off x="6461608"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Uploads &amp; Records</a:t>
            </a:r>
            <a:endParaRPr lang="en-US" sz="1400" dirty="0"/>
          </a:p>
        </p:txBody>
      </p:sp>
      <p:sp>
        <p:nvSpPr>
          <p:cNvPr id="32" name="Text 30"/>
          <p:cNvSpPr/>
          <p:nvPr/>
        </p:nvSpPr>
        <p:spPr>
          <a:xfrm>
            <a:off x="6461608"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Your own thing through the slot — then the records themselves.</a:t>
            </a:r>
            <a:endParaRPr lang="en-US" sz="1000" dirty="0"/>
          </a:p>
        </p:txBody>
      </p:sp>
      <p:sp>
        <p:nvSpPr>
          <p:cNvPr id="33" name="Text 31"/>
          <p:cNvSpPr/>
          <p:nvPr/>
        </p:nvSpPr>
        <p:spPr>
          <a:xfrm>
            <a:off x="548640" y="5504688"/>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All 15 levels share one target box, distinguished by port.</a:t>
            </a:r>
            <a:endParaRPr lang="en-US" sz="1250" dirty="0"/>
          </a:p>
        </p:txBody>
      </p:sp>
      <p:sp>
        <p:nvSpPr>
          <p:cNvPr id="34"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5"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02</a:t>
            </a:r>
            <a:endParaRPr lang="en-US" sz="9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95360" y="-2194560"/>
            <a:ext cx="6035040" cy="6035040"/>
          </a:xfrm>
          <a:prstGeom prst="ellipse">
            <a:avLst/>
          </a:prstGeom>
          <a:solidFill>
            <a:srgbClr val="141F30"/>
          </a:solidFill>
          <a:ln/>
        </p:spPr>
      </p:sp>
      <p:sp>
        <p:nvSpPr>
          <p:cNvPr id="3" name="Text 1"/>
          <p:cNvSpPr/>
          <p:nvPr/>
        </p:nvSpPr>
        <p:spPr>
          <a:xfrm>
            <a:off x="548640" y="1783080"/>
            <a:ext cx="5486400" cy="292608"/>
          </a:xfrm>
          <a:prstGeom prst="rect">
            <a:avLst/>
          </a:prstGeom>
          <a:noFill/>
          <a:ln/>
        </p:spPr>
        <p:txBody>
          <a:bodyPr wrap="square" lIns="0" tIns="0" rIns="0" bIns="0" rtlCol="0" anchor="ctr"/>
          <a:lstStyle/>
          <a:p>
            <a:pPr indent="0" marL="0">
              <a:buNone/>
            </a:pPr>
            <a:r>
              <a:rPr lang="en-US" sz="1100" b="1" spc="140" kern="0" dirty="0">
                <a:solidFill>
                  <a:srgbClr val="E0559E"/>
                </a:solidFill>
                <a:latin typeface="Calibri" pitchFamily="34" charset="0"/>
                <a:ea typeface="Calibri" pitchFamily="34" charset="-122"/>
                <a:cs typeface="Calibri" pitchFamily="34" charset="-120"/>
              </a:rPr>
              <a:t>THE IDEAS</a:t>
            </a:r>
            <a:endParaRPr lang="en-US" sz="1100" dirty="0"/>
          </a:p>
        </p:txBody>
      </p:sp>
      <p:sp>
        <p:nvSpPr>
          <p:cNvPr id="4" name="Text 2"/>
          <p:cNvSpPr/>
          <p:nvPr/>
        </p:nvSpPr>
        <p:spPr>
          <a:xfrm>
            <a:off x="548640" y="2103120"/>
            <a:ext cx="8595360" cy="960120"/>
          </a:xfrm>
          <a:prstGeom prst="rect">
            <a:avLst/>
          </a:prstGeom>
          <a:noFill/>
          <a:ln/>
        </p:spPr>
        <p:txBody>
          <a:bodyPr wrap="square" lIns="0" tIns="0" rIns="0" bIns="0" rtlCol="0" anchor="t"/>
          <a:lstStyle/>
          <a:p>
            <a:pPr indent="0" marL="0">
              <a:buNone/>
            </a:pPr>
            <a:r>
              <a:rPr lang="en-US" sz="3800" b="1" dirty="0">
                <a:solidFill>
                  <a:srgbClr val="F4F6FB"/>
                </a:solidFill>
                <a:latin typeface="Cambria" pitchFamily="34" charset="0"/>
                <a:ea typeface="Cambria" pitchFamily="34" charset="-122"/>
                <a:cs typeface="Cambria" pitchFamily="34" charset="-120"/>
              </a:rPr>
              <a:t>Seven ideas the web is built on</a:t>
            </a:r>
            <a:endParaRPr lang="en-US" sz="3800" dirty="0"/>
          </a:p>
        </p:txBody>
      </p:sp>
      <p:sp>
        <p:nvSpPr>
          <p:cNvPr id="5" name="Text 3"/>
          <p:cNvSpPr/>
          <p:nvPr/>
        </p:nvSpPr>
        <p:spPr>
          <a:xfrm>
            <a:off x="548640" y="3017520"/>
            <a:ext cx="6949440" cy="548640"/>
          </a:xfrm>
          <a:prstGeom prst="rect">
            <a:avLst/>
          </a:prstGeom>
          <a:noFill/>
          <a:ln/>
        </p:spPr>
        <p:txBody>
          <a:bodyPr wrap="square" lIns="0" tIns="0" rIns="0" bIns="0" rtlCol="0" anchor="ctr"/>
          <a:lstStyle/>
          <a:p>
            <a:pPr indent="0" marL="0">
              <a:lnSpc>
                <a:spcPct val="118000"/>
              </a:lnSpc>
              <a:buNone/>
            </a:pPr>
            <a:r>
              <a:rPr lang="en-US" sz="1350" dirty="0">
                <a:solidFill>
                  <a:srgbClr val="93A5C7"/>
                </a:solidFill>
                <a:latin typeface="Calibri" pitchFamily="34" charset="0"/>
                <a:ea typeface="Calibri" pitchFamily="34" charset="-122"/>
                <a:cs typeface="Calibri" pitchFamily="34" charset="-120"/>
              </a:rPr>
              <a:t>Enough of how HTTP actually behaves to make the levels legible. No payloads and no walkthroughs — just the model each level is bending.</a:t>
            </a:r>
            <a:endParaRPr lang="en-US" sz="1350" dirty="0"/>
          </a:p>
        </p:txBody>
      </p:sp>
      <p:sp>
        <p:nvSpPr>
          <p:cNvPr id="6" name="Text 4"/>
          <p:cNvSpPr/>
          <p:nvPr/>
        </p:nvSpPr>
        <p:spPr>
          <a:xfrm>
            <a:off x="548640" y="3977640"/>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01</a:t>
            </a:r>
            <a:endParaRPr lang="en-US" sz="1200" dirty="0"/>
          </a:p>
        </p:txBody>
      </p:sp>
      <p:sp>
        <p:nvSpPr>
          <p:cNvPr id="7" name="Text 5"/>
          <p:cNvSpPr/>
          <p:nvPr/>
        </p:nvSpPr>
        <p:spPr>
          <a:xfrm>
            <a:off x="100584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Request and response</a:t>
            </a:r>
            <a:endParaRPr lang="en-US" sz="1300" dirty="0"/>
          </a:p>
        </p:txBody>
      </p:sp>
      <p:sp>
        <p:nvSpPr>
          <p:cNvPr id="8" name="Text 6"/>
          <p:cNvSpPr/>
          <p:nvPr/>
        </p:nvSpPr>
        <p:spPr>
          <a:xfrm>
            <a:off x="548640" y="4379976"/>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02</a:t>
            </a:r>
            <a:endParaRPr lang="en-US" sz="1200" dirty="0"/>
          </a:p>
        </p:txBody>
      </p:sp>
      <p:sp>
        <p:nvSpPr>
          <p:cNvPr id="9" name="Text 7"/>
          <p:cNvSpPr/>
          <p:nvPr/>
        </p:nvSpPr>
        <p:spPr>
          <a:xfrm>
            <a:off x="100584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The client is not a boundary</a:t>
            </a:r>
            <a:endParaRPr lang="en-US" sz="1300" dirty="0"/>
          </a:p>
        </p:txBody>
      </p:sp>
      <p:sp>
        <p:nvSpPr>
          <p:cNvPr id="10" name="Text 8"/>
          <p:cNvSpPr/>
          <p:nvPr/>
        </p:nvSpPr>
        <p:spPr>
          <a:xfrm>
            <a:off x="548640" y="4782312"/>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03</a:t>
            </a:r>
            <a:endParaRPr lang="en-US" sz="1200" dirty="0"/>
          </a:p>
        </p:txBody>
      </p:sp>
      <p:sp>
        <p:nvSpPr>
          <p:cNvPr id="11" name="Text 9"/>
          <p:cNvSpPr/>
          <p:nvPr/>
        </p:nvSpPr>
        <p:spPr>
          <a:xfrm>
            <a:off x="100584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Paths and traversal</a:t>
            </a:r>
            <a:endParaRPr lang="en-US" sz="1300" dirty="0"/>
          </a:p>
        </p:txBody>
      </p:sp>
      <p:sp>
        <p:nvSpPr>
          <p:cNvPr id="12" name="Text 10"/>
          <p:cNvSpPr/>
          <p:nvPr/>
        </p:nvSpPr>
        <p:spPr>
          <a:xfrm>
            <a:off x="548640" y="5184648"/>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04</a:t>
            </a:r>
            <a:endParaRPr lang="en-US" sz="1200" dirty="0"/>
          </a:p>
        </p:txBody>
      </p:sp>
      <p:sp>
        <p:nvSpPr>
          <p:cNvPr id="13" name="Text 11"/>
          <p:cNvSpPr/>
          <p:nvPr/>
        </p:nvSpPr>
        <p:spPr>
          <a:xfrm>
            <a:off x="1005840" y="5184648"/>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Cookies, headers and sessions</a:t>
            </a:r>
            <a:endParaRPr lang="en-US" sz="1300" dirty="0"/>
          </a:p>
        </p:txBody>
      </p:sp>
      <p:sp>
        <p:nvSpPr>
          <p:cNvPr id="14" name="Text 12"/>
          <p:cNvSpPr/>
          <p:nvPr/>
        </p:nvSpPr>
        <p:spPr>
          <a:xfrm>
            <a:off x="6126480" y="3977640"/>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05</a:t>
            </a:r>
            <a:endParaRPr lang="en-US" sz="1200" dirty="0"/>
          </a:p>
        </p:txBody>
      </p:sp>
      <p:sp>
        <p:nvSpPr>
          <p:cNvPr id="15" name="Text 13"/>
          <p:cNvSpPr/>
          <p:nvPr/>
        </p:nvSpPr>
        <p:spPr>
          <a:xfrm>
            <a:off x="658368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Input that becomes instruction</a:t>
            </a:r>
            <a:endParaRPr lang="en-US" sz="1300" dirty="0"/>
          </a:p>
        </p:txBody>
      </p:sp>
      <p:sp>
        <p:nvSpPr>
          <p:cNvPr id="16" name="Text 14"/>
          <p:cNvSpPr/>
          <p:nvPr/>
        </p:nvSpPr>
        <p:spPr>
          <a:xfrm>
            <a:off x="6126480" y="4379976"/>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06</a:t>
            </a:r>
            <a:endParaRPr lang="en-US" sz="1200" dirty="0"/>
          </a:p>
        </p:txBody>
      </p:sp>
      <p:sp>
        <p:nvSpPr>
          <p:cNvPr id="17" name="Text 15"/>
          <p:cNvSpPr/>
          <p:nvPr/>
        </p:nvSpPr>
        <p:spPr>
          <a:xfrm>
            <a:off x="658368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Reversible is not secret</a:t>
            </a:r>
            <a:endParaRPr lang="en-US" sz="1300" dirty="0"/>
          </a:p>
        </p:txBody>
      </p:sp>
      <p:sp>
        <p:nvSpPr>
          <p:cNvPr id="18" name="Text 16"/>
          <p:cNvSpPr/>
          <p:nvPr/>
        </p:nvSpPr>
        <p:spPr>
          <a:xfrm>
            <a:off x="6126480" y="4782312"/>
            <a:ext cx="411480" cy="402336"/>
          </a:xfrm>
          <a:prstGeom prst="rect">
            <a:avLst/>
          </a:prstGeom>
          <a:noFill/>
          <a:ln/>
        </p:spPr>
        <p:txBody>
          <a:bodyPr wrap="square" lIns="0" tIns="0" rIns="0" bIns="0" rtlCol="0" anchor="ctr"/>
          <a:lstStyle/>
          <a:p>
            <a:pPr indent="0" marL="0">
              <a:buNone/>
            </a:pPr>
            <a:r>
              <a:rPr lang="en-US" sz="1200" b="1" dirty="0">
                <a:solidFill>
                  <a:srgbClr val="E0559E"/>
                </a:solidFill>
                <a:latin typeface="Cambria" pitchFamily="34" charset="0"/>
                <a:ea typeface="Cambria" pitchFamily="34" charset="-122"/>
                <a:cs typeface="Cambria" pitchFamily="34" charset="-120"/>
              </a:rPr>
              <a:t>07</a:t>
            </a:r>
            <a:endParaRPr lang="en-US" sz="1200" dirty="0"/>
          </a:p>
        </p:txBody>
      </p:sp>
      <p:sp>
        <p:nvSpPr>
          <p:cNvPr id="19" name="Text 17"/>
          <p:cNvSpPr/>
          <p:nvPr/>
        </p:nvSpPr>
        <p:spPr>
          <a:xfrm>
            <a:off x="658368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The data layer</a:t>
            </a:r>
            <a:endParaRPr lang="en-US" sz="1300" dirty="0"/>
          </a:p>
        </p:txBody>
      </p:sp>
      <p:sp>
        <p:nvSpPr>
          <p:cNvPr id="20" name="Text 18"/>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1" name="Text 19"/>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03</a:t>
            </a:r>
            <a:endParaRPr lang="en-US" sz="900" dirty="0"/>
          </a:p>
        </p:txBody>
      </p:sp>
    </p:spTree>
  </p:cSld>
  <p:clrMapOvr>
    <a:masterClrMapping/>
  </p:clrMapOvr>
  <p:transition spd="med" advClick="1">
    <p:push dir="u"/>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01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Request and response</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HTTP is one request, one reply, and no memory of either afterwards.</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browser sends a request: a method, a path, a set of headers and sometimes a body. The server replies with a status, its own headers and some content. Then it forgets you entirely. Anything the server needs to know next time has to be carried along in the next request.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Every input on this track arrives inside one of those parts. Being able to say exactly where a value lives — in the path, a header, a cookie or the body — is most of the work on most levels.</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GET /index.php HTTP/1.1      &lt;- method, path</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Host: target                 &lt;- headers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Cookie: session=abc123</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Referer: http://example/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User-Agent: Mozilla/5.0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&lt;- blank line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HTTP/1.1 200 OK              &lt;- status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Content-Type: text/html      &lt;- headers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&lt;html&gt;...&lt;/html&gt;             &lt;- body</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Name the part a value lives in, and you have named where to change it.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04</a:t>
            </a:r>
            <a:endParaRPr lang="en-US" sz="9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02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The client is not a boundary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Everything the browser does happens on your machine, under your control.</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page source, the scripts, the hidden fields, the disabled buttons and the validation messages are all delivered to you and run by you. You can read every byte of it, and you can decline to run any of it. A request does not even have to come from a browser.</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great deal of web software confuses "the interface won't let you" with "it cannot happen". Only a check that runs on the server is a check at all. This one idea unlocks the whole track.</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server sent to you</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&lt;input type=hidden name=price value=10&gt;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&lt;button disabled&gt;Submit&lt;/button&gt;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&lt;script&gt;if (!valid()) return;&lt;/script&gt;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you may do about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read all of the source, not the page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change any value before sending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ignore the script completely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send the request without a browser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none of the above is an exploit.</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it is just using your own computer.</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The page is a suggestion. The request is what counts.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05</a:t>
            </a:r>
            <a:endParaRPr lang="en-US" sz="9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03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Paths and traversal</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path is a string the server turns into a location on disk.</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When a value taken from the request is used to build a filename, the server is trusting that value to stay where it was meant to. Path syntax includes a component meaning "go up one level", so a value expected to name a file can instead describe a route out of the intended directory.</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flaw is not the syntax — the syntax is doing exactly what it says. The flaw is assembling a filesystem path out of something a stranger supplied, and never checking where it landed.</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developer pictured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/var/www/files/  +  report.txt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/var/www/files/report.txt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same syntax also permits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/var/www/files/  +  ../../etc/hostname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/etc/hostname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 means 'up one directory'</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server resolved it exactly as asked</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and never checked the destination</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The server did nothing wrong. It did exactly what it was told.</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06</a:t>
            </a:r>
            <a:endParaRPr lang="en-US" sz="9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04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Cookies, headers and sessions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forgetful protocol remembers you by handing you something to give back.</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server sets a cookie; your browser returns it on every later request. Other headers carry similar claims — where you came from, what browser you are, what you will accept. All of them are simply text, stored on your machine, and sent by your machine.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Anything travelling with the request can be inspected and altered. A value is trustworthy only if the server can verify it independently, not merely because the server received it.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server hands you something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Set-Cookie: role=guest; loggedin=0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your browser gives it back, every time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Cookie: role=guest; loggedin=0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but it is your file, on your disk</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Cookie: role=admin; loggedin=1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other headers make claims too</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Referer     says where you came from</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User-Agent  says what you are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neither of them is proof of anything</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Received is not the same as verified.</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07</a:t>
            </a:r>
            <a:endParaRPr lang="en-US" sz="9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05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Input that becomes instruction</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bug appears when a value supplied as data gets executed as a command.</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program builds a command or a query by pasting a value into the middle of a string. To the program it is one piece of text. To whatever interprets that text afterwards, part of it is a value and part is syntax — so if the supplied value contains syntax, it stops being data.</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single shape explains command injection, SQL injection and most of the second half of this track. Filtering particular characters is a patch on the symptom; not building instructions out of input at all is the actual fix.</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developer's mental model</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run("ping " + userInput)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command       a 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usually runs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ping 127.0.0.1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a shell also understands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ping 127.0.0.1 ; whoami</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no longer a hostname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same shape, different interpreter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SELECT * FROM t WHERE n = 'value'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Ask on every level: where does my text stop being text?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08</a:t>
            </a:r>
            <a:endParaRPr lang="en-US" sz="9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06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Reversible is not secret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If it can be undone with what you already hold, it protects nothing.</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Encoding, compression and XOR against a fixed value all transform data without keeping a secret. XOR is its own inverse, so if you can obtain a single matching pair of before and after, the key falls straight out of it.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Home-made "encryption" in web applications is nearly always one of these. Recognising a merely reversible transformation stops you treating it as a wall and spending an hour on it.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XOR is its own inverse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data      XOR key  =  scrambled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scrambled XOR key  =  data</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and given any matching pair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data XOR scrambled =  key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the key itself</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signs there is no real secret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output length equals input length</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the same input always gives the same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the transformation is in the source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Scrambled and secret are not the same property.</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09</a:t>
            </a:r>
            <a:endParaRPr lang="en-US" sz="9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THEORY  07 / 07</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The data layer</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Behind most of the web sits a database, answering questions written as text.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query is a sentence: which columns, from which table, matching which condition. Applications build these sentences while running, very often by joining fragments and user input into one string. The database cannot tell which part the developer wrote and which part arrived from outside.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is the deepest floor of this track for a reason: the records are the point of the whole building. Every level above it is a route towards here.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shape of a query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SELECT  column    the fields you want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FROM    table     where they live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WHERE   name = 'value'    the condition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built by joining strings together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WHERE name = '"  +  input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quote character ends the value.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anything after it is read as more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query, not as more data.</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The database is not fooled. It was never told there was a difference.</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GETTING IN</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No SSH required</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Natas is the one track that needs nothing installed. One click gives you a full Linux desktop inside your browser.</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04872"/>
            <a:ext cx="4956048"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STEP BY STEP</a:t>
            </a:r>
            <a:endParaRPr lang="en-US" sz="950" dirty="0"/>
          </a:p>
        </p:txBody>
      </p:sp>
      <p:sp>
        <p:nvSpPr>
          <p:cNvPr id="7" name="Text 5"/>
          <p:cNvSpPr/>
          <p:nvPr/>
        </p:nvSpPr>
        <p:spPr>
          <a:xfrm>
            <a:off x="859536" y="2770632"/>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280160" y="2807208"/>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9" name="Text 7"/>
          <p:cNvSpPr/>
          <p:nvPr/>
        </p:nvSpPr>
        <p:spPr>
          <a:xfrm>
            <a:off x="1280160" y="3044952"/>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You get an attacker workstation plus this track's shared target.</a:t>
            </a:r>
            <a:endParaRPr lang="en-US" sz="1100" dirty="0"/>
          </a:p>
        </p:txBody>
      </p:sp>
      <p:sp>
        <p:nvSpPr>
          <p:cNvPr id="10" name="Text 8"/>
          <p:cNvSpPr/>
          <p:nvPr/>
        </p:nvSpPr>
        <p:spPr>
          <a:xfrm>
            <a:off x="859536" y="3392424"/>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2</a:t>
            </a:r>
            <a:endParaRPr lang="en-US" sz="1600" dirty="0"/>
          </a:p>
        </p:txBody>
      </p:sp>
      <p:sp>
        <p:nvSpPr>
          <p:cNvPr id="11" name="Text 9"/>
          <p:cNvSpPr/>
          <p:nvPr/>
        </p:nvSpPr>
        <p:spPr>
          <a:xfrm>
            <a:off x="1280160" y="3429000"/>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Open noVNC</a:t>
            </a:r>
            <a:endParaRPr lang="en-US" sz="1250" dirty="0"/>
          </a:p>
        </p:txBody>
      </p:sp>
      <p:sp>
        <p:nvSpPr>
          <p:cNvPr id="12" name="Text 10"/>
          <p:cNvSpPr/>
          <p:nvPr/>
        </p:nvSpPr>
        <p:spPr>
          <a:xfrm>
            <a:off x="1280160" y="3666744"/>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 full desktop in a browser tab. SSH is offered too.</a:t>
            </a:r>
            <a:endParaRPr lang="en-US" sz="1100" dirty="0"/>
          </a:p>
        </p:txBody>
      </p:sp>
      <p:sp>
        <p:nvSpPr>
          <p:cNvPr id="13" name="Text 11"/>
          <p:cNvSpPr/>
          <p:nvPr/>
        </p:nvSpPr>
        <p:spPr>
          <a:xfrm>
            <a:off x="859536" y="4014216"/>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3</a:t>
            </a:r>
            <a:endParaRPr lang="en-US" sz="1600" dirty="0"/>
          </a:p>
        </p:txBody>
      </p:sp>
      <p:sp>
        <p:nvSpPr>
          <p:cNvPr id="14" name="Text 12"/>
          <p:cNvSpPr/>
          <p:nvPr/>
        </p:nvSpPr>
        <p:spPr>
          <a:xfrm>
            <a:off x="1280160" y="4050792"/>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Work from inside</a:t>
            </a:r>
            <a:endParaRPr lang="en-US" sz="1250" dirty="0"/>
          </a:p>
        </p:txBody>
      </p:sp>
      <p:sp>
        <p:nvSpPr>
          <p:cNvPr id="15" name="Text 13"/>
          <p:cNvSpPr/>
          <p:nvPr/>
        </p:nvSpPr>
        <p:spPr>
          <a:xfrm>
            <a:off x="1280160" y="4288536"/>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Browse to the target from the workstation, not from your own laptop.</a:t>
            </a:r>
            <a:endParaRPr lang="en-US" sz="1100" dirty="0"/>
          </a:p>
        </p:txBody>
      </p:sp>
      <p:sp>
        <p:nvSpPr>
          <p:cNvPr id="16" name="Text 14"/>
          <p:cNvSpPr/>
          <p:nvPr/>
        </p:nvSpPr>
        <p:spPr>
          <a:xfrm>
            <a:off x="859536" y="4636008"/>
            <a:ext cx="365760" cy="621792"/>
          </a:xfrm>
          <a:prstGeom prst="rect">
            <a:avLst/>
          </a:prstGeom>
          <a:noFill/>
          <a:ln/>
        </p:spPr>
        <p:txBody>
          <a:bodyPr wrap="square" lIns="0" tIns="0" rIns="0" bIns="0" rtlCol="0" anchor="ctr"/>
          <a:lstStyle/>
          <a:p>
            <a:pPr indent="0" marL="0">
              <a:buNone/>
            </a:pPr>
            <a:r>
              <a:rPr lang="en-US" sz="1600" b="1" dirty="0">
                <a:solidFill>
                  <a:srgbClr val="E0559E"/>
                </a:solidFill>
                <a:latin typeface="Cambria" pitchFamily="34" charset="0"/>
                <a:ea typeface="Cambria" pitchFamily="34" charset="-122"/>
                <a:cs typeface="Cambria" pitchFamily="34" charset="-120"/>
              </a:rPr>
              <a:t>4</a:t>
            </a:r>
            <a:endParaRPr lang="en-US" sz="1600" dirty="0"/>
          </a:p>
        </p:txBody>
      </p:sp>
      <p:sp>
        <p:nvSpPr>
          <p:cNvPr id="17" name="Text 15"/>
          <p:cNvSpPr/>
          <p:nvPr/>
        </p:nvSpPr>
        <p:spPr>
          <a:xfrm>
            <a:off x="1280160" y="4672584"/>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Submit the flag</a:t>
            </a:r>
            <a:endParaRPr lang="en-US" sz="1250" dirty="0"/>
          </a:p>
        </p:txBody>
      </p:sp>
      <p:sp>
        <p:nvSpPr>
          <p:cNvPr id="18" name="Text 16"/>
          <p:cNvSpPr/>
          <p:nvPr/>
        </p:nvSpPr>
        <p:spPr>
          <a:xfrm>
            <a:off x="1280160" y="4910328"/>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Each level's password is the login for the next level's page.</a:t>
            </a:r>
            <a:endParaRPr lang="en-US" sz="1100" dirty="0"/>
          </a:p>
        </p:txBody>
      </p:sp>
      <p:sp>
        <p:nvSpPr>
          <p:cNvPr id="19" name="Shape 17"/>
          <p:cNvSpPr/>
          <p:nvPr/>
        </p:nvSpPr>
        <p:spPr>
          <a:xfrm>
            <a:off x="6382512" y="2148840"/>
            <a:ext cx="5260543" cy="3127248"/>
          </a:xfrm>
          <a:prstGeom prst="roundRect">
            <a:avLst>
              <a:gd name="adj" fmla="val 2632"/>
            </a:avLst>
          </a:prstGeom>
          <a:solidFill>
            <a:srgbClr val="141F30"/>
          </a:solidFill>
          <a:ln/>
        </p:spPr>
      </p:sp>
      <p:sp>
        <p:nvSpPr>
          <p:cNvPr id="20" name="Text 18"/>
          <p:cNvSpPr/>
          <p:nvPr/>
        </p:nvSpPr>
        <p:spPr>
          <a:xfrm>
            <a:off x="6656832" y="2404872"/>
            <a:ext cx="4711903" cy="237744"/>
          </a:xfrm>
          <a:prstGeom prst="rect">
            <a:avLst/>
          </a:prstGeom>
          <a:noFill/>
          <a:ln/>
        </p:spPr>
        <p:txBody>
          <a:bodyPr wrap="square" lIns="0" tIns="0" rIns="0" bIns="0" rtlCol="0" anchor="ctr"/>
          <a:lstStyle/>
          <a:p>
            <a:pPr indent="0" marL="0">
              <a:buNone/>
            </a:pPr>
            <a:r>
              <a:rPr lang="en-US" sz="950" b="1" spc="110" kern="0" dirty="0">
                <a:solidFill>
                  <a:srgbClr val="E0559E"/>
                </a:solidFill>
                <a:latin typeface="Calibri" pitchFamily="34" charset="0"/>
                <a:ea typeface="Calibri" pitchFamily="34" charset="-122"/>
                <a:cs typeface="Calibri" pitchFamily="34" charset="-120"/>
              </a:rPr>
              <a:t>THE LAUNCH PANEL</a:t>
            </a:r>
            <a:endParaRPr lang="en-US" sz="950" dirty="0"/>
          </a:p>
        </p:txBody>
      </p:sp>
      <p:sp>
        <p:nvSpPr>
          <p:cNvPr id="21" name="Shape 19"/>
          <p:cNvSpPr/>
          <p:nvPr/>
        </p:nvSpPr>
        <p:spPr>
          <a:xfrm>
            <a:off x="6656832" y="2843784"/>
            <a:ext cx="402336" cy="402336"/>
          </a:xfrm>
          <a:prstGeom prst="ellipse">
            <a:avLst/>
          </a:prstGeom>
          <a:solidFill>
            <a:srgbClr val="E0559E"/>
          </a:solidFill>
          <a:ln/>
        </p:spPr>
      </p:sp>
      <p:pic>
        <p:nvPicPr>
          <p:cNvPr id="22" name="Image 0" descr="preencoded.png">    </p:cNvPr>
          <p:cNvPicPr>
            <a:picLocks noChangeAspect="1"/>
          </p:cNvPicPr>
          <p:nvPr/>
        </p:nvPicPr>
        <p:blipFill>
          <a:blip r:embed="rId1"/>
          <a:stretch>
            <a:fillRect/>
          </a:stretch>
        </p:blipFill>
        <p:spPr>
          <a:xfrm>
            <a:off x="6761439" y="2948391"/>
            <a:ext cx="193121" cy="193121"/>
          </a:xfrm>
          <a:prstGeom prst="rect">
            <a:avLst/>
          </a:prstGeom>
        </p:spPr>
      </p:pic>
      <p:sp>
        <p:nvSpPr>
          <p:cNvPr id="23" name="Text 20"/>
          <p:cNvSpPr/>
          <p:nvPr/>
        </p:nvSpPr>
        <p:spPr>
          <a:xfrm>
            <a:off x="7223760" y="2788920"/>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24" name="Text 21"/>
          <p:cNvSpPr/>
          <p:nvPr/>
        </p:nvSpPr>
        <p:spPr>
          <a:xfrm>
            <a:off x="7223760" y="3026664"/>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Starts your box, or reconnects you to one already running.</a:t>
            </a:r>
            <a:endParaRPr lang="en-US" sz="1100" dirty="0"/>
          </a:p>
        </p:txBody>
      </p:sp>
      <p:sp>
        <p:nvSpPr>
          <p:cNvPr id="25" name="Shape 22"/>
          <p:cNvSpPr/>
          <p:nvPr/>
        </p:nvSpPr>
        <p:spPr>
          <a:xfrm>
            <a:off x="6656832" y="3465576"/>
            <a:ext cx="402336" cy="402336"/>
          </a:xfrm>
          <a:prstGeom prst="ellipse">
            <a:avLst/>
          </a:prstGeom>
          <a:solidFill>
            <a:srgbClr val="E0559E"/>
          </a:solidFill>
          <a:ln/>
        </p:spPr>
      </p:sp>
      <p:pic>
        <p:nvPicPr>
          <p:cNvPr id="26" name="Image 1" descr="preencoded.png">    </p:cNvPr>
          <p:cNvPicPr>
            <a:picLocks noChangeAspect="1"/>
          </p:cNvPicPr>
          <p:nvPr/>
        </p:nvPicPr>
        <p:blipFill>
          <a:blip r:embed="rId2"/>
          <a:stretch>
            <a:fillRect/>
          </a:stretch>
        </p:blipFill>
        <p:spPr>
          <a:xfrm>
            <a:off x="6761439" y="3570183"/>
            <a:ext cx="193121" cy="193121"/>
          </a:xfrm>
          <a:prstGeom prst="rect">
            <a:avLst/>
          </a:prstGeom>
        </p:spPr>
      </p:pic>
      <p:sp>
        <p:nvSpPr>
          <p:cNvPr id="27" name="Text 23"/>
          <p:cNvSpPr/>
          <p:nvPr/>
        </p:nvSpPr>
        <p:spPr>
          <a:xfrm>
            <a:off x="7223760" y="3410712"/>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Reboot Host</a:t>
            </a:r>
            <a:endParaRPr lang="en-US" sz="1250" dirty="0"/>
          </a:p>
        </p:txBody>
      </p:sp>
      <p:sp>
        <p:nvSpPr>
          <p:cNvPr id="28" name="Text 24"/>
          <p:cNvSpPr/>
          <p:nvPr/>
        </p:nvSpPr>
        <p:spPr>
          <a:xfrm>
            <a:off x="7223760" y="3648456"/>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Restarts it in place. Same connection details afterward.</a:t>
            </a:r>
            <a:endParaRPr lang="en-US" sz="1100" dirty="0"/>
          </a:p>
        </p:txBody>
      </p:sp>
      <p:sp>
        <p:nvSpPr>
          <p:cNvPr id="29" name="Shape 25"/>
          <p:cNvSpPr/>
          <p:nvPr/>
        </p:nvSpPr>
        <p:spPr>
          <a:xfrm>
            <a:off x="6656832" y="4087368"/>
            <a:ext cx="402336" cy="402336"/>
          </a:xfrm>
          <a:prstGeom prst="ellipse">
            <a:avLst/>
          </a:prstGeom>
          <a:solidFill>
            <a:srgbClr val="E0559E"/>
          </a:solidFill>
          <a:ln/>
        </p:spPr>
      </p:sp>
      <p:pic>
        <p:nvPicPr>
          <p:cNvPr id="30" name="Image 2" descr="preencoded.png">    </p:cNvPr>
          <p:cNvPicPr>
            <a:picLocks noChangeAspect="1"/>
          </p:cNvPicPr>
          <p:nvPr/>
        </p:nvPicPr>
        <p:blipFill>
          <a:blip r:embed="rId3"/>
          <a:stretch>
            <a:fillRect/>
          </a:stretch>
        </p:blipFill>
        <p:spPr>
          <a:xfrm>
            <a:off x="6761439" y="4191975"/>
            <a:ext cx="193121" cy="193121"/>
          </a:xfrm>
          <a:prstGeom prst="rect">
            <a:avLst/>
          </a:prstGeom>
        </p:spPr>
      </p:pic>
      <p:sp>
        <p:nvSpPr>
          <p:cNvPr id="31" name="Text 26"/>
          <p:cNvSpPr/>
          <p:nvPr/>
        </p:nvSpPr>
        <p:spPr>
          <a:xfrm>
            <a:off x="7223760" y="4032504"/>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Relaunch Environment</a:t>
            </a:r>
            <a:endParaRPr lang="en-US" sz="1250" dirty="0"/>
          </a:p>
        </p:txBody>
      </p:sp>
      <p:sp>
        <p:nvSpPr>
          <p:cNvPr id="32" name="Text 27"/>
          <p:cNvSpPr/>
          <p:nvPr/>
        </p:nvSpPr>
        <p:spPr>
          <a:xfrm>
            <a:off x="7223760" y="4270248"/>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Rebuilds from scratch. Anything you changed inside is lost.</a:t>
            </a:r>
            <a:endParaRPr lang="en-US" sz="1100" dirty="0"/>
          </a:p>
        </p:txBody>
      </p:sp>
      <p:sp>
        <p:nvSpPr>
          <p:cNvPr id="33" name="Shape 28"/>
          <p:cNvSpPr/>
          <p:nvPr/>
        </p:nvSpPr>
        <p:spPr>
          <a:xfrm>
            <a:off x="6656832" y="4709160"/>
            <a:ext cx="402336" cy="402336"/>
          </a:xfrm>
          <a:prstGeom prst="ellipse">
            <a:avLst/>
          </a:prstGeom>
          <a:solidFill>
            <a:srgbClr val="E0559E"/>
          </a:solidFill>
          <a:ln/>
        </p:spPr>
      </p:sp>
      <p:pic>
        <p:nvPicPr>
          <p:cNvPr id="34" name="Image 3" descr="preencoded.png">    </p:cNvPr>
          <p:cNvPicPr>
            <a:picLocks noChangeAspect="1"/>
          </p:cNvPicPr>
          <p:nvPr/>
        </p:nvPicPr>
        <p:blipFill>
          <a:blip r:embed="rId4"/>
          <a:stretch>
            <a:fillRect/>
          </a:stretch>
        </p:blipFill>
        <p:spPr>
          <a:xfrm>
            <a:off x="6761439" y="4813767"/>
            <a:ext cx="193121" cy="193121"/>
          </a:xfrm>
          <a:prstGeom prst="rect">
            <a:avLst/>
          </a:prstGeom>
        </p:spPr>
      </p:pic>
      <p:sp>
        <p:nvSpPr>
          <p:cNvPr id="35" name="Text 29"/>
          <p:cNvSpPr/>
          <p:nvPr/>
        </p:nvSpPr>
        <p:spPr>
          <a:xfrm>
            <a:off x="7223760" y="4654296"/>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+5 more minutes</a:t>
            </a:r>
            <a:endParaRPr lang="en-US" sz="1250" dirty="0"/>
          </a:p>
        </p:txBody>
      </p:sp>
      <p:sp>
        <p:nvSpPr>
          <p:cNvPr id="36" name="Text 30"/>
          <p:cNvSpPr/>
          <p:nvPr/>
        </p:nvSpPr>
        <p:spPr>
          <a:xfrm>
            <a:off x="7223760" y="4892040"/>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Appears only once the track is solved and a shutdown has started.</a:t>
            </a:r>
            <a:endParaRPr lang="en-US" sz="1100" dirty="0"/>
          </a:p>
        </p:txBody>
      </p:sp>
      <p:sp>
        <p:nvSpPr>
          <p:cNvPr id="37" name="Text 31"/>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This is the track to pick if you're on a locked-down laptop with no terminal.</a:t>
            </a:r>
            <a:endParaRPr lang="en-US" sz="1250" dirty="0"/>
          </a:p>
        </p:txBody>
      </p:sp>
      <p:sp>
        <p:nvSpPr>
          <p:cNvPr id="38"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9"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E0559E"/>
                </a:solidFill>
                <a:latin typeface="Calibri" pitchFamily="34" charset="0"/>
                <a:ea typeface="Calibri" pitchFamily="34" charset="-122"/>
                <a:cs typeface="Calibri" pitchFamily="34" charset="-120"/>
              </a:rPr>
              <a:t>YOUR FIRST FLAG</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Start Here, step by step</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Ten points, and it proves the part people actually get stuck on: that targets live behind the workstation.</a:t>
            </a:r>
            <a:endParaRPr lang="en-US" sz="1300" dirty="0"/>
          </a:p>
        </p:txBody>
      </p:sp>
      <p:sp>
        <p:nvSpPr>
          <p:cNvPr id="5" name="Shape 3"/>
          <p:cNvSpPr/>
          <p:nvPr/>
        </p:nvSpPr>
        <p:spPr>
          <a:xfrm>
            <a:off x="548640" y="2194560"/>
            <a:ext cx="2430704" cy="2788920"/>
          </a:xfrm>
          <a:prstGeom prst="roundRect">
            <a:avLst>
              <a:gd name="adj" fmla="val 3386"/>
            </a:avLst>
          </a:prstGeom>
          <a:solidFill>
            <a:srgbClr val="141F30"/>
          </a:solidFill>
          <a:ln/>
        </p:spPr>
      </p:sp>
      <p:sp>
        <p:nvSpPr>
          <p:cNvPr id="6" name="Text 4"/>
          <p:cNvSpPr/>
          <p:nvPr/>
        </p:nvSpPr>
        <p:spPr>
          <a:xfrm>
            <a:off x="841248"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841248"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Click Launch</a:t>
            </a:r>
            <a:endParaRPr lang="en-US" sz="1500" dirty="0"/>
          </a:p>
        </p:txBody>
      </p:sp>
      <p:sp>
        <p:nvSpPr>
          <p:cNvPr id="8" name="Text 6"/>
          <p:cNvSpPr/>
          <p:nvPr/>
        </p:nvSpPr>
        <p:spPr>
          <a:xfrm>
            <a:off x="841248"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On the "Natas: Start Here" challenge in CTFd.</a:t>
            </a:r>
            <a:endParaRPr lang="en-US" sz="1200" dirty="0"/>
          </a:p>
        </p:txBody>
      </p:sp>
      <p:sp>
        <p:nvSpPr>
          <p:cNvPr id="9" name="Text 7"/>
          <p:cNvSpPr/>
          <p:nvPr/>
        </p:nvSpPr>
        <p:spPr>
          <a:xfrm>
            <a:off x="2979344"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36544" y="2194560"/>
            <a:ext cx="2430704" cy="2788920"/>
          </a:xfrm>
          <a:prstGeom prst="roundRect">
            <a:avLst>
              <a:gd name="adj" fmla="val 3386"/>
            </a:avLst>
          </a:prstGeom>
          <a:solidFill>
            <a:srgbClr val="141F30"/>
          </a:solidFill>
          <a:ln/>
        </p:spPr>
      </p:sp>
      <p:sp>
        <p:nvSpPr>
          <p:cNvPr id="11" name="Text 9"/>
          <p:cNvSpPr/>
          <p:nvPr/>
        </p:nvSpPr>
        <p:spPr>
          <a:xfrm>
            <a:off x="3729152"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2</a:t>
            </a:r>
            <a:endParaRPr lang="en-US" sz="2600" dirty="0"/>
          </a:p>
        </p:txBody>
      </p:sp>
      <p:sp>
        <p:nvSpPr>
          <p:cNvPr id="12" name="Text 10"/>
          <p:cNvSpPr/>
          <p:nvPr/>
        </p:nvSpPr>
        <p:spPr>
          <a:xfrm>
            <a:off x="3729152"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Open the workstation</a:t>
            </a:r>
            <a:endParaRPr lang="en-US" sz="1500" dirty="0"/>
          </a:p>
        </p:txBody>
      </p:sp>
      <p:sp>
        <p:nvSpPr>
          <p:cNvPr id="13" name="Text 11"/>
          <p:cNvSpPr/>
          <p:nvPr/>
        </p:nvSpPr>
        <p:spPr>
          <a:xfrm>
            <a:off x="3729152"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noVNC in your browser, or SSH — your choice.</a:t>
            </a:r>
            <a:endParaRPr lang="en-US" sz="1200" dirty="0"/>
          </a:p>
        </p:txBody>
      </p:sp>
      <p:sp>
        <p:nvSpPr>
          <p:cNvPr id="14" name="Text 12"/>
          <p:cNvSpPr/>
          <p:nvPr/>
        </p:nvSpPr>
        <p:spPr>
          <a:xfrm>
            <a:off x="5867248"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6324448" y="2194560"/>
            <a:ext cx="2430704" cy="2788920"/>
          </a:xfrm>
          <a:prstGeom prst="roundRect">
            <a:avLst>
              <a:gd name="adj" fmla="val 3386"/>
            </a:avLst>
          </a:prstGeom>
          <a:solidFill>
            <a:srgbClr val="141F30"/>
          </a:solidFill>
          <a:ln/>
        </p:spPr>
      </p:sp>
      <p:sp>
        <p:nvSpPr>
          <p:cNvPr id="16" name="Text 14"/>
          <p:cNvSpPr/>
          <p:nvPr/>
        </p:nvSpPr>
        <p:spPr>
          <a:xfrm>
            <a:off x="6617056"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3</a:t>
            </a:r>
            <a:endParaRPr lang="en-US" sz="2600" dirty="0"/>
          </a:p>
        </p:txBody>
      </p:sp>
      <p:sp>
        <p:nvSpPr>
          <p:cNvPr id="17" name="Text 15"/>
          <p:cNvSpPr/>
          <p:nvPr/>
        </p:nvSpPr>
        <p:spPr>
          <a:xfrm>
            <a:off x="6617056"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Browse from inside it</a:t>
            </a:r>
            <a:endParaRPr lang="en-US" sz="1500" dirty="0"/>
          </a:p>
        </p:txBody>
      </p:sp>
      <p:sp>
        <p:nvSpPr>
          <p:cNvPr id="18" name="Text 16"/>
          <p:cNvSpPr/>
          <p:nvPr/>
        </p:nvSpPr>
        <p:spPr>
          <a:xfrm>
            <a:off x="6617056"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Open the target host on port 8000 and read welcome.txt.</a:t>
            </a:r>
            <a:endParaRPr lang="en-US" sz="1200" dirty="0"/>
          </a:p>
        </p:txBody>
      </p:sp>
      <p:sp>
        <p:nvSpPr>
          <p:cNvPr id="19" name="Text 17"/>
          <p:cNvSpPr/>
          <p:nvPr/>
        </p:nvSpPr>
        <p:spPr>
          <a:xfrm>
            <a:off x="8755151"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9212351" y="2194560"/>
            <a:ext cx="2430704" cy="2788920"/>
          </a:xfrm>
          <a:prstGeom prst="roundRect">
            <a:avLst>
              <a:gd name="adj" fmla="val 3386"/>
            </a:avLst>
          </a:prstGeom>
          <a:solidFill>
            <a:srgbClr val="141F30"/>
          </a:solidFill>
          <a:ln/>
        </p:spPr>
      </p:sp>
      <p:sp>
        <p:nvSpPr>
          <p:cNvPr id="21" name="Text 19"/>
          <p:cNvSpPr/>
          <p:nvPr/>
        </p:nvSpPr>
        <p:spPr>
          <a:xfrm>
            <a:off x="9504959" y="2432304"/>
            <a:ext cx="548640" cy="457200"/>
          </a:xfrm>
          <a:prstGeom prst="rect">
            <a:avLst/>
          </a:prstGeom>
          <a:noFill/>
          <a:ln/>
        </p:spPr>
        <p:txBody>
          <a:bodyPr wrap="square" lIns="0" tIns="0" rIns="0" bIns="0" rtlCol="0" anchor="ctr"/>
          <a:lstStyle/>
          <a:p>
            <a:pPr indent="0" marL="0">
              <a:buNone/>
            </a:pPr>
            <a:r>
              <a:rPr lang="en-US" sz="2600" b="1" dirty="0">
                <a:solidFill>
                  <a:srgbClr val="E0559E"/>
                </a:solidFill>
                <a:latin typeface="Cambria" pitchFamily="34" charset="0"/>
                <a:ea typeface="Cambria" pitchFamily="34" charset="-122"/>
                <a:cs typeface="Cambria" pitchFamily="34" charset="-120"/>
              </a:rPr>
              <a:t>4</a:t>
            </a:r>
            <a:endParaRPr lang="en-US" sz="2600" dirty="0"/>
          </a:p>
        </p:txBody>
      </p:sp>
      <p:sp>
        <p:nvSpPr>
          <p:cNvPr id="22" name="Text 20"/>
          <p:cNvSpPr/>
          <p:nvPr/>
        </p:nvSpPr>
        <p:spPr>
          <a:xfrm>
            <a:off x="9504959"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Submit it</a:t>
            </a:r>
            <a:endParaRPr lang="en-US" sz="1500" dirty="0"/>
          </a:p>
        </p:txBody>
      </p:sp>
      <p:sp>
        <p:nvSpPr>
          <p:cNvPr id="23" name="Text 21"/>
          <p:cNvSpPr/>
          <p:nvPr/>
        </p:nvSpPr>
        <p:spPr>
          <a:xfrm>
            <a:off x="9504959"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Then begin Natas 0: View Source.</a:t>
            </a:r>
            <a:endParaRPr lang="en-US" sz="1200" dirty="0"/>
          </a:p>
        </p:txBody>
      </p:sp>
      <p:sp>
        <p:nvSpPr>
          <p:cNvPr id="24" name="Text 22"/>
          <p:cNvSpPr/>
          <p:nvPr/>
        </p:nvSpPr>
        <p:spPr>
          <a:xfrm>
            <a:off x="548640" y="5349240"/>
            <a:ext cx="11094415" cy="274320"/>
          </a:xfrm>
          <a:prstGeom prst="rect">
            <a:avLst/>
          </a:prstGeom>
          <a:noFill/>
          <a:ln/>
        </p:spPr>
        <p:txBody>
          <a:bodyPr wrap="square" lIns="0" tIns="0" rIns="0" bIns="0" rtlCol="0" anchor="ctr"/>
          <a:lstStyle/>
          <a:p>
            <a:pPr indent="0" marL="0">
              <a:buNone/>
            </a:pPr>
            <a:r>
              <a:rPr lang="en-US" sz="1250" i="1" dirty="0">
                <a:solidFill>
                  <a:srgbClr val="E0559E"/>
                </a:solidFill>
                <a:latin typeface="Calibri" pitchFamily="34" charset="0"/>
                <a:ea typeface="Calibri" pitchFamily="34" charset="-122"/>
                <a:cs typeface="Calibri" pitchFamily="34" charset="-120"/>
              </a:rPr>
              <a:t>If the target won't load, check you're browsing from the workstation and not your own machine.</a:t>
            </a:r>
            <a:endParaRPr lang="en-US" sz="1250" dirty="0"/>
          </a:p>
        </p:txBody>
      </p:sp>
      <p:sp>
        <p:nvSpPr>
          <p:cNvPr id="25" name="Text 23"/>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6" name="Text 24"/>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advClick="1">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778240" y="-2011680"/>
            <a:ext cx="5669280" cy="5669280"/>
          </a:xfrm>
          <a:prstGeom prst="ellipse">
            <a:avLst/>
          </a:prstGeom>
          <a:solidFill>
            <a:srgbClr val="141F30"/>
          </a:solidFill>
          <a:ln/>
        </p:spPr>
      </p:sp>
      <p:sp>
        <p:nvSpPr>
          <p:cNvPr id="3" name="Text 1"/>
          <p:cNvSpPr/>
          <p:nvPr/>
        </p:nvSpPr>
        <p:spPr>
          <a:xfrm>
            <a:off x="548640" y="1143000"/>
            <a:ext cx="7315200" cy="731520"/>
          </a:xfrm>
          <a:prstGeom prst="rect">
            <a:avLst/>
          </a:prstGeom>
          <a:noFill/>
          <a:ln/>
        </p:spPr>
        <p:txBody>
          <a:bodyPr wrap="square" lIns="0" tIns="0" rIns="0" bIns="0" rtlCol="0" anchor="ctr"/>
          <a:lstStyle/>
          <a:p>
            <a:pPr indent="0" marL="0">
              <a:buNone/>
            </a:pPr>
            <a:r>
              <a:rPr lang="en-US" sz="4000" b="1" dirty="0">
                <a:solidFill>
                  <a:srgbClr val="F4F6FB"/>
                </a:solidFill>
                <a:latin typeface="Cambria" pitchFamily="34" charset="0"/>
                <a:ea typeface="Cambria" pitchFamily="34" charset="-122"/>
                <a:cs typeface="Cambria" pitchFamily="34" charset="-120"/>
              </a:rPr>
              <a:t>Ready to play.</a:t>
            </a:r>
            <a:endParaRPr lang="en-US" sz="4000" dirty="0"/>
          </a:p>
        </p:txBody>
      </p:sp>
      <p:sp>
        <p:nvSpPr>
          <p:cNvPr id="4" name="Text 2"/>
          <p:cNvSpPr/>
          <p:nvPr/>
        </p:nvSpPr>
        <p:spPr>
          <a:xfrm>
            <a:off x="548640" y="1920240"/>
            <a:ext cx="7680960" cy="365760"/>
          </a:xfrm>
          <a:prstGeom prst="rect">
            <a:avLst/>
          </a:prstGeom>
          <a:noFill/>
          <a:ln/>
        </p:spPr>
        <p:txBody>
          <a:bodyPr wrap="square" lIns="0" tIns="0" rIns="0" bIns="0" rtlCol="0" anchor="ctr"/>
          <a:lstStyle/>
          <a:p>
            <a:pPr indent="0" marL="0">
              <a:buNone/>
            </a:pPr>
            <a:r>
              <a:rPr lang="en-US" sz="1350" dirty="0">
                <a:solidFill>
                  <a:srgbClr val="93A5C7"/>
                </a:solidFill>
                <a:latin typeface="Calibri" pitchFamily="34" charset="0"/>
                <a:ea typeface="Calibri" pitchFamily="34" charset="-122"/>
                <a:cs typeface="Calibri" pitchFamily="34" charset="-120"/>
              </a:rPr>
              <a:t>Natas needs nothing installed — just a browser.</a:t>
            </a:r>
            <a:endParaRPr lang="en-US" sz="1350" dirty="0"/>
          </a:p>
        </p:txBody>
      </p:sp>
      <p:sp>
        <p:nvSpPr>
          <p:cNvPr id="5" name="Shape 3"/>
          <p:cNvSpPr/>
          <p:nvPr/>
        </p:nvSpPr>
        <p:spPr>
          <a:xfrm>
            <a:off x="548640" y="2606040"/>
            <a:ext cx="9082735" cy="694944"/>
          </a:xfrm>
          <a:prstGeom prst="roundRect">
            <a:avLst>
              <a:gd name="adj" fmla="val 11842"/>
            </a:avLst>
          </a:prstGeom>
          <a:solidFill>
            <a:srgbClr val="141F30"/>
          </a:solidFill>
          <a:ln/>
        </p:spPr>
      </p:sp>
      <p:sp>
        <p:nvSpPr>
          <p:cNvPr id="6" name="Text 4"/>
          <p:cNvSpPr/>
          <p:nvPr/>
        </p:nvSpPr>
        <p:spPr>
          <a:xfrm>
            <a:off x="932688" y="2606040"/>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1</a:t>
            </a:r>
            <a:endParaRPr lang="en-US" sz="1900" dirty="0"/>
          </a:p>
        </p:txBody>
      </p:sp>
      <p:sp>
        <p:nvSpPr>
          <p:cNvPr id="7" name="Text 5"/>
          <p:cNvSpPr/>
          <p:nvPr/>
        </p:nvSpPr>
        <p:spPr>
          <a:xfrm>
            <a:off x="1554480" y="2606040"/>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Log in to CTFd and open the Web Security category</a:t>
            </a:r>
            <a:endParaRPr lang="en-US" sz="1400" dirty="0"/>
          </a:p>
        </p:txBody>
      </p:sp>
      <p:sp>
        <p:nvSpPr>
          <p:cNvPr id="8" name="Shape 6"/>
          <p:cNvSpPr/>
          <p:nvPr/>
        </p:nvSpPr>
        <p:spPr>
          <a:xfrm>
            <a:off x="548640" y="3438144"/>
            <a:ext cx="9082735" cy="694944"/>
          </a:xfrm>
          <a:prstGeom prst="roundRect">
            <a:avLst>
              <a:gd name="adj" fmla="val 11842"/>
            </a:avLst>
          </a:prstGeom>
          <a:solidFill>
            <a:srgbClr val="1B2740"/>
          </a:solidFill>
          <a:ln/>
        </p:spPr>
      </p:sp>
      <p:sp>
        <p:nvSpPr>
          <p:cNvPr id="9" name="Text 7"/>
          <p:cNvSpPr/>
          <p:nvPr/>
        </p:nvSpPr>
        <p:spPr>
          <a:xfrm>
            <a:off x="932688" y="3438144"/>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2</a:t>
            </a:r>
            <a:endParaRPr lang="en-US" sz="1900" dirty="0"/>
          </a:p>
        </p:txBody>
      </p:sp>
      <p:sp>
        <p:nvSpPr>
          <p:cNvPr id="10" name="Text 8"/>
          <p:cNvSpPr/>
          <p:nvPr/>
        </p:nvSpPr>
        <p:spPr>
          <a:xfrm>
            <a:off x="1554480" y="3438144"/>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Solve "Natas: Start Here" to reach the workstation</a:t>
            </a:r>
            <a:endParaRPr lang="en-US" sz="1400" dirty="0"/>
          </a:p>
        </p:txBody>
      </p:sp>
      <p:sp>
        <p:nvSpPr>
          <p:cNvPr id="11" name="Shape 9"/>
          <p:cNvSpPr/>
          <p:nvPr/>
        </p:nvSpPr>
        <p:spPr>
          <a:xfrm>
            <a:off x="548640" y="4270248"/>
            <a:ext cx="9082735" cy="694944"/>
          </a:xfrm>
          <a:prstGeom prst="roundRect">
            <a:avLst>
              <a:gd name="adj" fmla="val 11842"/>
            </a:avLst>
          </a:prstGeom>
          <a:solidFill>
            <a:srgbClr val="141F30"/>
          </a:solidFill>
          <a:ln/>
        </p:spPr>
      </p:sp>
      <p:sp>
        <p:nvSpPr>
          <p:cNvPr id="12" name="Text 10"/>
          <p:cNvSpPr/>
          <p:nvPr/>
        </p:nvSpPr>
        <p:spPr>
          <a:xfrm>
            <a:off x="932688" y="4270248"/>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3</a:t>
            </a:r>
            <a:endParaRPr lang="en-US" sz="1900" dirty="0"/>
          </a:p>
        </p:txBody>
      </p:sp>
      <p:sp>
        <p:nvSpPr>
          <p:cNvPr id="13" name="Text 11"/>
          <p:cNvSpPr/>
          <p:nvPr/>
        </p:nvSpPr>
        <p:spPr>
          <a:xfrm>
            <a:off x="1554480" y="4270248"/>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Open noVNC and browse to the target from inside it</a:t>
            </a:r>
            <a:endParaRPr lang="en-US" sz="1400" dirty="0"/>
          </a:p>
        </p:txBody>
      </p:sp>
      <p:sp>
        <p:nvSpPr>
          <p:cNvPr id="14" name="Shape 12"/>
          <p:cNvSpPr/>
          <p:nvPr/>
        </p:nvSpPr>
        <p:spPr>
          <a:xfrm>
            <a:off x="548640" y="5102352"/>
            <a:ext cx="9082735" cy="694944"/>
          </a:xfrm>
          <a:prstGeom prst="roundRect">
            <a:avLst>
              <a:gd name="adj" fmla="val 11842"/>
            </a:avLst>
          </a:prstGeom>
          <a:solidFill>
            <a:srgbClr val="1B2740"/>
          </a:solidFill>
          <a:ln/>
        </p:spPr>
      </p:sp>
      <p:sp>
        <p:nvSpPr>
          <p:cNvPr id="15" name="Text 13"/>
          <p:cNvSpPr/>
          <p:nvPr/>
        </p:nvSpPr>
        <p:spPr>
          <a:xfrm>
            <a:off x="932688" y="5102352"/>
            <a:ext cx="457200" cy="694944"/>
          </a:xfrm>
          <a:prstGeom prst="rect">
            <a:avLst/>
          </a:prstGeom>
          <a:noFill/>
          <a:ln/>
        </p:spPr>
        <p:txBody>
          <a:bodyPr wrap="square" lIns="0" tIns="0" rIns="0" bIns="0" rtlCol="0" anchor="ctr"/>
          <a:lstStyle/>
          <a:p>
            <a:pPr indent="0" marL="0">
              <a:buNone/>
            </a:pPr>
            <a:r>
              <a:rPr lang="en-US" sz="1900" b="1" dirty="0">
                <a:solidFill>
                  <a:srgbClr val="E0559E"/>
                </a:solidFill>
                <a:latin typeface="Cambria" pitchFamily="34" charset="0"/>
                <a:ea typeface="Cambria" pitchFamily="34" charset="-122"/>
                <a:cs typeface="Cambria" pitchFamily="34" charset="-120"/>
              </a:rPr>
              <a:t>4</a:t>
            </a:r>
            <a:endParaRPr lang="en-US" sz="1900" dirty="0"/>
          </a:p>
        </p:txBody>
      </p:sp>
      <p:sp>
        <p:nvSpPr>
          <p:cNvPr id="16" name="Text 14"/>
          <p:cNvSpPr/>
          <p:nvPr/>
        </p:nvSpPr>
        <p:spPr>
          <a:xfrm>
            <a:off x="1554480" y="5102352"/>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Work level 0 downward; view source before anything else</a:t>
            </a:r>
            <a:endParaRPr lang="en-US" sz="1400" dirty="0"/>
          </a:p>
        </p:txBody>
      </p:sp>
      <p:sp>
        <p:nvSpPr>
          <p:cNvPr id="17" name="Text 15"/>
          <p:cNvSpPr/>
          <p:nvPr/>
        </p:nvSpPr>
        <p:spPr>
          <a:xfrm>
            <a:off x="548640" y="5989320"/>
            <a:ext cx="5486400" cy="320040"/>
          </a:xfrm>
          <a:prstGeom prst="rect">
            <a:avLst/>
          </a:prstGeom>
          <a:noFill/>
          <a:ln/>
        </p:spPr>
        <p:txBody>
          <a:bodyPr wrap="square" lIns="0" tIns="0" rIns="0" bIns="0" rtlCol="0" anchor="ctr"/>
          <a:lstStyle/>
          <a:p>
            <a:pPr indent="0" marL="0">
              <a:buNone/>
            </a:pPr>
            <a:r>
              <a:rPr lang="en-US" sz="1400" i="1" dirty="0">
                <a:solidFill>
                  <a:srgbClr val="E0559E"/>
                </a:solidFill>
                <a:latin typeface="Calibri" pitchFamily="34" charset="0"/>
                <a:ea typeface="Calibri" pitchFamily="34" charset="-122"/>
                <a:cs typeface="Calibri" pitchFamily="34" charset="-120"/>
              </a:rPr>
              <a:t>Good luck.</a:t>
            </a:r>
            <a:endParaRPr lang="en-US" sz="1400" dirty="0"/>
          </a:p>
        </p:txBody>
      </p:sp>
      <p:sp>
        <p:nvSpPr>
          <p:cNvPr id="18" name="Text 1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advClick="1">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CEI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CEI Labs</dc:creator>
  <cp:lastModifiedBy>CEI Labs</cp:lastModifiedBy>
  <cp:revision>1</cp:revision>
  <dcterms:created xsi:type="dcterms:W3CDTF">2026-08-04T12:08:52Z</dcterms:created>
  <dcterms:modified xsi:type="dcterms:W3CDTF">2026-08-04T12:08:52Z</dcterms:modified>
</cp:coreProperties>
</file>