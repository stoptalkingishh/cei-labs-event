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notesMasterIdLst>
    <p:notesMasterId r:id="rId15"/>
  </p:notesMasterIdLst>
  <p:sldSz cx="12192000" cy="6858000" type="custom"/>
  <p:notesSz cx="12192000" cy="6858000"/>
</p:presentation>
</file>

<file path=ppt/presProps.xml><?xml version="1.0" encoding="utf-8"?>
<p:presentationPr xmlns:p="http://schemas.openxmlformats.org/presentationml/2006/main" xmlns:a="http://schemas.openxmlformats.org/drawingml/2006/main" xmlns:r="http://schemas.openxmlformats.org/officeDocument/2006/relationships"/>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xmlns:r="http://schemas.openxmlformats.org/officeDocument/2006/relationships">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p:nvPr>
            <p:ph type="body" idx="1"/>
          </p:nvPr>
        </p:nvSpPr>
        <p:spPr/>
        <p:txBody>
          <a:bodyPr/>
          <a:lstStyle/>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This track is deliberately unlike the other three. There is no compound, no signal, no underworld, and no Docker instance to launch — the target is the player's own laptop. It is not part of the staged wave rollout and ships hidden by default; the organizer releases it manually. The single most important slide is the rules one: this is the ONLY sanctioned AI exception, and it does not generalise to the other three tracks.</a:t>
            </a:r>
          </a:p>
          <a:p>
            <a:r>
              <a:rPr lang="en-US" sz="1200" noProof="1"/>
              <a:t>1</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Each one is verified by ctf-agent-verify, a tool shipped with the agent. It checks a real milestone and prints the flag only when that milestone is genuinely true on your machine.</a:t>
            </a:r>
          </a:p>
          <a:p>
            <a:r>
              <a:rPr lang="en-US" sz="1200" noProof="1"/>
              <a:t>2</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A deliberate pause. Say what is coming and roughly how long it will take, then work through the topics. None of them is a level and none is a method — it is the shared vocabulary the track assumes. If you are running short, this list is also the menu: cut topics from it rather than rushing all of them.</a:t>
            </a:r>
          </a:p>
          <a:p>
            <a:r>
              <a:rPr lang="en-US" sz="1200" noProof="1"/>
              <a:t>3</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What a language model does. It predicts the next piece of text, over and over, very quickly.</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Likely and true are different targets. It is aiming at the first.</a:t>
            </a:r>
          </a:p>
          <a:p>
            <a:r>
              <a:rPr lang="en-US" sz="1200" noProof="1"/>
              <a:t>4</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Tokens and context. The model sees a fixed-size window of text, and absolutely nothing else.</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It has no memory between chats. Only what is in front of it.</a:t>
            </a:r>
          </a:p>
          <a:p>
            <a:r>
              <a:rPr lang="en-US" sz="1200" noProof="1"/>
              <a:t>5</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Running a model locally. Size, memory and speed are one trade-off, made three times over.</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Slower, smaller, and entirely yours.</a:t>
            </a:r>
          </a:p>
          <a:p>
            <a:r>
              <a:rPr lang="en-US" sz="1200" noProof="1"/>
              <a:t>6</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Prompting. The prompt is the whole briefing. Specific beats polite, every time.</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Please and thank you cost you nothing, and buy you nothing.</a:t>
            </a:r>
          </a:p>
          <a:p>
            <a:r>
              <a:rPr lang="en-US" sz="1200" noProof="1"/>
              <a:t>7</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Tools: how it acts. On its own it only writes. A tool is what lets it actually do something.</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Reading real output beats predicting plausible output.</a:t>
            </a:r>
          </a:p>
          <a:p>
            <a:r>
              <a:rPr lang="en-US" sz="1200" noProof="1"/>
              <a:t>8</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Being wrong convincingly. A confident answer and a correct answer look exactly the same.</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Use it as a fast colleague who is sometimes wrong, never as an oracle.</a:t>
            </a:r>
          </a:p>
          <a:p>
            <a:r>
              <a:rPr lang="en-US" sz="1200" noProof="1"/>
              <a:t>9</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There is no launch panel on this track at all — the target is their own laptop, which is why the right column lists what the installer sets up instead. Warn them about the first-run model download: it is several gigabytes and it only happens once, but on venue wi-fi it is not quick.</a:t>
            </a:r>
          </a:p>
          <a:p>
            <a:r>
              <a:rPr lang="en-US" sz="1200" noProof="1"/>
              <a:t>10</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This one has no command to run. It exists so nobody can claim they didn't know the rule.</a:t>
            </a:r>
          </a:p>
          <a:p>
            <a:r>
              <a:rPr lang="en-US" sz="1200" noProof="1"/>
              <a:t>11</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Closing slide — leave it up while people get started.</a:t>
            </a:r>
          </a:p>
          <a:p>
            <a:r>
              <a:rPr lang="en-US" sz="1200" noProof="1"/>
              <a:t>12</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_1.png"/><Relationship Id="rId3" Type="http://schemas.openxmlformats.org/officeDocument/2006/relationships/image" Target="../media/image1_2.png"/><Relationship Id="rId4"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_1.png"/><Relationship Id="rId3" Type="http://schemas.openxmlformats.org/officeDocument/2006/relationships/image" Target="../media/image2_2.png"/><Relationship Id="rId4" Type="http://schemas.openxmlformats.org/officeDocument/2006/relationships/image" Target="../media/image2_3.png"/><Relationship Id="rId5" Type="http://schemas.openxmlformats.org/officeDocument/2006/relationships/image" Target="../media/image2_4.png"/><Relationship Id="rId6" Type="http://schemas.openxmlformats.org/officeDocument/2006/relationships/image" Target="../media/image2_5.png"/><Relationship Id="rId7" Type="http://schemas.openxmlformats.org/officeDocument/2006/relationships/image" Target="../media/image2_6.png"/><Relationship Id="rId8"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_1.png"/><Relationship Id="rId3" Type="http://schemas.openxmlformats.org/officeDocument/2006/relationships/image" Target="../media/image10_2.png"/><Relationship Id="rId4" Type="http://schemas.openxmlformats.org/officeDocument/2006/relationships/image" Target="../media/image10_3.png"/><Relationship Id="rId5" Type="http://schemas.openxmlformats.org/officeDocument/2006/relationships/image" Target="../media/image10_4.png"/><Relationship Id="rId6" Type="http://schemas.openxmlformats.org/officeDocument/2006/relationships/image" Target="../media/image10_5.png"/><Relationship Id="rId7"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_1.png"/><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_1.png"/><Relationship Id="rId3" Type="http://schemas.openxmlformats.org/officeDocument/2006/relationships/notesSlide" Target="../notesSlides/notesSlide12.xml"/></Relationships>
</file>

<file path=ppt/slides/slide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2194560" y="4480560"/>
            <a:ext cx="4206240" cy="4206240"/>
          </a:xfrm>
          <a:prstGeom prst="ellipse">
            <a:avLst/>
          </a:prstGeom>
          <a:solidFill>
            <a:srgbClr val="141F30"/>
          </a:solidFill>
          <a:ln>
            <a:noFill/>
          </a:ln>
        </p:spPr>
      </p:sp>
      <p:pic>
        <p:nvPicPr>
          <p:cNvPr id="3" name="Image 0"/>
          <p:cNvPicPr/>
          <p:nvPr/>
        </p:nvPicPr>
        <p:blipFill>
          <a:blip r:embed="rId2"/>
          <a:stretch>
            <a:fillRect/>
          </a:stretch>
        </p:blipFill>
        <p:spPr>
          <a:xfrm>
            <a:off x="6903720" y="1051560"/>
            <a:ext cx="4800600" cy="3931920"/>
          </a:xfrm>
          <a:prstGeom prst="rect">
            <a:avLst/>
          </a:prstGeom>
          <a:ln>
            <a:noFill/>
          </a:ln>
        </p:spPr>
      </p:pic>
      <p:sp>
        <p:nvSpPr>
          <p:cNvPr id="4" name="Shape 1"/>
          <p:cNvSpPr/>
          <p:nvPr/>
        </p:nvSpPr>
        <p:spPr>
          <a:xfrm>
            <a:off x="548640" y="960120"/>
            <a:ext cx="786130" cy="786130"/>
          </a:xfrm>
          <a:prstGeom prst="ellipse">
            <a:avLst/>
          </a:prstGeom>
          <a:solidFill>
            <a:srgbClr val="35D399"/>
          </a:solidFill>
          <a:ln>
            <a:noFill/>
          </a:ln>
        </p:spPr>
      </p:sp>
      <p:pic>
        <p:nvPicPr>
          <p:cNvPr id="5" name="Image 1"/>
          <p:cNvPicPr/>
          <p:nvPr/>
        </p:nvPicPr>
        <p:blipFill>
          <a:blip r:embed="rId3"/>
          <a:stretch>
            <a:fillRect/>
          </a:stretch>
        </p:blipFill>
        <p:spPr>
          <a:xfrm>
            <a:off x="753110" y="1164590"/>
            <a:ext cx="377190" cy="377190"/>
          </a:xfrm>
          <a:prstGeom prst="rect">
            <a:avLst/>
          </a:prstGeom>
          <a:ln>
            <a:noFill/>
          </a:ln>
        </p:spPr>
      </p:pic>
      <p:sp>
        <p:nvSpPr>
          <p:cNvPr id="6" name="Text 2"/>
          <p:cNvSpPr txBox="1"/>
          <p:nvPr/>
        </p:nvSpPr>
        <p:spPr>
          <a:xfrm>
            <a:off x="548640" y="3017520"/>
            <a:ext cx="6126480" cy="822960"/>
          </a:xfrm>
          <a:prstGeom prst="rect">
            <a:avLst/>
          </a:prstGeom>
          <a:noFill/>
          <a:ln>
            <a:noFill/>
          </a:ln>
        </p:spPr>
        <p:txBody>
          <a:bodyPr lIns="0" rIns="0" tIns="0" bIns="0" wrap="square" rtlCol="0" anchor="ctr"/>
          <a:lstStyle/>
          <a:p>
            <a:pPr algn="l" marL="0">
              <a:lnSpc>
                <a:spcPct val="120000"/>
              </a:lnSpc>
            </a:pPr>
            <a:r>
              <a:rPr lang="en-US" sz="4400" noProof="1" b="1">
                <a:solidFill>
                  <a:srgbClr val="F4F6FB"/>
                </a:solidFill>
                <a:latin typeface="Cambria"/>
                <a:ea typeface="Cambria"/>
              </a:rPr>
              <a:t>AI COPILOT SETUP</a:t>
            </a:r>
            <a:endParaRPr lang="en-US" sz="4400" noProof="1"/>
          </a:p>
        </p:txBody>
      </p:sp>
      <p:sp>
        <p:nvSpPr>
          <p:cNvPr id="7" name="Text 3"/>
          <p:cNvSpPr txBox="1"/>
          <p:nvPr/>
        </p:nvSpPr>
        <p:spPr>
          <a:xfrm>
            <a:off x="548640" y="3886200"/>
            <a:ext cx="6126480" cy="411480"/>
          </a:xfrm>
          <a:prstGeom prst="rect">
            <a:avLst/>
          </a:prstGeom>
          <a:noFill/>
          <a:ln>
            <a:noFill/>
          </a:ln>
        </p:spPr>
        <p:txBody>
          <a:bodyPr lIns="0" rIns="0" tIns="0" bIns="0" wrap="square" rtlCol="0" anchor="ctr"/>
          <a:lstStyle/>
          <a:p>
            <a:pPr algn="l" marL="0">
              <a:lnSpc>
                <a:spcPct val="120000"/>
              </a:lnSpc>
            </a:pPr>
            <a:r>
              <a:rPr lang="en-US" sz="2200" noProof="1" b="1" i="1">
                <a:solidFill>
                  <a:srgbClr val="35D399"/>
                </a:solidFill>
                <a:latin typeface="Cambria"/>
                <a:ea typeface="Cambria"/>
              </a:rPr>
              <a:t>The one that isn't a story</a:t>
            </a:r>
            <a:endParaRPr lang="en-US" sz="2200" noProof="1"/>
          </a:p>
        </p:txBody>
      </p:sp>
      <p:sp>
        <p:nvSpPr>
          <p:cNvPr id="8" name="Text 4"/>
          <p:cNvSpPr txBox="1"/>
          <p:nvPr/>
        </p:nvSpPr>
        <p:spPr>
          <a:xfrm>
            <a:off x="548640" y="4389120"/>
            <a:ext cx="6217920" cy="566420"/>
          </a:xfrm>
          <a:prstGeom prst="rect">
            <a:avLst/>
          </a:prstGeom>
          <a:noFill/>
          <a:ln>
            <a:noFill/>
          </a:ln>
        </p:spPr>
        <p:txBody>
          <a:bodyPr lIns="0" rIns="0" tIns="0" bIns="0" wrap="square" rtlCol="0" anchor="ctr"/>
          <a:lstStyle/>
          <a:p>
            <a:pPr algn="l" marL="0">
              <a:lnSpc>
                <a:spcPct val="115000"/>
              </a:lnSpc>
            </a:pPr>
            <a:r>
              <a:rPr lang="en-US" sz="1350" noProof="1">
                <a:solidFill>
                  <a:srgbClr val="B8C7E4"/>
                </a:solidFill>
                <a:latin typeface="Calibri"/>
                <a:ea typeface="Calibri"/>
              </a:rPr>
              <a:t>Six challenges that put a free, local AI coach on your own laptop — the event's one sanctioned AI exception.</a:t>
            </a:r>
            <a:endParaRPr lang="en-US" sz="1350" noProof="1"/>
          </a:p>
        </p:txBody>
      </p:sp>
      <p:sp>
        <p:nvSpPr>
          <p:cNvPr id="9" name="Text 5"/>
          <p:cNvSpPr txBox="1"/>
          <p:nvPr/>
        </p:nvSpPr>
        <p:spPr>
          <a:xfrm>
            <a:off x="548640" y="5029200"/>
            <a:ext cx="6217920" cy="1188720"/>
          </a:xfrm>
          <a:prstGeom prst="rect">
            <a:avLst/>
          </a:prstGeom>
          <a:noFill/>
          <a:ln>
            <a:noFill/>
          </a:ln>
        </p:spPr>
        <p:txBody>
          <a:bodyPr lIns="0" rIns="0" tIns="0" bIns="0" wrap="square" rtlCol="0" anchor="ctr"/>
          <a:lstStyle/>
          <a:p>
            <a:pPr algn="l" marL="0">
              <a:lnSpc>
                <a:spcPct val="122000"/>
              </a:lnSpc>
            </a:pPr>
            <a:r>
              <a:rPr lang="en-US" sz="1350" noProof="1" i="1">
                <a:solidFill>
                  <a:srgbClr val="93A5C7"/>
                </a:solidFill>
                <a:latin typeface="Calibri"/>
                <a:ea typeface="Calibri"/>
              </a:rPr>
              <a:t>The other three tracks each carry a story. This one deliberately doesn't. There is no compound to break into and no signal to decode — the target is your own laptop, and the reward is a coach that sits beside you for the rest of the event.</a:t>
            </a:r>
            <a:endParaRPr lang="en-US" sz="1350" noProof="1"/>
          </a:p>
        </p:txBody>
      </p:sp>
      <p:sp>
        <p:nvSpPr>
          <p:cNvPr id="10" name="Text 6"/>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11" name="Text 7"/>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01</a:t>
            </a:r>
            <a:endParaRPr lang="en-US" sz="1000" noProof="1"/>
          </a:p>
        </p:txBody>
      </p:sp>
    </p:spTree>
  </p:cSld>
  <p:clrMapOvr>
    <a:masterClrMapping/>
  </p:clrMapOvr>
  <p:transition spd="fast" advClick="1">
    <p:fade/>
  </p:transition>
</p:sld>
</file>

<file path=ppt/slides/slide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35D399"/>
                </a:solidFill>
                <a:latin typeface="Calibri"/>
                <a:ea typeface="Calibri"/>
              </a:rPr>
              <a:t>THE MAP</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Six challenges, 610 points</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Each one is verified by ctf-agent-verify, a tool shipped with the agent. It checks a real milestone and prints the flag only when that milestone is genuinely true on your machine.</a:t>
            </a:r>
            <a:endParaRPr lang="en-US" sz="1400" noProof="1"/>
          </a:p>
        </p:txBody>
      </p:sp>
      <p:sp>
        <p:nvSpPr>
          <p:cNvPr id="5" name="Text 2b"/>
          <p:cNvSpPr txBox="1"/>
          <p:nvPr/>
        </p:nvSpPr>
        <p:spPr>
          <a:xfrm>
            <a:off x="548640" y="1885950"/>
            <a:ext cx="9814560" cy="22860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Theory section below: about ten minutes of reading — worth it even if you never finish this track.</a:t>
            </a:r>
            <a:endParaRPr lang="en-US" sz="1400" noProof="1"/>
          </a:p>
        </p:txBody>
      </p:sp>
      <p:sp>
        <p:nvSpPr>
          <p:cNvPr id="6" name="Shape 3"/>
          <p:cNvSpPr/>
          <p:nvPr/>
        </p:nvSpPr>
        <p:spPr>
          <a:xfrm>
            <a:off x="548640" y="2184400"/>
            <a:ext cx="2581910" cy="1803400"/>
          </a:xfrm>
          <a:prstGeom prst="roundRect">
            <a:avLst>
              <a:gd name="adj" fmla="val 4390"/>
            </a:avLst>
          </a:prstGeom>
          <a:solidFill>
            <a:srgbClr val="141F30"/>
          </a:solidFill>
          <a:ln>
            <a:noFill/>
          </a:ln>
        </p:spPr>
      </p:sp>
      <p:pic>
        <p:nvPicPr>
          <p:cNvPr id="7" name="Image 0"/>
          <p:cNvPicPr/>
          <p:nvPr/>
        </p:nvPicPr>
        <p:blipFill>
          <a:blip r:embed="rId2"/>
          <a:stretch>
            <a:fillRect/>
          </a:stretch>
        </p:blipFill>
        <p:spPr>
          <a:xfrm>
            <a:off x="676910" y="2312670"/>
            <a:ext cx="2325370" cy="640080"/>
          </a:xfrm>
          <a:prstGeom prst="rect">
            <a:avLst/>
          </a:prstGeom>
          <a:ln>
            <a:noFill/>
          </a:ln>
        </p:spPr>
      </p:pic>
      <p:sp>
        <p:nvSpPr>
          <p:cNvPr id="8" name="Text 4"/>
          <p:cNvSpPr txBox="1"/>
          <p:nvPr/>
        </p:nvSpPr>
        <p:spPr>
          <a:xfrm>
            <a:off x="786130" y="30899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35D399"/>
                </a:solidFill>
                <a:latin typeface="Calibri"/>
                <a:ea typeface="Calibri"/>
              </a:rPr>
              <a:t>SH · 10 PTS</a:t>
            </a:r>
            <a:endParaRPr lang="en-US" sz="1050" noProof="1"/>
          </a:p>
        </p:txBody>
      </p:sp>
      <p:sp>
        <p:nvSpPr>
          <p:cNvPr id="9" name="Text 5"/>
          <p:cNvSpPr txBox="1"/>
          <p:nvPr/>
        </p:nvSpPr>
        <p:spPr>
          <a:xfrm>
            <a:off x="786130" y="33274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Start Here</a:t>
            </a:r>
            <a:endParaRPr lang="en-US" sz="1400" noProof="1"/>
          </a:p>
        </p:txBody>
      </p:sp>
      <p:sp>
        <p:nvSpPr>
          <p:cNvPr id="10" name="Text 6"/>
          <p:cNvSpPr txBox="1"/>
          <p:nvPr/>
        </p:nvSpPr>
        <p:spPr>
          <a:xfrm>
            <a:off x="786130" y="36106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Read the AI-use exception and confirm you understand it.</a:t>
            </a:r>
            <a:endParaRPr lang="en-US" sz="1000" noProof="1"/>
          </a:p>
        </p:txBody>
      </p:sp>
      <p:sp>
        <p:nvSpPr>
          <p:cNvPr id="11" name="Shape 7"/>
          <p:cNvSpPr/>
          <p:nvPr/>
        </p:nvSpPr>
        <p:spPr>
          <a:xfrm>
            <a:off x="3385820" y="2184400"/>
            <a:ext cx="2581910" cy="1803400"/>
          </a:xfrm>
          <a:prstGeom prst="roundRect">
            <a:avLst>
              <a:gd name="adj" fmla="val 4390"/>
            </a:avLst>
          </a:prstGeom>
          <a:solidFill>
            <a:srgbClr val="141F30"/>
          </a:solidFill>
          <a:ln>
            <a:noFill/>
          </a:ln>
        </p:spPr>
      </p:sp>
      <p:pic>
        <p:nvPicPr>
          <p:cNvPr id="12" name="Image 1"/>
          <p:cNvPicPr/>
          <p:nvPr/>
        </p:nvPicPr>
        <p:blipFill>
          <a:blip r:embed="rId3"/>
          <a:stretch>
            <a:fillRect/>
          </a:stretch>
        </p:blipFill>
        <p:spPr>
          <a:xfrm>
            <a:off x="3514090" y="2312670"/>
            <a:ext cx="2325370" cy="640080"/>
          </a:xfrm>
          <a:prstGeom prst="rect">
            <a:avLst/>
          </a:prstGeom>
          <a:ln>
            <a:noFill/>
          </a:ln>
        </p:spPr>
      </p:pic>
      <p:sp>
        <p:nvSpPr>
          <p:cNvPr id="13" name="Text 8"/>
          <p:cNvSpPr txBox="1"/>
          <p:nvPr/>
        </p:nvSpPr>
        <p:spPr>
          <a:xfrm>
            <a:off x="3624580" y="30899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35D399"/>
                </a:solidFill>
                <a:latin typeface="Calibri"/>
                <a:ea typeface="Calibri"/>
              </a:rPr>
              <a:t>01 · 100 PTS</a:t>
            </a:r>
            <a:endParaRPr lang="en-US" sz="1050" noProof="1"/>
          </a:p>
        </p:txBody>
      </p:sp>
      <p:sp>
        <p:nvSpPr>
          <p:cNvPr id="14" name="Text 9"/>
          <p:cNvSpPr txBox="1"/>
          <p:nvPr/>
        </p:nvSpPr>
        <p:spPr>
          <a:xfrm>
            <a:off x="3624580" y="33274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Local Brain</a:t>
            </a:r>
            <a:endParaRPr lang="en-US" sz="1400" noProof="1"/>
          </a:p>
        </p:txBody>
      </p:sp>
      <p:sp>
        <p:nvSpPr>
          <p:cNvPr id="15" name="Text 10"/>
          <p:cNvSpPr txBox="1"/>
          <p:nvPr/>
        </p:nvSpPr>
        <p:spPr>
          <a:xfrm>
            <a:off x="3624580" y="36106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Ollama installed and answering. Nothing works until this does.</a:t>
            </a:r>
            <a:endParaRPr lang="en-US" sz="1000" noProof="1"/>
          </a:p>
        </p:txBody>
      </p:sp>
      <p:sp>
        <p:nvSpPr>
          <p:cNvPr id="16" name="Shape 11"/>
          <p:cNvSpPr/>
          <p:nvPr/>
        </p:nvSpPr>
        <p:spPr>
          <a:xfrm>
            <a:off x="6224270" y="2184400"/>
            <a:ext cx="2581910" cy="1803400"/>
          </a:xfrm>
          <a:prstGeom prst="roundRect">
            <a:avLst>
              <a:gd name="adj" fmla="val 4390"/>
            </a:avLst>
          </a:prstGeom>
          <a:solidFill>
            <a:srgbClr val="141F30"/>
          </a:solidFill>
          <a:ln>
            <a:noFill/>
          </a:ln>
        </p:spPr>
      </p:sp>
      <p:pic>
        <p:nvPicPr>
          <p:cNvPr id="17" name="Image 2"/>
          <p:cNvPicPr/>
          <p:nvPr/>
        </p:nvPicPr>
        <p:blipFill>
          <a:blip r:embed="rId4"/>
          <a:stretch>
            <a:fillRect/>
          </a:stretch>
        </p:blipFill>
        <p:spPr>
          <a:xfrm>
            <a:off x="6351270" y="2312670"/>
            <a:ext cx="2325370" cy="640080"/>
          </a:xfrm>
          <a:prstGeom prst="rect">
            <a:avLst/>
          </a:prstGeom>
          <a:ln>
            <a:noFill/>
          </a:ln>
        </p:spPr>
      </p:pic>
      <p:sp>
        <p:nvSpPr>
          <p:cNvPr id="18" name="Text 12"/>
          <p:cNvSpPr txBox="1"/>
          <p:nvPr/>
        </p:nvSpPr>
        <p:spPr>
          <a:xfrm>
            <a:off x="6461760" y="30899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35D399"/>
                </a:solidFill>
                <a:latin typeface="Calibri"/>
                <a:ea typeface="Calibri"/>
              </a:rPr>
              <a:t>02 · 100 PTS</a:t>
            </a:r>
            <a:endParaRPr lang="en-US" sz="1050" noProof="1"/>
          </a:p>
        </p:txBody>
      </p:sp>
      <p:sp>
        <p:nvSpPr>
          <p:cNvPr id="19" name="Text 13"/>
          <p:cNvSpPr txBox="1"/>
          <p:nvPr/>
        </p:nvSpPr>
        <p:spPr>
          <a:xfrm>
            <a:off x="6461760" y="33274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Pull a Model</a:t>
            </a:r>
            <a:endParaRPr lang="en-US" sz="1400" noProof="1"/>
          </a:p>
        </p:txBody>
      </p:sp>
      <p:sp>
        <p:nvSpPr>
          <p:cNvPr id="20" name="Text 14"/>
          <p:cNvSpPr txBox="1"/>
          <p:nvPr/>
        </p:nvSpPr>
        <p:spPr>
          <a:xfrm>
            <a:off x="6461760" y="36106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A runtime with no model can't think yet. Size it to your memory.</a:t>
            </a:r>
            <a:endParaRPr lang="en-US" sz="1000" noProof="1"/>
          </a:p>
        </p:txBody>
      </p:sp>
      <p:sp>
        <p:nvSpPr>
          <p:cNvPr id="21" name="Shape 15"/>
          <p:cNvSpPr/>
          <p:nvPr/>
        </p:nvSpPr>
        <p:spPr>
          <a:xfrm>
            <a:off x="9061450" y="2184400"/>
            <a:ext cx="2581910" cy="1803400"/>
          </a:xfrm>
          <a:prstGeom prst="roundRect">
            <a:avLst>
              <a:gd name="adj" fmla="val 4390"/>
            </a:avLst>
          </a:prstGeom>
          <a:solidFill>
            <a:srgbClr val="141F30"/>
          </a:solidFill>
          <a:ln>
            <a:noFill/>
          </a:ln>
        </p:spPr>
      </p:sp>
      <p:pic>
        <p:nvPicPr>
          <p:cNvPr id="22" name="Image 3"/>
          <p:cNvPicPr/>
          <p:nvPr/>
        </p:nvPicPr>
        <p:blipFill>
          <a:blip r:embed="rId5"/>
          <a:stretch>
            <a:fillRect/>
          </a:stretch>
        </p:blipFill>
        <p:spPr>
          <a:xfrm>
            <a:off x="9189720" y="2312670"/>
            <a:ext cx="2325370" cy="640080"/>
          </a:xfrm>
          <a:prstGeom prst="rect">
            <a:avLst/>
          </a:prstGeom>
          <a:ln>
            <a:noFill/>
          </a:ln>
        </p:spPr>
      </p:pic>
      <p:sp>
        <p:nvSpPr>
          <p:cNvPr id="23" name="Text 16"/>
          <p:cNvSpPr txBox="1"/>
          <p:nvPr/>
        </p:nvSpPr>
        <p:spPr>
          <a:xfrm>
            <a:off x="9298940" y="30899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35D399"/>
                </a:solidFill>
                <a:latin typeface="Calibri"/>
                <a:ea typeface="Calibri"/>
              </a:rPr>
              <a:t>03 · 100 PTS</a:t>
            </a:r>
            <a:endParaRPr lang="en-US" sz="1050" noProof="1"/>
          </a:p>
        </p:txBody>
      </p:sp>
      <p:sp>
        <p:nvSpPr>
          <p:cNvPr id="24" name="Text 17"/>
          <p:cNvSpPr txBox="1"/>
          <p:nvPr/>
        </p:nvSpPr>
        <p:spPr>
          <a:xfrm>
            <a:off x="9298940" y="33274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Install the Agent</a:t>
            </a:r>
            <a:endParaRPr lang="en-US" sz="1400" noProof="1"/>
          </a:p>
        </p:txBody>
      </p:sp>
      <p:sp>
        <p:nvSpPr>
          <p:cNvPr id="25" name="Text 18"/>
          <p:cNvSpPr txBox="1"/>
          <p:nvPr/>
        </p:nvSpPr>
        <p:spPr>
          <a:xfrm>
            <a:off x="9298940" y="36106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ctf-agent and ctf-agent-verify properly on your PATH.</a:t>
            </a:r>
            <a:endParaRPr lang="en-US" sz="1000" noProof="1"/>
          </a:p>
        </p:txBody>
      </p:sp>
      <p:sp>
        <p:nvSpPr>
          <p:cNvPr id="26" name="Shape 19"/>
          <p:cNvSpPr/>
          <p:nvPr/>
        </p:nvSpPr>
        <p:spPr>
          <a:xfrm>
            <a:off x="548640" y="4216400"/>
            <a:ext cx="2581910" cy="1905000"/>
          </a:xfrm>
          <a:prstGeom prst="roundRect">
            <a:avLst>
              <a:gd name="adj" fmla="val 4390"/>
            </a:avLst>
          </a:prstGeom>
          <a:solidFill>
            <a:srgbClr val="1B2740"/>
          </a:solidFill>
          <a:ln>
            <a:noFill/>
          </a:ln>
        </p:spPr>
      </p:sp>
      <p:pic>
        <p:nvPicPr>
          <p:cNvPr id="27" name="Image 4"/>
          <p:cNvPicPr/>
          <p:nvPr/>
        </p:nvPicPr>
        <p:blipFill>
          <a:blip r:embed="rId6"/>
          <a:stretch>
            <a:fillRect/>
          </a:stretch>
        </p:blipFill>
        <p:spPr>
          <a:xfrm>
            <a:off x="676910" y="4344670"/>
            <a:ext cx="2325370" cy="640080"/>
          </a:xfrm>
          <a:prstGeom prst="rect">
            <a:avLst/>
          </a:prstGeom>
          <a:ln>
            <a:noFill/>
          </a:ln>
        </p:spPr>
      </p:pic>
      <p:sp>
        <p:nvSpPr>
          <p:cNvPr id="28" name="Text 20"/>
          <p:cNvSpPr txBox="1"/>
          <p:nvPr/>
        </p:nvSpPr>
        <p:spPr>
          <a:xfrm>
            <a:off x="786130" y="512064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35D399"/>
                </a:solidFill>
                <a:latin typeface="Calibri"/>
                <a:ea typeface="Calibri"/>
              </a:rPr>
              <a:t>04 · 150 PTS</a:t>
            </a:r>
            <a:endParaRPr lang="en-US" sz="1050" noProof="1"/>
          </a:p>
        </p:txBody>
      </p:sp>
      <p:sp>
        <p:nvSpPr>
          <p:cNvPr id="29" name="Text 21"/>
          <p:cNvSpPr txBox="1"/>
          <p:nvPr/>
        </p:nvSpPr>
        <p:spPr>
          <a:xfrm>
            <a:off x="786130" y="535813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Point It At a Box</a:t>
            </a:r>
            <a:endParaRPr lang="en-US" sz="1400" noProof="1"/>
          </a:p>
        </p:txBody>
      </p:sp>
      <p:sp>
        <p:nvSpPr>
          <p:cNvPr id="30" name="Text 22"/>
          <p:cNvSpPr txBox="1"/>
          <p:nvPr/>
        </p:nvSpPr>
        <p:spPr>
          <a:xfrm>
            <a:off x="786130" y="5642610"/>
            <a:ext cx="2105660" cy="46990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A real SSH connection to a live Bandit, Krypton or Natas instance.</a:t>
            </a:r>
            <a:endParaRPr lang="en-US" sz="1000" noProof="1"/>
          </a:p>
          <a:p>
            <a:pPr algn="l" marL="0">
              <a:lnSpc>
                <a:spcPct val="110000"/>
              </a:lnSpc>
            </a:pPr>
            <a:r>
              <a:rPr lang="en-US" sz="1000" noProof="1">
                <a:solidFill>
                  <a:srgbClr val="B8C7E4"/>
                </a:solidFill>
                <a:latin typeface="Calibri"/>
                <a:ea typeface="Calibri"/>
              </a:rPr>
              <a:t>Launch one of those tracks first.</a:t>
            </a:r>
            <a:endParaRPr lang="en-US" sz="1000" noProof="1"/>
          </a:p>
        </p:txBody>
      </p:sp>
      <p:sp>
        <p:nvSpPr>
          <p:cNvPr id="31" name="Shape 23"/>
          <p:cNvSpPr/>
          <p:nvPr/>
        </p:nvSpPr>
        <p:spPr>
          <a:xfrm>
            <a:off x="3385820" y="4216400"/>
            <a:ext cx="2581910" cy="1905000"/>
          </a:xfrm>
          <a:prstGeom prst="roundRect">
            <a:avLst>
              <a:gd name="adj" fmla="val 4390"/>
            </a:avLst>
          </a:prstGeom>
          <a:solidFill>
            <a:srgbClr val="1B2740"/>
          </a:solidFill>
          <a:ln>
            <a:noFill/>
          </a:ln>
        </p:spPr>
      </p:sp>
      <p:pic>
        <p:nvPicPr>
          <p:cNvPr id="32" name="Image 5"/>
          <p:cNvPicPr/>
          <p:nvPr/>
        </p:nvPicPr>
        <p:blipFill>
          <a:blip r:embed="rId7"/>
          <a:stretch>
            <a:fillRect/>
          </a:stretch>
        </p:blipFill>
        <p:spPr>
          <a:xfrm>
            <a:off x="3514090" y="4344670"/>
            <a:ext cx="2325370" cy="640080"/>
          </a:xfrm>
          <a:prstGeom prst="rect">
            <a:avLst/>
          </a:prstGeom>
          <a:ln>
            <a:noFill/>
          </a:ln>
        </p:spPr>
      </p:pic>
      <p:sp>
        <p:nvSpPr>
          <p:cNvPr id="33" name="Text 24"/>
          <p:cNvSpPr txBox="1"/>
          <p:nvPr/>
        </p:nvSpPr>
        <p:spPr>
          <a:xfrm>
            <a:off x="3624580" y="512064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35D399"/>
                </a:solidFill>
                <a:latin typeface="Calibri"/>
                <a:ea typeface="Calibri"/>
              </a:rPr>
              <a:t>05 · 150 PTS</a:t>
            </a:r>
            <a:endParaRPr lang="en-US" sz="1050" noProof="1"/>
          </a:p>
        </p:txBody>
      </p:sp>
      <p:sp>
        <p:nvSpPr>
          <p:cNvPr id="34" name="Text 25"/>
          <p:cNvSpPr txBox="1"/>
          <p:nvPr/>
        </p:nvSpPr>
        <p:spPr>
          <a:xfrm>
            <a:off x="3624580" y="535813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Ask For Help</a:t>
            </a:r>
            <a:endParaRPr lang="en-US" sz="1400" noProof="1"/>
          </a:p>
        </p:txBody>
      </p:sp>
      <p:sp>
        <p:nvSpPr>
          <p:cNvPr id="35" name="Text 26"/>
          <p:cNvSpPr txBox="1"/>
          <p:nvPr/>
        </p:nvSpPr>
        <p:spPr>
          <a:xfrm>
            <a:off x="3624580" y="56426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Name a track and a level. Show the shape of a useful prompt.</a:t>
            </a:r>
            <a:endParaRPr lang="en-US" sz="1000" noProof="1"/>
          </a:p>
        </p:txBody>
      </p:sp>
      <p:sp>
        <p:nvSpPr>
          <p:cNvPr id="36" name="Text 27"/>
          <p:cNvSpPr txBox="1"/>
          <p:nvPr/>
        </p:nvSpPr>
        <p:spPr>
          <a:xfrm>
            <a:off x="548640" y="6184900"/>
            <a:ext cx="11094720" cy="203200"/>
          </a:xfrm>
          <a:prstGeom prst="rect">
            <a:avLst/>
          </a:prstGeom>
          <a:noFill/>
          <a:ln>
            <a:noFill/>
          </a:ln>
        </p:spPr>
        <p:txBody>
          <a:bodyPr lIns="0" rIns="0" tIns="0" bIns="0" wrap="square" rtlCol="0" anchor="ctr"/>
          <a:lstStyle/>
          <a:p>
            <a:pPr algn="l" marL="0">
              <a:lnSpc>
                <a:spcPct val="120000"/>
              </a:lnSpc>
            </a:pPr>
            <a:r>
              <a:rPr lang="en-US" sz="1250" noProof="1" i="1">
                <a:solidFill>
                  <a:srgbClr val="35D399"/>
                </a:solidFill>
                <a:latin typeface="Calibri"/>
                <a:ea typeface="Calibri"/>
              </a:rPr>
              <a:t>Nothing here is guessable without actually doing the step.</a:t>
            </a:r>
            <a:endParaRPr lang="en-US" sz="1250" noProof="1"/>
          </a:p>
        </p:txBody>
      </p:sp>
      <p:sp>
        <p:nvSpPr>
          <p:cNvPr id="37" name="Text 28"/>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38" name="Text 29"/>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02</a:t>
            </a:r>
            <a:endParaRPr lang="en-US" sz="1000" noProof="1"/>
          </a:p>
        </p:txBody>
      </p:sp>
    </p:spTree>
  </p:cSld>
  <p:clrMapOvr>
    <a:masterClrMapping/>
  </p:clrMapOvr>
  <p:transition spd="fast" advClick="1">
    <p:fade/>
  </p:transition>
</p:sld>
</file>

<file path=ppt/slides/slide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95360" y="-2194560"/>
            <a:ext cx="6035040" cy="6035040"/>
          </a:xfrm>
          <a:prstGeom prst="ellipse">
            <a:avLst/>
          </a:prstGeom>
          <a:solidFill>
            <a:srgbClr val="141F30"/>
          </a:solidFill>
          <a:ln>
            <a:noFill/>
          </a:ln>
        </p:spPr>
      </p:sp>
      <p:sp>
        <p:nvSpPr>
          <p:cNvPr id="3" name="Text 1"/>
          <p:cNvSpPr txBox="1"/>
          <p:nvPr/>
        </p:nvSpPr>
        <p:spPr>
          <a:xfrm>
            <a:off x="548640" y="711200"/>
            <a:ext cx="5486400" cy="292100"/>
          </a:xfrm>
          <a:prstGeom prst="rect">
            <a:avLst/>
          </a:prstGeom>
          <a:noFill/>
          <a:ln>
            <a:noFill/>
          </a:ln>
        </p:spPr>
        <p:txBody>
          <a:bodyPr lIns="0" rIns="0" tIns="0" bIns="0" wrap="square" rtlCol="0" anchor="ctr"/>
          <a:lstStyle/>
          <a:p>
            <a:pPr algn="l" marL="0">
              <a:lnSpc>
                <a:spcPct val="120000"/>
              </a:lnSpc>
            </a:pPr>
            <a:r>
              <a:rPr lang="en-US" sz="1100" noProof="1" b="1" spc="140" kern="0">
                <a:solidFill>
                  <a:srgbClr val="35D399"/>
                </a:solidFill>
                <a:latin typeface="Calibri"/>
                <a:ea typeface="Calibri"/>
              </a:rPr>
              <a:t>THE IDEAS</a:t>
            </a:r>
            <a:endParaRPr lang="en-US" sz="1100" noProof="1"/>
          </a:p>
        </p:txBody>
      </p:sp>
      <p:sp>
        <p:nvSpPr>
          <p:cNvPr id="4" name="Text 2"/>
          <p:cNvSpPr txBox="1"/>
          <p:nvPr/>
        </p:nvSpPr>
        <p:spPr>
          <a:xfrm>
            <a:off x="548640" y="1041400"/>
            <a:ext cx="8595360" cy="960120"/>
          </a:xfrm>
          <a:prstGeom prst="rect">
            <a:avLst/>
          </a:prstGeom>
          <a:noFill/>
          <a:ln>
            <a:noFill/>
          </a:ln>
        </p:spPr>
        <p:txBody>
          <a:bodyPr lIns="0" rIns="0" tIns="0" bIns="0" wrap="square" rtlCol="0" anchor="t"/>
          <a:lstStyle/>
          <a:p>
            <a:pPr algn="l" marL="0">
              <a:lnSpc>
                <a:spcPct val="120000"/>
              </a:lnSpc>
            </a:pPr>
            <a:r>
              <a:rPr lang="en-US" sz="3800" noProof="1" b="1">
                <a:solidFill>
                  <a:srgbClr val="F4F6FB"/>
                </a:solidFill>
                <a:latin typeface="Cambria"/>
                <a:ea typeface="Cambria"/>
              </a:rPr>
              <a:t>Six ideas about how this thing works</a:t>
            </a:r>
            <a:endParaRPr lang="en-US" sz="3800" noProof="1"/>
          </a:p>
        </p:txBody>
      </p:sp>
      <p:sp>
        <p:nvSpPr>
          <p:cNvPr id="5" name="Text 3"/>
          <p:cNvSpPr txBox="1"/>
          <p:nvPr/>
        </p:nvSpPr>
        <p:spPr>
          <a:xfrm>
            <a:off x="548640" y="2159000"/>
            <a:ext cx="6949440" cy="548640"/>
          </a:xfrm>
          <a:prstGeom prst="rect">
            <a:avLst/>
          </a:prstGeom>
          <a:noFill/>
          <a:ln>
            <a:noFill/>
          </a:ln>
        </p:spPr>
        <p:txBody>
          <a:bodyPr lIns="0" rIns="0" tIns="0" bIns="0" wrap="square" rtlCol="0" anchor="ctr"/>
          <a:lstStyle/>
          <a:p>
            <a:pPr algn="l" marL="0">
              <a:lnSpc>
                <a:spcPct val="118000"/>
              </a:lnSpc>
            </a:pPr>
            <a:r>
              <a:rPr lang="en-US" sz="1350" noProof="1">
                <a:solidFill>
                  <a:srgbClr val="B8C7E4"/>
                </a:solidFill>
                <a:latin typeface="Calibri"/>
                <a:ea typeface="Calibri"/>
              </a:rPr>
              <a:t>What a language model is actually doing, so you can judge when to trust it. Useful whether or not you ever finish this track.</a:t>
            </a:r>
            <a:endParaRPr lang="en-US" sz="1350" noProof="1"/>
          </a:p>
        </p:txBody>
      </p:sp>
      <p:sp>
        <p:nvSpPr>
          <p:cNvPr id="6" name="Text 4"/>
          <p:cNvSpPr txBox="1"/>
          <p:nvPr/>
        </p:nvSpPr>
        <p:spPr>
          <a:xfrm>
            <a:off x="548640" y="3238500"/>
            <a:ext cx="411480" cy="660400"/>
          </a:xfrm>
          <a:prstGeom prst="rect">
            <a:avLst/>
          </a:prstGeom>
          <a:noFill/>
          <a:ln>
            <a:noFill/>
          </a:ln>
        </p:spPr>
        <p:txBody>
          <a:bodyPr lIns="0" rIns="0" tIns="0" bIns="0" wrap="square" rtlCol="0" anchor="ctr"/>
          <a:lstStyle/>
          <a:p>
            <a:pPr algn="l" marL="0">
              <a:lnSpc>
                <a:spcPct val="120000"/>
              </a:lnSpc>
            </a:pPr>
            <a:r>
              <a:rPr lang="en-US" sz="1200" noProof="1" b="1">
                <a:solidFill>
                  <a:srgbClr val="35D399"/>
                </a:solidFill>
                <a:latin typeface="Cambria"/>
                <a:ea typeface="Cambria"/>
              </a:rPr>
              <a:t>01</a:t>
            </a:r>
            <a:endParaRPr lang="en-US" sz="1200" noProof="1"/>
          </a:p>
        </p:txBody>
      </p:sp>
      <p:sp>
        <p:nvSpPr>
          <p:cNvPr id="7" name="Text 5"/>
          <p:cNvSpPr txBox="1"/>
          <p:nvPr/>
        </p:nvSpPr>
        <p:spPr>
          <a:xfrm>
            <a:off x="1005840" y="3238500"/>
            <a:ext cx="4663440" cy="66040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What a language model does</a:t>
            </a:r>
            <a:endParaRPr lang="en-US" sz="1300" noProof="1"/>
          </a:p>
        </p:txBody>
      </p:sp>
      <p:sp>
        <p:nvSpPr>
          <p:cNvPr id="8" name="Text 6"/>
          <p:cNvSpPr txBox="1"/>
          <p:nvPr/>
        </p:nvSpPr>
        <p:spPr>
          <a:xfrm>
            <a:off x="548640" y="4216400"/>
            <a:ext cx="411480" cy="660400"/>
          </a:xfrm>
          <a:prstGeom prst="rect">
            <a:avLst/>
          </a:prstGeom>
          <a:noFill/>
          <a:ln>
            <a:noFill/>
          </a:ln>
        </p:spPr>
        <p:txBody>
          <a:bodyPr lIns="0" rIns="0" tIns="0" bIns="0" wrap="square" rtlCol="0" anchor="ctr"/>
          <a:lstStyle/>
          <a:p>
            <a:pPr algn="l" marL="0">
              <a:lnSpc>
                <a:spcPct val="120000"/>
              </a:lnSpc>
            </a:pPr>
            <a:r>
              <a:rPr lang="en-US" sz="1200" noProof="1" b="1">
                <a:solidFill>
                  <a:srgbClr val="35D399"/>
                </a:solidFill>
                <a:latin typeface="Cambria"/>
                <a:ea typeface="Cambria"/>
              </a:rPr>
              <a:t>02</a:t>
            </a:r>
            <a:endParaRPr lang="en-US" sz="1200" noProof="1"/>
          </a:p>
        </p:txBody>
      </p:sp>
      <p:sp>
        <p:nvSpPr>
          <p:cNvPr id="9" name="Text 7"/>
          <p:cNvSpPr txBox="1"/>
          <p:nvPr/>
        </p:nvSpPr>
        <p:spPr>
          <a:xfrm>
            <a:off x="1005840" y="4216400"/>
            <a:ext cx="4663440" cy="66040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Tokens and context</a:t>
            </a:r>
            <a:endParaRPr lang="en-US" sz="1300" noProof="1"/>
          </a:p>
        </p:txBody>
      </p:sp>
      <p:sp>
        <p:nvSpPr>
          <p:cNvPr id="10" name="Text 8"/>
          <p:cNvSpPr txBox="1"/>
          <p:nvPr/>
        </p:nvSpPr>
        <p:spPr>
          <a:xfrm>
            <a:off x="548640" y="5194300"/>
            <a:ext cx="411480" cy="660400"/>
          </a:xfrm>
          <a:prstGeom prst="rect">
            <a:avLst/>
          </a:prstGeom>
          <a:noFill/>
          <a:ln>
            <a:noFill/>
          </a:ln>
        </p:spPr>
        <p:txBody>
          <a:bodyPr lIns="0" rIns="0" tIns="0" bIns="0" wrap="square" rtlCol="0" anchor="ctr"/>
          <a:lstStyle/>
          <a:p>
            <a:pPr algn="l" marL="0">
              <a:lnSpc>
                <a:spcPct val="120000"/>
              </a:lnSpc>
            </a:pPr>
            <a:r>
              <a:rPr lang="en-US" sz="1200" noProof="1" b="1">
                <a:solidFill>
                  <a:srgbClr val="35D399"/>
                </a:solidFill>
                <a:latin typeface="Cambria"/>
                <a:ea typeface="Cambria"/>
              </a:rPr>
              <a:t>03</a:t>
            </a:r>
            <a:endParaRPr lang="en-US" sz="1200" noProof="1"/>
          </a:p>
        </p:txBody>
      </p:sp>
      <p:sp>
        <p:nvSpPr>
          <p:cNvPr id="11" name="Text 9"/>
          <p:cNvSpPr txBox="1"/>
          <p:nvPr/>
        </p:nvSpPr>
        <p:spPr>
          <a:xfrm>
            <a:off x="1005840" y="5194300"/>
            <a:ext cx="4663440" cy="66040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Running a model locally</a:t>
            </a:r>
            <a:endParaRPr lang="en-US" sz="1300" noProof="1"/>
          </a:p>
        </p:txBody>
      </p:sp>
      <p:sp>
        <p:nvSpPr>
          <p:cNvPr id="12" name="Text 10"/>
          <p:cNvSpPr txBox="1"/>
          <p:nvPr/>
        </p:nvSpPr>
        <p:spPr>
          <a:xfrm>
            <a:off x="6126480" y="3238500"/>
            <a:ext cx="411480" cy="660400"/>
          </a:xfrm>
          <a:prstGeom prst="rect">
            <a:avLst/>
          </a:prstGeom>
          <a:noFill/>
          <a:ln>
            <a:noFill/>
          </a:ln>
        </p:spPr>
        <p:txBody>
          <a:bodyPr lIns="0" rIns="0" tIns="0" bIns="0" wrap="square" rtlCol="0" anchor="ctr"/>
          <a:lstStyle/>
          <a:p>
            <a:pPr algn="l" marL="0">
              <a:lnSpc>
                <a:spcPct val="120000"/>
              </a:lnSpc>
            </a:pPr>
            <a:r>
              <a:rPr lang="en-US" sz="1200" noProof="1" b="1">
                <a:solidFill>
                  <a:srgbClr val="35D399"/>
                </a:solidFill>
                <a:latin typeface="Cambria"/>
                <a:ea typeface="Cambria"/>
              </a:rPr>
              <a:t>04</a:t>
            </a:r>
            <a:endParaRPr lang="en-US" sz="1200" noProof="1"/>
          </a:p>
        </p:txBody>
      </p:sp>
      <p:sp>
        <p:nvSpPr>
          <p:cNvPr id="13" name="Text 11"/>
          <p:cNvSpPr txBox="1"/>
          <p:nvPr/>
        </p:nvSpPr>
        <p:spPr>
          <a:xfrm>
            <a:off x="6583680" y="3238500"/>
            <a:ext cx="4663440" cy="66040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Prompting</a:t>
            </a:r>
            <a:endParaRPr lang="en-US" sz="1300" noProof="1"/>
          </a:p>
        </p:txBody>
      </p:sp>
      <p:sp>
        <p:nvSpPr>
          <p:cNvPr id="14" name="Text 12"/>
          <p:cNvSpPr txBox="1"/>
          <p:nvPr/>
        </p:nvSpPr>
        <p:spPr>
          <a:xfrm>
            <a:off x="6126480" y="4216400"/>
            <a:ext cx="411480" cy="660400"/>
          </a:xfrm>
          <a:prstGeom prst="rect">
            <a:avLst/>
          </a:prstGeom>
          <a:noFill/>
          <a:ln>
            <a:noFill/>
          </a:ln>
        </p:spPr>
        <p:txBody>
          <a:bodyPr lIns="0" rIns="0" tIns="0" bIns="0" wrap="square" rtlCol="0" anchor="ctr"/>
          <a:lstStyle/>
          <a:p>
            <a:pPr algn="l" marL="0">
              <a:lnSpc>
                <a:spcPct val="120000"/>
              </a:lnSpc>
            </a:pPr>
            <a:r>
              <a:rPr lang="en-US" sz="1200" noProof="1" b="1">
                <a:solidFill>
                  <a:srgbClr val="35D399"/>
                </a:solidFill>
                <a:latin typeface="Cambria"/>
                <a:ea typeface="Cambria"/>
              </a:rPr>
              <a:t>05</a:t>
            </a:r>
            <a:endParaRPr lang="en-US" sz="1200" noProof="1"/>
          </a:p>
        </p:txBody>
      </p:sp>
      <p:sp>
        <p:nvSpPr>
          <p:cNvPr id="15" name="Text 13"/>
          <p:cNvSpPr txBox="1"/>
          <p:nvPr/>
        </p:nvSpPr>
        <p:spPr>
          <a:xfrm>
            <a:off x="6583680" y="4216400"/>
            <a:ext cx="4663440" cy="66040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Tools: how it acts</a:t>
            </a:r>
            <a:endParaRPr lang="en-US" sz="1300" noProof="1"/>
          </a:p>
        </p:txBody>
      </p:sp>
      <p:sp>
        <p:nvSpPr>
          <p:cNvPr id="16" name="Text 14"/>
          <p:cNvSpPr txBox="1"/>
          <p:nvPr/>
        </p:nvSpPr>
        <p:spPr>
          <a:xfrm>
            <a:off x="6126480" y="5194300"/>
            <a:ext cx="411480" cy="660400"/>
          </a:xfrm>
          <a:prstGeom prst="rect">
            <a:avLst/>
          </a:prstGeom>
          <a:noFill/>
          <a:ln>
            <a:noFill/>
          </a:ln>
        </p:spPr>
        <p:txBody>
          <a:bodyPr lIns="0" rIns="0" tIns="0" bIns="0" wrap="square" rtlCol="0" anchor="ctr"/>
          <a:lstStyle/>
          <a:p>
            <a:pPr algn="l" marL="0">
              <a:lnSpc>
                <a:spcPct val="120000"/>
              </a:lnSpc>
            </a:pPr>
            <a:r>
              <a:rPr lang="en-US" sz="1200" noProof="1" b="1">
                <a:solidFill>
                  <a:srgbClr val="35D399"/>
                </a:solidFill>
                <a:latin typeface="Cambria"/>
                <a:ea typeface="Cambria"/>
              </a:rPr>
              <a:t>06</a:t>
            </a:r>
            <a:endParaRPr lang="en-US" sz="1200" noProof="1"/>
          </a:p>
        </p:txBody>
      </p:sp>
      <p:sp>
        <p:nvSpPr>
          <p:cNvPr id="17" name="Text 15"/>
          <p:cNvSpPr txBox="1"/>
          <p:nvPr/>
        </p:nvSpPr>
        <p:spPr>
          <a:xfrm>
            <a:off x="6583680" y="5194300"/>
            <a:ext cx="4663440" cy="660400"/>
          </a:xfrm>
          <a:prstGeom prst="rect">
            <a:avLst/>
          </a:prstGeom>
          <a:noFill/>
          <a:ln>
            <a:noFill/>
          </a:ln>
        </p:spPr>
        <p:txBody>
          <a:bodyPr lIns="0" rIns="0" tIns="0" bIns="0" wrap="square" rtlCol="0" anchor="ctr"/>
          <a:lstStyle/>
          <a:p>
            <a:pPr algn="l" marL="0">
              <a:lnSpc>
                <a:spcPct val="120000"/>
              </a:lnSpc>
            </a:pPr>
            <a:r>
              <a:rPr lang="en-US" sz="1300" noProof="1">
                <a:solidFill>
                  <a:srgbClr val="F4F6FB"/>
                </a:solidFill>
                <a:latin typeface="Calibri"/>
                <a:ea typeface="Calibri"/>
              </a:rPr>
              <a:t>Being wrong convincingly</a:t>
            </a:r>
            <a:endParaRPr lang="en-US" sz="1300" noProof="1"/>
          </a:p>
        </p:txBody>
      </p:sp>
      <p:sp>
        <p:nvSpPr>
          <p:cNvPr id="18" name="Text 16"/>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19" name="Text 17"/>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03</a:t>
            </a:r>
            <a:endParaRPr lang="en-US" sz="1000" noProof="1"/>
          </a:p>
        </p:txBody>
      </p:sp>
    </p:spTree>
  </p:cSld>
  <p:clrMapOvr>
    <a:masterClrMapping/>
  </p:clrMapOvr>
  <p:transition spd="fast" advClick="1">
    <p:fade/>
  </p:transition>
</p:sld>
</file>

<file path=ppt/slides/slide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35D399"/>
                </a:solidFill>
                <a:latin typeface="Calibri"/>
                <a:ea typeface="Calibri"/>
              </a:rPr>
              <a:t>THEORY  01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What a language model does</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It predicts the next piece of text, over and over, very quickly.</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WHAT IT IS</a:t>
            </a:r>
            <a:endParaRPr lang="en-US" sz="950" noProof="1"/>
          </a:p>
        </p:txBody>
      </p:sp>
      <p:sp>
        <p:nvSpPr>
          <p:cNvPr id="7" name="Text 5"/>
          <p:cNvSpPr txBox="1"/>
          <p:nvPr/>
        </p:nvSpPr>
        <p:spPr>
          <a:xfrm>
            <a:off x="859790" y="2697480"/>
            <a:ext cx="4955540" cy="15240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A model is trained on a great deal of text and learns which continuations are likely. Given everything so far it produces one small chunk, a token, appends it, and repeats. There is no lookup, no stored table of facts, and no step at which it checks whether the result is true.</a:t>
            </a:r>
            <a:endParaRPr lang="en-US" sz="1200" noProof="1"/>
          </a:p>
        </p:txBody>
      </p:sp>
      <p:sp>
        <p:nvSpPr>
          <p:cNvPr id="8" name="Text 6"/>
          <p:cNvSpPr txBox="1"/>
          <p:nvPr/>
        </p:nvSpPr>
        <p:spPr>
          <a:xfrm>
            <a:off x="859790" y="44196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WHY IT MATTERS HERE</a:t>
            </a:r>
            <a:endParaRPr lang="en-US" sz="950" noProof="1"/>
          </a:p>
        </p:txBody>
      </p:sp>
      <p:sp>
        <p:nvSpPr>
          <p:cNvPr id="9" name="Text 7"/>
          <p:cNvSpPr txBox="1"/>
          <p:nvPr/>
        </p:nvSpPr>
        <p:spPr>
          <a:xfrm>
            <a:off x="859790" y="4699000"/>
            <a:ext cx="4955540" cy="10668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Most of what it does follows from that. It is fluent because fluency is what it was optimised for — and confidently wrong for the same reason.</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generation, one token at a time</a:t>
            </a:r>
            <a:endParaRPr lang="en-US" sz="1050" noProof="1"/>
          </a:p>
          <a:p>
            <a:pPr algn="l" marL="0">
              <a:lnSpc>
                <a:spcPct val="112000"/>
              </a:lnSpc>
            </a:pPr>
            <a:r>
              <a:rPr lang="en-US" sz="1050" noProof="1">
                <a:solidFill>
                  <a:srgbClr val="F4F6FB"/>
                </a:solidFill>
                <a:latin typeface="Courier New"/>
                <a:ea typeface="Courier New"/>
              </a:rPr>
              <a:t>"The capital of France is"   -&gt;  " Paris"</a:t>
            </a:r>
            <a:endParaRPr lang="en-US" sz="1050" noProof="1"/>
          </a:p>
          <a:p>
            <a:pPr algn="l" marL="0">
              <a:lnSpc>
                <a:spcPct val="112000"/>
              </a:lnSpc>
            </a:pPr>
            <a:r>
              <a:rPr lang="en-US" sz="1050" noProof="1">
                <a:solidFill>
                  <a:srgbClr val="F4F6FB"/>
                </a:solidFill>
                <a:latin typeface="Courier New"/>
                <a:ea typeface="Courier New"/>
              </a:rPr>
              <a:t>"The capital of France is Paris"  -&gt;  "."</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it is choosing likely, not true</a:t>
            </a:r>
            <a:endParaRPr lang="en-US" sz="1050" noProof="1"/>
          </a:p>
          <a:p>
            <a:pPr algn="l" marL="0">
              <a:lnSpc>
                <a:spcPct val="112000"/>
              </a:lnSpc>
            </a:pPr>
            <a:r>
              <a:rPr lang="en-US" sz="1050" noProof="1">
                <a:solidFill>
                  <a:srgbClr val="F4F6FB"/>
                </a:solidFill>
                <a:latin typeface="Courier New"/>
                <a:ea typeface="Courier New"/>
              </a:rPr>
              <a:t>"The flag for this level is"  -&gt;  ???</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a:solidFill>
                  <a:srgbClr val="F4F6FB"/>
                </a:solidFill>
                <a:latin typeface="Courier New"/>
                <a:ea typeface="Courier New"/>
              </a:rPr>
              <a:t>     it will produce something</a:t>
            </a:r>
            <a:endParaRPr lang="en-US" sz="1050" noProof="1"/>
          </a:p>
          <a:p>
            <a:pPr algn="l" marL="0">
              <a:lnSpc>
                <a:spcPct val="112000"/>
              </a:lnSpc>
            </a:pPr>
            <a:r>
              <a:rPr lang="en-US" sz="1050" noProof="1">
                <a:solidFill>
                  <a:srgbClr val="F4F6FB"/>
                </a:solidFill>
                <a:latin typeface="Courier New"/>
                <a:ea typeface="Courier New"/>
              </a:rPr>
              <a:t>     that LOOKS exactly like a flag,</a:t>
            </a:r>
            <a:endParaRPr lang="en-US" sz="1050" noProof="1"/>
          </a:p>
          <a:p>
            <a:pPr algn="l" marL="0">
              <a:lnSpc>
                <a:spcPct val="112000"/>
              </a:lnSpc>
            </a:pPr>
            <a:r>
              <a:rPr lang="en-US" sz="1050" noProof="1">
                <a:solidFill>
                  <a:srgbClr val="F4F6FB"/>
                </a:solidFill>
                <a:latin typeface="Courier New"/>
                <a:ea typeface="Courier New"/>
              </a:rPr>
              <a:t>     with no way of knowing whether</a:t>
            </a:r>
            <a:endParaRPr lang="en-US" sz="1050" noProof="1"/>
          </a:p>
          <a:p>
            <a:pPr algn="l" marL="0">
              <a:lnSpc>
                <a:spcPct val="112000"/>
              </a:lnSpc>
            </a:pPr>
            <a:r>
              <a:rPr lang="en-US" sz="1050" noProof="1">
                <a:solidFill>
                  <a:srgbClr val="F4F6FB"/>
                </a:solidFill>
                <a:latin typeface="Courier New"/>
                <a:ea typeface="Courier New"/>
              </a:rPr>
              <a:t>     it is the real one</a:t>
            </a:r>
            <a:endParaRPr lang="en-US" sz="1050" noProof="1"/>
          </a:p>
        </p:txBody>
      </p:sp>
      <p:sp>
        <p:nvSpPr>
          <p:cNvPr id="12" name="Text 10"/>
          <p:cNvSpPr txBox="1"/>
          <p:nvPr/>
        </p:nvSpPr>
        <p:spPr>
          <a:xfrm>
            <a:off x="548640" y="60452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35D399"/>
                </a:solidFill>
                <a:latin typeface="Calibri"/>
                <a:ea typeface="Calibri"/>
              </a:rPr>
              <a:t>Likely and true are different targets. It is aiming at the first.</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04</a:t>
            </a:r>
            <a:endParaRPr lang="en-US" sz="1000" noProof="1"/>
          </a:p>
        </p:txBody>
      </p:sp>
    </p:spTree>
  </p:cSld>
  <p:clrMapOvr>
    <a:masterClrMapping/>
  </p:clrMapOvr>
  <p:transition spd="fast" advClick="1">
    <p:fade/>
  </p:transition>
</p:sld>
</file>

<file path=ppt/slides/slide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35D399"/>
                </a:solidFill>
                <a:latin typeface="Calibri"/>
                <a:ea typeface="Calibri"/>
              </a:rPr>
              <a:t>THEORY  02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Tokens and context</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The model sees a fixed-size window of text, and absolutely nothing else.</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WHAT IT IS</a:t>
            </a:r>
            <a:endParaRPr lang="en-US" sz="950" noProof="1"/>
          </a:p>
        </p:txBody>
      </p:sp>
      <p:sp>
        <p:nvSpPr>
          <p:cNvPr id="7" name="Text 5"/>
          <p:cNvSpPr txBox="1"/>
          <p:nvPr/>
        </p:nvSpPr>
        <p:spPr>
          <a:xfrm>
            <a:off x="859790" y="2697480"/>
            <a:ext cx="4955540" cy="15240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Text is split into tokens, roughly word-sized pieces. Everything the model can use has to fit inside its context window: the standing instructions, the conversation so far, and the reply it is producing. Once the window is full, the earliest material stops being visible to it.</a:t>
            </a:r>
            <a:endParaRPr lang="en-US" sz="1200" noProof="1"/>
          </a:p>
        </p:txBody>
      </p:sp>
      <p:sp>
        <p:nvSpPr>
          <p:cNvPr id="8" name="Text 6"/>
          <p:cNvSpPr txBox="1"/>
          <p:nvPr/>
        </p:nvSpPr>
        <p:spPr>
          <a:xfrm>
            <a:off x="859790" y="44196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WHY IT MATTERS HERE</a:t>
            </a:r>
            <a:endParaRPr lang="en-US" sz="950" noProof="1"/>
          </a:p>
        </p:txBody>
      </p:sp>
      <p:sp>
        <p:nvSpPr>
          <p:cNvPr id="9" name="Text 7"/>
          <p:cNvSpPr txBox="1"/>
          <p:nvPr/>
        </p:nvSpPr>
        <p:spPr>
          <a:xfrm>
            <a:off x="859790" y="4699000"/>
            <a:ext cx="4955540" cy="10668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It cannot see your screen, your files, or a session from yesterday. What you paste in is all it has — and a long conversation can push the important part back out.</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roughly how text becomes tokens</a:t>
            </a:r>
            <a:endParaRPr lang="en-US" sz="1050" noProof="1"/>
          </a:p>
          <a:p>
            <a:pPr algn="l" marL="0">
              <a:lnSpc>
                <a:spcPct val="112000"/>
              </a:lnSpc>
            </a:pPr>
            <a:r>
              <a:rPr lang="en-US" sz="1050" noProof="1">
                <a:solidFill>
                  <a:srgbClr val="F4F6FB"/>
                </a:solidFill>
                <a:latin typeface="Courier New"/>
                <a:ea typeface="Courier New"/>
              </a:rPr>
              <a:t>"unbreakable"   -&gt;  un | break | able</a:t>
            </a:r>
            <a:endParaRPr lang="en-US" sz="1050" noProof="1"/>
          </a:p>
          <a:p>
            <a:pPr algn="l" marL="0">
              <a:lnSpc>
                <a:spcPct val="112000"/>
              </a:lnSpc>
            </a:pPr>
            <a:r>
              <a:rPr lang="en-US" sz="1050" noProof="1">
                <a:solidFill>
                  <a:srgbClr val="F4F6FB"/>
                </a:solidFill>
                <a:latin typeface="Courier New"/>
                <a:ea typeface="Courier New"/>
              </a:rPr>
              <a:t>"ssh"           -&gt;  ssh</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what has to fit in the window</a:t>
            </a:r>
            <a:endParaRPr lang="en-US" sz="1050" noProof="1"/>
          </a:p>
          <a:p>
            <a:pPr algn="l" marL="0">
              <a:lnSpc>
                <a:spcPct val="112000"/>
              </a:lnSpc>
            </a:pPr>
            <a:r>
              <a:rPr lang="en-US" sz="1050" noProof="1">
                <a:solidFill>
                  <a:srgbClr val="F4F6FB"/>
                </a:solidFill>
                <a:latin typeface="Courier New"/>
                <a:ea typeface="Courier New"/>
              </a:rPr>
              <a:t>[ instructions ][ conversation ][ reply ]</a:t>
            </a:r>
            <a:endParaRPr lang="en-US" sz="1050" noProof="1"/>
          </a:p>
          <a:p>
            <a:pPr algn="l" marL="0">
              <a:lnSpc>
                <a:spcPct val="112000"/>
              </a:lnSpc>
            </a:pPr>
            <a:r>
              <a:rPr lang="en-US" sz="1050" noProof="1">
                <a:solidFill>
                  <a:srgbClr val="F4F6FB"/>
                </a:solidFill>
                <a:latin typeface="Courier New"/>
                <a:ea typeface="Courier New"/>
              </a:rPr>
              <a:t>|&lt;--------- fixed total size ---------&gt;|</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when it fills, the oldest drops out</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practical consequence:</a:t>
            </a:r>
            <a:endParaRPr lang="en-US" sz="1050" noProof="1"/>
          </a:p>
          <a:p>
            <a:pPr algn="l" marL="0">
              <a:lnSpc>
                <a:spcPct val="112000"/>
              </a:lnSpc>
            </a:pPr>
            <a:r>
              <a:rPr lang="en-US" sz="1050" noProof="1" i="1">
                <a:solidFill>
                  <a:srgbClr val="8FA3C8"/>
                </a:solidFill>
                <a:latin typeface="Courier New"/>
                <a:ea typeface="Courier New"/>
              </a:rPr>
              <a:t>start a fresh chat for each level</a:t>
            </a:r>
            <a:endParaRPr lang="en-US" sz="1050" noProof="1"/>
          </a:p>
        </p:txBody>
      </p:sp>
      <p:sp>
        <p:nvSpPr>
          <p:cNvPr id="12" name="Text 10"/>
          <p:cNvSpPr txBox="1"/>
          <p:nvPr/>
        </p:nvSpPr>
        <p:spPr>
          <a:xfrm>
            <a:off x="548640" y="60452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35D399"/>
                </a:solidFill>
                <a:latin typeface="Calibri"/>
                <a:ea typeface="Calibri"/>
              </a:rPr>
              <a:t>It has no memory between chats. Only what is in front of it.</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05</a:t>
            </a:r>
            <a:endParaRPr lang="en-US" sz="1000" noProof="1"/>
          </a:p>
        </p:txBody>
      </p:sp>
    </p:spTree>
  </p:cSld>
  <p:clrMapOvr>
    <a:masterClrMapping/>
  </p:clrMapOvr>
  <p:transition spd="fast" advClick="1">
    <p:fade/>
  </p:transition>
</p:sld>
</file>

<file path=ppt/slides/slide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35D399"/>
                </a:solidFill>
                <a:latin typeface="Calibri"/>
                <a:ea typeface="Calibri"/>
              </a:rPr>
              <a:t>THEORY  03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Running a model locally</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Size, memory and speed are one trade-off, made three times over.</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WHAT IT IS</a:t>
            </a:r>
            <a:endParaRPr lang="en-US" sz="950" noProof="1"/>
          </a:p>
        </p:txBody>
      </p:sp>
      <p:sp>
        <p:nvSpPr>
          <p:cNvPr id="7" name="Text 5"/>
          <p:cNvSpPr txBox="1"/>
          <p:nvPr/>
        </p:nvSpPr>
        <p:spPr>
          <a:xfrm>
            <a:off x="859790" y="2697480"/>
            <a:ext cx="4955540" cy="15240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A model's size is counted in parameters, and its weights are stored at a chosen precision. Reducing that precision — quantization — shrinks the file so it fits in ordinary memory, at some cost to quality. The whole thing loads before it can answer, and on a CPU it thinks at roughly reading speed rather than instantly.</a:t>
            </a:r>
            <a:endParaRPr lang="en-US" sz="1200" noProof="1"/>
          </a:p>
        </p:txBody>
      </p:sp>
      <p:sp>
        <p:nvSpPr>
          <p:cNvPr id="8" name="Text 6"/>
          <p:cNvSpPr txBox="1"/>
          <p:nvPr/>
        </p:nvSpPr>
        <p:spPr>
          <a:xfrm>
            <a:off x="859790" y="44196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WHY IT MATTERS HERE</a:t>
            </a:r>
            <a:endParaRPr lang="en-US" sz="950" noProof="1"/>
          </a:p>
        </p:txBody>
      </p:sp>
      <p:sp>
        <p:nvSpPr>
          <p:cNvPr id="9" name="Text 7"/>
          <p:cNvSpPr txBox="1"/>
          <p:nvPr/>
        </p:nvSpPr>
        <p:spPr>
          <a:xfrm>
            <a:off x="859790" y="4699000"/>
            <a:ext cx="4955540" cy="10668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This is why the bootstrap picks a model to match your laptop, why the first run downloads several gigabytes, and why answers arrive a word at a time.</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what the numbers mean</a:t>
            </a:r>
            <a:endParaRPr lang="en-US" sz="1050" noProof="1"/>
          </a:p>
          <a:p>
            <a:pPr algn="l" marL="0">
              <a:lnSpc>
                <a:spcPct val="112000"/>
              </a:lnSpc>
            </a:pPr>
            <a:r>
              <a:rPr lang="en-US" sz="1050" noProof="1">
                <a:solidFill>
                  <a:srgbClr val="F4F6FB"/>
                </a:solidFill>
                <a:latin typeface="Courier New"/>
                <a:ea typeface="Courier New"/>
              </a:rPr>
              <a:t>parameters    how big the model is</a:t>
            </a:r>
            <a:endParaRPr lang="en-US" sz="1050" noProof="1"/>
          </a:p>
          <a:p>
            <a:pPr algn="l" marL="0">
              <a:lnSpc>
                <a:spcPct val="112000"/>
              </a:lnSpc>
            </a:pPr>
            <a:r>
              <a:rPr lang="en-US" sz="1050" noProof="1">
                <a:solidFill>
                  <a:srgbClr val="F4F6FB"/>
                </a:solidFill>
                <a:latin typeface="Courier New"/>
                <a:ea typeface="Courier New"/>
              </a:rPr>
              <a:t>quantization  how precisely it is stored</a:t>
            </a:r>
            <a:endParaRPr lang="en-US" sz="1050" noProof="1"/>
          </a:p>
          <a:p>
            <a:pPr algn="l" marL="0">
              <a:lnSpc>
                <a:spcPct val="112000"/>
              </a:lnSpc>
            </a:pPr>
            <a:r>
              <a:rPr lang="en-US" sz="1050" noProof="1">
                <a:solidFill>
                  <a:srgbClr val="F4F6FB"/>
                </a:solidFill>
                <a:latin typeface="Courier New"/>
                <a:ea typeface="Courier New"/>
              </a:rPr>
              <a:t>              smaller file, some quality lost</a:t>
            </a:r>
            <a:endParaRPr lang="en-US" sz="1050" noProof="1"/>
          </a:p>
          <a:p>
            <a:pPr algn="l" marL="0">
              <a:lnSpc>
                <a:spcPct val="112000"/>
              </a:lnSpc>
            </a:pPr>
            <a:r>
              <a:rPr lang="en-US" sz="1050" noProof="1">
                <a:solidFill>
                  <a:srgbClr val="F4F6FB"/>
                </a:solidFill>
                <a:latin typeface="Courier New"/>
                <a:ea typeface="Courier New"/>
              </a:rPr>
              <a:t>context       how much text it can hold</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the practical trade</a:t>
            </a:r>
            <a:endParaRPr lang="en-US" sz="1050" noProof="1"/>
          </a:p>
          <a:p>
            <a:pPr algn="l" marL="0">
              <a:lnSpc>
                <a:spcPct val="112000"/>
              </a:lnSpc>
            </a:pPr>
            <a:r>
              <a:rPr lang="en-US" sz="1050" noProof="1">
                <a:solidFill>
                  <a:srgbClr val="F4F6FB"/>
                </a:solidFill>
                <a:latin typeface="Courier New"/>
                <a:ea typeface="Courier New"/>
              </a:rPr>
              <a:t>more memory  -&gt;  bigger model  -&gt;  better</a:t>
            </a:r>
            <a:endParaRPr lang="en-US" sz="1050" noProof="1"/>
          </a:p>
          <a:p>
            <a:pPr algn="l" marL="0">
              <a:lnSpc>
                <a:spcPct val="112000"/>
              </a:lnSpc>
            </a:pPr>
            <a:r>
              <a:rPr lang="en-US" sz="1050" noProof="1">
                <a:solidFill>
                  <a:srgbClr val="F4F6FB"/>
                </a:solidFill>
                <a:latin typeface="Courier New"/>
                <a:ea typeface="Courier New"/>
              </a:rPr>
              <a:t>CPU only     -&gt;  slower to answer</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and the thing you gain in return:</a:t>
            </a:r>
            <a:endParaRPr lang="en-US" sz="1050" noProof="1"/>
          </a:p>
          <a:p>
            <a:pPr algn="l" marL="0">
              <a:lnSpc>
                <a:spcPct val="112000"/>
              </a:lnSpc>
            </a:pPr>
            <a:r>
              <a:rPr lang="en-US" sz="1050" noProof="1" i="1">
                <a:solidFill>
                  <a:srgbClr val="8FA3C8"/>
                </a:solidFill>
                <a:latin typeface="Courier New"/>
                <a:ea typeface="Courier New"/>
              </a:rPr>
              <a:t>nothing you type leaves the machine</a:t>
            </a:r>
            <a:endParaRPr lang="en-US" sz="1050" noProof="1"/>
          </a:p>
        </p:txBody>
      </p:sp>
      <p:sp>
        <p:nvSpPr>
          <p:cNvPr id="12" name="Text 10"/>
          <p:cNvSpPr txBox="1"/>
          <p:nvPr/>
        </p:nvSpPr>
        <p:spPr>
          <a:xfrm>
            <a:off x="548640" y="60452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35D399"/>
                </a:solidFill>
                <a:latin typeface="Calibri"/>
                <a:ea typeface="Calibri"/>
              </a:rPr>
              <a:t>Slower, smaller, and entirely yours.</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06</a:t>
            </a:r>
            <a:endParaRPr lang="en-US" sz="1000" noProof="1"/>
          </a:p>
        </p:txBody>
      </p:sp>
    </p:spTree>
  </p:cSld>
  <p:clrMapOvr>
    <a:masterClrMapping/>
  </p:clrMapOvr>
  <p:transition spd="fast" advClick="1">
    <p:fade/>
  </p:transition>
</p:sld>
</file>

<file path=ppt/slides/slide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35D399"/>
                </a:solidFill>
                <a:latin typeface="Calibri"/>
                <a:ea typeface="Calibri"/>
              </a:rPr>
              <a:t>THEORY  04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Prompting</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The prompt is the whole briefing. Specific beats polite, every time.</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WHAT IT IS</a:t>
            </a:r>
            <a:endParaRPr lang="en-US" sz="950" noProof="1"/>
          </a:p>
        </p:txBody>
      </p:sp>
      <p:sp>
        <p:nvSpPr>
          <p:cNvPr id="7" name="Text 5"/>
          <p:cNvSpPr txBox="1"/>
          <p:nvPr/>
        </p:nvSpPr>
        <p:spPr>
          <a:xfrm>
            <a:off x="859790" y="2697480"/>
            <a:ext cx="4955540" cy="15240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Because the output depends only on what is in the window, the levers that work are concrete ones: state the task, name the subject, say what you have already tried, and say what sort of answer you want back. Courtesy words change nothing. Asking for reasoning before a conclusion generally produces a better conclusion.</a:t>
            </a:r>
            <a:endParaRPr lang="en-US" sz="1200" noProof="1"/>
          </a:p>
        </p:txBody>
      </p:sp>
      <p:sp>
        <p:nvSpPr>
          <p:cNvPr id="8" name="Text 6"/>
          <p:cNvSpPr txBox="1"/>
          <p:nvPr/>
        </p:nvSpPr>
        <p:spPr>
          <a:xfrm>
            <a:off x="859790" y="44196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WHY IT MATTERS HERE</a:t>
            </a:r>
            <a:endParaRPr lang="en-US" sz="950" noProof="1"/>
          </a:p>
        </p:txBody>
      </p:sp>
      <p:sp>
        <p:nvSpPr>
          <p:cNvPr id="9" name="Text 7"/>
          <p:cNvSpPr txBox="1"/>
          <p:nvPr/>
        </p:nvSpPr>
        <p:spPr>
          <a:xfrm>
            <a:off x="859790" y="4699000"/>
            <a:ext cx="4955540" cy="10668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"It didn't help" usually means "it wasn't told enough". Naming a track and a level number is the smallest change with the largest effect — there's a whole challenge for exactly that.</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tells it almost nothing</a:t>
            </a:r>
            <a:endParaRPr lang="en-US" sz="1050" noProof="1"/>
          </a:p>
          <a:p>
            <a:pPr algn="l" marL="0">
              <a:lnSpc>
                <a:spcPct val="112000"/>
              </a:lnSpc>
            </a:pPr>
            <a:r>
              <a:rPr lang="en-US" sz="1050" noProof="1">
                <a:solidFill>
                  <a:srgbClr val="F4F6FB"/>
                </a:solidFill>
                <a:latin typeface="Courier New"/>
                <a:ea typeface="Courier New"/>
              </a:rPr>
              <a:t>"help"</a:t>
            </a:r>
            <a:endParaRPr lang="en-US" sz="1050" noProof="1"/>
          </a:p>
          <a:p>
            <a:pPr algn="l" marL="0">
              <a:lnSpc>
                <a:spcPct val="112000"/>
              </a:lnSpc>
            </a:pPr>
            <a:r>
              <a:rPr lang="en-US" sz="1050" noProof="1">
                <a:solidFill>
                  <a:srgbClr val="F4F6FB"/>
                </a:solidFill>
                <a:latin typeface="Courier New"/>
                <a:ea typeface="Courier New"/>
              </a:rPr>
              <a:t>"this isn't working"</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tells it what it actually needs</a:t>
            </a:r>
            <a:endParaRPr lang="en-US" sz="1050" noProof="1"/>
          </a:p>
          <a:p>
            <a:pPr algn="l" marL="0">
              <a:lnSpc>
                <a:spcPct val="112000"/>
              </a:lnSpc>
            </a:pPr>
            <a:r>
              <a:rPr lang="en-US" sz="1050" noProof="1">
                <a:solidFill>
                  <a:srgbClr val="F4F6FB"/>
                </a:solidFill>
                <a:latin typeface="Courier New"/>
                <a:ea typeface="Courier New"/>
              </a:rPr>
              <a:t>"Help me with Bandit level 12.</a:t>
            </a:r>
            <a:endParaRPr lang="en-US" sz="1050" noProof="1"/>
          </a:p>
          <a:p>
            <a:pPr algn="l" marL="0">
              <a:lnSpc>
                <a:spcPct val="112000"/>
              </a:lnSpc>
            </a:pPr>
            <a:r>
              <a:rPr lang="en-US" sz="1050" noProof="1">
                <a:solidFill>
                  <a:srgbClr val="F4F6FB"/>
                </a:solidFill>
                <a:latin typeface="Courier New"/>
                <a:ea typeface="Courier New"/>
              </a:rPr>
              <a:t> I can see the file but it isn't text.</a:t>
            </a:r>
            <a:endParaRPr lang="en-US" sz="1050" noProof="1"/>
          </a:p>
          <a:p>
            <a:pPr algn="l" marL="0">
              <a:lnSpc>
                <a:spcPct val="112000"/>
              </a:lnSpc>
            </a:pPr>
            <a:r>
              <a:rPr lang="en-US" sz="1050" noProof="1">
                <a:solidFill>
                  <a:srgbClr val="F4F6FB"/>
                </a:solidFill>
                <a:latin typeface="Courier New"/>
                <a:ea typeface="Courier New"/>
              </a:rPr>
              <a:t> Explain what I should look at.</a:t>
            </a:r>
            <a:endParaRPr lang="en-US" sz="1050" noProof="1"/>
          </a:p>
          <a:p>
            <a:pPr algn="l" marL="0">
              <a:lnSpc>
                <a:spcPct val="112000"/>
              </a:lnSpc>
            </a:pPr>
            <a:r>
              <a:rPr lang="en-US" sz="1050" noProof="1">
                <a:solidFill>
                  <a:srgbClr val="F4F6FB"/>
                </a:solidFill>
                <a:latin typeface="Courier New"/>
                <a:ea typeface="Courier New"/>
              </a:rPr>
              <a:t> Don't give me the answer."</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a:solidFill>
                  <a:srgbClr val="F4F6FB"/>
                </a:solidFill>
                <a:latin typeface="Courier New"/>
                <a:ea typeface="Courier New"/>
              </a:rPr>
              <a:t>  task + subject + what you tried</a:t>
            </a:r>
            <a:endParaRPr lang="en-US" sz="1050" noProof="1"/>
          </a:p>
          <a:p>
            <a:pPr algn="l" marL="0">
              <a:lnSpc>
                <a:spcPct val="112000"/>
              </a:lnSpc>
            </a:pPr>
            <a:r>
              <a:rPr lang="en-US" sz="1050" noProof="1">
                <a:solidFill>
                  <a:srgbClr val="F4F6FB"/>
                </a:solidFill>
                <a:latin typeface="Courier New"/>
                <a:ea typeface="Courier New"/>
              </a:rPr>
              <a:t>       + what you want back</a:t>
            </a:r>
            <a:endParaRPr lang="en-US" sz="1050" noProof="1"/>
          </a:p>
        </p:txBody>
      </p:sp>
      <p:sp>
        <p:nvSpPr>
          <p:cNvPr id="12" name="Text 10"/>
          <p:cNvSpPr txBox="1"/>
          <p:nvPr/>
        </p:nvSpPr>
        <p:spPr>
          <a:xfrm>
            <a:off x="548640" y="60452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35D399"/>
                </a:solidFill>
                <a:latin typeface="Calibri"/>
                <a:ea typeface="Calibri"/>
              </a:rPr>
              <a:t>Please and thank you cost you nothing, and buy you nothing.</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07</a:t>
            </a:r>
            <a:endParaRPr lang="en-US" sz="1000" noProof="1"/>
          </a:p>
        </p:txBody>
      </p:sp>
    </p:spTree>
  </p:cSld>
  <p:clrMapOvr>
    <a:masterClrMapping/>
  </p:clrMapOvr>
  <p:transition spd="fast" advClick="1">
    <p:fade/>
  </p:transition>
</p:sld>
</file>

<file path=ppt/slides/slide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35D399"/>
                </a:solidFill>
                <a:latin typeface="Calibri"/>
                <a:ea typeface="Calibri"/>
              </a:rPr>
              <a:t>THEORY  05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Tools: how it acts</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On its own it only writes. A tool is what lets it actually do something.</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WHAT IT IS</a:t>
            </a:r>
            <a:endParaRPr lang="en-US" sz="950" noProof="1"/>
          </a:p>
        </p:txBody>
      </p:sp>
      <p:sp>
        <p:nvSpPr>
          <p:cNvPr id="7" name="Text 5"/>
          <p:cNvSpPr txBox="1"/>
          <p:nvPr/>
        </p:nvSpPr>
        <p:spPr>
          <a:xfrm>
            <a:off x="859790" y="2697480"/>
            <a:ext cx="4955540" cy="15240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A plain chat model produces text and stops. An agent adds a loop: the model asks for an action, the surrounding program really performs it, and the result is fed back into the context. The model then works from real output from your machine instead of its own guesses.</a:t>
            </a:r>
            <a:endParaRPr lang="en-US" sz="1200" noProof="1"/>
          </a:p>
        </p:txBody>
      </p:sp>
      <p:sp>
        <p:nvSpPr>
          <p:cNvPr id="8" name="Text 6"/>
          <p:cNvSpPr txBox="1"/>
          <p:nvPr/>
        </p:nvSpPr>
        <p:spPr>
          <a:xfrm>
            <a:off x="859790" y="44196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WHY IT MATTERS HERE</a:t>
            </a:r>
            <a:endParaRPr lang="en-US" sz="950" noProof="1"/>
          </a:p>
        </p:txBody>
      </p:sp>
      <p:sp>
        <p:nvSpPr>
          <p:cNvPr id="9" name="Text 7"/>
          <p:cNvSpPr txBox="1"/>
          <p:nvPr/>
        </p:nvSpPr>
        <p:spPr>
          <a:xfrm>
            <a:off x="859790" y="4699000"/>
            <a:ext cx="4955540" cy="10668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That's why the agent connects to a challenge box, and why step 4 of this track verifies a real connection instead of accepting a description of one.</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the agent loop</a:t>
            </a:r>
            <a:endParaRPr lang="en-US" sz="1050" noProof="1"/>
          </a:p>
          <a:p>
            <a:pPr algn="l" marL="0">
              <a:lnSpc>
                <a:spcPct val="112000"/>
              </a:lnSpc>
            </a:pPr>
            <a:r>
              <a:rPr lang="en-US" sz="1050" noProof="1">
                <a:solidFill>
                  <a:srgbClr val="F4F6FB"/>
                </a:solidFill>
                <a:latin typeface="Courier New"/>
                <a:ea typeface="Courier New"/>
              </a:rPr>
              <a:t>you ask</a:t>
            </a:r>
            <a:endParaRPr lang="en-US" sz="1050" noProof="1"/>
          </a:p>
          <a:p>
            <a:pPr algn="l" marL="0">
              <a:lnSpc>
                <a:spcPct val="112000"/>
              </a:lnSpc>
            </a:pPr>
            <a:r>
              <a:rPr lang="en-US" sz="1050" noProof="1">
                <a:solidFill>
                  <a:srgbClr val="F4F6FB"/>
                </a:solidFill>
                <a:latin typeface="Courier New"/>
                <a:ea typeface="Courier New"/>
              </a:rPr>
              <a:t>  -&gt; model decides on an action</a:t>
            </a:r>
            <a:endParaRPr lang="en-US" sz="1050" noProof="1"/>
          </a:p>
          <a:p>
            <a:pPr algn="l" marL="0">
              <a:lnSpc>
                <a:spcPct val="112000"/>
              </a:lnSpc>
            </a:pPr>
            <a:r>
              <a:rPr lang="en-US" sz="1050" noProof="1">
                <a:solidFill>
                  <a:srgbClr val="F4F6FB"/>
                </a:solidFill>
                <a:latin typeface="Courier New"/>
                <a:ea typeface="Courier New"/>
              </a:rPr>
              <a:t>    -&gt; the program really runs it</a:t>
            </a:r>
            <a:endParaRPr lang="en-US" sz="1050" noProof="1"/>
          </a:p>
          <a:p>
            <a:pPr algn="l" marL="0">
              <a:lnSpc>
                <a:spcPct val="112000"/>
              </a:lnSpc>
            </a:pPr>
            <a:r>
              <a:rPr lang="en-US" sz="1050" noProof="1">
                <a:solidFill>
                  <a:srgbClr val="F4F6FB"/>
                </a:solidFill>
                <a:latin typeface="Courier New"/>
                <a:ea typeface="Courier New"/>
              </a:rPr>
              <a:t>      -&gt; the output goes back in</a:t>
            </a:r>
            <a:endParaRPr lang="en-US" sz="1050" noProof="1"/>
          </a:p>
          <a:p>
            <a:pPr algn="l" marL="0">
              <a:lnSpc>
                <a:spcPct val="112000"/>
              </a:lnSpc>
            </a:pPr>
            <a:r>
              <a:rPr lang="en-US" sz="1050" noProof="1">
                <a:solidFill>
                  <a:srgbClr val="F4F6FB"/>
                </a:solidFill>
                <a:latin typeface="Courier New"/>
                <a:ea typeface="Courier New"/>
              </a:rPr>
              <a:t>        -&gt; model reads the output</a:t>
            </a:r>
            <a:endParaRPr lang="en-US" sz="1050" noProof="1"/>
          </a:p>
          <a:p>
            <a:pPr algn="l" marL="0">
              <a:lnSpc>
                <a:spcPct val="112000"/>
              </a:lnSpc>
            </a:pPr>
            <a:r>
              <a:rPr lang="en-US" sz="1050" noProof="1">
                <a:solidFill>
                  <a:srgbClr val="F4F6FB"/>
                </a:solidFill>
                <a:latin typeface="Courier New"/>
                <a:ea typeface="Courier New"/>
              </a:rPr>
              <a:t>          -&gt; model answers you</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the difference this makes</a:t>
            </a:r>
            <a:endParaRPr lang="en-US" sz="1050" noProof="1"/>
          </a:p>
          <a:p>
            <a:pPr algn="l" marL="0">
              <a:lnSpc>
                <a:spcPct val="112000"/>
              </a:lnSpc>
            </a:pPr>
            <a:r>
              <a:rPr lang="en-US" sz="1050" noProof="1">
                <a:solidFill>
                  <a:srgbClr val="F4F6FB"/>
                </a:solidFill>
                <a:latin typeface="Courier New"/>
                <a:ea typeface="Courier New"/>
              </a:rPr>
              <a:t>without tools  it guesses the output</a:t>
            </a:r>
            <a:endParaRPr lang="en-US" sz="1050" noProof="1"/>
          </a:p>
          <a:p>
            <a:pPr algn="l" marL="0">
              <a:lnSpc>
                <a:spcPct val="112000"/>
              </a:lnSpc>
            </a:pPr>
            <a:r>
              <a:rPr lang="en-US" sz="1050" noProof="1">
                <a:solidFill>
                  <a:srgbClr val="F4F6FB"/>
                </a:solidFill>
                <a:latin typeface="Courier New"/>
                <a:ea typeface="Courier New"/>
              </a:rPr>
              <a:t>with tools     it reads the output</a:t>
            </a:r>
            <a:endParaRPr lang="en-US" sz="1050" noProof="1"/>
          </a:p>
        </p:txBody>
      </p:sp>
      <p:sp>
        <p:nvSpPr>
          <p:cNvPr id="12" name="Text 10"/>
          <p:cNvSpPr txBox="1"/>
          <p:nvPr/>
        </p:nvSpPr>
        <p:spPr>
          <a:xfrm>
            <a:off x="548640" y="60452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35D399"/>
                </a:solidFill>
                <a:latin typeface="Calibri"/>
                <a:ea typeface="Calibri"/>
              </a:rPr>
              <a:t>Reading real output beats predicting plausible output.</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08</a:t>
            </a:r>
            <a:endParaRPr lang="en-US" sz="1000" noProof="1"/>
          </a:p>
        </p:txBody>
      </p:sp>
    </p:spTree>
  </p:cSld>
  <p:clrMapOvr>
    <a:masterClrMapping/>
  </p:clrMapOvr>
  <p:transition spd="fast" advClick="1">
    <p:fade/>
  </p:transition>
</p:sld>
</file>

<file path=ppt/slides/slide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35D399"/>
                </a:solidFill>
                <a:latin typeface="Calibri"/>
                <a:ea typeface="Calibri"/>
              </a:rPr>
              <a:t>THEORY  06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Being wrong convincingly</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A confident answer and a correct answer look exactly the same.</a:t>
            </a:r>
            <a:endParaRPr lang="en-US" sz="1400" noProof="1"/>
          </a:p>
        </p:txBody>
      </p:sp>
      <p:sp>
        <p:nvSpPr>
          <p:cNvPr id="5" name="Shape 3"/>
          <p:cNvSpPr/>
          <p:nvPr/>
        </p:nvSpPr>
        <p:spPr>
          <a:xfrm>
            <a:off x="548640" y="2148840"/>
            <a:ext cx="5577840" cy="3683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WHAT IT IS</a:t>
            </a:r>
            <a:endParaRPr lang="en-US" sz="950" noProof="1"/>
          </a:p>
        </p:txBody>
      </p:sp>
      <p:sp>
        <p:nvSpPr>
          <p:cNvPr id="7" name="Text 5"/>
          <p:cNvSpPr txBox="1"/>
          <p:nvPr/>
        </p:nvSpPr>
        <p:spPr>
          <a:xfrm>
            <a:off x="859790" y="2697480"/>
            <a:ext cx="4955540" cy="15240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When the likely continuation is not the true one, the model gives you the likely one anyway — in the same tone and at the same fluency, sometimes with invented specifics. There is no internal signal separating the two cases, so there is no warning.</a:t>
            </a:r>
            <a:endParaRPr lang="en-US" sz="1200" noProof="1"/>
          </a:p>
        </p:txBody>
      </p:sp>
      <p:sp>
        <p:nvSpPr>
          <p:cNvPr id="8" name="Text 6"/>
          <p:cNvSpPr txBox="1"/>
          <p:nvPr/>
        </p:nvSpPr>
        <p:spPr>
          <a:xfrm>
            <a:off x="859790" y="44196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WHY IT MATTERS HERE</a:t>
            </a:r>
            <a:endParaRPr lang="en-US" sz="950" noProof="1"/>
          </a:p>
        </p:txBody>
      </p:sp>
      <p:sp>
        <p:nvSpPr>
          <p:cNvPr id="9" name="Text 7"/>
          <p:cNvSpPr txBox="1"/>
          <p:nvPr/>
        </p:nvSpPr>
        <p:spPr>
          <a:xfrm>
            <a:off x="859790" y="4699000"/>
            <a:ext cx="4955540" cy="10668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Here that costs you twice: an invented command wastes your time, and an invented flag wastes a submission. It's why every step in this track is verified on your real machine rather than taken on trust.</a:t>
            </a:r>
            <a:endParaRPr lang="en-US" sz="1200" noProof="1"/>
          </a:p>
        </p:txBody>
      </p:sp>
      <p:sp>
        <p:nvSpPr>
          <p:cNvPr id="10" name="Shape 8"/>
          <p:cNvSpPr/>
          <p:nvPr/>
        </p:nvSpPr>
        <p:spPr>
          <a:xfrm>
            <a:off x="6383020" y="2148840"/>
            <a:ext cx="5260340" cy="3683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worth checking before you trust it</a:t>
            </a:r>
            <a:endParaRPr lang="en-US" sz="1050" noProof="1"/>
          </a:p>
          <a:p>
            <a:pPr algn="l" marL="0">
              <a:lnSpc>
                <a:spcPct val="112000"/>
              </a:lnSpc>
            </a:pPr>
            <a:r>
              <a:rPr lang="en-US" sz="1050" noProof="1">
                <a:solidFill>
                  <a:srgbClr val="F4F6FB"/>
                </a:solidFill>
                <a:latin typeface="Courier New"/>
                <a:ea typeface="Courier New"/>
              </a:rPr>
              <a:t>- does that command actually exist?</a:t>
            </a:r>
            <a:endParaRPr lang="en-US" sz="1050" noProof="1"/>
          </a:p>
          <a:p>
            <a:pPr algn="l" marL="0">
              <a:lnSpc>
                <a:spcPct val="112000"/>
              </a:lnSpc>
            </a:pPr>
            <a:r>
              <a:rPr lang="en-US" sz="1050" noProof="1">
                <a:solidFill>
                  <a:srgbClr val="F4F6FB"/>
                </a:solidFill>
                <a:latin typeface="Courier New"/>
                <a:ea typeface="Courier New"/>
              </a:rPr>
              <a:t>- did it really print that, or is it</a:t>
            </a:r>
            <a:endParaRPr lang="en-US" sz="1050" noProof="1"/>
          </a:p>
          <a:p>
            <a:pPr algn="l" marL="0">
              <a:lnSpc>
                <a:spcPct val="112000"/>
              </a:lnSpc>
            </a:pPr>
            <a:r>
              <a:rPr lang="en-US" sz="1050" noProof="1">
                <a:solidFill>
                  <a:srgbClr val="F4F6FB"/>
                </a:solidFill>
                <a:latin typeface="Courier New"/>
                <a:ea typeface="Courier New"/>
              </a:rPr>
              <a:t>  describing what it expects to see?</a:t>
            </a:r>
            <a:endParaRPr lang="en-US" sz="1050" noProof="1"/>
          </a:p>
          <a:p>
            <a:pPr algn="l" marL="0">
              <a:lnSpc>
                <a:spcPct val="112000"/>
              </a:lnSpc>
            </a:pPr>
            <a:r>
              <a:rPr lang="en-US" sz="1050" noProof="1">
                <a:solidFill>
                  <a:srgbClr val="F4F6FB"/>
                </a:solidFill>
                <a:latin typeface="Courier New"/>
                <a:ea typeface="Courier New"/>
              </a:rPr>
              <a:t>- is that a path you have seen before?</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what the verify tool does instead</a:t>
            </a:r>
            <a:endParaRPr lang="en-US" sz="1050" noProof="1"/>
          </a:p>
          <a:p>
            <a:pPr algn="l" marL="0">
              <a:lnSpc>
                <a:spcPct val="112000"/>
              </a:lnSpc>
            </a:pPr>
            <a:r>
              <a:rPr lang="en-US" sz="1050" noProof="1">
                <a:solidFill>
                  <a:srgbClr val="F4F6FB"/>
                </a:solidFill>
                <a:latin typeface="Courier New"/>
                <a:ea typeface="Courier New"/>
              </a:rPr>
              <a:t>ctf-agent-verify</a:t>
            </a:r>
            <a:endParaRPr lang="en-US" sz="1050" noProof="1"/>
          </a:p>
          <a:p>
            <a:pPr algn="l" marL="0">
              <a:lnSpc>
                <a:spcPct val="112000"/>
              </a:lnSpc>
            </a:pPr>
            <a:r>
              <a:rPr lang="en-US" sz="1050" noProof="1">
                <a:solidFill>
                  <a:srgbClr val="F4F6FB"/>
                </a:solidFill>
                <a:latin typeface="Courier New"/>
                <a:ea typeface="Courier New"/>
              </a:rPr>
              <a:t>  -&gt; performs the real step</a:t>
            </a:r>
            <a:endParaRPr lang="en-US" sz="1050" noProof="1"/>
          </a:p>
          <a:p>
            <a:pPr algn="l" marL="0">
              <a:lnSpc>
                <a:spcPct val="112000"/>
              </a:lnSpc>
            </a:pPr>
            <a:r>
              <a:rPr lang="en-US" sz="1050" noProof="1">
                <a:solidFill>
                  <a:srgbClr val="F4F6FB"/>
                </a:solidFill>
                <a:latin typeface="Courier New"/>
                <a:ea typeface="Courier New"/>
              </a:rPr>
              <a:t>  -&gt; prints the flag ONLY if the step</a:t>
            </a:r>
            <a:endParaRPr lang="en-US" sz="1050" noProof="1"/>
          </a:p>
          <a:p>
            <a:pPr algn="l" marL="0">
              <a:lnSpc>
                <a:spcPct val="112000"/>
              </a:lnSpc>
            </a:pPr>
            <a:r>
              <a:rPr lang="en-US" sz="1050" noProof="1">
                <a:solidFill>
                  <a:srgbClr val="F4F6FB"/>
                </a:solidFill>
                <a:latin typeface="Courier New"/>
                <a:ea typeface="Courier New"/>
              </a:rPr>
              <a:t>     genuinely passed on your machine</a:t>
            </a:r>
            <a:endParaRPr lang="en-US" sz="1050" noProof="1"/>
          </a:p>
          <a:p>
            <a:pPr algn="l" marL="0">
              <a:lnSpc>
                <a:spcPct val="112000"/>
              </a:lnSpc>
            </a:pPr>
            <a:r>
              <a:rPr lang="en-US" sz="1050" noProof="1" i="1">
                <a:solidFill>
                  <a:srgbClr val="8FA3C8"/>
                </a:solidFill>
                <a:latin typeface="Courier New"/>
                <a:ea typeface="Courier New"/>
              </a:rPr>
              <a:t>never a claim. always a check.</a:t>
            </a:r>
            <a:endParaRPr lang="en-US" sz="1050" noProof="1"/>
          </a:p>
        </p:txBody>
      </p:sp>
      <p:sp>
        <p:nvSpPr>
          <p:cNvPr id="12" name="Text 10"/>
          <p:cNvSpPr txBox="1"/>
          <p:nvPr/>
        </p:nvSpPr>
        <p:spPr>
          <a:xfrm>
            <a:off x="548640" y="60452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35D399"/>
                </a:solidFill>
                <a:latin typeface="Calibri"/>
                <a:ea typeface="Calibri"/>
              </a:rPr>
              <a:t>Use it as a fast colleague who is sometimes wrong, never as an oracle.</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09</a:t>
            </a:r>
            <a:endParaRPr lang="en-US" sz="1000" noProof="1"/>
          </a:p>
        </p:txBody>
      </p:sp>
    </p:spTree>
  </p:cSld>
  <p:clrMapOvr>
    <a:masterClrMapping/>
  </p:clrMapOvr>
  <p:transition spd="fast" advClick="1">
    <p:fade/>
  </p:transition>
</p:sld>
</file>

<file path=ppt/slides/slide1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pic>
        <p:nvPicPr>
          <p:cNvPr id="2" name="Image 0"/>
          <p:cNvPicPr/>
          <p:nvPr/>
        </p:nvPicPr>
        <p:blipFill>
          <a:blip r:embed="rId2">
            <a:alphaModFix amt="28000"/>
          </a:blip>
          <a:stretch>
            <a:fillRect/>
          </a:stretch>
        </p:blipFill>
        <p:spPr>
          <a:xfrm>
            <a:off x="8549640" y="109220"/>
            <a:ext cx="3291840" cy="1902460"/>
          </a:xfrm>
          <a:prstGeom prst="rect">
            <a:avLst/>
          </a:prstGeom>
          <a:ln>
            <a:noFill/>
          </a:ln>
        </p:spPr>
      </p:pic>
      <p:sp>
        <p:nvSpPr>
          <p:cNvPr id="3"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35D399"/>
                </a:solidFill>
                <a:latin typeface="Calibri"/>
                <a:ea typeface="Calibri"/>
              </a:rPr>
              <a:t>GETTING IN</a:t>
            </a:r>
            <a:endParaRPr lang="en-US" sz="1100" noProof="1"/>
          </a:p>
        </p:txBody>
      </p:sp>
      <p:sp>
        <p:nvSpPr>
          <p:cNvPr id="4"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One command installs everything</a:t>
            </a:r>
            <a:endParaRPr lang="en-US" sz="3200" noProof="1"/>
          </a:p>
        </p:txBody>
      </p:sp>
      <p:sp>
        <p:nvSpPr>
          <p:cNvPr id="5"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The bootstrap script installs Ollama, the agent and its dependencies, then opens the app in your browser.</a:t>
            </a:r>
            <a:endParaRPr lang="en-US" sz="1400" noProof="1"/>
          </a:p>
        </p:txBody>
      </p:sp>
      <p:sp>
        <p:nvSpPr>
          <p:cNvPr id="6" name="Shape 3"/>
          <p:cNvSpPr/>
          <p:nvPr/>
        </p:nvSpPr>
        <p:spPr>
          <a:xfrm>
            <a:off x="548640" y="2148840"/>
            <a:ext cx="5577840" cy="3126740"/>
          </a:xfrm>
          <a:prstGeom prst="roundRect">
            <a:avLst>
              <a:gd name="adj" fmla="val 2632"/>
            </a:avLst>
          </a:prstGeom>
          <a:solidFill>
            <a:srgbClr val="141F30"/>
          </a:solidFill>
          <a:ln>
            <a:noFill/>
          </a:ln>
        </p:spPr>
      </p:sp>
      <p:sp>
        <p:nvSpPr>
          <p:cNvPr id="7" name="Text 4"/>
          <p:cNvSpPr txBox="1"/>
          <p:nvPr/>
        </p:nvSpPr>
        <p:spPr>
          <a:xfrm>
            <a:off x="859790" y="240538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STEP BY STEP</a:t>
            </a:r>
            <a:endParaRPr lang="en-US" sz="950" noProof="1"/>
          </a:p>
        </p:txBody>
      </p:sp>
      <p:sp>
        <p:nvSpPr>
          <p:cNvPr id="8" name="Text 5"/>
          <p:cNvSpPr txBox="1"/>
          <p:nvPr/>
        </p:nvSpPr>
        <p:spPr>
          <a:xfrm>
            <a:off x="859790" y="277114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35D399"/>
                </a:solidFill>
                <a:latin typeface="Cambria"/>
                <a:ea typeface="Cambria"/>
              </a:rPr>
              <a:t>1</a:t>
            </a:r>
            <a:endParaRPr lang="en-US" sz="1600" noProof="1"/>
          </a:p>
        </p:txBody>
      </p:sp>
      <p:sp>
        <p:nvSpPr>
          <p:cNvPr id="9" name="Text 6"/>
          <p:cNvSpPr txBox="1"/>
          <p:nvPr/>
        </p:nvSpPr>
        <p:spPr>
          <a:xfrm>
            <a:off x="1280160" y="280670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Download the script</a:t>
            </a:r>
            <a:endParaRPr lang="en-US" sz="1250" noProof="1"/>
          </a:p>
        </p:txBody>
      </p:sp>
      <p:sp>
        <p:nvSpPr>
          <p:cNvPr id="10" name="Text 7"/>
          <p:cNvSpPr txBox="1"/>
          <p:nvPr/>
        </p:nvSpPr>
        <p:spPr>
          <a:xfrm>
            <a:off x="1280160" y="304546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bootstrap.sh for macOS and Linux, bootstrap.ps1 for Windows.</a:t>
            </a:r>
            <a:endParaRPr lang="en-US" sz="1100" noProof="1"/>
          </a:p>
        </p:txBody>
      </p:sp>
      <p:sp>
        <p:nvSpPr>
          <p:cNvPr id="11" name="Text 8"/>
          <p:cNvSpPr txBox="1"/>
          <p:nvPr/>
        </p:nvSpPr>
        <p:spPr>
          <a:xfrm>
            <a:off x="859790" y="339217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35D399"/>
                </a:solidFill>
                <a:latin typeface="Cambria"/>
                <a:ea typeface="Cambria"/>
              </a:rPr>
              <a:t>2</a:t>
            </a:r>
            <a:endParaRPr lang="en-US" sz="1600" noProof="1"/>
          </a:p>
        </p:txBody>
      </p:sp>
      <p:sp>
        <p:nvSpPr>
          <p:cNvPr id="12" name="Text 9"/>
          <p:cNvSpPr txBox="1"/>
          <p:nvPr/>
        </p:nvSpPr>
        <p:spPr>
          <a:xfrm>
            <a:off x="1280160" y="342900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Run it</a:t>
            </a:r>
            <a:endParaRPr lang="en-US" sz="1250" noProof="1"/>
          </a:p>
        </p:txBody>
      </p:sp>
      <p:sp>
        <p:nvSpPr>
          <p:cNvPr id="13" name="Text 10"/>
          <p:cNvSpPr txBox="1"/>
          <p:nvPr/>
        </p:nvSpPr>
        <p:spPr>
          <a:xfrm>
            <a:off x="1280160" y="366649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One line in Terminal or PowerShell. First run pulls a model.</a:t>
            </a:r>
            <a:endParaRPr lang="en-US" sz="1100" noProof="1"/>
          </a:p>
        </p:txBody>
      </p:sp>
      <p:sp>
        <p:nvSpPr>
          <p:cNvPr id="14" name="Text 11"/>
          <p:cNvSpPr txBox="1"/>
          <p:nvPr/>
        </p:nvSpPr>
        <p:spPr>
          <a:xfrm>
            <a:off x="859790" y="401447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35D399"/>
                </a:solidFill>
                <a:latin typeface="Cambria"/>
                <a:ea typeface="Cambria"/>
              </a:rPr>
              <a:t>3</a:t>
            </a:r>
            <a:endParaRPr lang="en-US" sz="1600" noProof="1"/>
          </a:p>
        </p:txBody>
      </p:sp>
      <p:sp>
        <p:nvSpPr>
          <p:cNvPr id="15" name="Text 12"/>
          <p:cNvSpPr txBox="1"/>
          <p:nvPr/>
        </p:nvSpPr>
        <p:spPr>
          <a:xfrm>
            <a:off x="1280160" y="405130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The app opens</a:t>
            </a:r>
            <a:endParaRPr lang="en-US" sz="1250" noProof="1"/>
          </a:p>
        </p:txBody>
      </p:sp>
      <p:sp>
        <p:nvSpPr>
          <p:cNvPr id="16" name="Text 13"/>
          <p:cNvSpPr txBox="1"/>
          <p:nvPr/>
        </p:nvSpPr>
        <p:spPr>
          <a:xfrm>
            <a:off x="1280160" y="428879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A chat window in your browser, with a model and box picker.</a:t>
            </a:r>
            <a:endParaRPr lang="en-US" sz="1100" noProof="1"/>
          </a:p>
        </p:txBody>
      </p:sp>
      <p:sp>
        <p:nvSpPr>
          <p:cNvPr id="17" name="Text 14"/>
          <p:cNvSpPr txBox="1"/>
          <p:nvPr/>
        </p:nvSpPr>
        <p:spPr>
          <a:xfrm>
            <a:off x="859790" y="463550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35D399"/>
                </a:solidFill>
                <a:latin typeface="Cambria"/>
                <a:ea typeface="Cambria"/>
              </a:rPr>
              <a:t>4</a:t>
            </a:r>
            <a:endParaRPr lang="en-US" sz="1600" noProof="1"/>
          </a:p>
        </p:txBody>
      </p:sp>
      <p:sp>
        <p:nvSpPr>
          <p:cNvPr id="18" name="Text 15"/>
          <p:cNvSpPr txBox="1"/>
          <p:nvPr/>
        </p:nvSpPr>
        <p:spPr>
          <a:xfrm>
            <a:off x="1280160" y="467233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Verify</a:t>
            </a:r>
            <a:endParaRPr lang="en-US" sz="1250" noProof="1"/>
          </a:p>
        </p:txBody>
      </p:sp>
      <p:sp>
        <p:nvSpPr>
          <p:cNvPr id="19" name="Text 16"/>
          <p:cNvSpPr txBox="1"/>
          <p:nvPr/>
        </p:nvSpPr>
        <p:spPr>
          <a:xfrm>
            <a:off x="1280160" y="490982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Run ctf-agent-verify. It reports the milestones you passed.</a:t>
            </a:r>
            <a:endParaRPr lang="en-US" sz="1100" noProof="1"/>
          </a:p>
        </p:txBody>
      </p:sp>
      <p:sp>
        <p:nvSpPr>
          <p:cNvPr id="20" name="Shape 17"/>
          <p:cNvSpPr/>
          <p:nvPr/>
        </p:nvSpPr>
        <p:spPr>
          <a:xfrm>
            <a:off x="6383020" y="2148840"/>
            <a:ext cx="5260340" cy="3126740"/>
          </a:xfrm>
          <a:prstGeom prst="roundRect">
            <a:avLst>
              <a:gd name="adj" fmla="val 2632"/>
            </a:avLst>
          </a:prstGeom>
          <a:solidFill>
            <a:srgbClr val="141F30"/>
          </a:solidFill>
          <a:ln>
            <a:noFill/>
          </a:ln>
        </p:spPr>
      </p:sp>
      <p:sp>
        <p:nvSpPr>
          <p:cNvPr id="21" name="Text 18"/>
          <p:cNvSpPr txBox="1"/>
          <p:nvPr/>
        </p:nvSpPr>
        <p:spPr>
          <a:xfrm>
            <a:off x="6657340" y="2405380"/>
            <a:ext cx="471170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35D399"/>
                </a:solidFill>
                <a:latin typeface="Calibri"/>
                <a:ea typeface="Calibri"/>
              </a:rPr>
              <a:t>WHAT THE INSTALLER PUTS DOWN</a:t>
            </a:r>
            <a:endParaRPr lang="en-US" sz="950" noProof="1"/>
          </a:p>
        </p:txBody>
      </p:sp>
      <p:sp>
        <p:nvSpPr>
          <p:cNvPr id="22" name="Shape 19"/>
          <p:cNvSpPr/>
          <p:nvPr/>
        </p:nvSpPr>
        <p:spPr>
          <a:xfrm>
            <a:off x="6657340" y="2843530"/>
            <a:ext cx="402590" cy="402590"/>
          </a:xfrm>
          <a:prstGeom prst="ellipse">
            <a:avLst/>
          </a:prstGeom>
          <a:solidFill>
            <a:srgbClr val="35D399"/>
          </a:solidFill>
          <a:ln>
            <a:noFill/>
          </a:ln>
        </p:spPr>
      </p:sp>
      <p:pic>
        <p:nvPicPr>
          <p:cNvPr id="23" name="Image 1"/>
          <p:cNvPicPr/>
          <p:nvPr/>
        </p:nvPicPr>
        <p:blipFill>
          <a:blip r:embed="rId3"/>
          <a:stretch>
            <a:fillRect/>
          </a:stretch>
        </p:blipFill>
        <p:spPr>
          <a:xfrm>
            <a:off x="6761480" y="2948940"/>
            <a:ext cx="193040" cy="193040"/>
          </a:xfrm>
          <a:prstGeom prst="rect">
            <a:avLst/>
          </a:prstGeom>
          <a:ln>
            <a:noFill/>
          </a:ln>
        </p:spPr>
      </p:pic>
      <p:sp>
        <p:nvSpPr>
          <p:cNvPr id="24" name="Text 20"/>
          <p:cNvSpPr txBox="1"/>
          <p:nvPr/>
        </p:nvSpPr>
        <p:spPr>
          <a:xfrm>
            <a:off x="7223760" y="278892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Ollama</a:t>
            </a:r>
            <a:endParaRPr lang="en-US" sz="1250" noProof="1"/>
          </a:p>
        </p:txBody>
      </p:sp>
      <p:sp>
        <p:nvSpPr>
          <p:cNvPr id="25" name="Text 21"/>
          <p:cNvSpPr txBox="1"/>
          <p:nvPr/>
        </p:nvSpPr>
        <p:spPr>
          <a:xfrm>
            <a:off x="7223760" y="302641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The local runtime that loads and runs the model.</a:t>
            </a:r>
            <a:endParaRPr lang="en-US" sz="1100" noProof="1"/>
          </a:p>
        </p:txBody>
      </p:sp>
      <p:sp>
        <p:nvSpPr>
          <p:cNvPr id="26" name="Shape 22"/>
          <p:cNvSpPr/>
          <p:nvPr/>
        </p:nvSpPr>
        <p:spPr>
          <a:xfrm>
            <a:off x="6657340" y="3465830"/>
            <a:ext cx="402590" cy="402590"/>
          </a:xfrm>
          <a:prstGeom prst="ellipse">
            <a:avLst/>
          </a:prstGeom>
          <a:solidFill>
            <a:srgbClr val="35D399"/>
          </a:solidFill>
          <a:ln>
            <a:noFill/>
          </a:ln>
        </p:spPr>
      </p:sp>
      <p:pic>
        <p:nvPicPr>
          <p:cNvPr id="27" name="Image 2"/>
          <p:cNvPicPr/>
          <p:nvPr/>
        </p:nvPicPr>
        <p:blipFill>
          <a:blip r:embed="rId4"/>
          <a:stretch>
            <a:fillRect/>
          </a:stretch>
        </p:blipFill>
        <p:spPr>
          <a:xfrm>
            <a:off x="6761480" y="3569970"/>
            <a:ext cx="193040" cy="193040"/>
          </a:xfrm>
          <a:prstGeom prst="rect">
            <a:avLst/>
          </a:prstGeom>
          <a:ln>
            <a:noFill/>
          </a:ln>
        </p:spPr>
      </p:pic>
      <p:sp>
        <p:nvSpPr>
          <p:cNvPr id="28" name="Text 23"/>
          <p:cNvSpPr txBox="1"/>
          <p:nvPr/>
        </p:nvSpPr>
        <p:spPr>
          <a:xfrm>
            <a:off x="7223760" y="341122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A model</a:t>
            </a:r>
            <a:endParaRPr lang="en-US" sz="1250" noProof="1"/>
          </a:p>
        </p:txBody>
      </p:sp>
      <p:sp>
        <p:nvSpPr>
          <p:cNvPr id="29" name="Text 24"/>
          <p:cNvSpPr txBox="1"/>
          <p:nvPr/>
        </p:nvSpPr>
        <p:spPr>
          <a:xfrm>
            <a:off x="7223760" y="364871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Chosen to fit your laptop's memory. Downloaded once.</a:t>
            </a:r>
            <a:endParaRPr lang="en-US" sz="1100" noProof="1"/>
          </a:p>
        </p:txBody>
      </p:sp>
      <p:sp>
        <p:nvSpPr>
          <p:cNvPr id="30" name="Shape 25"/>
          <p:cNvSpPr/>
          <p:nvPr/>
        </p:nvSpPr>
        <p:spPr>
          <a:xfrm>
            <a:off x="6657340" y="4086860"/>
            <a:ext cx="402590" cy="402590"/>
          </a:xfrm>
          <a:prstGeom prst="ellipse">
            <a:avLst/>
          </a:prstGeom>
          <a:solidFill>
            <a:srgbClr val="35D399"/>
          </a:solidFill>
          <a:ln>
            <a:noFill/>
          </a:ln>
        </p:spPr>
      </p:sp>
      <p:pic>
        <p:nvPicPr>
          <p:cNvPr id="31" name="Image 3"/>
          <p:cNvPicPr/>
          <p:nvPr/>
        </p:nvPicPr>
        <p:blipFill>
          <a:blip r:embed="rId5"/>
          <a:stretch>
            <a:fillRect/>
          </a:stretch>
        </p:blipFill>
        <p:spPr>
          <a:xfrm>
            <a:off x="6761480" y="4192270"/>
            <a:ext cx="193040" cy="193040"/>
          </a:xfrm>
          <a:prstGeom prst="rect">
            <a:avLst/>
          </a:prstGeom>
          <a:ln>
            <a:noFill/>
          </a:ln>
        </p:spPr>
      </p:pic>
      <p:sp>
        <p:nvSpPr>
          <p:cNvPr id="32" name="Text 26"/>
          <p:cNvSpPr txBox="1"/>
          <p:nvPr/>
        </p:nvSpPr>
        <p:spPr>
          <a:xfrm>
            <a:off x="7223760" y="403225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ctf-agent</a:t>
            </a:r>
            <a:endParaRPr lang="en-US" sz="1250" noProof="1"/>
          </a:p>
        </p:txBody>
      </p:sp>
      <p:sp>
        <p:nvSpPr>
          <p:cNvPr id="33" name="Text 27"/>
          <p:cNvSpPr txBox="1"/>
          <p:nvPr/>
        </p:nvSpPr>
        <p:spPr>
          <a:xfrm>
            <a:off x="7223760" y="426974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The app itself — a chat window in your browser.</a:t>
            </a:r>
            <a:endParaRPr lang="en-US" sz="1100" noProof="1"/>
          </a:p>
        </p:txBody>
      </p:sp>
      <p:sp>
        <p:nvSpPr>
          <p:cNvPr id="34" name="Shape 28"/>
          <p:cNvSpPr/>
          <p:nvPr/>
        </p:nvSpPr>
        <p:spPr>
          <a:xfrm>
            <a:off x="6657340" y="4709160"/>
            <a:ext cx="402590" cy="402590"/>
          </a:xfrm>
          <a:prstGeom prst="ellipse">
            <a:avLst/>
          </a:prstGeom>
          <a:solidFill>
            <a:srgbClr val="35D399"/>
          </a:solidFill>
          <a:ln>
            <a:noFill/>
          </a:ln>
        </p:spPr>
      </p:sp>
      <p:pic>
        <p:nvPicPr>
          <p:cNvPr id="35" name="Image 4"/>
          <p:cNvPicPr/>
          <p:nvPr/>
        </p:nvPicPr>
        <p:blipFill>
          <a:blip r:embed="rId6"/>
          <a:stretch>
            <a:fillRect/>
          </a:stretch>
        </p:blipFill>
        <p:spPr>
          <a:xfrm>
            <a:off x="6761480" y="4813300"/>
            <a:ext cx="193040" cy="193040"/>
          </a:xfrm>
          <a:prstGeom prst="rect">
            <a:avLst/>
          </a:prstGeom>
          <a:ln>
            <a:noFill/>
          </a:ln>
        </p:spPr>
      </p:pic>
      <p:sp>
        <p:nvSpPr>
          <p:cNvPr id="36" name="Text 29"/>
          <p:cNvSpPr txBox="1"/>
          <p:nvPr/>
        </p:nvSpPr>
        <p:spPr>
          <a:xfrm>
            <a:off x="7223760" y="465455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ctf-agent-verify</a:t>
            </a:r>
            <a:endParaRPr lang="en-US" sz="1250" noProof="1"/>
          </a:p>
        </p:txBody>
      </p:sp>
      <p:sp>
        <p:nvSpPr>
          <p:cNvPr id="37" name="Text 30"/>
          <p:cNvSpPr txBox="1"/>
          <p:nvPr/>
        </p:nvSpPr>
        <p:spPr>
          <a:xfrm>
            <a:off x="7223760" y="489204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Checks each milestone and prints its flag when it truly passes.</a:t>
            </a:r>
            <a:endParaRPr lang="en-US" sz="1100" noProof="1"/>
          </a:p>
        </p:txBody>
      </p:sp>
      <p:sp>
        <p:nvSpPr>
          <p:cNvPr id="38" name="Text 31"/>
          <p:cNvSpPr txBox="1"/>
          <p:nvPr/>
        </p:nvSpPr>
        <p:spPr>
          <a:xfrm>
            <a:off x="548640" y="553212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35D399"/>
                </a:solidFill>
                <a:latin typeface="Calibri"/>
                <a:ea typeface="Calibri"/>
              </a:rPr>
              <a:t>Venue Wi-Fi unreliable? An offline copy of the whole project site is attached to Start Here.</a:t>
            </a:r>
            <a:endParaRPr lang="en-US" sz="1250" noProof="1"/>
          </a:p>
        </p:txBody>
      </p:sp>
      <p:sp>
        <p:nvSpPr>
          <p:cNvPr id="39" name="Text 32"/>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40" name="Text 33"/>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10</a:t>
            </a:r>
            <a:endParaRPr lang="en-US" sz="1000" noProof="1"/>
          </a:p>
        </p:txBody>
      </p:sp>
    </p:spTree>
  </p:cSld>
  <p:clrMapOvr>
    <a:masterClrMapping/>
  </p:clrMapOvr>
  <p:transition spd="fast" advClick="1">
    <p:fade/>
  </p:transition>
</p:sld>
</file>

<file path=ppt/slides/slide1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pic>
        <p:nvPicPr>
          <p:cNvPr id="2" name="Image 0"/>
          <p:cNvPicPr/>
          <p:nvPr/>
        </p:nvPicPr>
        <p:blipFill>
          <a:blip r:embed="rId2">
            <a:alphaModFix amt="28000"/>
          </a:blip>
          <a:stretch>
            <a:fillRect/>
          </a:stretch>
        </p:blipFill>
        <p:spPr>
          <a:xfrm>
            <a:off x="8549640" y="109220"/>
            <a:ext cx="3291840" cy="1902460"/>
          </a:xfrm>
          <a:prstGeom prst="rect">
            <a:avLst/>
          </a:prstGeom>
          <a:ln>
            <a:noFill/>
          </a:ln>
        </p:spPr>
      </p:pic>
      <p:sp>
        <p:nvSpPr>
          <p:cNvPr id="3"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35D399"/>
                </a:solidFill>
                <a:latin typeface="Calibri"/>
                <a:ea typeface="Calibri"/>
              </a:rPr>
              <a:t>YOUR FIRST FLAG</a:t>
            </a:r>
            <a:endParaRPr lang="en-US" sz="1100" noProof="1"/>
          </a:p>
        </p:txBody>
      </p:sp>
      <p:sp>
        <p:nvSpPr>
          <p:cNvPr id="4"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Start Here, step by step</a:t>
            </a:r>
            <a:endParaRPr lang="en-US" sz="3200" noProof="1"/>
          </a:p>
        </p:txBody>
      </p:sp>
      <p:sp>
        <p:nvSpPr>
          <p:cNvPr id="5"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This one has no command to run. It exists so nobody can claim they didn't know the rule.</a:t>
            </a:r>
            <a:endParaRPr lang="en-US" sz="1400" noProof="1"/>
          </a:p>
        </p:txBody>
      </p:sp>
      <p:sp>
        <p:nvSpPr>
          <p:cNvPr id="6" name="Shape 3"/>
          <p:cNvSpPr/>
          <p:nvPr/>
        </p:nvSpPr>
        <p:spPr>
          <a:xfrm>
            <a:off x="548640" y="2194560"/>
            <a:ext cx="2430780" cy="2788920"/>
          </a:xfrm>
          <a:prstGeom prst="roundRect">
            <a:avLst>
              <a:gd name="adj" fmla="val 3386"/>
            </a:avLst>
          </a:prstGeom>
          <a:solidFill>
            <a:srgbClr val="141F30"/>
          </a:solidFill>
          <a:ln>
            <a:noFill/>
          </a:ln>
        </p:spPr>
      </p:sp>
      <p:sp>
        <p:nvSpPr>
          <p:cNvPr id="7" name="Text 4"/>
          <p:cNvSpPr txBox="1"/>
          <p:nvPr/>
        </p:nvSpPr>
        <p:spPr>
          <a:xfrm>
            <a:off x="84074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35D399"/>
                </a:solidFill>
                <a:latin typeface="Cambria"/>
                <a:ea typeface="Cambria"/>
              </a:rPr>
              <a:t>1</a:t>
            </a:r>
            <a:endParaRPr lang="en-US" sz="2600" noProof="1"/>
          </a:p>
        </p:txBody>
      </p:sp>
      <p:sp>
        <p:nvSpPr>
          <p:cNvPr id="8" name="Text 5"/>
          <p:cNvSpPr txBox="1"/>
          <p:nvPr/>
        </p:nvSpPr>
        <p:spPr>
          <a:xfrm>
            <a:off x="84074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Open Start Here</a:t>
            </a:r>
            <a:endParaRPr lang="en-US" sz="1500" noProof="1"/>
          </a:p>
        </p:txBody>
      </p:sp>
      <p:sp>
        <p:nvSpPr>
          <p:cNvPr id="9" name="Text 6"/>
          <p:cNvSpPr txBox="1"/>
          <p:nvPr/>
        </p:nvSpPr>
        <p:spPr>
          <a:xfrm>
            <a:off x="84074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"AI Copilot Setup: Start Here" in CTFd.</a:t>
            </a:r>
            <a:endParaRPr lang="en-US" sz="1200" noProof="1"/>
          </a:p>
        </p:txBody>
      </p:sp>
      <p:sp>
        <p:nvSpPr>
          <p:cNvPr id="10" name="Text 7"/>
          <p:cNvSpPr txBox="1"/>
          <p:nvPr/>
        </p:nvSpPr>
        <p:spPr>
          <a:xfrm>
            <a:off x="2979420" y="3388360"/>
            <a:ext cx="457200" cy="402590"/>
          </a:xfrm>
          <a:prstGeom prst="rect">
            <a:avLst/>
          </a:prstGeom>
          <a:noFill/>
          <a:ln>
            <a:noFill/>
          </a:ln>
        </p:spPr>
        <p:txBody>
          <a:bodyPr lIns="0" rIns="0" tIns="0" bIns="0" wrap="square" rtlCol="0" anchor="ctr"/>
          <a:lstStyle/>
          <a:p>
            <a:pPr algn="ctr" marL="0">
              <a:lnSpc>
                <a:spcPct val="120000"/>
              </a:lnSpc>
            </a:pPr>
            <a:r>
              <a:rPr lang="en-US" sz="1800" noProof="1">
                <a:solidFill>
                  <a:srgbClr val="8FA3C8"/>
                </a:solidFill>
                <a:latin typeface="Calibri"/>
                <a:ea typeface="Calibri"/>
              </a:rPr>
              <a:t>→</a:t>
            </a:r>
            <a:endParaRPr lang="en-US" sz="1800" noProof="1"/>
          </a:p>
        </p:txBody>
      </p:sp>
      <p:sp>
        <p:nvSpPr>
          <p:cNvPr id="11" name="Shape 8"/>
          <p:cNvSpPr/>
          <p:nvPr/>
        </p:nvSpPr>
        <p:spPr>
          <a:xfrm>
            <a:off x="3436620" y="2194560"/>
            <a:ext cx="2430780" cy="2788920"/>
          </a:xfrm>
          <a:prstGeom prst="roundRect">
            <a:avLst>
              <a:gd name="adj" fmla="val 3386"/>
            </a:avLst>
          </a:prstGeom>
          <a:solidFill>
            <a:srgbClr val="141F30"/>
          </a:solidFill>
          <a:ln>
            <a:noFill/>
          </a:ln>
        </p:spPr>
      </p:sp>
      <p:sp>
        <p:nvSpPr>
          <p:cNvPr id="12" name="Text 9"/>
          <p:cNvSpPr txBox="1"/>
          <p:nvPr/>
        </p:nvSpPr>
        <p:spPr>
          <a:xfrm>
            <a:off x="372872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35D399"/>
                </a:solidFill>
                <a:latin typeface="Cambria"/>
                <a:ea typeface="Cambria"/>
              </a:rPr>
              <a:t>2</a:t>
            </a:r>
            <a:endParaRPr lang="en-US" sz="2600" noProof="1"/>
          </a:p>
        </p:txBody>
      </p:sp>
      <p:sp>
        <p:nvSpPr>
          <p:cNvPr id="13" name="Text 10"/>
          <p:cNvSpPr txBox="1"/>
          <p:nvPr/>
        </p:nvSpPr>
        <p:spPr>
          <a:xfrm>
            <a:off x="372872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Read the exception</a:t>
            </a:r>
            <a:endParaRPr lang="en-US" sz="1500" noProof="1"/>
          </a:p>
        </p:txBody>
      </p:sp>
      <p:sp>
        <p:nvSpPr>
          <p:cNvPr id="14" name="Text 11"/>
          <p:cNvSpPr txBox="1"/>
          <p:nvPr/>
        </p:nvSpPr>
        <p:spPr>
          <a:xfrm>
            <a:off x="372872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One paragraph explaining exactly what this track does and does not permit.</a:t>
            </a:r>
            <a:endParaRPr lang="en-US" sz="1200" noProof="1"/>
          </a:p>
        </p:txBody>
      </p:sp>
      <p:sp>
        <p:nvSpPr>
          <p:cNvPr id="15" name="Text 12"/>
          <p:cNvSpPr txBox="1"/>
          <p:nvPr/>
        </p:nvSpPr>
        <p:spPr>
          <a:xfrm>
            <a:off x="5867400" y="3388360"/>
            <a:ext cx="457200" cy="402590"/>
          </a:xfrm>
          <a:prstGeom prst="rect">
            <a:avLst/>
          </a:prstGeom>
          <a:noFill/>
          <a:ln>
            <a:noFill/>
          </a:ln>
        </p:spPr>
        <p:txBody>
          <a:bodyPr lIns="0" rIns="0" tIns="0" bIns="0" wrap="square" rtlCol="0" anchor="ctr"/>
          <a:lstStyle/>
          <a:p>
            <a:pPr algn="ctr" marL="0">
              <a:lnSpc>
                <a:spcPct val="120000"/>
              </a:lnSpc>
            </a:pPr>
            <a:r>
              <a:rPr lang="en-US" sz="1800" noProof="1">
                <a:solidFill>
                  <a:srgbClr val="8FA3C8"/>
                </a:solidFill>
                <a:latin typeface="Calibri"/>
                <a:ea typeface="Calibri"/>
              </a:rPr>
              <a:t>→</a:t>
            </a:r>
            <a:endParaRPr lang="en-US" sz="1800" noProof="1"/>
          </a:p>
        </p:txBody>
      </p:sp>
      <p:sp>
        <p:nvSpPr>
          <p:cNvPr id="16" name="Shape 13"/>
          <p:cNvSpPr/>
          <p:nvPr/>
        </p:nvSpPr>
        <p:spPr>
          <a:xfrm>
            <a:off x="6324600" y="2194560"/>
            <a:ext cx="2430780" cy="2788920"/>
          </a:xfrm>
          <a:prstGeom prst="roundRect">
            <a:avLst>
              <a:gd name="adj" fmla="val 3386"/>
            </a:avLst>
          </a:prstGeom>
          <a:solidFill>
            <a:srgbClr val="141F30"/>
          </a:solidFill>
          <a:ln>
            <a:noFill/>
          </a:ln>
        </p:spPr>
      </p:sp>
      <p:sp>
        <p:nvSpPr>
          <p:cNvPr id="17" name="Text 14"/>
          <p:cNvSpPr txBox="1"/>
          <p:nvPr/>
        </p:nvSpPr>
        <p:spPr>
          <a:xfrm>
            <a:off x="661670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35D399"/>
                </a:solidFill>
                <a:latin typeface="Cambria"/>
                <a:ea typeface="Cambria"/>
              </a:rPr>
              <a:t>3</a:t>
            </a:r>
            <a:endParaRPr lang="en-US" sz="2600" noProof="1"/>
          </a:p>
        </p:txBody>
      </p:sp>
      <p:sp>
        <p:nvSpPr>
          <p:cNvPr id="18" name="Text 15"/>
          <p:cNvSpPr txBox="1"/>
          <p:nvPr/>
        </p:nvSpPr>
        <p:spPr>
          <a:xfrm>
            <a:off x="661670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Grab the attachments</a:t>
            </a:r>
            <a:endParaRPr lang="en-US" sz="1500" noProof="1"/>
          </a:p>
        </p:txBody>
      </p:sp>
      <p:sp>
        <p:nvSpPr>
          <p:cNvPr id="19" name="Text 16"/>
          <p:cNvSpPr txBox="1"/>
          <p:nvPr/>
        </p:nvSpPr>
        <p:spPr>
          <a:xfrm>
            <a:off x="661670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Bootstrap scripts, README, troubleshooting guide, offline site copy.</a:t>
            </a:r>
            <a:endParaRPr lang="en-US" sz="1200" noProof="1"/>
          </a:p>
        </p:txBody>
      </p:sp>
      <p:sp>
        <p:nvSpPr>
          <p:cNvPr id="20" name="Text 17"/>
          <p:cNvSpPr txBox="1"/>
          <p:nvPr/>
        </p:nvSpPr>
        <p:spPr>
          <a:xfrm>
            <a:off x="8755380" y="3388360"/>
            <a:ext cx="457200" cy="402590"/>
          </a:xfrm>
          <a:prstGeom prst="rect">
            <a:avLst/>
          </a:prstGeom>
          <a:noFill/>
          <a:ln>
            <a:noFill/>
          </a:ln>
        </p:spPr>
        <p:txBody>
          <a:bodyPr lIns="0" rIns="0" tIns="0" bIns="0" wrap="square" rtlCol="0" anchor="ctr"/>
          <a:lstStyle/>
          <a:p>
            <a:pPr algn="ctr" marL="0">
              <a:lnSpc>
                <a:spcPct val="120000"/>
              </a:lnSpc>
            </a:pPr>
            <a:r>
              <a:rPr lang="en-US" sz="1800" noProof="1">
                <a:solidFill>
                  <a:srgbClr val="8FA3C8"/>
                </a:solidFill>
                <a:latin typeface="Calibri"/>
                <a:ea typeface="Calibri"/>
              </a:rPr>
              <a:t>→</a:t>
            </a:r>
            <a:endParaRPr lang="en-US" sz="1800" noProof="1"/>
          </a:p>
        </p:txBody>
      </p:sp>
      <p:sp>
        <p:nvSpPr>
          <p:cNvPr id="21" name="Shape 18"/>
          <p:cNvSpPr/>
          <p:nvPr/>
        </p:nvSpPr>
        <p:spPr>
          <a:xfrm>
            <a:off x="9212580" y="2194560"/>
            <a:ext cx="2430780" cy="2788920"/>
          </a:xfrm>
          <a:prstGeom prst="roundRect">
            <a:avLst>
              <a:gd name="adj" fmla="val 3386"/>
            </a:avLst>
          </a:prstGeom>
          <a:solidFill>
            <a:srgbClr val="141F30"/>
          </a:solidFill>
          <a:ln>
            <a:noFill/>
          </a:ln>
        </p:spPr>
      </p:sp>
      <p:sp>
        <p:nvSpPr>
          <p:cNvPr id="22" name="Text 19"/>
          <p:cNvSpPr txBox="1"/>
          <p:nvPr/>
        </p:nvSpPr>
        <p:spPr>
          <a:xfrm>
            <a:off x="950468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35D399"/>
                </a:solidFill>
                <a:latin typeface="Cambria"/>
                <a:ea typeface="Cambria"/>
              </a:rPr>
              <a:t>4</a:t>
            </a:r>
            <a:endParaRPr lang="en-US" sz="2600" noProof="1"/>
          </a:p>
        </p:txBody>
      </p:sp>
      <p:sp>
        <p:nvSpPr>
          <p:cNvPr id="23" name="Text 20"/>
          <p:cNvSpPr txBox="1"/>
          <p:nvPr/>
        </p:nvSpPr>
        <p:spPr>
          <a:xfrm>
            <a:off x="950468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Submit the sentence</a:t>
            </a:r>
            <a:endParaRPr lang="en-US" sz="1500" noProof="1"/>
          </a:p>
        </p:txBody>
      </p:sp>
      <p:sp>
        <p:nvSpPr>
          <p:cNvPr id="24" name="Text 21"/>
          <p:cNvSpPr txBox="1"/>
          <p:nvPr/>
        </p:nvSpPr>
        <p:spPr>
          <a:xfrm>
            <a:off x="950468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Copy it word for word. That confirmation is the flag.</a:t>
            </a:r>
            <a:endParaRPr lang="en-US" sz="1200" noProof="1"/>
          </a:p>
        </p:txBody>
      </p:sp>
      <p:sp>
        <p:nvSpPr>
          <p:cNvPr id="25" name="Text 22"/>
          <p:cNvSpPr txBox="1"/>
          <p:nvPr/>
        </p:nvSpPr>
        <p:spPr>
          <a:xfrm>
            <a:off x="548640" y="534924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35D399"/>
                </a:solidFill>
                <a:latin typeface="Calibri"/>
                <a:ea typeface="Calibri"/>
              </a:rPr>
              <a:t>Read it properly. The rest of this deck assumes you have.</a:t>
            </a:r>
            <a:endParaRPr lang="en-US" sz="1250" noProof="1"/>
          </a:p>
        </p:txBody>
      </p:sp>
      <p:sp>
        <p:nvSpPr>
          <p:cNvPr id="26" name="Text 23"/>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27" name="Text 24"/>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11</a:t>
            </a:r>
            <a:endParaRPr lang="en-US" sz="1000" noProof="1"/>
          </a:p>
        </p:txBody>
      </p:sp>
    </p:spTree>
  </p:cSld>
  <p:clrMapOvr>
    <a:masterClrMapping/>
  </p:clrMapOvr>
  <p:transition spd="fast" advClick="1">
    <p:fade/>
  </p:transition>
</p:sld>
</file>

<file path=ppt/slides/slide1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pic>
        <p:nvPicPr>
          <p:cNvPr id="2" name="Image 0"/>
          <p:cNvPicPr/>
          <p:nvPr/>
        </p:nvPicPr>
        <p:blipFill>
          <a:blip r:embed="rId2"/>
          <a:stretch>
            <a:fillRect/>
          </a:stretch>
        </p:blipFill>
        <p:spPr>
          <a:xfrm>
            <a:off x="7881620" y="2286000"/>
            <a:ext cx="3749040" cy="3072130"/>
          </a:xfrm>
          <a:prstGeom prst="rect">
            <a:avLst/>
          </a:prstGeom>
          <a:ln>
            <a:noFill/>
          </a:ln>
        </p:spPr>
      </p:pic>
      <p:sp>
        <p:nvSpPr>
          <p:cNvPr id="3" name="Text 0"/>
          <p:cNvSpPr txBox="1"/>
          <p:nvPr/>
        </p:nvSpPr>
        <p:spPr>
          <a:xfrm>
            <a:off x="548640" y="1143000"/>
            <a:ext cx="7315200" cy="731520"/>
          </a:xfrm>
          <a:prstGeom prst="rect">
            <a:avLst/>
          </a:prstGeom>
          <a:noFill/>
          <a:ln>
            <a:noFill/>
          </a:ln>
        </p:spPr>
        <p:txBody>
          <a:bodyPr lIns="0" rIns="0" tIns="0" bIns="0" wrap="square" rtlCol="0" anchor="ctr"/>
          <a:lstStyle/>
          <a:p>
            <a:pPr algn="l" marL="0">
              <a:lnSpc>
                <a:spcPct val="120000"/>
              </a:lnSpc>
            </a:pPr>
            <a:r>
              <a:rPr lang="en-US" sz="4000" noProof="1" b="1">
                <a:solidFill>
                  <a:srgbClr val="F4F6FB"/>
                </a:solidFill>
                <a:latin typeface="Cambria"/>
                <a:ea typeface="Cambria"/>
              </a:rPr>
              <a:t>Ready to play.</a:t>
            </a:r>
            <a:endParaRPr lang="en-US" sz="4000" noProof="1"/>
          </a:p>
        </p:txBody>
      </p:sp>
      <p:sp>
        <p:nvSpPr>
          <p:cNvPr id="4" name="Text 1"/>
          <p:cNvSpPr txBox="1"/>
          <p:nvPr/>
        </p:nvSpPr>
        <p:spPr>
          <a:xfrm>
            <a:off x="548640" y="1920240"/>
            <a:ext cx="7680960" cy="365760"/>
          </a:xfrm>
          <a:prstGeom prst="rect">
            <a:avLst/>
          </a:prstGeom>
          <a:noFill/>
          <a:ln>
            <a:noFill/>
          </a:ln>
        </p:spPr>
        <p:txBody>
          <a:bodyPr lIns="0" rIns="0" tIns="0" bIns="0" wrap="square" rtlCol="0" anchor="ctr"/>
          <a:lstStyle/>
          <a:p>
            <a:pPr algn="l" marL="0">
              <a:lnSpc>
                <a:spcPct val="120000"/>
              </a:lnSpc>
            </a:pPr>
            <a:r>
              <a:rPr lang="en-US" sz="1350" noProof="1">
                <a:solidFill>
                  <a:srgbClr val="B8C7E4"/>
                </a:solidFill>
                <a:latin typeface="Calibri"/>
                <a:ea typeface="Calibri"/>
              </a:rPr>
              <a:t>Do this one early. It pays for itself across the other three tracks.</a:t>
            </a:r>
            <a:endParaRPr lang="en-US" sz="1350" noProof="1"/>
          </a:p>
        </p:txBody>
      </p:sp>
      <p:sp>
        <p:nvSpPr>
          <p:cNvPr id="5" name="Shape 2"/>
          <p:cNvSpPr/>
          <p:nvPr/>
        </p:nvSpPr>
        <p:spPr>
          <a:xfrm>
            <a:off x="548640" y="2540000"/>
            <a:ext cx="6614160" cy="635000"/>
          </a:xfrm>
          <a:prstGeom prst="roundRect">
            <a:avLst>
              <a:gd name="adj" fmla="val 11842"/>
            </a:avLst>
          </a:prstGeom>
          <a:solidFill>
            <a:srgbClr val="141F30"/>
          </a:solidFill>
          <a:ln>
            <a:noFill/>
          </a:ln>
        </p:spPr>
      </p:sp>
      <p:sp>
        <p:nvSpPr>
          <p:cNvPr id="6" name="Text 3"/>
          <p:cNvSpPr txBox="1"/>
          <p:nvPr/>
        </p:nvSpPr>
        <p:spPr>
          <a:xfrm>
            <a:off x="932180" y="2540000"/>
            <a:ext cx="457200" cy="635000"/>
          </a:xfrm>
          <a:prstGeom prst="rect">
            <a:avLst/>
          </a:prstGeom>
          <a:noFill/>
          <a:ln>
            <a:noFill/>
          </a:ln>
        </p:spPr>
        <p:txBody>
          <a:bodyPr lIns="0" rIns="0" tIns="0" bIns="0" wrap="square" rtlCol="0" anchor="ctr"/>
          <a:lstStyle/>
          <a:p>
            <a:pPr algn="l" marL="0">
              <a:lnSpc>
                <a:spcPct val="120000"/>
              </a:lnSpc>
            </a:pPr>
            <a:r>
              <a:rPr lang="en-US" sz="1900" noProof="1" b="1">
                <a:solidFill>
                  <a:srgbClr val="35D399"/>
                </a:solidFill>
                <a:latin typeface="Cambria"/>
                <a:ea typeface="Cambria"/>
              </a:rPr>
              <a:t>1</a:t>
            </a:r>
            <a:endParaRPr lang="en-US" sz="1900" noProof="1"/>
          </a:p>
        </p:txBody>
      </p:sp>
      <p:sp>
        <p:nvSpPr>
          <p:cNvPr id="7" name="Text 4"/>
          <p:cNvSpPr txBox="1"/>
          <p:nvPr/>
        </p:nvSpPr>
        <p:spPr>
          <a:xfrm>
            <a:off x="1554480" y="2540000"/>
            <a:ext cx="5334000" cy="63500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Open "AI Copilot Setup: Start Here" and read the AI-use exception</a:t>
            </a:r>
            <a:endParaRPr lang="en-US" sz="1400" noProof="1"/>
          </a:p>
        </p:txBody>
      </p:sp>
      <p:sp>
        <p:nvSpPr>
          <p:cNvPr id="8" name="Shape 5"/>
          <p:cNvSpPr/>
          <p:nvPr/>
        </p:nvSpPr>
        <p:spPr>
          <a:xfrm>
            <a:off x="548640" y="3276600"/>
            <a:ext cx="6614160" cy="635000"/>
          </a:xfrm>
          <a:prstGeom prst="roundRect">
            <a:avLst>
              <a:gd name="adj" fmla="val 11842"/>
            </a:avLst>
          </a:prstGeom>
          <a:solidFill>
            <a:srgbClr val="1B2740"/>
          </a:solidFill>
          <a:ln>
            <a:noFill/>
          </a:ln>
        </p:spPr>
      </p:sp>
      <p:sp>
        <p:nvSpPr>
          <p:cNvPr id="9" name="Text 6"/>
          <p:cNvSpPr txBox="1"/>
          <p:nvPr/>
        </p:nvSpPr>
        <p:spPr>
          <a:xfrm>
            <a:off x="932180" y="3276600"/>
            <a:ext cx="457200" cy="635000"/>
          </a:xfrm>
          <a:prstGeom prst="rect">
            <a:avLst/>
          </a:prstGeom>
          <a:noFill/>
          <a:ln>
            <a:noFill/>
          </a:ln>
        </p:spPr>
        <p:txBody>
          <a:bodyPr lIns="0" rIns="0" tIns="0" bIns="0" wrap="square" rtlCol="0" anchor="ctr"/>
          <a:lstStyle/>
          <a:p>
            <a:pPr algn="l" marL="0">
              <a:lnSpc>
                <a:spcPct val="120000"/>
              </a:lnSpc>
            </a:pPr>
            <a:r>
              <a:rPr lang="en-US" sz="1900" noProof="1" b="1">
                <a:solidFill>
                  <a:srgbClr val="35D399"/>
                </a:solidFill>
                <a:latin typeface="Cambria"/>
                <a:ea typeface="Cambria"/>
              </a:rPr>
              <a:t>2</a:t>
            </a:r>
            <a:endParaRPr lang="en-US" sz="1900" noProof="1"/>
          </a:p>
        </p:txBody>
      </p:sp>
      <p:sp>
        <p:nvSpPr>
          <p:cNvPr id="10" name="Text 7"/>
          <p:cNvSpPr txBox="1"/>
          <p:nvPr/>
        </p:nvSpPr>
        <p:spPr>
          <a:xfrm>
            <a:off x="1554480" y="3276600"/>
            <a:ext cx="5334000" cy="63500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Download and run the bootstrap script for your operating system</a:t>
            </a:r>
            <a:endParaRPr lang="en-US" sz="1400" noProof="1"/>
          </a:p>
        </p:txBody>
      </p:sp>
      <p:sp>
        <p:nvSpPr>
          <p:cNvPr id="11" name="Shape 8"/>
          <p:cNvSpPr/>
          <p:nvPr/>
        </p:nvSpPr>
        <p:spPr>
          <a:xfrm>
            <a:off x="548640" y="4013200"/>
            <a:ext cx="6614160" cy="635000"/>
          </a:xfrm>
          <a:prstGeom prst="roundRect">
            <a:avLst>
              <a:gd name="adj" fmla="val 11842"/>
            </a:avLst>
          </a:prstGeom>
          <a:solidFill>
            <a:srgbClr val="141F30"/>
          </a:solidFill>
          <a:ln>
            <a:noFill/>
          </a:ln>
        </p:spPr>
      </p:sp>
      <p:sp>
        <p:nvSpPr>
          <p:cNvPr id="12" name="Text 9"/>
          <p:cNvSpPr txBox="1"/>
          <p:nvPr/>
        </p:nvSpPr>
        <p:spPr>
          <a:xfrm>
            <a:off x="932180" y="4013200"/>
            <a:ext cx="457200" cy="635000"/>
          </a:xfrm>
          <a:prstGeom prst="rect">
            <a:avLst/>
          </a:prstGeom>
          <a:noFill/>
          <a:ln>
            <a:noFill/>
          </a:ln>
        </p:spPr>
        <p:txBody>
          <a:bodyPr lIns="0" rIns="0" tIns="0" bIns="0" wrap="square" rtlCol="0" anchor="ctr"/>
          <a:lstStyle/>
          <a:p>
            <a:pPr algn="l" marL="0">
              <a:lnSpc>
                <a:spcPct val="120000"/>
              </a:lnSpc>
            </a:pPr>
            <a:r>
              <a:rPr lang="en-US" sz="1900" noProof="1" b="1">
                <a:solidFill>
                  <a:srgbClr val="35D399"/>
                </a:solidFill>
                <a:latin typeface="Cambria"/>
                <a:ea typeface="Cambria"/>
              </a:rPr>
              <a:t>3</a:t>
            </a:r>
            <a:endParaRPr lang="en-US" sz="1900" noProof="1"/>
          </a:p>
        </p:txBody>
      </p:sp>
      <p:sp>
        <p:nvSpPr>
          <p:cNvPr id="13" name="Text 10"/>
          <p:cNvSpPr txBox="1"/>
          <p:nvPr/>
        </p:nvSpPr>
        <p:spPr>
          <a:xfrm>
            <a:off x="1554480" y="4013200"/>
            <a:ext cx="5334000" cy="63500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Wait out the first model download — it only happens once</a:t>
            </a:r>
            <a:endParaRPr lang="en-US" sz="1400" noProof="1"/>
          </a:p>
        </p:txBody>
      </p:sp>
      <p:sp>
        <p:nvSpPr>
          <p:cNvPr id="14" name="Shape 11"/>
          <p:cNvSpPr/>
          <p:nvPr/>
        </p:nvSpPr>
        <p:spPr>
          <a:xfrm>
            <a:off x="548640" y="4749800"/>
            <a:ext cx="6614160" cy="635000"/>
          </a:xfrm>
          <a:prstGeom prst="roundRect">
            <a:avLst>
              <a:gd name="adj" fmla="val 11842"/>
            </a:avLst>
          </a:prstGeom>
          <a:solidFill>
            <a:srgbClr val="1B2740"/>
          </a:solidFill>
          <a:ln>
            <a:noFill/>
          </a:ln>
        </p:spPr>
      </p:sp>
      <p:sp>
        <p:nvSpPr>
          <p:cNvPr id="15" name="Text 12"/>
          <p:cNvSpPr txBox="1"/>
          <p:nvPr/>
        </p:nvSpPr>
        <p:spPr>
          <a:xfrm>
            <a:off x="932180" y="4749800"/>
            <a:ext cx="457200" cy="635000"/>
          </a:xfrm>
          <a:prstGeom prst="rect">
            <a:avLst/>
          </a:prstGeom>
          <a:noFill/>
          <a:ln>
            <a:noFill/>
          </a:ln>
        </p:spPr>
        <p:txBody>
          <a:bodyPr lIns="0" rIns="0" tIns="0" bIns="0" wrap="square" rtlCol="0" anchor="ctr"/>
          <a:lstStyle/>
          <a:p>
            <a:pPr algn="l" marL="0">
              <a:lnSpc>
                <a:spcPct val="120000"/>
              </a:lnSpc>
            </a:pPr>
            <a:r>
              <a:rPr lang="en-US" sz="1900" noProof="1" b="1">
                <a:solidFill>
                  <a:srgbClr val="35D399"/>
                </a:solidFill>
                <a:latin typeface="Cambria"/>
                <a:ea typeface="Cambria"/>
              </a:rPr>
              <a:t>4</a:t>
            </a:r>
            <a:endParaRPr lang="en-US" sz="1900" noProof="1"/>
          </a:p>
        </p:txBody>
      </p:sp>
      <p:sp>
        <p:nvSpPr>
          <p:cNvPr id="16" name="Text 13"/>
          <p:cNvSpPr txBox="1"/>
          <p:nvPr/>
        </p:nvSpPr>
        <p:spPr>
          <a:xfrm>
            <a:off x="1554480" y="4749800"/>
            <a:ext cx="5334000" cy="63500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Run ctf-agent-verify and collect the flags it reports</a:t>
            </a:r>
            <a:endParaRPr lang="en-US" sz="1400" noProof="1"/>
          </a:p>
        </p:txBody>
      </p:sp>
      <p:sp>
        <p:nvSpPr>
          <p:cNvPr id="17" name="Shape 14"/>
          <p:cNvSpPr/>
          <p:nvPr/>
        </p:nvSpPr>
        <p:spPr>
          <a:xfrm>
            <a:off x="548640" y="5486400"/>
            <a:ext cx="6614160" cy="635000"/>
          </a:xfrm>
          <a:prstGeom prst="roundRect">
            <a:avLst>
              <a:gd name="adj" fmla="val 11842"/>
            </a:avLst>
          </a:prstGeom>
          <a:solidFill>
            <a:srgbClr val="141F30"/>
          </a:solidFill>
          <a:ln>
            <a:noFill/>
          </a:ln>
        </p:spPr>
      </p:sp>
      <p:sp>
        <p:nvSpPr>
          <p:cNvPr id="18" name="Text 15"/>
          <p:cNvSpPr txBox="1"/>
          <p:nvPr/>
        </p:nvSpPr>
        <p:spPr>
          <a:xfrm>
            <a:off x="932180" y="5486400"/>
            <a:ext cx="457200" cy="635000"/>
          </a:xfrm>
          <a:prstGeom prst="rect">
            <a:avLst/>
          </a:prstGeom>
          <a:noFill/>
          <a:ln>
            <a:noFill/>
          </a:ln>
        </p:spPr>
        <p:txBody>
          <a:bodyPr lIns="0" rIns="0" tIns="0" bIns="0" wrap="square" rtlCol="0" anchor="ctr"/>
          <a:lstStyle/>
          <a:p>
            <a:pPr algn="l" marL="0">
              <a:lnSpc>
                <a:spcPct val="120000"/>
              </a:lnSpc>
            </a:pPr>
            <a:r>
              <a:rPr lang="en-US" sz="1900" noProof="1" b="1">
                <a:solidFill>
                  <a:srgbClr val="35D399"/>
                </a:solidFill>
                <a:latin typeface="Cambria"/>
                <a:ea typeface="Cambria"/>
              </a:rPr>
              <a:t>5</a:t>
            </a:r>
            <a:endParaRPr lang="en-US" sz="1900" noProof="1"/>
          </a:p>
        </p:txBody>
      </p:sp>
      <p:sp>
        <p:nvSpPr>
          <p:cNvPr id="19" name="Text 16"/>
          <p:cNvSpPr txBox="1"/>
          <p:nvPr/>
        </p:nvSpPr>
        <p:spPr>
          <a:xfrm>
            <a:off x="1554480" y="5486400"/>
            <a:ext cx="5334000" cy="63500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Stuck? Find a staff member. Hints cost a share of the challenge's points — the cost is shown before you open one.</a:t>
            </a:r>
            <a:endParaRPr lang="en-US" sz="1400" noProof="1"/>
          </a:p>
        </p:txBody>
      </p:sp>
      <p:sp>
        <p:nvSpPr>
          <p:cNvPr id="20" name="Text 14"/>
          <p:cNvSpPr txBox="1"/>
          <p:nvPr/>
        </p:nvSpPr>
        <p:spPr>
          <a:xfrm>
            <a:off x="548640" y="6223000"/>
            <a:ext cx="5486400" cy="203200"/>
          </a:xfrm>
          <a:prstGeom prst="rect">
            <a:avLst/>
          </a:prstGeom>
          <a:noFill/>
          <a:ln>
            <a:noFill/>
          </a:ln>
        </p:spPr>
        <p:txBody>
          <a:bodyPr lIns="0" rIns="0" tIns="0" bIns="0" wrap="square" rtlCol="0" anchor="ctr"/>
          <a:lstStyle/>
          <a:p>
            <a:pPr algn="l" marL="0">
              <a:lnSpc>
                <a:spcPct val="120000"/>
              </a:lnSpc>
            </a:pPr>
            <a:r>
              <a:rPr lang="en-US" sz="1400" noProof="1" i="1">
                <a:solidFill>
                  <a:srgbClr val="35D399"/>
                </a:solidFill>
                <a:latin typeface="Calibri"/>
                <a:ea typeface="Calibri"/>
              </a:rPr>
              <a:t>Good luck.</a:t>
            </a:r>
            <a:endParaRPr lang="en-US" sz="1400" noProof="1"/>
          </a:p>
        </p:txBody>
      </p:sp>
      <p:sp>
        <p:nvSpPr>
          <p:cNvPr id="21" name="Text 15"/>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04 / 04</a:t>
            </a:r>
            <a:endParaRPr lang="en-US" sz="1000" noProof="1"/>
          </a:p>
        </p:txBody>
      </p:sp>
      <p:sp>
        <p:nvSpPr>
          <p:cNvPr id="22" name="Text 16"/>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12</a:t>
            </a:r>
            <a:endParaRPr lang="en-US" sz="1000" noProof="1"/>
          </a:p>
        </p:txBody>
      </p:sp>
    </p:spTree>
  </p:cSld>
  <p:clrMapOvr>
    <a:masterClrMapping/>
  </p:clrMapOvr>
  <p:transition spd="fast" advClick="1">
    <p:fade/>
  </p:transition>
</p:sld>
</file>

<file path=ppt/theme/theme1.xml><?xml version="1.0" encoding="utf-8"?>
<a:theme xmlns:a="http://schemas.openxmlformats.org/drawingml/2006/main" name="PPTD">
  <a:themeElements>
    <a:clrScheme name="PPTD">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Company>Moonshot</Company>
  <Slides>12</Slides>
</Properties>
</file>

<file path=docProps/core.xml><?xml version="1.0" encoding="utf-8"?>
<cp:coreProperties xmlns:cp="http://schemas.openxmlformats.org/package/2006/metadata/core-properties" xmlns:dc="http://purl.org/dc/elements/1.1/">
  <dc:title>PptxGenJS Presentation</dc:title>
  <dc:subject>PptxGenJS Presentation</dc:subject>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{"Label":"PptxGenJS Presentation","ContentProducer":"001191110108MACG2KBH8F10000","ProduceID":"19fccfdd-53f2-82e3-8000-000080274301","ReservedCode1":"","ContentPropagator":"001191110108MACG2KBH8F20000","PropagateID":"19fca1d9-cf32-8a8a-8000-093feda7e9b7","ReservedCode2":""}</vt:lpwstr>
  </property>
</Properties>
</file>