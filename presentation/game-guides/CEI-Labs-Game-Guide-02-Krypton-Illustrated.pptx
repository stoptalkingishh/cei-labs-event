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Oval 1"/>
          <p:cNvSpPr/>
          <p:nvPr/>
        </p:nvSpPr>
        <p:spPr>
          <a:xfrm>
            <a:off x="-2194560" y="4480560"/>
            <a:ext cx="4206240" cy="4206240"/>
          </a:xfrm>
          <a:prstGeom prst="ellipse">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6903720" y="1051560"/>
            <a:ext cx="4800600" cy="3931920"/>
          </a:xfrm>
          <a:prstGeom prst="rect">
            <a:avLst/>
          </a:prstGeom>
        </p:spPr>
      </p:pic>
      <p:sp>
        <p:nvSpPr>
          <p:cNvPr id="4" name="Oval 3"/>
          <p:cNvSpPr/>
          <p:nvPr/>
        </p:nvSpPr>
        <p:spPr>
          <a:xfrm>
            <a:off x="548640" y="960119"/>
            <a:ext cx="786130" cy="786130"/>
          </a:xfrm>
          <a:prstGeom prst="ellipse">
            <a:avLst/>
          </a:prstGeom>
          <a:solidFill>
            <a:srgbClr val="4C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2.png"/>
          <p:cNvPicPr>
            <a:picLocks noChangeAspect="1"/>
          </p:cNvPicPr>
          <p:nvPr/>
        </p:nvPicPr>
        <p:blipFill>
          <a:blip r:embed="rId3"/>
          <a:stretch>
            <a:fillRect/>
          </a:stretch>
        </p:blipFill>
        <p:spPr>
          <a:xfrm>
            <a:off x="753110" y="1164590"/>
            <a:ext cx="377190" cy="377190"/>
          </a:xfrm>
          <a:prstGeom prst="rect">
            <a:avLst/>
          </a:prstGeom>
        </p:spPr>
      </p:pic>
      <p:sp>
        <p:nvSpPr>
          <p:cNvPr id="6" name="TextBox 5"/>
          <p:cNvSpPr txBox="1"/>
          <p:nvPr/>
        </p:nvSpPr>
        <p:spPr>
          <a:xfrm>
            <a:off x="548640" y="3017520"/>
            <a:ext cx="6126480" cy="822960"/>
          </a:xfrm>
          <a:prstGeom prst="rect">
            <a:avLst/>
          </a:prstGeom>
          <a:noFill/>
        </p:spPr>
        <p:txBody>
          <a:bodyPr wrap="square" lIns="0" rIns="0" tIns="0" bIns="0" anchor="ctr">
            <a:spAutoFit/>
          </a:bodyPr>
          <a:lstStyle/>
          <a:p>
            <a:pPr algn="l"/>
            <a:r>
              <a:rPr sz="4400" b="1" i="0">
                <a:solidFill>
                  <a:srgbClr val="F4F6FB"/>
                </a:solidFill>
                <a:latin typeface="Cambria"/>
              </a:rPr>
              <a:t>KRYPTON</a:t>
            </a:r>
          </a:p>
        </p:txBody>
      </p:sp>
      <p:sp>
        <p:nvSpPr>
          <p:cNvPr id="7" name="TextBox 6"/>
          <p:cNvSpPr txBox="1"/>
          <p:nvPr/>
        </p:nvSpPr>
        <p:spPr>
          <a:xfrm>
            <a:off x="548640" y="3886200"/>
            <a:ext cx="6126480" cy="411480"/>
          </a:xfrm>
          <a:prstGeom prst="rect">
            <a:avLst/>
          </a:prstGeom>
          <a:noFill/>
        </p:spPr>
        <p:txBody>
          <a:bodyPr wrap="square" lIns="0" rIns="0" tIns="0" bIns="0" anchor="ctr">
            <a:spAutoFit/>
          </a:bodyPr>
          <a:lstStyle/>
          <a:p>
            <a:pPr algn="l"/>
            <a:r>
              <a:rPr sz="2200" b="1" i="1">
                <a:solidFill>
                  <a:srgbClr val="4CC9F0"/>
                </a:solidFill>
                <a:latin typeface="Cambria"/>
              </a:rPr>
              <a:t>Signal from the Dark</a:t>
            </a:r>
          </a:p>
        </p:txBody>
      </p:sp>
      <p:sp>
        <p:nvSpPr>
          <p:cNvPr id="8" name="TextBox 7"/>
          <p:cNvSpPr txBox="1"/>
          <p:nvPr/>
        </p:nvSpPr>
        <p:spPr>
          <a:xfrm>
            <a:off x="548640" y="4389120"/>
            <a:ext cx="6217920" cy="566420"/>
          </a:xfrm>
          <a:prstGeom prst="rect">
            <a:avLst/>
          </a:prstGeom>
          <a:noFill/>
        </p:spPr>
        <p:txBody>
          <a:bodyPr wrap="square" lIns="0" rIns="0" tIns="0" bIns="0" anchor="ctr">
            <a:spAutoFit/>
          </a:bodyPr>
          <a:lstStyle/>
          <a:p>
            <a:pPr algn="l">
              <a:lnSpc>
                <a:spcPct val="115000"/>
              </a:lnSpc>
            </a:pPr>
            <a:r>
              <a:rPr sz="1350" b="0" i="0">
                <a:solidFill>
                  <a:srgbClr val="B8C7E4"/>
                </a:solidFill>
                <a:latin typeface="Calibri"/>
              </a:rPr>
              <a:t>Seven levels of classical cryptography, played as one long night shift on a deep-space listening post.</a:t>
            </a:r>
          </a:p>
        </p:txBody>
      </p:sp>
      <p:sp>
        <p:nvSpPr>
          <p:cNvPr id="9" name="TextBox 8"/>
          <p:cNvSpPr txBox="1"/>
          <p:nvPr/>
        </p:nvSpPr>
        <p:spPr>
          <a:xfrm>
            <a:off x="548640" y="5029200"/>
            <a:ext cx="6217920" cy="1188720"/>
          </a:xfrm>
          <a:prstGeom prst="rect">
            <a:avLst/>
          </a:prstGeom>
          <a:noFill/>
        </p:spPr>
        <p:txBody>
          <a:bodyPr wrap="square" lIns="0" rIns="0" tIns="0" bIns="0" anchor="ctr">
            <a:spAutoFit/>
          </a:bodyPr>
          <a:lstStyle/>
          <a:p>
            <a:pPr algn="l">
              <a:lnSpc>
                <a:spcPct val="122000"/>
              </a:lnSpc>
            </a:pPr>
            <a:r>
              <a:rPr sz="1300" b="0" i="1">
                <a:solidFill>
                  <a:srgbClr val="93A5C7"/>
                </a:solidFill>
                <a:latin typeface="Calibri"/>
              </a:rPr>
              <a:t>A deep-space listening post catches a faint transmission no one can place. Over one long night shift the operator peels back layer after layer, watching the signal grow stranger — less like noise, more like something reaching back — until the last layer reveals a pattern that never quite repeats.</a:t>
            </a:r>
          </a:p>
        </p:txBody>
      </p:sp>
      <p:sp>
        <p:nvSpPr>
          <p:cNvPr id="10" name="TextBox 9"/>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1" name="TextBox 10"/>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 MAP</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Seven levels, one night shift</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Each level is a single named technique. Nothing here needs deep Linux — if Bandit felt heavy, start with this track.</a:t>
            </a:r>
          </a:p>
        </p:txBody>
      </p:sp>
      <p:sp>
        <p:nvSpPr>
          <p:cNvPr id="5" name="TextBox 4"/>
          <p:cNvSpPr txBox="1"/>
          <p:nvPr/>
        </p:nvSpPr>
        <p:spPr>
          <a:xfrm>
            <a:off x="548640" y="1905000"/>
            <a:ext cx="9814560" cy="228600"/>
          </a:xfrm>
          <a:prstGeom prst="rect">
            <a:avLst/>
          </a:prstGeom>
          <a:noFill/>
        </p:spPr>
        <p:txBody>
          <a:bodyPr wrap="square" lIns="0" rIns="0" tIns="0" bIns="0" anchor="ctr">
            <a:spAutoFit/>
          </a:bodyPr>
          <a:lstStyle/>
          <a:p>
            <a:pPr algn="l">
              <a:lnSpc>
                <a:spcPct val="115000"/>
              </a:lnSpc>
            </a:pPr>
            <a:r>
              <a:rPr sz="1150" b="0" i="0">
                <a:solidFill>
                  <a:srgbClr val="B8C7E4"/>
                </a:solidFill>
                <a:latin typeface="Calibri"/>
              </a:rPr>
              <a:t>Points run 200 up to 500 across the seven levels — 2,450 in total. Theory section below: about ten minutes of reading.</a:t>
            </a:r>
          </a:p>
        </p:txBody>
      </p:sp>
      <p:sp>
        <p:nvSpPr>
          <p:cNvPr id="6" name="Rounded Rectangle 5"/>
          <p:cNvSpPr/>
          <p:nvPr/>
        </p:nvSpPr>
        <p:spPr>
          <a:xfrm>
            <a:off x="548640" y="2184400"/>
            <a:ext cx="2581910" cy="1874520"/>
          </a:xfrm>
          <a:prstGeom prst="roundRect">
            <a:avLst>
              <a:gd name="adj" fmla="val 4390"/>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3.png"/>
          <p:cNvPicPr>
            <a:picLocks noChangeAspect="1"/>
          </p:cNvPicPr>
          <p:nvPr/>
        </p:nvPicPr>
        <p:blipFill>
          <a:blip r:embed="rId2"/>
          <a:stretch>
            <a:fillRect/>
          </a:stretch>
        </p:blipFill>
        <p:spPr>
          <a:xfrm>
            <a:off x="676910" y="2312670"/>
            <a:ext cx="2325370" cy="640080"/>
          </a:xfrm>
          <a:prstGeom prst="rect">
            <a:avLst/>
          </a:prstGeom>
        </p:spPr>
      </p:pic>
      <p:sp>
        <p:nvSpPr>
          <p:cNvPr id="8" name="TextBox 7"/>
          <p:cNvSpPr txBox="1"/>
          <p:nvPr/>
        </p:nvSpPr>
        <p:spPr>
          <a:xfrm>
            <a:off x="786130" y="30899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00</a:t>
            </a:r>
          </a:p>
        </p:txBody>
      </p:sp>
      <p:sp>
        <p:nvSpPr>
          <p:cNvPr id="9" name="TextBox 8"/>
          <p:cNvSpPr txBox="1"/>
          <p:nvPr/>
        </p:nvSpPr>
        <p:spPr>
          <a:xfrm>
            <a:off x="786130" y="3327400"/>
            <a:ext cx="2105660" cy="274320"/>
          </a:xfrm>
          <a:prstGeom prst="rect">
            <a:avLst/>
          </a:prstGeom>
          <a:noFill/>
        </p:spPr>
        <p:txBody>
          <a:bodyPr wrap="square" lIns="0" rIns="0" tIns="0" bIns="0" anchor="t">
            <a:spAutoFit/>
          </a:bodyPr>
          <a:lstStyle/>
          <a:p>
            <a:pPr algn="l"/>
            <a:r>
              <a:rPr sz="1400" b="1" i="0">
                <a:solidFill>
                  <a:srgbClr val="F4F6FB"/>
                </a:solidFill>
                <a:latin typeface="Cambria"/>
              </a:rPr>
              <a:t>Base64</a:t>
            </a:r>
          </a:p>
        </p:txBody>
      </p:sp>
      <p:sp>
        <p:nvSpPr>
          <p:cNvPr id="10" name="TextBox 9"/>
          <p:cNvSpPr txBox="1"/>
          <p:nvPr/>
        </p:nvSpPr>
        <p:spPr>
          <a:xfrm>
            <a:off x="786130" y="36106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Not a cipher at all — an encoding. No key, no secret.</a:t>
            </a:r>
          </a:p>
        </p:txBody>
      </p:sp>
      <p:sp>
        <p:nvSpPr>
          <p:cNvPr id="11" name="Rounded Rectangle 10"/>
          <p:cNvSpPr/>
          <p:nvPr/>
        </p:nvSpPr>
        <p:spPr>
          <a:xfrm>
            <a:off x="3385820" y="2184400"/>
            <a:ext cx="2581910" cy="1874520"/>
          </a:xfrm>
          <a:prstGeom prst="roundRect">
            <a:avLst>
              <a:gd name="adj" fmla="val 4390"/>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4.png"/>
          <p:cNvPicPr>
            <a:picLocks noChangeAspect="1"/>
          </p:cNvPicPr>
          <p:nvPr/>
        </p:nvPicPr>
        <p:blipFill>
          <a:blip r:embed="rId3"/>
          <a:stretch>
            <a:fillRect/>
          </a:stretch>
        </p:blipFill>
        <p:spPr>
          <a:xfrm>
            <a:off x="3514090" y="2312670"/>
            <a:ext cx="2325370" cy="640080"/>
          </a:xfrm>
          <a:prstGeom prst="rect">
            <a:avLst/>
          </a:prstGeom>
        </p:spPr>
      </p:pic>
      <p:sp>
        <p:nvSpPr>
          <p:cNvPr id="13" name="TextBox 12"/>
          <p:cNvSpPr txBox="1"/>
          <p:nvPr/>
        </p:nvSpPr>
        <p:spPr>
          <a:xfrm>
            <a:off x="3624579" y="30899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01</a:t>
            </a:r>
          </a:p>
        </p:txBody>
      </p:sp>
      <p:sp>
        <p:nvSpPr>
          <p:cNvPr id="14" name="TextBox 13"/>
          <p:cNvSpPr txBox="1"/>
          <p:nvPr/>
        </p:nvSpPr>
        <p:spPr>
          <a:xfrm>
            <a:off x="3624579" y="3327400"/>
            <a:ext cx="2105660" cy="274320"/>
          </a:xfrm>
          <a:prstGeom prst="rect">
            <a:avLst/>
          </a:prstGeom>
          <a:noFill/>
        </p:spPr>
        <p:txBody>
          <a:bodyPr wrap="square" lIns="0" rIns="0" tIns="0" bIns="0" anchor="t">
            <a:spAutoFit/>
          </a:bodyPr>
          <a:lstStyle/>
          <a:p>
            <a:pPr algn="l"/>
            <a:r>
              <a:rPr sz="1400" b="1" i="0">
                <a:solidFill>
                  <a:srgbClr val="F4F6FB"/>
                </a:solidFill>
                <a:latin typeface="Cambria"/>
              </a:rPr>
              <a:t>ROT13</a:t>
            </a:r>
          </a:p>
        </p:txBody>
      </p:sp>
      <p:sp>
        <p:nvSpPr>
          <p:cNvPr id="15" name="TextBox 14"/>
          <p:cNvSpPr txBox="1"/>
          <p:nvPr/>
        </p:nvSpPr>
        <p:spPr>
          <a:xfrm>
            <a:off x="3624579" y="36106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A fixed rotation. Apply it twice and you are back.</a:t>
            </a:r>
          </a:p>
        </p:txBody>
      </p:sp>
      <p:sp>
        <p:nvSpPr>
          <p:cNvPr id="16" name="Rounded Rectangle 15"/>
          <p:cNvSpPr/>
          <p:nvPr/>
        </p:nvSpPr>
        <p:spPr>
          <a:xfrm>
            <a:off x="6224270" y="2184400"/>
            <a:ext cx="2581910" cy="1874520"/>
          </a:xfrm>
          <a:prstGeom prst="roundRect">
            <a:avLst>
              <a:gd name="adj" fmla="val 4390"/>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5.png"/>
          <p:cNvPicPr>
            <a:picLocks noChangeAspect="1"/>
          </p:cNvPicPr>
          <p:nvPr/>
        </p:nvPicPr>
        <p:blipFill>
          <a:blip r:embed="rId4"/>
          <a:stretch>
            <a:fillRect/>
          </a:stretch>
        </p:blipFill>
        <p:spPr>
          <a:xfrm>
            <a:off x="6351270" y="2312670"/>
            <a:ext cx="2325370" cy="640080"/>
          </a:xfrm>
          <a:prstGeom prst="rect">
            <a:avLst/>
          </a:prstGeom>
        </p:spPr>
      </p:pic>
      <p:sp>
        <p:nvSpPr>
          <p:cNvPr id="18" name="TextBox 17"/>
          <p:cNvSpPr txBox="1"/>
          <p:nvPr/>
        </p:nvSpPr>
        <p:spPr>
          <a:xfrm>
            <a:off x="6461760" y="30899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02</a:t>
            </a:r>
          </a:p>
        </p:txBody>
      </p:sp>
      <p:sp>
        <p:nvSpPr>
          <p:cNvPr id="19" name="TextBox 18"/>
          <p:cNvSpPr txBox="1"/>
          <p:nvPr/>
        </p:nvSpPr>
        <p:spPr>
          <a:xfrm>
            <a:off x="6461760" y="3327400"/>
            <a:ext cx="2105660" cy="274320"/>
          </a:xfrm>
          <a:prstGeom prst="rect">
            <a:avLst/>
          </a:prstGeom>
          <a:noFill/>
        </p:spPr>
        <p:txBody>
          <a:bodyPr wrap="square" lIns="0" rIns="0" tIns="0" bIns="0" anchor="t">
            <a:spAutoFit/>
          </a:bodyPr>
          <a:lstStyle/>
          <a:p>
            <a:pPr algn="l"/>
            <a:r>
              <a:rPr sz="1400" b="1" i="0">
                <a:solidFill>
                  <a:srgbClr val="F4F6FB"/>
                </a:solidFill>
                <a:latin typeface="Cambria"/>
              </a:rPr>
              <a:t>Caesar Shift</a:t>
            </a:r>
          </a:p>
        </p:txBody>
      </p:sp>
      <p:sp>
        <p:nvSpPr>
          <p:cNvPr id="20" name="TextBox 19"/>
          <p:cNvSpPr txBox="1"/>
          <p:nvPr/>
        </p:nvSpPr>
        <p:spPr>
          <a:xfrm>
            <a:off x="6461760" y="36106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Same idea, but nobody tells you the number.</a:t>
            </a:r>
          </a:p>
        </p:txBody>
      </p:sp>
      <p:sp>
        <p:nvSpPr>
          <p:cNvPr id="21" name="Rounded Rectangle 20"/>
          <p:cNvSpPr/>
          <p:nvPr/>
        </p:nvSpPr>
        <p:spPr>
          <a:xfrm>
            <a:off x="9061450" y="2184400"/>
            <a:ext cx="2581910" cy="1874520"/>
          </a:xfrm>
          <a:prstGeom prst="roundRect">
            <a:avLst>
              <a:gd name="adj" fmla="val 4390"/>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6.png"/>
          <p:cNvPicPr>
            <a:picLocks noChangeAspect="1"/>
          </p:cNvPicPr>
          <p:nvPr/>
        </p:nvPicPr>
        <p:blipFill>
          <a:blip r:embed="rId5"/>
          <a:stretch>
            <a:fillRect/>
          </a:stretch>
        </p:blipFill>
        <p:spPr>
          <a:xfrm>
            <a:off x="9189720" y="2312670"/>
            <a:ext cx="2325370" cy="640080"/>
          </a:xfrm>
          <a:prstGeom prst="rect">
            <a:avLst/>
          </a:prstGeom>
        </p:spPr>
      </p:pic>
      <p:sp>
        <p:nvSpPr>
          <p:cNvPr id="23" name="TextBox 22"/>
          <p:cNvSpPr txBox="1"/>
          <p:nvPr/>
        </p:nvSpPr>
        <p:spPr>
          <a:xfrm>
            <a:off x="9298940" y="30899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03</a:t>
            </a:r>
          </a:p>
        </p:txBody>
      </p:sp>
      <p:sp>
        <p:nvSpPr>
          <p:cNvPr id="24" name="TextBox 23"/>
          <p:cNvSpPr txBox="1"/>
          <p:nvPr/>
        </p:nvSpPr>
        <p:spPr>
          <a:xfrm>
            <a:off x="9298940" y="3327400"/>
            <a:ext cx="2105660" cy="274320"/>
          </a:xfrm>
          <a:prstGeom prst="rect">
            <a:avLst/>
          </a:prstGeom>
          <a:noFill/>
        </p:spPr>
        <p:txBody>
          <a:bodyPr wrap="square" lIns="0" rIns="0" tIns="0" bIns="0" anchor="t">
            <a:spAutoFit/>
          </a:bodyPr>
          <a:lstStyle/>
          <a:p>
            <a:pPr algn="l"/>
            <a:r>
              <a:rPr sz="1400" b="1" i="0">
                <a:solidFill>
                  <a:srgbClr val="F4F6FB"/>
                </a:solidFill>
                <a:latin typeface="Cambria"/>
              </a:rPr>
              <a:t>Frequency</a:t>
            </a:r>
          </a:p>
        </p:txBody>
      </p:sp>
      <p:sp>
        <p:nvSpPr>
          <p:cNvPr id="25" name="TextBox 24"/>
          <p:cNvSpPr txBox="1"/>
          <p:nvPr/>
        </p:nvSpPr>
        <p:spPr>
          <a:xfrm>
            <a:off x="9298940" y="36106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Letters aren't evenly used. That imbalance is a crowbar.</a:t>
            </a:r>
          </a:p>
        </p:txBody>
      </p:sp>
      <p:sp>
        <p:nvSpPr>
          <p:cNvPr id="26" name="Rounded Rectangle 25"/>
          <p:cNvSpPr/>
          <p:nvPr/>
        </p:nvSpPr>
        <p:spPr>
          <a:xfrm>
            <a:off x="548640" y="4165600"/>
            <a:ext cx="2581910" cy="1874520"/>
          </a:xfrm>
          <a:prstGeom prst="roundRect">
            <a:avLst>
              <a:gd name="adj" fmla="val 439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7.png"/>
          <p:cNvPicPr>
            <a:picLocks noChangeAspect="1"/>
          </p:cNvPicPr>
          <p:nvPr/>
        </p:nvPicPr>
        <p:blipFill>
          <a:blip r:embed="rId6"/>
          <a:stretch>
            <a:fillRect/>
          </a:stretch>
        </p:blipFill>
        <p:spPr>
          <a:xfrm>
            <a:off x="676910" y="4293870"/>
            <a:ext cx="2325370" cy="640080"/>
          </a:xfrm>
          <a:prstGeom prst="rect">
            <a:avLst/>
          </a:prstGeom>
        </p:spPr>
      </p:pic>
      <p:sp>
        <p:nvSpPr>
          <p:cNvPr id="28" name="TextBox 27"/>
          <p:cNvSpPr txBox="1"/>
          <p:nvPr/>
        </p:nvSpPr>
        <p:spPr>
          <a:xfrm>
            <a:off x="786130" y="50711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04</a:t>
            </a:r>
          </a:p>
        </p:txBody>
      </p:sp>
      <p:sp>
        <p:nvSpPr>
          <p:cNvPr id="29" name="TextBox 28"/>
          <p:cNvSpPr txBox="1"/>
          <p:nvPr/>
        </p:nvSpPr>
        <p:spPr>
          <a:xfrm>
            <a:off x="786130" y="5308600"/>
            <a:ext cx="2105660" cy="274320"/>
          </a:xfrm>
          <a:prstGeom prst="rect">
            <a:avLst/>
          </a:prstGeom>
          <a:noFill/>
        </p:spPr>
        <p:txBody>
          <a:bodyPr wrap="square" lIns="0" rIns="0" tIns="0" bIns="0" anchor="t">
            <a:spAutoFit/>
          </a:bodyPr>
          <a:lstStyle/>
          <a:p>
            <a:pPr algn="l"/>
            <a:r>
              <a:rPr sz="1400" b="1" i="0">
                <a:solidFill>
                  <a:srgbClr val="F4F6FB"/>
                </a:solidFill>
                <a:latin typeface="Cambria"/>
              </a:rPr>
              <a:t>Vigenère</a:t>
            </a:r>
          </a:p>
        </p:txBody>
      </p:sp>
      <p:sp>
        <p:nvSpPr>
          <p:cNvPr id="30" name="TextBox 29"/>
          <p:cNvSpPr txBox="1"/>
          <p:nvPr/>
        </p:nvSpPr>
        <p:spPr>
          <a:xfrm>
            <a:off x="786130" y="55918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A shift that changes per position — period given.</a:t>
            </a:r>
          </a:p>
        </p:txBody>
      </p:sp>
      <p:sp>
        <p:nvSpPr>
          <p:cNvPr id="31" name="Rounded Rectangle 30"/>
          <p:cNvSpPr/>
          <p:nvPr/>
        </p:nvSpPr>
        <p:spPr>
          <a:xfrm>
            <a:off x="3385820" y="4165600"/>
            <a:ext cx="2581910" cy="1874520"/>
          </a:xfrm>
          <a:prstGeom prst="roundRect">
            <a:avLst>
              <a:gd name="adj" fmla="val 439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8.png"/>
          <p:cNvPicPr>
            <a:picLocks noChangeAspect="1"/>
          </p:cNvPicPr>
          <p:nvPr/>
        </p:nvPicPr>
        <p:blipFill>
          <a:blip r:embed="rId7"/>
          <a:stretch>
            <a:fillRect/>
          </a:stretch>
        </p:blipFill>
        <p:spPr>
          <a:xfrm>
            <a:off x="3514090" y="4293870"/>
            <a:ext cx="2325370" cy="640080"/>
          </a:xfrm>
          <a:prstGeom prst="rect">
            <a:avLst/>
          </a:prstGeom>
        </p:spPr>
      </p:pic>
      <p:sp>
        <p:nvSpPr>
          <p:cNvPr id="33" name="TextBox 32"/>
          <p:cNvSpPr txBox="1"/>
          <p:nvPr/>
        </p:nvSpPr>
        <p:spPr>
          <a:xfrm>
            <a:off x="3624579" y="50711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05</a:t>
            </a:r>
          </a:p>
        </p:txBody>
      </p:sp>
      <p:sp>
        <p:nvSpPr>
          <p:cNvPr id="34" name="TextBox 33"/>
          <p:cNvSpPr txBox="1"/>
          <p:nvPr/>
        </p:nvSpPr>
        <p:spPr>
          <a:xfrm>
            <a:off x="3624579" y="5308600"/>
            <a:ext cx="2105660" cy="274320"/>
          </a:xfrm>
          <a:prstGeom prst="rect">
            <a:avLst/>
          </a:prstGeom>
          <a:noFill/>
        </p:spPr>
        <p:txBody>
          <a:bodyPr wrap="square" lIns="0" rIns="0" tIns="0" bIns="0" anchor="t">
            <a:spAutoFit/>
          </a:bodyPr>
          <a:lstStyle/>
          <a:p>
            <a:pPr algn="l"/>
            <a:r>
              <a:rPr sz="1400" b="1" i="0">
                <a:solidFill>
                  <a:srgbClr val="F4F6FB"/>
                </a:solidFill>
                <a:latin typeface="Cambria"/>
              </a:rPr>
              <a:t>Kasiski Test</a:t>
            </a:r>
          </a:p>
        </p:txBody>
      </p:sp>
      <p:sp>
        <p:nvSpPr>
          <p:cNvPr id="35" name="TextBox 34"/>
          <p:cNvSpPr txBox="1"/>
          <p:nvPr/>
        </p:nvSpPr>
        <p:spPr>
          <a:xfrm>
            <a:off x="3624579" y="55918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The period isn't given. Repeats give it away.</a:t>
            </a:r>
          </a:p>
        </p:txBody>
      </p:sp>
      <p:sp>
        <p:nvSpPr>
          <p:cNvPr id="36" name="Rounded Rectangle 35"/>
          <p:cNvSpPr/>
          <p:nvPr/>
        </p:nvSpPr>
        <p:spPr>
          <a:xfrm>
            <a:off x="6224270" y="4165600"/>
            <a:ext cx="2581910" cy="1874520"/>
          </a:xfrm>
          <a:prstGeom prst="roundRect">
            <a:avLst>
              <a:gd name="adj" fmla="val 439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9.png"/>
          <p:cNvPicPr>
            <a:picLocks noChangeAspect="1"/>
          </p:cNvPicPr>
          <p:nvPr/>
        </p:nvPicPr>
        <p:blipFill>
          <a:blip r:embed="rId8"/>
          <a:stretch>
            <a:fillRect/>
          </a:stretch>
        </p:blipFill>
        <p:spPr>
          <a:xfrm>
            <a:off x="6351270" y="4293870"/>
            <a:ext cx="2325370" cy="640080"/>
          </a:xfrm>
          <a:prstGeom prst="rect">
            <a:avLst/>
          </a:prstGeom>
        </p:spPr>
      </p:pic>
      <p:sp>
        <p:nvSpPr>
          <p:cNvPr id="38" name="TextBox 37"/>
          <p:cNvSpPr txBox="1"/>
          <p:nvPr/>
        </p:nvSpPr>
        <p:spPr>
          <a:xfrm>
            <a:off x="6461760" y="5071110"/>
            <a:ext cx="2105660" cy="219710"/>
          </a:xfrm>
          <a:prstGeom prst="rect">
            <a:avLst/>
          </a:prstGeom>
          <a:noFill/>
        </p:spPr>
        <p:txBody>
          <a:bodyPr wrap="square" lIns="0" rIns="0" tIns="0" bIns="0" anchor="t">
            <a:spAutoFit/>
          </a:bodyPr>
          <a:lstStyle/>
          <a:p>
            <a:pPr algn="l"/>
            <a:r>
              <a:rPr sz="1050" b="1" i="0" spc="80">
                <a:solidFill>
                  <a:srgbClr val="4CC9F0"/>
                </a:solidFill>
                <a:latin typeface="Calibri"/>
              </a:rPr>
              <a:t>06</a:t>
            </a:r>
          </a:p>
        </p:txBody>
      </p:sp>
      <p:sp>
        <p:nvSpPr>
          <p:cNvPr id="39" name="TextBox 38"/>
          <p:cNvSpPr txBox="1"/>
          <p:nvPr/>
        </p:nvSpPr>
        <p:spPr>
          <a:xfrm>
            <a:off x="6461760" y="5308600"/>
            <a:ext cx="2105660" cy="274320"/>
          </a:xfrm>
          <a:prstGeom prst="rect">
            <a:avLst/>
          </a:prstGeom>
          <a:noFill/>
        </p:spPr>
        <p:txBody>
          <a:bodyPr wrap="square" lIns="0" rIns="0" tIns="0" bIns="0" anchor="t">
            <a:spAutoFit/>
          </a:bodyPr>
          <a:lstStyle/>
          <a:p>
            <a:pPr algn="l"/>
            <a:r>
              <a:rPr sz="1400" b="1" i="0">
                <a:solidFill>
                  <a:srgbClr val="F4F6FB"/>
                </a:solidFill>
                <a:latin typeface="Cambria"/>
              </a:rPr>
              <a:t>Stream Cipher</a:t>
            </a:r>
          </a:p>
        </p:txBody>
      </p:sp>
      <p:sp>
        <p:nvSpPr>
          <p:cNvPr id="40" name="TextBox 39"/>
          <p:cNvSpPr txBox="1"/>
          <p:nvPr/>
        </p:nvSpPr>
        <p:spPr>
          <a:xfrm>
            <a:off x="6461760" y="5591810"/>
            <a:ext cx="2105660" cy="365760"/>
          </a:xfrm>
          <a:prstGeom prst="rect">
            <a:avLst/>
          </a:prstGeom>
          <a:noFill/>
        </p:spPr>
        <p:txBody>
          <a:bodyPr wrap="square" lIns="0" rIns="0" tIns="0" bIns="0" anchor="t">
            <a:spAutoFit/>
          </a:bodyPr>
          <a:lstStyle/>
          <a:p>
            <a:pPr algn="l">
              <a:lnSpc>
                <a:spcPct val="110000"/>
              </a:lnSpc>
            </a:pPr>
            <a:r>
              <a:rPr sz="1000" b="0" i="0">
                <a:solidFill>
                  <a:srgbClr val="B8C7E4"/>
                </a:solidFill>
                <a:latin typeface="Calibri"/>
              </a:rPr>
              <a:t>A keystream that never quite repeats.</a:t>
            </a:r>
          </a:p>
        </p:txBody>
      </p:sp>
      <p:sp>
        <p:nvSpPr>
          <p:cNvPr id="41" name="TextBox 40"/>
          <p:cNvSpPr txBox="1"/>
          <p:nvPr/>
        </p:nvSpPr>
        <p:spPr>
          <a:xfrm>
            <a:off x="548640" y="61468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Levels 0–6 share one box. Krypton has no environment of its own beyond that.</a:t>
            </a:r>
          </a:p>
        </p:txBody>
      </p:sp>
      <p:sp>
        <p:nvSpPr>
          <p:cNvPr id="42" name="TextBox 41"/>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43" name="TextBox 42"/>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Oval 1"/>
          <p:cNvSpPr/>
          <p:nvPr/>
        </p:nvSpPr>
        <p:spPr>
          <a:xfrm>
            <a:off x="8595360" y="-2194560"/>
            <a:ext cx="6035040" cy="6035040"/>
          </a:xfrm>
          <a:prstGeom prst="ellipse">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783080"/>
            <a:ext cx="5486400" cy="292100"/>
          </a:xfrm>
          <a:prstGeom prst="rect">
            <a:avLst/>
          </a:prstGeom>
          <a:noFill/>
        </p:spPr>
        <p:txBody>
          <a:bodyPr wrap="square" lIns="0" rIns="0" tIns="0" bIns="0" anchor="ctr">
            <a:spAutoFit/>
          </a:bodyPr>
          <a:lstStyle/>
          <a:p>
            <a:pPr algn="l"/>
            <a:r>
              <a:rPr sz="1100" b="1" i="0" spc="140">
                <a:solidFill>
                  <a:srgbClr val="4CC9F0"/>
                </a:solidFill>
                <a:latin typeface="Calibri"/>
              </a:rPr>
              <a:t>THE IDEAS</a:t>
            </a:r>
          </a:p>
        </p:txBody>
      </p:sp>
      <p:sp>
        <p:nvSpPr>
          <p:cNvPr id="4" name="TextBox 3"/>
          <p:cNvSpPr txBox="1"/>
          <p:nvPr/>
        </p:nvSpPr>
        <p:spPr>
          <a:xfrm>
            <a:off x="548640" y="2103120"/>
            <a:ext cx="8595360" cy="960119"/>
          </a:xfrm>
          <a:prstGeom prst="rect">
            <a:avLst/>
          </a:prstGeom>
          <a:noFill/>
        </p:spPr>
        <p:txBody>
          <a:bodyPr wrap="square" lIns="0" rIns="0" tIns="0" bIns="0" anchor="t">
            <a:spAutoFit/>
          </a:bodyPr>
          <a:lstStyle/>
          <a:p>
            <a:pPr algn="l"/>
            <a:r>
              <a:rPr sz="3800" b="1" i="0">
                <a:solidFill>
                  <a:srgbClr val="F4F6FB"/>
                </a:solidFill>
                <a:latin typeface="Cambria"/>
              </a:rPr>
              <a:t>Six ideas every cipher rests on</a:t>
            </a:r>
          </a:p>
        </p:txBody>
      </p:sp>
      <p:sp>
        <p:nvSpPr>
          <p:cNvPr id="5" name="TextBox 4"/>
          <p:cNvSpPr txBox="1"/>
          <p:nvPr/>
        </p:nvSpPr>
        <p:spPr>
          <a:xfrm>
            <a:off x="548640" y="3017520"/>
            <a:ext cx="6949440" cy="548640"/>
          </a:xfrm>
          <a:prstGeom prst="rect">
            <a:avLst/>
          </a:prstGeom>
          <a:noFill/>
        </p:spPr>
        <p:txBody>
          <a:bodyPr wrap="square" lIns="0" rIns="0" tIns="0" bIns="0" anchor="ctr">
            <a:spAutoFit/>
          </a:bodyPr>
          <a:lstStyle/>
          <a:p>
            <a:pPr algn="l">
              <a:lnSpc>
                <a:spcPct val="118000"/>
              </a:lnSpc>
            </a:pPr>
            <a:r>
              <a:rPr sz="1350" b="0" i="0">
                <a:solidFill>
                  <a:srgbClr val="B8C7E4"/>
                </a:solidFill>
                <a:latin typeface="Calibri"/>
              </a:rPr>
              <a:t>The vocabulary the levels are written in. Each one is a technique this track will ask you to recognise, explained here without being applied to anything you have to solve.</a:t>
            </a:r>
          </a:p>
        </p:txBody>
      </p:sp>
      <p:sp>
        <p:nvSpPr>
          <p:cNvPr id="6" name="TextBox 5"/>
          <p:cNvSpPr txBox="1"/>
          <p:nvPr/>
        </p:nvSpPr>
        <p:spPr>
          <a:xfrm>
            <a:off x="548640" y="3977640"/>
            <a:ext cx="411480" cy="402590"/>
          </a:xfrm>
          <a:prstGeom prst="rect">
            <a:avLst/>
          </a:prstGeom>
          <a:noFill/>
        </p:spPr>
        <p:txBody>
          <a:bodyPr wrap="square" lIns="0" rIns="0" tIns="0" bIns="0" anchor="ctr">
            <a:spAutoFit/>
          </a:bodyPr>
          <a:lstStyle/>
          <a:p>
            <a:pPr algn="l"/>
            <a:r>
              <a:rPr sz="1200" b="1" i="0">
                <a:solidFill>
                  <a:srgbClr val="4CC9F0"/>
                </a:solidFill>
                <a:latin typeface="Cambria"/>
              </a:rPr>
              <a:t>01</a:t>
            </a:r>
          </a:p>
        </p:txBody>
      </p:sp>
      <p:sp>
        <p:nvSpPr>
          <p:cNvPr id="7" name="TextBox 6"/>
          <p:cNvSpPr txBox="1"/>
          <p:nvPr/>
        </p:nvSpPr>
        <p:spPr>
          <a:xfrm>
            <a:off x="1005840" y="3977640"/>
            <a:ext cx="4663440" cy="402590"/>
          </a:xfrm>
          <a:prstGeom prst="rect">
            <a:avLst/>
          </a:prstGeom>
          <a:noFill/>
        </p:spPr>
        <p:txBody>
          <a:bodyPr wrap="square" lIns="0" rIns="0" tIns="0" bIns="0" anchor="ctr">
            <a:spAutoFit/>
          </a:bodyPr>
          <a:lstStyle/>
          <a:p>
            <a:pPr algn="l"/>
            <a:r>
              <a:rPr sz="1400" b="0" i="0">
                <a:solidFill>
                  <a:srgbClr val="F4F6FB"/>
                </a:solidFill>
                <a:latin typeface="Calibri"/>
              </a:rPr>
              <a:t>Encoding is not encryption</a:t>
            </a:r>
          </a:p>
        </p:txBody>
      </p:sp>
      <p:sp>
        <p:nvSpPr>
          <p:cNvPr id="8" name="TextBox 7"/>
          <p:cNvSpPr txBox="1"/>
          <p:nvPr/>
        </p:nvSpPr>
        <p:spPr>
          <a:xfrm>
            <a:off x="548640" y="4716780"/>
            <a:ext cx="411480" cy="402590"/>
          </a:xfrm>
          <a:prstGeom prst="rect">
            <a:avLst/>
          </a:prstGeom>
          <a:noFill/>
        </p:spPr>
        <p:txBody>
          <a:bodyPr wrap="square" lIns="0" rIns="0" tIns="0" bIns="0" anchor="ctr">
            <a:spAutoFit/>
          </a:bodyPr>
          <a:lstStyle/>
          <a:p>
            <a:pPr algn="l"/>
            <a:r>
              <a:rPr sz="1200" b="1" i="0">
                <a:solidFill>
                  <a:srgbClr val="4CC9F0"/>
                </a:solidFill>
                <a:latin typeface="Cambria"/>
              </a:rPr>
              <a:t>02</a:t>
            </a:r>
          </a:p>
        </p:txBody>
      </p:sp>
      <p:sp>
        <p:nvSpPr>
          <p:cNvPr id="9" name="TextBox 8"/>
          <p:cNvSpPr txBox="1"/>
          <p:nvPr/>
        </p:nvSpPr>
        <p:spPr>
          <a:xfrm>
            <a:off x="1005840" y="4716780"/>
            <a:ext cx="4663440" cy="402590"/>
          </a:xfrm>
          <a:prstGeom prst="rect">
            <a:avLst/>
          </a:prstGeom>
          <a:noFill/>
        </p:spPr>
        <p:txBody>
          <a:bodyPr wrap="square" lIns="0" rIns="0" tIns="0" bIns="0" anchor="ctr">
            <a:spAutoFit/>
          </a:bodyPr>
          <a:lstStyle/>
          <a:p>
            <a:pPr algn="l"/>
            <a:r>
              <a:rPr sz="1400" b="0" i="0">
                <a:solidFill>
                  <a:srgbClr val="F4F6FB"/>
                </a:solidFill>
                <a:latin typeface="Calibri"/>
              </a:rPr>
              <a:t>Substitution and the shift</a:t>
            </a:r>
          </a:p>
        </p:txBody>
      </p:sp>
      <p:sp>
        <p:nvSpPr>
          <p:cNvPr id="10" name="TextBox 9"/>
          <p:cNvSpPr txBox="1"/>
          <p:nvPr/>
        </p:nvSpPr>
        <p:spPr>
          <a:xfrm>
            <a:off x="548640" y="5455920"/>
            <a:ext cx="411480" cy="402590"/>
          </a:xfrm>
          <a:prstGeom prst="rect">
            <a:avLst/>
          </a:prstGeom>
          <a:noFill/>
        </p:spPr>
        <p:txBody>
          <a:bodyPr wrap="square" lIns="0" rIns="0" tIns="0" bIns="0" anchor="ctr">
            <a:spAutoFit/>
          </a:bodyPr>
          <a:lstStyle/>
          <a:p>
            <a:pPr algn="l"/>
            <a:r>
              <a:rPr sz="1200" b="1" i="0">
                <a:solidFill>
                  <a:srgbClr val="4CC9F0"/>
                </a:solidFill>
                <a:latin typeface="Cambria"/>
              </a:rPr>
              <a:t>03</a:t>
            </a:r>
          </a:p>
        </p:txBody>
      </p:sp>
      <p:sp>
        <p:nvSpPr>
          <p:cNvPr id="11" name="TextBox 10"/>
          <p:cNvSpPr txBox="1"/>
          <p:nvPr/>
        </p:nvSpPr>
        <p:spPr>
          <a:xfrm>
            <a:off x="1005840" y="5455920"/>
            <a:ext cx="4663440" cy="402590"/>
          </a:xfrm>
          <a:prstGeom prst="rect">
            <a:avLst/>
          </a:prstGeom>
          <a:noFill/>
        </p:spPr>
        <p:txBody>
          <a:bodyPr wrap="square" lIns="0" rIns="0" tIns="0" bIns="0" anchor="ctr">
            <a:spAutoFit/>
          </a:bodyPr>
          <a:lstStyle/>
          <a:p>
            <a:pPr algn="l"/>
            <a:r>
              <a:rPr sz="1400" b="0" i="0">
                <a:solidFill>
                  <a:srgbClr val="F4F6FB"/>
                </a:solidFill>
                <a:latin typeface="Calibri"/>
              </a:rPr>
              <a:t>Frequency analysis</a:t>
            </a:r>
          </a:p>
        </p:txBody>
      </p:sp>
      <p:sp>
        <p:nvSpPr>
          <p:cNvPr id="12" name="TextBox 11"/>
          <p:cNvSpPr txBox="1"/>
          <p:nvPr/>
        </p:nvSpPr>
        <p:spPr>
          <a:xfrm>
            <a:off x="6126480" y="3977640"/>
            <a:ext cx="411480" cy="402590"/>
          </a:xfrm>
          <a:prstGeom prst="rect">
            <a:avLst/>
          </a:prstGeom>
          <a:noFill/>
        </p:spPr>
        <p:txBody>
          <a:bodyPr wrap="square" lIns="0" rIns="0" tIns="0" bIns="0" anchor="ctr">
            <a:spAutoFit/>
          </a:bodyPr>
          <a:lstStyle/>
          <a:p>
            <a:pPr algn="l"/>
            <a:r>
              <a:rPr sz="1200" b="1" i="0">
                <a:solidFill>
                  <a:srgbClr val="4CC9F0"/>
                </a:solidFill>
                <a:latin typeface="Cambria"/>
              </a:rPr>
              <a:t>04</a:t>
            </a:r>
          </a:p>
        </p:txBody>
      </p:sp>
      <p:sp>
        <p:nvSpPr>
          <p:cNvPr id="13" name="TextBox 12"/>
          <p:cNvSpPr txBox="1"/>
          <p:nvPr/>
        </p:nvSpPr>
        <p:spPr>
          <a:xfrm>
            <a:off x="6583680" y="3977640"/>
            <a:ext cx="4663440" cy="402590"/>
          </a:xfrm>
          <a:prstGeom prst="rect">
            <a:avLst/>
          </a:prstGeom>
          <a:noFill/>
        </p:spPr>
        <p:txBody>
          <a:bodyPr wrap="square" lIns="0" rIns="0" tIns="0" bIns="0" anchor="ctr">
            <a:spAutoFit/>
          </a:bodyPr>
          <a:lstStyle/>
          <a:p>
            <a:pPr algn="l"/>
            <a:r>
              <a:rPr sz="1400" b="0" i="0">
                <a:solidFill>
                  <a:srgbClr val="F4F6FB"/>
                </a:solidFill>
                <a:latin typeface="Calibri"/>
              </a:rPr>
              <a:t>Polyalphabetic ciphers</a:t>
            </a:r>
          </a:p>
        </p:txBody>
      </p:sp>
      <p:sp>
        <p:nvSpPr>
          <p:cNvPr id="14" name="TextBox 13"/>
          <p:cNvSpPr txBox="1"/>
          <p:nvPr/>
        </p:nvSpPr>
        <p:spPr>
          <a:xfrm>
            <a:off x="6126480" y="4716780"/>
            <a:ext cx="411480" cy="402590"/>
          </a:xfrm>
          <a:prstGeom prst="rect">
            <a:avLst/>
          </a:prstGeom>
          <a:noFill/>
        </p:spPr>
        <p:txBody>
          <a:bodyPr wrap="square" lIns="0" rIns="0" tIns="0" bIns="0" anchor="ctr">
            <a:spAutoFit/>
          </a:bodyPr>
          <a:lstStyle/>
          <a:p>
            <a:pPr algn="l"/>
            <a:r>
              <a:rPr sz="1200" b="1" i="0">
                <a:solidFill>
                  <a:srgbClr val="4CC9F0"/>
                </a:solidFill>
                <a:latin typeface="Cambria"/>
              </a:rPr>
              <a:t>05</a:t>
            </a:r>
          </a:p>
        </p:txBody>
      </p:sp>
      <p:sp>
        <p:nvSpPr>
          <p:cNvPr id="15" name="TextBox 14"/>
          <p:cNvSpPr txBox="1"/>
          <p:nvPr/>
        </p:nvSpPr>
        <p:spPr>
          <a:xfrm>
            <a:off x="6583680" y="4716780"/>
            <a:ext cx="4663440" cy="402590"/>
          </a:xfrm>
          <a:prstGeom prst="rect">
            <a:avLst/>
          </a:prstGeom>
          <a:noFill/>
        </p:spPr>
        <p:txBody>
          <a:bodyPr wrap="square" lIns="0" rIns="0" tIns="0" bIns="0" anchor="ctr">
            <a:spAutoFit/>
          </a:bodyPr>
          <a:lstStyle/>
          <a:p>
            <a:pPr algn="l"/>
            <a:r>
              <a:rPr sz="1400" b="0" i="0">
                <a:solidFill>
                  <a:srgbClr val="F4F6FB"/>
                </a:solidFill>
                <a:latin typeface="Calibri"/>
              </a:rPr>
              <a:t>Finding the key length</a:t>
            </a:r>
          </a:p>
        </p:txBody>
      </p:sp>
      <p:sp>
        <p:nvSpPr>
          <p:cNvPr id="16" name="TextBox 15"/>
          <p:cNvSpPr txBox="1"/>
          <p:nvPr/>
        </p:nvSpPr>
        <p:spPr>
          <a:xfrm>
            <a:off x="6126480" y="5455920"/>
            <a:ext cx="411480" cy="402590"/>
          </a:xfrm>
          <a:prstGeom prst="rect">
            <a:avLst/>
          </a:prstGeom>
          <a:noFill/>
        </p:spPr>
        <p:txBody>
          <a:bodyPr wrap="square" lIns="0" rIns="0" tIns="0" bIns="0" anchor="ctr">
            <a:spAutoFit/>
          </a:bodyPr>
          <a:lstStyle/>
          <a:p>
            <a:pPr algn="l"/>
            <a:r>
              <a:rPr sz="1200" b="1" i="0">
                <a:solidFill>
                  <a:srgbClr val="4CC9F0"/>
                </a:solidFill>
                <a:latin typeface="Cambria"/>
              </a:rPr>
              <a:t>06</a:t>
            </a:r>
          </a:p>
        </p:txBody>
      </p:sp>
      <p:sp>
        <p:nvSpPr>
          <p:cNvPr id="17" name="TextBox 16"/>
          <p:cNvSpPr txBox="1"/>
          <p:nvPr/>
        </p:nvSpPr>
        <p:spPr>
          <a:xfrm>
            <a:off x="6583680" y="5455920"/>
            <a:ext cx="4663440" cy="402590"/>
          </a:xfrm>
          <a:prstGeom prst="rect">
            <a:avLst/>
          </a:prstGeom>
          <a:noFill/>
        </p:spPr>
        <p:txBody>
          <a:bodyPr wrap="square" lIns="0" rIns="0" tIns="0" bIns="0" anchor="ctr">
            <a:spAutoFit/>
          </a:bodyPr>
          <a:lstStyle/>
          <a:p>
            <a:pPr algn="l"/>
            <a:r>
              <a:rPr sz="1400" b="0" i="0">
                <a:solidFill>
                  <a:srgbClr val="F4F6FB"/>
                </a:solidFill>
                <a:latin typeface="Calibri"/>
              </a:rPr>
              <a:t>Stream ciphers and XOR</a:t>
            </a:r>
          </a:p>
        </p:txBody>
      </p:sp>
      <p:sp>
        <p:nvSpPr>
          <p:cNvPr id="18" name="TextBox 17"/>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9" name="TextBox 18"/>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01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Encoding is not encryption</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Base64 changes how bytes look. It keeps no secret at all.</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Encoding converts data into a different alphabet so that it survives transport — text using only safe characters, for instance. The transformation is fixed and public. There is no key, so anyone can undo it. Base64 turns every three bytes into four printable characters, which is why encoded text runs about a third longer and often ends in an equals sign.</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Encoded data looks scrambled, so it is often mistaken for encrypted data. Telling them apart saves you from attacking something that was never locked.</a:t>
            </a:r>
          </a:p>
        </p:txBody>
      </p:sp>
      <p:sp>
        <p:nvSpPr>
          <p:cNvPr id="10" name="Rounded Rectangle 9"/>
          <p:cNvSpPr/>
          <p:nvPr/>
        </p:nvSpPr>
        <p:spPr>
          <a:xfrm>
            <a:off x="6383020" y="2148840"/>
            <a:ext cx="52603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405380"/>
            <a:ext cx="4711700" cy="3175000"/>
          </a:xfrm>
          <a:prstGeom prst="rect">
            <a:avLst/>
          </a:prstGeom>
          <a:noFill/>
        </p:spPr>
        <p:txBody>
          <a:bodyPr wrap="square" lIns="0" rIns="0" tIns="0" bIns="0" anchor="t">
            <a:spAutoFit/>
          </a:bodyPr>
          <a:lstStyle/>
          <a:p>
            <a:pPr algn="l">
              <a:lnSpc>
                <a:spcPct val="112000"/>
              </a:lnSpc>
            </a:pPr>
            <a:r>
              <a:rPr sz="1050" b="0" i="1">
                <a:solidFill>
                  <a:srgbClr val="8FA3C8"/>
                </a:solidFill>
                <a:latin typeface="Courier New"/>
              </a:rPr>
              <a:t>base64, both directions</a:t>
            </a:r>
          </a:p>
          <a:p>
            <a:pPr algn="l">
              <a:lnSpc>
                <a:spcPct val="112000"/>
              </a:lnSpc>
            </a:pPr>
            <a:r>
              <a:rPr sz="1050" b="0" i="0">
                <a:solidFill>
                  <a:srgbClr val="F4F6FB"/>
                </a:solidFill>
                <a:latin typeface="Courier New"/>
              </a:rPr>
              <a:t>plain     HELLO</a:t>
            </a:r>
          </a:p>
          <a:p>
            <a:pPr algn="l">
              <a:lnSpc>
                <a:spcPct val="112000"/>
              </a:lnSpc>
            </a:pPr>
            <a:r>
              <a:rPr sz="1050" b="0" i="0">
                <a:solidFill>
                  <a:srgbClr val="F4F6FB"/>
                </a:solidFill>
                <a:latin typeface="Courier New"/>
              </a:rPr>
              <a:t>encoded   SEVMTE8=</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how to recognise it</a:t>
            </a:r>
          </a:p>
          <a:p>
            <a:pPr algn="l">
              <a:lnSpc>
                <a:spcPct val="112000"/>
              </a:lnSpc>
            </a:pPr>
            <a:r>
              <a:rPr sz="1050" b="0" i="0">
                <a:solidFill>
                  <a:srgbClr val="F4F6FB"/>
                </a:solidFill>
                <a:latin typeface="Courier New"/>
              </a:rPr>
              <a:t>- alphabet is A-Z a-z 0-9 + /</a:t>
            </a:r>
          </a:p>
          <a:p>
            <a:pPr algn="l">
              <a:lnSpc>
                <a:spcPct val="112000"/>
              </a:lnSpc>
            </a:pPr>
            <a:r>
              <a:rPr sz="1050" b="0" i="0">
                <a:solidFill>
                  <a:srgbClr val="F4F6FB"/>
                </a:solidFill>
                <a:latin typeface="Courier New"/>
              </a:rPr>
              <a:t>- length is a multiple of 4</a:t>
            </a:r>
          </a:p>
          <a:p>
            <a:pPr algn="l">
              <a:lnSpc>
                <a:spcPct val="112000"/>
              </a:lnSpc>
            </a:pPr>
            <a:r>
              <a:rPr sz="1050" b="0" i="0">
                <a:solidFill>
                  <a:srgbClr val="F4F6FB"/>
                </a:solidFill>
                <a:latin typeface="Courier New"/>
              </a:rPr>
              <a:t>- padded at the end with = or ==</a:t>
            </a:r>
          </a:p>
          <a:p>
            <a:pPr algn="l">
              <a:lnSpc>
                <a:spcPct val="112000"/>
              </a:lnSpc>
            </a:pPr>
            <a:r>
              <a:rPr sz="1050" b="0" i="0">
                <a:solidFill>
                  <a:srgbClr val="F4F6FB"/>
                </a:solidFill>
                <a:latin typeface="Courier New"/>
              </a:rPr>
              <a:t>- roughly a third longer than the input</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there is no key,</a:t>
            </a:r>
          </a:p>
          <a:p>
            <a:pPr algn="l">
              <a:lnSpc>
                <a:spcPct val="112000"/>
              </a:lnSpc>
            </a:pPr>
            <a:r>
              <a:rPr sz="1050" b="0" i="1">
                <a:solidFill>
                  <a:srgbClr val="8FA3C8"/>
                </a:solidFill>
                <a:latin typeface="Courier New"/>
              </a:rPr>
              <a:t>so there is nothing to break</a:t>
            </a:r>
          </a:p>
        </p:txBody>
      </p:sp>
      <p:sp>
        <p:nvSpPr>
          <p:cNvPr id="12" name="TextBox 11"/>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No key means no secret. It is a costume, not a lock.</a:t>
            </a:r>
          </a:p>
        </p:txBody>
      </p:sp>
      <p:sp>
        <p:nvSpPr>
          <p:cNvPr id="13" name="TextBox 12"/>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4" name="TextBox 13"/>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02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Substitution and the shift</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Replace every letter with another by a fixed rule. The rule is the key.</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The oldest family of ciphers replaces each symbol with a different one. In a shift cipher the rule is simply "move along the alphabet by a fixed number", wrapping round at the end. Encrypting and decrypting are the same operation in opposite directions, and the entire secret is that one number.</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Everything else on this track builds on this idea or reacts against it. A rotation of 13 is the same mechanism with the number fixed and published; the interesting case is when nobody tells you the number.</a:t>
            </a:r>
          </a:p>
        </p:txBody>
      </p:sp>
      <p:sp>
        <p:nvSpPr>
          <p:cNvPr id="10" name="Rounded Rectangle 9"/>
          <p:cNvSpPr/>
          <p:nvPr/>
        </p:nvSpPr>
        <p:spPr>
          <a:xfrm>
            <a:off x="6383020" y="2148840"/>
            <a:ext cx="5260340" cy="3810000"/>
          </a:xfrm>
          <a:prstGeom prst="roundRect">
            <a:avLst>
              <a:gd name="adj" fmla="val 2308"/>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386330"/>
            <a:ext cx="1828800" cy="219710"/>
          </a:xfrm>
          <a:prstGeom prst="rect">
            <a:avLst/>
          </a:prstGeom>
          <a:noFill/>
        </p:spPr>
        <p:txBody>
          <a:bodyPr wrap="square" lIns="0" rIns="0" tIns="0" bIns="0" anchor="ctr">
            <a:spAutoFit/>
          </a:bodyPr>
          <a:lstStyle/>
          <a:p>
            <a:pPr algn="l"/>
            <a:r>
              <a:rPr sz="1000" b="1" i="0" spc="100">
                <a:solidFill>
                  <a:srgbClr val="8FA3C8"/>
                </a:solidFill>
                <a:latin typeface="Calibri"/>
              </a:rPr>
              <a:t>PLAIN</a:t>
            </a:r>
          </a:p>
        </p:txBody>
      </p:sp>
      <p:sp>
        <p:nvSpPr>
          <p:cNvPr id="12" name="TextBox 11"/>
          <p:cNvSpPr txBox="1"/>
          <p:nvPr/>
        </p:nvSpPr>
        <p:spPr>
          <a:xfrm>
            <a:off x="665734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A</a:t>
            </a:r>
          </a:p>
        </p:txBody>
      </p:sp>
      <p:sp>
        <p:nvSpPr>
          <p:cNvPr id="13" name="TextBox 12"/>
          <p:cNvSpPr txBox="1"/>
          <p:nvPr/>
        </p:nvSpPr>
        <p:spPr>
          <a:xfrm>
            <a:off x="683768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B</a:t>
            </a:r>
          </a:p>
        </p:txBody>
      </p:sp>
      <p:sp>
        <p:nvSpPr>
          <p:cNvPr id="14" name="TextBox 13"/>
          <p:cNvSpPr txBox="1"/>
          <p:nvPr/>
        </p:nvSpPr>
        <p:spPr>
          <a:xfrm>
            <a:off x="701929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C</a:t>
            </a:r>
          </a:p>
        </p:txBody>
      </p:sp>
      <p:sp>
        <p:nvSpPr>
          <p:cNvPr id="15" name="TextBox 14"/>
          <p:cNvSpPr txBox="1"/>
          <p:nvPr/>
        </p:nvSpPr>
        <p:spPr>
          <a:xfrm>
            <a:off x="720090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D</a:t>
            </a:r>
          </a:p>
        </p:txBody>
      </p:sp>
      <p:sp>
        <p:nvSpPr>
          <p:cNvPr id="16" name="TextBox 15"/>
          <p:cNvSpPr txBox="1"/>
          <p:nvPr/>
        </p:nvSpPr>
        <p:spPr>
          <a:xfrm>
            <a:off x="738124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E</a:t>
            </a:r>
          </a:p>
        </p:txBody>
      </p:sp>
      <p:sp>
        <p:nvSpPr>
          <p:cNvPr id="17" name="TextBox 16"/>
          <p:cNvSpPr txBox="1"/>
          <p:nvPr/>
        </p:nvSpPr>
        <p:spPr>
          <a:xfrm>
            <a:off x="756285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F</a:t>
            </a:r>
          </a:p>
        </p:txBody>
      </p:sp>
      <p:sp>
        <p:nvSpPr>
          <p:cNvPr id="18" name="TextBox 17"/>
          <p:cNvSpPr txBox="1"/>
          <p:nvPr/>
        </p:nvSpPr>
        <p:spPr>
          <a:xfrm>
            <a:off x="7744459"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G</a:t>
            </a:r>
          </a:p>
        </p:txBody>
      </p:sp>
      <p:sp>
        <p:nvSpPr>
          <p:cNvPr id="19" name="TextBox 18"/>
          <p:cNvSpPr txBox="1"/>
          <p:nvPr/>
        </p:nvSpPr>
        <p:spPr>
          <a:xfrm>
            <a:off x="792480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H</a:t>
            </a:r>
          </a:p>
        </p:txBody>
      </p:sp>
      <p:sp>
        <p:nvSpPr>
          <p:cNvPr id="20" name="TextBox 19"/>
          <p:cNvSpPr txBox="1"/>
          <p:nvPr/>
        </p:nvSpPr>
        <p:spPr>
          <a:xfrm>
            <a:off x="8106409"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I</a:t>
            </a:r>
          </a:p>
        </p:txBody>
      </p:sp>
      <p:sp>
        <p:nvSpPr>
          <p:cNvPr id="21" name="TextBox 20"/>
          <p:cNvSpPr txBox="1"/>
          <p:nvPr/>
        </p:nvSpPr>
        <p:spPr>
          <a:xfrm>
            <a:off x="828802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J</a:t>
            </a:r>
          </a:p>
        </p:txBody>
      </p:sp>
      <p:sp>
        <p:nvSpPr>
          <p:cNvPr id="22" name="TextBox 21"/>
          <p:cNvSpPr txBox="1"/>
          <p:nvPr/>
        </p:nvSpPr>
        <p:spPr>
          <a:xfrm>
            <a:off x="846963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K</a:t>
            </a:r>
          </a:p>
        </p:txBody>
      </p:sp>
      <p:sp>
        <p:nvSpPr>
          <p:cNvPr id="23" name="TextBox 22"/>
          <p:cNvSpPr txBox="1"/>
          <p:nvPr/>
        </p:nvSpPr>
        <p:spPr>
          <a:xfrm>
            <a:off x="864997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L</a:t>
            </a:r>
          </a:p>
        </p:txBody>
      </p:sp>
      <p:sp>
        <p:nvSpPr>
          <p:cNvPr id="24" name="TextBox 23"/>
          <p:cNvSpPr txBox="1"/>
          <p:nvPr/>
        </p:nvSpPr>
        <p:spPr>
          <a:xfrm>
            <a:off x="883158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M</a:t>
            </a:r>
          </a:p>
        </p:txBody>
      </p:sp>
      <p:sp>
        <p:nvSpPr>
          <p:cNvPr id="25" name="TextBox 24"/>
          <p:cNvSpPr txBox="1"/>
          <p:nvPr/>
        </p:nvSpPr>
        <p:spPr>
          <a:xfrm>
            <a:off x="901319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N</a:t>
            </a:r>
          </a:p>
        </p:txBody>
      </p:sp>
      <p:sp>
        <p:nvSpPr>
          <p:cNvPr id="26" name="TextBox 25"/>
          <p:cNvSpPr txBox="1"/>
          <p:nvPr/>
        </p:nvSpPr>
        <p:spPr>
          <a:xfrm>
            <a:off x="919353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O</a:t>
            </a:r>
          </a:p>
        </p:txBody>
      </p:sp>
      <p:sp>
        <p:nvSpPr>
          <p:cNvPr id="27" name="TextBox 26"/>
          <p:cNvSpPr txBox="1"/>
          <p:nvPr/>
        </p:nvSpPr>
        <p:spPr>
          <a:xfrm>
            <a:off x="937514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P</a:t>
            </a:r>
          </a:p>
        </p:txBody>
      </p:sp>
      <p:sp>
        <p:nvSpPr>
          <p:cNvPr id="28" name="TextBox 27"/>
          <p:cNvSpPr txBox="1"/>
          <p:nvPr/>
        </p:nvSpPr>
        <p:spPr>
          <a:xfrm>
            <a:off x="955675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Q</a:t>
            </a:r>
          </a:p>
        </p:txBody>
      </p:sp>
      <p:sp>
        <p:nvSpPr>
          <p:cNvPr id="29" name="TextBox 28"/>
          <p:cNvSpPr txBox="1"/>
          <p:nvPr/>
        </p:nvSpPr>
        <p:spPr>
          <a:xfrm>
            <a:off x="973709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R</a:t>
            </a:r>
          </a:p>
        </p:txBody>
      </p:sp>
      <p:sp>
        <p:nvSpPr>
          <p:cNvPr id="30" name="TextBox 29"/>
          <p:cNvSpPr txBox="1"/>
          <p:nvPr/>
        </p:nvSpPr>
        <p:spPr>
          <a:xfrm>
            <a:off x="991870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S</a:t>
            </a:r>
          </a:p>
        </p:txBody>
      </p:sp>
      <p:sp>
        <p:nvSpPr>
          <p:cNvPr id="31" name="TextBox 30"/>
          <p:cNvSpPr txBox="1"/>
          <p:nvPr/>
        </p:nvSpPr>
        <p:spPr>
          <a:xfrm>
            <a:off x="1010031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T</a:t>
            </a:r>
          </a:p>
        </p:txBody>
      </p:sp>
      <p:sp>
        <p:nvSpPr>
          <p:cNvPr id="32" name="TextBox 31"/>
          <p:cNvSpPr txBox="1"/>
          <p:nvPr/>
        </p:nvSpPr>
        <p:spPr>
          <a:xfrm>
            <a:off x="1028192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U</a:t>
            </a:r>
          </a:p>
        </p:txBody>
      </p:sp>
      <p:sp>
        <p:nvSpPr>
          <p:cNvPr id="33" name="TextBox 32"/>
          <p:cNvSpPr txBox="1"/>
          <p:nvPr/>
        </p:nvSpPr>
        <p:spPr>
          <a:xfrm>
            <a:off x="1046226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V</a:t>
            </a:r>
          </a:p>
        </p:txBody>
      </p:sp>
      <p:sp>
        <p:nvSpPr>
          <p:cNvPr id="34" name="TextBox 33"/>
          <p:cNvSpPr txBox="1"/>
          <p:nvPr/>
        </p:nvSpPr>
        <p:spPr>
          <a:xfrm>
            <a:off x="1064387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W</a:t>
            </a:r>
          </a:p>
        </p:txBody>
      </p:sp>
      <p:sp>
        <p:nvSpPr>
          <p:cNvPr id="35" name="TextBox 34"/>
          <p:cNvSpPr txBox="1"/>
          <p:nvPr/>
        </p:nvSpPr>
        <p:spPr>
          <a:xfrm>
            <a:off x="1082548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X</a:t>
            </a:r>
          </a:p>
        </p:txBody>
      </p:sp>
      <p:sp>
        <p:nvSpPr>
          <p:cNvPr id="36" name="TextBox 35"/>
          <p:cNvSpPr txBox="1"/>
          <p:nvPr/>
        </p:nvSpPr>
        <p:spPr>
          <a:xfrm>
            <a:off x="1100582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Y</a:t>
            </a:r>
          </a:p>
        </p:txBody>
      </p:sp>
      <p:sp>
        <p:nvSpPr>
          <p:cNvPr id="37" name="TextBox 36"/>
          <p:cNvSpPr txBox="1"/>
          <p:nvPr/>
        </p:nvSpPr>
        <p:spPr>
          <a:xfrm>
            <a:off x="11187430" y="2651760"/>
            <a:ext cx="181610" cy="274320"/>
          </a:xfrm>
          <a:prstGeom prst="rect">
            <a:avLst/>
          </a:prstGeom>
          <a:noFill/>
        </p:spPr>
        <p:txBody>
          <a:bodyPr wrap="square" lIns="0" rIns="0" tIns="0" bIns="0" anchor="ctr">
            <a:spAutoFit/>
          </a:bodyPr>
          <a:lstStyle/>
          <a:p>
            <a:pPr algn="ctr"/>
            <a:r>
              <a:rPr sz="1000" b="0" i="0">
                <a:solidFill>
                  <a:srgbClr val="B8C7E4"/>
                </a:solidFill>
                <a:latin typeface="Courier New"/>
              </a:rPr>
              <a:t>Z</a:t>
            </a:r>
          </a:p>
        </p:txBody>
      </p:sp>
      <p:sp>
        <p:nvSpPr>
          <p:cNvPr id="38" name="TextBox 37"/>
          <p:cNvSpPr txBox="1"/>
          <p:nvPr/>
        </p:nvSpPr>
        <p:spPr>
          <a:xfrm>
            <a:off x="6657340" y="3017520"/>
            <a:ext cx="2011680" cy="219710"/>
          </a:xfrm>
          <a:prstGeom prst="rect">
            <a:avLst/>
          </a:prstGeom>
          <a:noFill/>
        </p:spPr>
        <p:txBody>
          <a:bodyPr wrap="square" lIns="0" rIns="0" tIns="0" bIns="0" anchor="ctr">
            <a:spAutoFit/>
          </a:bodyPr>
          <a:lstStyle/>
          <a:p>
            <a:pPr algn="l"/>
            <a:r>
              <a:rPr sz="900" b="1" i="0" spc="100">
                <a:solidFill>
                  <a:srgbClr val="4CC9F0"/>
                </a:solidFill>
                <a:latin typeface="Calibri"/>
              </a:rPr>
              <a:t>SHIFTED BY 3</a:t>
            </a:r>
          </a:p>
        </p:txBody>
      </p:sp>
      <p:sp>
        <p:nvSpPr>
          <p:cNvPr id="39" name="TextBox 38"/>
          <p:cNvSpPr txBox="1"/>
          <p:nvPr/>
        </p:nvSpPr>
        <p:spPr>
          <a:xfrm>
            <a:off x="665734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D</a:t>
            </a:r>
          </a:p>
        </p:txBody>
      </p:sp>
      <p:sp>
        <p:nvSpPr>
          <p:cNvPr id="40" name="TextBox 39"/>
          <p:cNvSpPr txBox="1"/>
          <p:nvPr/>
        </p:nvSpPr>
        <p:spPr>
          <a:xfrm>
            <a:off x="683768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E</a:t>
            </a:r>
          </a:p>
        </p:txBody>
      </p:sp>
      <p:sp>
        <p:nvSpPr>
          <p:cNvPr id="41" name="TextBox 40"/>
          <p:cNvSpPr txBox="1"/>
          <p:nvPr/>
        </p:nvSpPr>
        <p:spPr>
          <a:xfrm>
            <a:off x="701929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F</a:t>
            </a:r>
          </a:p>
        </p:txBody>
      </p:sp>
      <p:sp>
        <p:nvSpPr>
          <p:cNvPr id="42" name="TextBox 41"/>
          <p:cNvSpPr txBox="1"/>
          <p:nvPr/>
        </p:nvSpPr>
        <p:spPr>
          <a:xfrm>
            <a:off x="720090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G</a:t>
            </a:r>
          </a:p>
        </p:txBody>
      </p:sp>
      <p:sp>
        <p:nvSpPr>
          <p:cNvPr id="43" name="TextBox 42"/>
          <p:cNvSpPr txBox="1"/>
          <p:nvPr/>
        </p:nvSpPr>
        <p:spPr>
          <a:xfrm>
            <a:off x="738124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H</a:t>
            </a:r>
          </a:p>
        </p:txBody>
      </p:sp>
      <p:sp>
        <p:nvSpPr>
          <p:cNvPr id="44" name="TextBox 43"/>
          <p:cNvSpPr txBox="1"/>
          <p:nvPr/>
        </p:nvSpPr>
        <p:spPr>
          <a:xfrm>
            <a:off x="756285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I</a:t>
            </a:r>
          </a:p>
        </p:txBody>
      </p:sp>
      <p:sp>
        <p:nvSpPr>
          <p:cNvPr id="45" name="TextBox 44"/>
          <p:cNvSpPr txBox="1"/>
          <p:nvPr/>
        </p:nvSpPr>
        <p:spPr>
          <a:xfrm>
            <a:off x="7744459"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J</a:t>
            </a:r>
          </a:p>
        </p:txBody>
      </p:sp>
      <p:sp>
        <p:nvSpPr>
          <p:cNvPr id="46" name="TextBox 45"/>
          <p:cNvSpPr txBox="1"/>
          <p:nvPr/>
        </p:nvSpPr>
        <p:spPr>
          <a:xfrm>
            <a:off x="792480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K</a:t>
            </a:r>
          </a:p>
        </p:txBody>
      </p:sp>
      <p:sp>
        <p:nvSpPr>
          <p:cNvPr id="47" name="TextBox 46"/>
          <p:cNvSpPr txBox="1"/>
          <p:nvPr/>
        </p:nvSpPr>
        <p:spPr>
          <a:xfrm>
            <a:off x="8106409"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L</a:t>
            </a:r>
          </a:p>
        </p:txBody>
      </p:sp>
      <p:sp>
        <p:nvSpPr>
          <p:cNvPr id="48" name="TextBox 47"/>
          <p:cNvSpPr txBox="1"/>
          <p:nvPr/>
        </p:nvSpPr>
        <p:spPr>
          <a:xfrm>
            <a:off x="828802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M</a:t>
            </a:r>
          </a:p>
        </p:txBody>
      </p:sp>
      <p:sp>
        <p:nvSpPr>
          <p:cNvPr id="49" name="TextBox 48"/>
          <p:cNvSpPr txBox="1"/>
          <p:nvPr/>
        </p:nvSpPr>
        <p:spPr>
          <a:xfrm>
            <a:off x="846963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N</a:t>
            </a:r>
          </a:p>
        </p:txBody>
      </p:sp>
      <p:sp>
        <p:nvSpPr>
          <p:cNvPr id="50" name="TextBox 49"/>
          <p:cNvSpPr txBox="1"/>
          <p:nvPr/>
        </p:nvSpPr>
        <p:spPr>
          <a:xfrm>
            <a:off x="864997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O</a:t>
            </a:r>
          </a:p>
        </p:txBody>
      </p:sp>
      <p:sp>
        <p:nvSpPr>
          <p:cNvPr id="51" name="TextBox 50"/>
          <p:cNvSpPr txBox="1"/>
          <p:nvPr/>
        </p:nvSpPr>
        <p:spPr>
          <a:xfrm>
            <a:off x="883158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P</a:t>
            </a:r>
          </a:p>
        </p:txBody>
      </p:sp>
      <p:sp>
        <p:nvSpPr>
          <p:cNvPr id="52" name="TextBox 51"/>
          <p:cNvSpPr txBox="1"/>
          <p:nvPr/>
        </p:nvSpPr>
        <p:spPr>
          <a:xfrm>
            <a:off x="901319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Q</a:t>
            </a:r>
          </a:p>
        </p:txBody>
      </p:sp>
      <p:sp>
        <p:nvSpPr>
          <p:cNvPr id="53" name="TextBox 52"/>
          <p:cNvSpPr txBox="1"/>
          <p:nvPr/>
        </p:nvSpPr>
        <p:spPr>
          <a:xfrm>
            <a:off x="919353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R</a:t>
            </a:r>
          </a:p>
        </p:txBody>
      </p:sp>
      <p:sp>
        <p:nvSpPr>
          <p:cNvPr id="54" name="TextBox 53"/>
          <p:cNvSpPr txBox="1"/>
          <p:nvPr/>
        </p:nvSpPr>
        <p:spPr>
          <a:xfrm>
            <a:off x="937514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S</a:t>
            </a:r>
          </a:p>
        </p:txBody>
      </p:sp>
      <p:sp>
        <p:nvSpPr>
          <p:cNvPr id="55" name="TextBox 54"/>
          <p:cNvSpPr txBox="1"/>
          <p:nvPr/>
        </p:nvSpPr>
        <p:spPr>
          <a:xfrm>
            <a:off x="955675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T</a:t>
            </a:r>
          </a:p>
        </p:txBody>
      </p:sp>
      <p:sp>
        <p:nvSpPr>
          <p:cNvPr id="56" name="TextBox 55"/>
          <p:cNvSpPr txBox="1"/>
          <p:nvPr/>
        </p:nvSpPr>
        <p:spPr>
          <a:xfrm>
            <a:off x="973709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U</a:t>
            </a:r>
          </a:p>
        </p:txBody>
      </p:sp>
      <p:sp>
        <p:nvSpPr>
          <p:cNvPr id="57" name="TextBox 56"/>
          <p:cNvSpPr txBox="1"/>
          <p:nvPr/>
        </p:nvSpPr>
        <p:spPr>
          <a:xfrm>
            <a:off x="991870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V</a:t>
            </a:r>
          </a:p>
        </p:txBody>
      </p:sp>
      <p:sp>
        <p:nvSpPr>
          <p:cNvPr id="58" name="TextBox 57"/>
          <p:cNvSpPr txBox="1"/>
          <p:nvPr/>
        </p:nvSpPr>
        <p:spPr>
          <a:xfrm>
            <a:off x="1010031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W</a:t>
            </a:r>
          </a:p>
        </p:txBody>
      </p:sp>
      <p:sp>
        <p:nvSpPr>
          <p:cNvPr id="59" name="TextBox 58"/>
          <p:cNvSpPr txBox="1"/>
          <p:nvPr/>
        </p:nvSpPr>
        <p:spPr>
          <a:xfrm>
            <a:off x="1028192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X</a:t>
            </a:r>
          </a:p>
        </p:txBody>
      </p:sp>
      <p:sp>
        <p:nvSpPr>
          <p:cNvPr id="60" name="TextBox 59"/>
          <p:cNvSpPr txBox="1"/>
          <p:nvPr/>
        </p:nvSpPr>
        <p:spPr>
          <a:xfrm>
            <a:off x="1046226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Y</a:t>
            </a:r>
          </a:p>
        </p:txBody>
      </p:sp>
      <p:sp>
        <p:nvSpPr>
          <p:cNvPr id="61" name="TextBox 60"/>
          <p:cNvSpPr txBox="1"/>
          <p:nvPr/>
        </p:nvSpPr>
        <p:spPr>
          <a:xfrm>
            <a:off x="1064387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Z</a:t>
            </a:r>
          </a:p>
        </p:txBody>
      </p:sp>
      <p:sp>
        <p:nvSpPr>
          <p:cNvPr id="62" name="TextBox 61"/>
          <p:cNvSpPr txBox="1"/>
          <p:nvPr/>
        </p:nvSpPr>
        <p:spPr>
          <a:xfrm>
            <a:off x="1082548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A</a:t>
            </a:r>
          </a:p>
        </p:txBody>
      </p:sp>
      <p:sp>
        <p:nvSpPr>
          <p:cNvPr id="63" name="TextBox 62"/>
          <p:cNvSpPr txBox="1"/>
          <p:nvPr/>
        </p:nvSpPr>
        <p:spPr>
          <a:xfrm>
            <a:off x="1100582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B</a:t>
            </a:r>
          </a:p>
        </p:txBody>
      </p:sp>
      <p:sp>
        <p:nvSpPr>
          <p:cNvPr id="64" name="TextBox 63"/>
          <p:cNvSpPr txBox="1"/>
          <p:nvPr/>
        </p:nvSpPr>
        <p:spPr>
          <a:xfrm>
            <a:off x="11187430" y="3282950"/>
            <a:ext cx="181610" cy="274320"/>
          </a:xfrm>
          <a:prstGeom prst="rect">
            <a:avLst/>
          </a:prstGeom>
          <a:noFill/>
        </p:spPr>
        <p:txBody>
          <a:bodyPr wrap="square" lIns="0" rIns="0" tIns="0" bIns="0" anchor="ctr">
            <a:spAutoFit/>
          </a:bodyPr>
          <a:lstStyle/>
          <a:p>
            <a:pPr algn="ctr"/>
            <a:r>
              <a:rPr sz="1000" b="1" i="0">
                <a:solidFill>
                  <a:srgbClr val="4CC9F0"/>
                </a:solidFill>
                <a:latin typeface="Courier New"/>
              </a:rPr>
              <a:t>C</a:t>
            </a:r>
          </a:p>
        </p:txBody>
      </p:sp>
      <p:sp>
        <p:nvSpPr>
          <p:cNvPr id="65" name="TextBox 64"/>
          <p:cNvSpPr txBox="1"/>
          <p:nvPr/>
        </p:nvSpPr>
        <p:spPr>
          <a:xfrm>
            <a:off x="6657340" y="3840479"/>
            <a:ext cx="1371600" cy="256540"/>
          </a:xfrm>
          <a:prstGeom prst="rect">
            <a:avLst/>
          </a:prstGeom>
          <a:noFill/>
        </p:spPr>
        <p:txBody>
          <a:bodyPr wrap="square" lIns="0" rIns="0" tIns="0" bIns="0" anchor="ctr">
            <a:spAutoFit/>
          </a:bodyPr>
          <a:lstStyle/>
          <a:p>
            <a:pPr algn="l"/>
            <a:r>
              <a:rPr sz="1000" b="1" i="0" spc="100">
                <a:solidFill>
                  <a:srgbClr val="8FA3C8"/>
                </a:solidFill>
                <a:latin typeface="Calibri"/>
              </a:rPr>
              <a:t>CIPHERTEXT</a:t>
            </a:r>
          </a:p>
        </p:txBody>
      </p:sp>
      <p:sp>
        <p:nvSpPr>
          <p:cNvPr id="66" name="TextBox 65"/>
          <p:cNvSpPr txBox="1"/>
          <p:nvPr/>
        </p:nvSpPr>
        <p:spPr>
          <a:xfrm>
            <a:off x="6657340" y="4077970"/>
            <a:ext cx="4711700" cy="311150"/>
          </a:xfrm>
          <a:prstGeom prst="rect">
            <a:avLst/>
          </a:prstGeom>
          <a:noFill/>
        </p:spPr>
        <p:txBody>
          <a:bodyPr wrap="square" lIns="0" rIns="0" tIns="0" bIns="0" anchor="ctr">
            <a:spAutoFit/>
          </a:bodyPr>
          <a:lstStyle/>
          <a:p>
            <a:pPr algn="l"/>
            <a:r>
              <a:rPr sz="1400" b="0" i="0">
                <a:solidFill>
                  <a:srgbClr val="B8C7E4"/>
                </a:solidFill>
                <a:latin typeface="Courier New"/>
              </a:rPr>
              <a:t>WKH VLJQDO LV IDLQW</a:t>
            </a:r>
          </a:p>
        </p:txBody>
      </p:sp>
      <p:sp>
        <p:nvSpPr>
          <p:cNvPr id="67" name="TextBox 66"/>
          <p:cNvSpPr txBox="1"/>
          <p:nvPr/>
        </p:nvSpPr>
        <p:spPr>
          <a:xfrm>
            <a:off x="6657340" y="4498340"/>
            <a:ext cx="1371600" cy="256540"/>
          </a:xfrm>
          <a:prstGeom prst="rect">
            <a:avLst/>
          </a:prstGeom>
          <a:noFill/>
        </p:spPr>
        <p:txBody>
          <a:bodyPr wrap="square" lIns="0" rIns="0" tIns="0" bIns="0" anchor="ctr">
            <a:spAutoFit/>
          </a:bodyPr>
          <a:lstStyle/>
          <a:p>
            <a:pPr algn="l"/>
            <a:r>
              <a:rPr sz="1000" b="1" i="0" spc="100">
                <a:solidFill>
                  <a:srgbClr val="8FA3C8"/>
                </a:solidFill>
                <a:latin typeface="Calibri"/>
              </a:rPr>
              <a:t>SHIFTED BACK</a:t>
            </a:r>
          </a:p>
        </p:txBody>
      </p:sp>
      <p:sp>
        <p:nvSpPr>
          <p:cNvPr id="68" name="TextBox 67"/>
          <p:cNvSpPr txBox="1"/>
          <p:nvPr/>
        </p:nvSpPr>
        <p:spPr>
          <a:xfrm>
            <a:off x="6657340" y="4737100"/>
            <a:ext cx="4711700" cy="311150"/>
          </a:xfrm>
          <a:prstGeom prst="rect">
            <a:avLst/>
          </a:prstGeom>
          <a:noFill/>
        </p:spPr>
        <p:txBody>
          <a:bodyPr wrap="square" lIns="0" rIns="0" tIns="0" bIns="0" anchor="ctr">
            <a:spAutoFit/>
          </a:bodyPr>
          <a:lstStyle/>
          <a:p>
            <a:pPr algn="l"/>
            <a:r>
              <a:rPr sz="1400" b="1" i="0">
                <a:solidFill>
                  <a:srgbClr val="4CC9F0"/>
                </a:solidFill>
                <a:latin typeface="Courier New"/>
              </a:rPr>
              <a:t>THE SIGNAL IS FAINT</a:t>
            </a:r>
          </a:p>
        </p:txBody>
      </p:sp>
      <p:sp>
        <p:nvSpPr>
          <p:cNvPr id="69" name="TextBox 68"/>
          <p:cNvSpPr txBox="1"/>
          <p:nvPr/>
        </p:nvSpPr>
        <p:spPr>
          <a:xfrm>
            <a:off x="6657340" y="5384800"/>
            <a:ext cx="4711700" cy="457200"/>
          </a:xfrm>
          <a:prstGeom prst="rect">
            <a:avLst/>
          </a:prstGeom>
          <a:noFill/>
        </p:spPr>
        <p:txBody>
          <a:bodyPr wrap="square" lIns="0" rIns="0" tIns="0" bIns="0" anchor="ctr">
            <a:spAutoFit/>
          </a:bodyPr>
          <a:lstStyle/>
          <a:p>
            <a:pPr algn="l">
              <a:lnSpc>
                <a:spcPct val="115000"/>
              </a:lnSpc>
            </a:pPr>
            <a:r>
              <a:rPr sz="1100" b="0" i="0">
                <a:solidFill>
                  <a:srgbClr val="B8C7E4"/>
                </a:solidFill>
                <a:latin typeface="Calibri"/>
              </a:rPr>
              <a:t>Encrypting and decrypting are the same move, in opposite directions.</a:t>
            </a:r>
          </a:p>
        </p:txBody>
      </p:sp>
      <p:sp>
        <p:nvSpPr>
          <p:cNvPr id="70" name="TextBox 69"/>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Twenty-five possible numbers is not a secret, it is a short wait.</a:t>
            </a:r>
          </a:p>
        </p:txBody>
      </p:sp>
      <p:sp>
        <p:nvSpPr>
          <p:cNvPr id="71" name="TextBox 70"/>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72" name="TextBox 71"/>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03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Frequency analysis</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Real language is lopsided, and substitution preserves the lopsidedness.</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In English some letters appear far more often than others: E and T at the top, Q and Z at the bottom. A substitution cipher renames the letters but does nothing to how often each one occurs. Count the symbols in the ciphertext: the commonest one is probably E.</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This one idea ended simple substitution as a serious method. It also explains why a short message is safer than a long one: counts need volume before they mean anything.</a:t>
            </a:r>
          </a:p>
        </p:txBody>
      </p:sp>
      <p:sp>
        <p:nvSpPr>
          <p:cNvPr id="10" name="Rounded Rectangle 9"/>
          <p:cNvSpPr/>
          <p:nvPr/>
        </p:nvSpPr>
        <p:spPr>
          <a:xfrm>
            <a:off x="6383020" y="2148840"/>
            <a:ext cx="52603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405380"/>
            <a:ext cx="4711700" cy="3175000"/>
          </a:xfrm>
          <a:prstGeom prst="rect">
            <a:avLst/>
          </a:prstGeom>
          <a:noFill/>
        </p:spPr>
        <p:txBody>
          <a:bodyPr wrap="square" lIns="0" rIns="0" tIns="0" bIns="0" anchor="t">
            <a:spAutoFit/>
          </a:bodyPr>
          <a:lstStyle/>
          <a:p>
            <a:pPr algn="l">
              <a:lnSpc>
                <a:spcPct val="112000"/>
              </a:lnSpc>
            </a:pPr>
            <a:r>
              <a:rPr sz="1050" b="0" i="1">
                <a:solidFill>
                  <a:srgbClr val="8FA3C8"/>
                </a:solidFill>
                <a:latin typeface="Courier New"/>
              </a:rPr>
              <a:t>English letter frequency, roughly</a:t>
            </a:r>
          </a:p>
          <a:p>
            <a:pPr algn="l">
              <a:lnSpc>
                <a:spcPct val="112000"/>
              </a:lnSpc>
            </a:pPr>
            <a:r>
              <a:rPr sz="1050" b="0" i="0">
                <a:solidFill>
                  <a:srgbClr val="F4F6FB"/>
                </a:solidFill>
                <a:latin typeface="Courier New"/>
              </a:rPr>
              <a:t>E  ############   12.7%</a:t>
            </a:r>
          </a:p>
          <a:p>
            <a:pPr algn="l">
              <a:lnSpc>
                <a:spcPct val="112000"/>
              </a:lnSpc>
            </a:pPr>
            <a:r>
              <a:rPr sz="1050" b="0" i="0">
                <a:solidFill>
                  <a:srgbClr val="F4F6FB"/>
                </a:solidFill>
                <a:latin typeface="Courier New"/>
              </a:rPr>
              <a:t>T  #########       9.1%</a:t>
            </a:r>
          </a:p>
          <a:p>
            <a:pPr algn="l">
              <a:lnSpc>
                <a:spcPct val="112000"/>
              </a:lnSpc>
            </a:pPr>
            <a:r>
              <a:rPr sz="1050" b="0" i="0">
                <a:solidFill>
                  <a:srgbClr val="F4F6FB"/>
                </a:solidFill>
                <a:latin typeface="Courier New"/>
              </a:rPr>
              <a:t>A  ########        8.2%</a:t>
            </a:r>
          </a:p>
          <a:p>
            <a:pPr algn="l">
              <a:lnSpc>
                <a:spcPct val="112000"/>
              </a:lnSpc>
            </a:pPr>
            <a:r>
              <a:rPr sz="1050" b="0" i="0">
                <a:solidFill>
                  <a:srgbClr val="F4F6FB"/>
                </a:solidFill>
                <a:latin typeface="Courier New"/>
              </a:rPr>
              <a:t>O  #######         7.5%</a:t>
            </a:r>
          </a:p>
          <a:p>
            <a:pPr algn="l">
              <a:lnSpc>
                <a:spcPct val="112000"/>
              </a:lnSpc>
            </a:pPr>
            <a:r>
              <a:rPr sz="1050" b="0" i="0">
                <a:solidFill>
                  <a:srgbClr val="F4F6FB"/>
                </a:solidFill>
                <a:latin typeface="Courier New"/>
              </a:rPr>
              <a:t>I  #######         7.0%</a:t>
            </a:r>
          </a:p>
          <a:p>
            <a:pPr algn="l">
              <a:lnSpc>
                <a:spcPct val="112000"/>
              </a:lnSpc>
            </a:pPr>
            <a:r>
              <a:rPr sz="1050" b="0" i="0">
                <a:solidFill>
                  <a:srgbClr val="F4F6FB"/>
                </a:solidFill>
                <a:latin typeface="Courier New"/>
              </a:rPr>
              <a:t>...</a:t>
            </a:r>
          </a:p>
          <a:p>
            <a:pPr algn="l">
              <a:lnSpc>
                <a:spcPct val="112000"/>
              </a:lnSpc>
            </a:pPr>
            <a:r>
              <a:rPr sz="1050" b="0" i="0">
                <a:solidFill>
                  <a:srgbClr val="F4F6FB"/>
                </a:solidFill>
                <a:latin typeface="Courier New"/>
              </a:rPr>
              <a:t>Z  #               0.1%</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a substitution changes the NAMES</a:t>
            </a:r>
          </a:p>
          <a:p>
            <a:pPr algn="l">
              <a:lnSpc>
                <a:spcPct val="112000"/>
              </a:lnSpc>
            </a:pPr>
            <a:r>
              <a:rPr sz="1050" b="0" i="1">
                <a:solidFill>
                  <a:srgbClr val="8FA3C8"/>
                </a:solidFill>
                <a:latin typeface="Courier New"/>
              </a:rPr>
              <a:t>but not the SHAPE of the counts</a:t>
            </a:r>
          </a:p>
          <a:p>
            <a:pPr algn="l">
              <a:lnSpc>
                <a:spcPct val="112000"/>
              </a:lnSpc>
            </a:pPr>
            <a:r>
              <a:rPr sz="1050" b="0" i="1">
                <a:solidFill>
                  <a:srgbClr val="8FA3C8"/>
                </a:solidFill>
                <a:latin typeface="Courier New"/>
              </a:rPr>
              <a:t>so the tallest bar is probably E</a:t>
            </a:r>
          </a:p>
        </p:txBody>
      </p:sp>
      <p:sp>
        <p:nvSpPr>
          <p:cNvPr id="12" name="TextBox 11"/>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You are not reading the letters. You are counting them.</a:t>
            </a:r>
          </a:p>
        </p:txBody>
      </p:sp>
      <p:sp>
        <p:nvSpPr>
          <p:cNvPr id="13" name="TextBox 12"/>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4" name="TextBox 13"/>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04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Polyalphabetic ciphers</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Use several shifts in rotation, and the frequency counts flatten out.</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A Vigenere cipher takes a keyword and uses each of its letters as a shift in turn, repeating the keyword across the message. The same plaintext letter therefore encrypts differently depending on where it happens to sit, so counting letters no longer produces one clear answer.</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It defeats the previous idea head-on, and for centuries it looked unbreakable. The new weakness is repetition: the keyword restarts at a fixed interval.</a:t>
            </a:r>
          </a:p>
        </p:txBody>
      </p:sp>
      <p:sp>
        <p:nvSpPr>
          <p:cNvPr id="10" name="Rounded Rectangle 9"/>
          <p:cNvSpPr/>
          <p:nvPr/>
        </p:nvSpPr>
        <p:spPr>
          <a:xfrm>
            <a:off x="6383020" y="2148840"/>
            <a:ext cx="52603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405380"/>
            <a:ext cx="4711700" cy="3175000"/>
          </a:xfrm>
          <a:prstGeom prst="rect">
            <a:avLst/>
          </a:prstGeom>
          <a:noFill/>
        </p:spPr>
        <p:txBody>
          <a:bodyPr wrap="square" lIns="0" rIns="0" tIns="0" bIns="0" anchor="t">
            <a:spAutoFit/>
          </a:bodyPr>
          <a:lstStyle/>
          <a:p>
            <a:pPr algn="l">
              <a:lnSpc>
                <a:spcPct val="112000"/>
              </a:lnSpc>
            </a:pPr>
            <a:r>
              <a:rPr sz="1050" b="0" i="0">
                <a:solidFill>
                  <a:srgbClr val="F4F6FB"/>
                </a:solidFill>
                <a:latin typeface="Courier New"/>
              </a:rPr>
              <a:t>plaintext   THESIGNALISFAINT</a:t>
            </a:r>
          </a:p>
          <a:p>
            <a:pPr algn="l">
              <a:lnSpc>
                <a:spcPct val="112000"/>
              </a:lnSpc>
            </a:pPr>
            <a:r>
              <a:rPr sz="1050" b="0" i="0">
                <a:solidFill>
                  <a:srgbClr val="F4F6FB"/>
                </a:solidFill>
                <a:latin typeface="Courier New"/>
              </a:rPr>
              <a:t>key         KEYKEYKEYKEYKEYK</a:t>
            </a:r>
          </a:p>
          <a:p>
            <a:pPr algn="l">
              <a:lnSpc>
                <a:spcPct val="112000"/>
              </a:lnSpc>
            </a:pPr>
            <a:r>
              <a:rPr sz="1050" b="0" i="0">
                <a:solidFill>
                  <a:srgbClr val="F4F6FB"/>
                </a:solidFill>
                <a:latin typeface="Courier New"/>
              </a:rPr>
              <a:t>ciphertext  DLCCMEXEJSWDKMLD</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each position uses its own shift</a:t>
            </a:r>
          </a:p>
          <a:p>
            <a:pPr algn="l">
              <a:lnSpc>
                <a:spcPct val="112000"/>
              </a:lnSpc>
            </a:pPr>
            <a:r>
              <a:rPr sz="1050" b="0" i="0">
                <a:solidFill>
                  <a:srgbClr val="F4F6FB"/>
                </a:solidFill>
                <a:latin typeface="Courier New"/>
              </a:rPr>
              <a:t>T + K  -&gt;  D</a:t>
            </a:r>
          </a:p>
          <a:p>
            <a:pPr algn="l">
              <a:lnSpc>
                <a:spcPct val="112000"/>
              </a:lnSpc>
            </a:pPr>
            <a:r>
              <a:rPr sz="1050" b="0" i="0">
                <a:solidFill>
                  <a:srgbClr val="F4F6FB"/>
                </a:solidFill>
                <a:latin typeface="Courier New"/>
              </a:rPr>
              <a:t>H + E  -&gt;  L</a:t>
            </a:r>
          </a:p>
          <a:p>
            <a:pPr algn="l">
              <a:lnSpc>
                <a:spcPct val="112000"/>
              </a:lnSpc>
            </a:pPr>
            <a:r>
              <a:rPr sz="1050" b="0" i="0">
                <a:solidFill>
                  <a:srgbClr val="F4F6FB"/>
                </a:solidFill>
                <a:latin typeface="Courier New"/>
              </a:rPr>
              <a:t>E + Y  -&gt;  C</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note the two Es and the three Is</a:t>
            </a:r>
          </a:p>
          <a:p>
            <a:pPr algn="l">
              <a:lnSpc>
                <a:spcPct val="112000"/>
              </a:lnSpc>
            </a:pPr>
            <a:r>
              <a:rPr sz="1050" b="0" i="1">
                <a:solidFill>
                  <a:srgbClr val="8FA3C8"/>
                </a:solidFill>
                <a:latin typeface="Courier New"/>
              </a:rPr>
              <a:t>do not become the same letter</a:t>
            </a:r>
          </a:p>
          <a:p>
            <a:pPr algn="l">
              <a:lnSpc>
                <a:spcPct val="112000"/>
              </a:lnSpc>
            </a:pPr>
            <a:r>
              <a:rPr sz="1050" b="0" i="1">
                <a:solidFill>
                  <a:srgbClr val="8FA3C8"/>
                </a:solidFill>
                <a:latin typeface="Courier New"/>
              </a:rPr>
              <a:t>so counting no longer gives one answer</a:t>
            </a:r>
          </a:p>
        </p:txBody>
      </p:sp>
      <p:sp>
        <p:nvSpPr>
          <p:cNvPr id="12" name="TextBox 11"/>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One key letter per position. The key is short; the message is not.</a:t>
            </a:r>
          </a:p>
        </p:txBody>
      </p:sp>
      <p:sp>
        <p:nvSpPr>
          <p:cNvPr id="13" name="TextBox 12"/>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4" name="TextBox 13"/>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05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Finding the key length</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If the key repeats, the ciphertext repeats — and the gaps betray the period.</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When the same plaintext fragment lines up with the same part of the keyword, it encrypts to the same ciphertext fragment. Measure the distance between two such repeats and the key length must divide that distance. Do it for several repeats and the common factor stands out.</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Once the length is known the message splits into that many independent columns, and each column is an ordinary single shift — solvable by counting letters. That turns an unbreakable-looking cipher back into one you already know how to attack.</a:t>
            </a:r>
          </a:p>
        </p:txBody>
      </p:sp>
      <p:sp>
        <p:nvSpPr>
          <p:cNvPr id="10" name="Rounded Rectangle 9"/>
          <p:cNvSpPr/>
          <p:nvPr/>
        </p:nvSpPr>
        <p:spPr>
          <a:xfrm>
            <a:off x="6383020" y="2148840"/>
            <a:ext cx="52603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405380"/>
            <a:ext cx="4711700" cy="3175000"/>
          </a:xfrm>
          <a:prstGeom prst="rect">
            <a:avLst/>
          </a:prstGeom>
          <a:noFill/>
        </p:spPr>
        <p:txBody>
          <a:bodyPr wrap="square" lIns="0" rIns="0" tIns="0" bIns="0" anchor="t">
            <a:spAutoFit/>
          </a:bodyPr>
          <a:lstStyle/>
          <a:p>
            <a:pPr algn="l">
              <a:lnSpc>
                <a:spcPct val="112000"/>
              </a:lnSpc>
            </a:pPr>
            <a:r>
              <a:rPr sz="1050" b="0" i="1">
                <a:solidFill>
                  <a:srgbClr val="8FA3C8"/>
                </a:solidFill>
                <a:latin typeface="Courier New"/>
              </a:rPr>
              <a:t>the same fragment, appearing twice</a:t>
            </a:r>
          </a:p>
          <a:p>
            <a:pPr algn="l">
              <a:lnSpc>
                <a:spcPct val="112000"/>
              </a:lnSpc>
            </a:pPr>
            <a:r>
              <a:rPr sz="1050" b="0" i="0">
                <a:solidFill>
                  <a:srgbClr val="F4F6FB"/>
                </a:solidFill>
                <a:latin typeface="Courier New"/>
              </a:rPr>
              <a:t>....WXZ..........WXZ.......</a:t>
            </a:r>
          </a:p>
          <a:p>
            <a:pPr algn="l">
              <a:lnSpc>
                <a:spcPct val="112000"/>
              </a:lnSpc>
            </a:pPr>
            <a:r>
              <a:rPr sz="1050" b="0" i="0">
                <a:solidFill>
                  <a:srgbClr val="F4F6FB"/>
                </a:solidFill>
                <a:latin typeface="Courier New"/>
              </a:rPr>
              <a:t>    ^            ^</a:t>
            </a:r>
          </a:p>
          <a:p>
            <a:pPr algn="l">
              <a:lnSpc>
                <a:spcPct val="112000"/>
              </a:lnSpc>
            </a:pPr>
            <a:r>
              <a:rPr sz="1050" b="0" i="0">
                <a:solidFill>
                  <a:srgbClr val="F4F6FB"/>
                </a:solidFill>
                <a:latin typeface="Courier New"/>
              </a:rPr>
              <a:t>    position 4   position 20</a:t>
            </a:r>
          </a:p>
          <a:p>
            <a:pPr algn="l">
              <a:lnSpc>
                <a:spcPct val="112000"/>
              </a:lnSpc>
            </a:pPr>
            <a:r>
              <a:rPr sz="1050" b="0" i="0">
                <a:solidFill>
                  <a:srgbClr val="F4F6FB"/>
                </a:solidFill>
                <a:latin typeface="Courier New"/>
              </a:rPr>
              <a:t>    distance = 16</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another pair, distance 24</a:t>
            </a:r>
          </a:p>
          <a:p>
            <a:pPr algn="l">
              <a:lnSpc>
                <a:spcPct val="112000"/>
              </a:lnSpc>
            </a:pPr>
            <a:r>
              <a:rPr sz="1050" b="0" i="1">
                <a:solidFill>
                  <a:srgbClr val="8FA3C8"/>
                </a:solidFill>
                <a:latin typeface="Courier New"/>
              </a:rPr>
              <a:t>common factors of 16 and 24: 2, 4, 8</a:t>
            </a:r>
          </a:p>
          <a:p>
            <a:pPr algn="l">
              <a:lnSpc>
                <a:spcPct val="112000"/>
              </a:lnSpc>
            </a:pPr>
            <a:r>
              <a:rPr sz="1050" b="0" i="1">
                <a:solidFill>
                  <a:srgbClr val="8FA3C8"/>
                </a:solidFill>
                <a:latin typeface="Courier New"/>
              </a:rPr>
              <a:t>so the key is probably 4 or 8 long</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then split into that many columns</a:t>
            </a:r>
          </a:p>
          <a:p>
            <a:pPr algn="l">
              <a:lnSpc>
                <a:spcPct val="112000"/>
              </a:lnSpc>
            </a:pPr>
            <a:r>
              <a:rPr sz="1050" b="0" i="1">
                <a:solidFill>
                  <a:srgbClr val="8FA3C8"/>
                </a:solidFill>
                <a:latin typeface="Courier New"/>
              </a:rPr>
              <a:t>each column is one simple shift</a:t>
            </a:r>
          </a:p>
        </p:txBody>
      </p:sp>
      <p:sp>
        <p:nvSpPr>
          <p:cNvPr id="12" name="TextBox 11"/>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Two techniques, in order: find the period, then count the letters.</a:t>
            </a:r>
          </a:p>
        </p:txBody>
      </p:sp>
      <p:sp>
        <p:nvSpPr>
          <p:cNvPr id="13" name="TextBox 12"/>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4" name="TextBox 13"/>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THEORY  06 / 06</a:t>
            </a:r>
          </a:p>
        </p:txBody>
      </p:sp>
      <p:sp>
        <p:nvSpPr>
          <p:cNvPr id="3" name="TextBox 2"/>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Stream ciphers and XOR</a:t>
            </a:r>
          </a:p>
        </p:txBody>
      </p:sp>
      <p:sp>
        <p:nvSpPr>
          <p:cNvPr id="4" name="TextBox 3"/>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Generate a long key rather than writing one down, and combine bit by bit.</a:t>
            </a:r>
          </a:p>
        </p:txBody>
      </p:sp>
      <p:sp>
        <p:nvSpPr>
          <p:cNvPr id="5" name="Rounded Rectangle 4"/>
          <p:cNvSpPr/>
          <p:nvPr/>
        </p:nvSpPr>
        <p:spPr>
          <a:xfrm>
            <a:off x="548640" y="2148840"/>
            <a:ext cx="55778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790" y="242316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WHAT IT IS</a:t>
            </a:r>
          </a:p>
        </p:txBody>
      </p:sp>
      <p:sp>
        <p:nvSpPr>
          <p:cNvPr id="7" name="TextBox 6"/>
          <p:cNvSpPr txBox="1"/>
          <p:nvPr/>
        </p:nvSpPr>
        <p:spPr>
          <a:xfrm>
            <a:off x="859790" y="2697480"/>
            <a:ext cx="4955540" cy="1498600"/>
          </a:xfrm>
          <a:prstGeom prst="rect">
            <a:avLst/>
          </a:prstGeom>
          <a:noFill/>
        </p:spPr>
        <p:txBody>
          <a:bodyPr wrap="square" lIns="0" rIns="0" tIns="0" bIns="0" anchor="t">
            <a:spAutoFit/>
          </a:bodyPr>
          <a:lstStyle/>
          <a:p>
            <a:pPr algn="l"/>
            <a:r>
              <a:rPr sz="1200" b="0" i="0">
                <a:solidFill>
                  <a:srgbClr val="B8C7E4"/>
                </a:solidFill>
                <a:latin typeface="Calibri"/>
              </a:rPr>
              <a:t>A stream cipher produces a keystream from a small seed and combines it with the message using XOR, an operation that is its own inverse — so the identical process both encrypts and decrypts. The generator is deterministic: the same seed always produces the same keystream.</a:t>
            </a:r>
          </a:p>
        </p:txBody>
      </p:sp>
      <p:sp>
        <p:nvSpPr>
          <p:cNvPr id="8" name="TextBox 7"/>
          <p:cNvSpPr txBox="1"/>
          <p:nvPr/>
        </p:nvSpPr>
        <p:spPr>
          <a:xfrm>
            <a:off x="859790" y="433070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WHY IT MATTERS HERE</a:t>
            </a:r>
          </a:p>
        </p:txBody>
      </p:sp>
      <p:sp>
        <p:nvSpPr>
          <p:cNvPr id="9" name="TextBox 8"/>
          <p:cNvSpPr txBox="1"/>
          <p:nvPr/>
        </p:nvSpPr>
        <p:spPr>
          <a:xfrm>
            <a:off x="859790" y="4605020"/>
            <a:ext cx="4955540" cy="1219200"/>
          </a:xfrm>
          <a:prstGeom prst="rect">
            <a:avLst/>
          </a:prstGeom>
          <a:noFill/>
        </p:spPr>
        <p:txBody>
          <a:bodyPr wrap="square" lIns="0" rIns="0" tIns="0" bIns="0" anchor="t">
            <a:spAutoFit/>
          </a:bodyPr>
          <a:lstStyle/>
          <a:p>
            <a:pPr algn="l"/>
            <a:r>
              <a:rPr sz="1200" b="0" i="0">
                <a:solidFill>
                  <a:srgbClr val="B8C7E4"/>
                </a:solidFill>
                <a:latin typeface="Calibri"/>
              </a:rPr>
              <a:t>This is where the classical era ends and the modern one starts. Security no longer rests on keeping a rule hidden. It rests on the keystream being long, non-repeating, and impossible to predict from any piece of it you see.</a:t>
            </a:r>
          </a:p>
        </p:txBody>
      </p:sp>
      <p:sp>
        <p:nvSpPr>
          <p:cNvPr id="10" name="Rounded Rectangle 9"/>
          <p:cNvSpPr/>
          <p:nvPr/>
        </p:nvSpPr>
        <p:spPr>
          <a:xfrm>
            <a:off x="6383020" y="2148840"/>
            <a:ext cx="5260340" cy="381000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7340" y="2405380"/>
            <a:ext cx="4711700" cy="3175000"/>
          </a:xfrm>
          <a:prstGeom prst="rect">
            <a:avLst/>
          </a:prstGeom>
          <a:noFill/>
        </p:spPr>
        <p:txBody>
          <a:bodyPr wrap="square" lIns="0" rIns="0" tIns="0" bIns="0" anchor="t">
            <a:spAutoFit/>
          </a:bodyPr>
          <a:lstStyle/>
          <a:p>
            <a:pPr algn="l">
              <a:lnSpc>
                <a:spcPct val="112000"/>
              </a:lnSpc>
            </a:pPr>
            <a:r>
              <a:rPr sz="1050" b="0" i="1">
                <a:solidFill>
                  <a:srgbClr val="8FA3C8"/>
                </a:solidFill>
                <a:latin typeface="Courier New"/>
              </a:rPr>
              <a:t>XOR applied twice returns the original</a:t>
            </a:r>
          </a:p>
          <a:p>
            <a:pPr algn="l">
              <a:lnSpc>
                <a:spcPct val="112000"/>
              </a:lnSpc>
            </a:pPr>
            <a:r>
              <a:rPr sz="1050" b="0" i="0">
                <a:solidFill>
                  <a:srgbClr val="F4F6FB"/>
                </a:solidFill>
                <a:latin typeface="Courier New"/>
              </a:rPr>
              <a:t>message    1 0 1 1 0 0 1 0</a:t>
            </a:r>
          </a:p>
          <a:p>
            <a:pPr algn="l">
              <a:lnSpc>
                <a:spcPct val="112000"/>
              </a:lnSpc>
            </a:pPr>
            <a:r>
              <a:rPr sz="1050" b="0" i="0">
                <a:solidFill>
                  <a:srgbClr val="F4F6FB"/>
                </a:solidFill>
                <a:latin typeface="Courier New"/>
              </a:rPr>
              <a:t>keystream  1 1 0 1 0 1 1 0</a:t>
            </a:r>
          </a:p>
          <a:p>
            <a:pPr algn="l">
              <a:lnSpc>
                <a:spcPct val="112000"/>
              </a:lnSpc>
            </a:pPr>
            <a:r>
              <a:rPr sz="1050" b="0" i="0">
                <a:solidFill>
                  <a:srgbClr val="F4F6FB"/>
                </a:solidFill>
                <a:latin typeface="Courier New"/>
              </a:rPr>
              <a:t>           ----------------</a:t>
            </a:r>
          </a:p>
          <a:p>
            <a:pPr algn="l">
              <a:lnSpc>
                <a:spcPct val="112000"/>
              </a:lnSpc>
            </a:pPr>
            <a:r>
              <a:rPr sz="1050" b="0" i="0">
                <a:solidFill>
                  <a:srgbClr val="F4F6FB"/>
                </a:solidFill>
                <a:latin typeface="Courier New"/>
              </a:rPr>
              <a:t>cipher     0 1 1 0 0 1 0 0</a:t>
            </a:r>
          </a:p>
          <a:p>
            <a:pPr algn="l">
              <a:lnSpc>
                <a:spcPct val="112000"/>
              </a:lnSpc>
            </a:pPr>
            <a:r>
              <a:rPr sz="1050" b="0" i="0">
                <a:solidFill>
                  <a:srgbClr val="F4F6FB"/>
                </a:solidFill>
                <a:latin typeface="Courier New"/>
              </a:rPr>
              <a:t>keystream  1 1 0 1 0 1 1 0</a:t>
            </a:r>
          </a:p>
          <a:p>
            <a:pPr algn="l">
              <a:lnSpc>
                <a:spcPct val="112000"/>
              </a:lnSpc>
            </a:pPr>
            <a:r>
              <a:rPr sz="1050" b="0" i="0">
                <a:solidFill>
                  <a:srgbClr val="F4F6FB"/>
                </a:solidFill>
                <a:latin typeface="Courier New"/>
              </a:rPr>
              <a:t>           ----------------</a:t>
            </a:r>
          </a:p>
          <a:p>
            <a:pPr algn="l">
              <a:lnSpc>
                <a:spcPct val="112000"/>
              </a:lnSpc>
            </a:pPr>
            <a:r>
              <a:rPr sz="1050" b="0" i="0">
                <a:solidFill>
                  <a:srgbClr val="F4F6FB"/>
                </a:solidFill>
                <a:latin typeface="Courier New"/>
              </a:rPr>
              <a:t>message    1 0 1 1 0 0 1 0   &lt;- back again</a:t>
            </a:r>
          </a:p>
          <a:p>
            <a:pPr algn="l">
              <a:lnSpc>
                <a:spcPct val="112000"/>
              </a:lnSpc>
            </a:pPr>
            <a:r>
              <a:rPr sz="1050" b="0" i="0">
                <a:solidFill>
                  <a:srgbClr val="F4F6FB"/>
                </a:solidFill>
                <a:latin typeface="Courier New"/>
              </a:rPr>
              <a:t> </a:t>
            </a:r>
          </a:p>
          <a:p>
            <a:pPr algn="l">
              <a:lnSpc>
                <a:spcPct val="112000"/>
              </a:lnSpc>
            </a:pPr>
            <a:r>
              <a:rPr sz="1050" b="0" i="1">
                <a:solidFill>
                  <a:srgbClr val="8FA3C8"/>
                </a:solidFill>
                <a:latin typeface="Courier New"/>
              </a:rPr>
              <a:t>the rule is simply:</a:t>
            </a:r>
          </a:p>
          <a:p>
            <a:pPr algn="l">
              <a:lnSpc>
                <a:spcPct val="112000"/>
              </a:lnSpc>
            </a:pPr>
            <a:r>
              <a:rPr sz="1050" b="0" i="1">
                <a:solidFill>
                  <a:srgbClr val="8FA3C8"/>
                </a:solidFill>
                <a:latin typeface="Courier New"/>
              </a:rPr>
              <a:t>same bits -&gt; 0 , different bits -&gt; 1</a:t>
            </a:r>
          </a:p>
        </p:txBody>
      </p:sp>
      <p:sp>
        <p:nvSpPr>
          <p:cNvPr id="12" name="TextBox 11"/>
          <p:cNvSpPr txBox="1"/>
          <p:nvPr/>
        </p:nvSpPr>
        <p:spPr>
          <a:xfrm>
            <a:off x="548640" y="6108700"/>
            <a:ext cx="11094720" cy="274320"/>
          </a:xfrm>
          <a:prstGeom prst="rect">
            <a:avLst/>
          </a:prstGeom>
          <a:noFill/>
        </p:spPr>
        <p:txBody>
          <a:bodyPr wrap="square" lIns="0" rIns="0" tIns="0" bIns="0" anchor="ctr">
            <a:spAutoFit/>
          </a:bodyPr>
          <a:lstStyle/>
          <a:p>
            <a:pPr algn="l"/>
            <a:r>
              <a:rPr sz="1250" b="0" i="1">
                <a:solidFill>
                  <a:srgbClr val="4CC9F0"/>
                </a:solidFill>
                <a:latin typeface="Calibri"/>
              </a:rPr>
              <a:t>Encrypting and decrypting stop being opposites. They become the same act.</a:t>
            </a:r>
          </a:p>
        </p:txBody>
      </p:sp>
      <p:sp>
        <p:nvSpPr>
          <p:cNvPr id="13" name="TextBox 12"/>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14" name="TextBox 13"/>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image-10.png"/>
          <p:cNvPicPr>
            <a:picLocks noChangeAspect="1"/>
          </p:cNvPicPr>
          <p:nvPr/>
        </p:nvPicPr>
        <p:blipFill>
          <a:blip r:embed="rId2">
            <a:alphaModFix amt="28000"/>
          </a:blip>
          <a:stretch>
            <a:fillRect/>
          </a:stretch>
        </p:blipFill>
        <p:spPr>
          <a:xfrm>
            <a:off x="8549640" y="109220"/>
            <a:ext cx="3291840" cy="1902460"/>
          </a:xfrm>
          <a:prstGeom prst="rect">
            <a:avLst/>
          </a:prstGeom>
        </p:spPr>
      </p:pic>
      <p:sp>
        <p:nvSpPr>
          <p:cNvPr id="3" name="TextBox 2"/>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GETTING IN</a:t>
            </a:r>
          </a:p>
        </p:txBody>
      </p:sp>
      <p:sp>
        <p:nvSpPr>
          <p:cNvPr id="4" name="TextBox 3"/>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You connect with SSH</a:t>
            </a:r>
          </a:p>
        </p:txBody>
      </p:sp>
      <p:sp>
        <p:nvSpPr>
          <p:cNvPr id="5" name="TextBox 4"/>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Same as Bandit: a host, a port, and your own terminal. If you've already played Bandit, you already know this part.</a:t>
            </a:r>
          </a:p>
        </p:txBody>
      </p:sp>
      <p:sp>
        <p:nvSpPr>
          <p:cNvPr id="6" name="Rounded Rectangle 5"/>
          <p:cNvSpPr/>
          <p:nvPr/>
        </p:nvSpPr>
        <p:spPr>
          <a:xfrm>
            <a:off x="548640" y="2148840"/>
            <a:ext cx="5577840" cy="312674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790" y="2405380"/>
            <a:ext cx="4955540" cy="237490"/>
          </a:xfrm>
          <a:prstGeom prst="rect">
            <a:avLst/>
          </a:prstGeom>
          <a:noFill/>
        </p:spPr>
        <p:txBody>
          <a:bodyPr wrap="square" lIns="0" rIns="0" tIns="0" bIns="0" anchor="ctr">
            <a:spAutoFit/>
          </a:bodyPr>
          <a:lstStyle/>
          <a:p>
            <a:pPr algn="l"/>
            <a:r>
              <a:rPr sz="950" b="1" i="0" spc="110">
                <a:solidFill>
                  <a:srgbClr val="4CC9F0"/>
                </a:solidFill>
                <a:latin typeface="Calibri"/>
              </a:rPr>
              <a:t>STEP BY STEP</a:t>
            </a:r>
          </a:p>
        </p:txBody>
      </p:sp>
      <p:sp>
        <p:nvSpPr>
          <p:cNvPr id="8" name="TextBox 7"/>
          <p:cNvSpPr txBox="1"/>
          <p:nvPr/>
        </p:nvSpPr>
        <p:spPr>
          <a:xfrm>
            <a:off x="859790" y="2771140"/>
            <a:ext cx="365760" cy="622300"/>
          </a:xfrm>
          <a:prstGeom prst="rect">
            <a:avLst/>
          </a:prstGeom>
          <a:noFill/>
        </p:spPr>
        <p:txBody>
          <a:bodyPr wrap="square" lIns="0" rIns="0" tIns="0" bIns="0" anchor="ctr">
            <a:spAutoFit/>
          </a:bodyPr>
          <a:lstStyle/>
          <a:p>
            <a:pPr algn="l"/>
            <a:r>
              <a:rPr sz="1600" b="1" i="0">
                <a:solidFill>
                  <a:srgbClr val="4CC9F0"/>
                </a:solidFill>
                <a:latin typeface="Cambria"/>
              </a:rPr>
              <a:t>1</a:t>
            </a:r>
          </a:p>
        </p:txBody>
      </p:sp>
      <p:sp>
        <p:nvSpPr>
          <p:cNvPr id="9" name="TextBox 8"/>
          <p:cNvSpPr txBox="1"/>
          <p:nvPr/>
        </p:nvSpPr>
        <p:spPr>
          <a:xfrm>
            <a:off x="1280160" y="2806700"/>
            <a:ext cx="4480560" cy="256540"/>
          </a:xfrm>
          <a:prstGeom prst="rect">
            <a:avLst/>
          </a:prstGeom>
          <a:noFill/>
        </p:spPr>
        <p:txBody>
          <a:bodyPr wrap="square" lIns="0" rIns="0" tIns="0" bIns="0" anchor="ctr">
            <a:spAutoFit/>
          </a:bodyPr>
          <a:lstStyle/>
          <a:p>
            <a:pPr algn="l"/>
            <a:r>
              <a:rPr sz="1250" b="1" i="0">
                <a:solidFill>
                  <a:srgbClr val="F4F6FB"/>
                </a:solidFill>
                <a:latin typeface="Calibri"/>
              </a:rPr>
              <a:t>Launch Environment</a:t>
            </a:r>
          </a:p>
        </p:txBody>
      </p:sp>
      <p:sp>
        <p:nvSpPr>
          <p:cNvPr id="10" name="TextBox 9"/>
          <p:cNvSpPr txBox="1"/>
          <p:nvPr/>
        </p:nvSpPr>
        <p:spPr>
          <a:xfrm>
            <a:off x="1280160" y="3045460"/>
            <a:ext cx="4480560" cy="274320"/>
          </a:xfrm>
          <a:prstGeom prst="rect">
            <a:avLst/>
          </a:prstGeom>
          <a:noFill/>
        </p:spPr>
        <p:txBody>
          <a:bodyPr wrap="square" lIns="0" rIns="0" tIns="0" bIns="0" anchor="ctr">
            <a:spAutoFit/>
          </a:bodyPr>
          <a:lstStyle/>
          <a:p>
            <a:pPr algn="l"/>
            <a:r>
              <a:rPr sz="1100" b="0" i="0">
                <a:solidFill>
                  <a:srgbClr val="B8C7E4"/>
                </a:solidFill>
                <a:latin typeface="Calibri"/>
              </a:rPr>
              <a:t>On any Krypton challenge. Wait for the host and port.</a:t>
            </a:r>
          </a:p>
        </p:txBody>
      </p:sp>
      <p:sp>
        <p:nvSpPr>
          <p:cNvPr id="11" name="TextBox 10"/>
          <p:cNvSpPr txBox="1"/>
          <p:nvPr/>
        </p:nvSpPr>
        <p:spPr>
          <a:xfrm>
            <a:off x="859790" y="3392170"/>
            <a:ext cx="365760" cy="622300"/>
          </a:xfrm>
          <a:prstGeom prst="rect">
            <a:avLst/>
          </a:prstGeom>
          <a:noFill/>
        </p:spPr>
        <p:txBody>
          <a:bodyPr wrap="square" lIns="0" rIns="0" tIns="0" bIns="0" anchor="ctr">
            <a:spAutoFit/>
          </a:bodyPr>
          <a:lstStyle/>
          <a:p>
            <a:pPr algn="l"/>
            <a:r>
              <a:rPr sz="1600" b="1" i="0">
                <a:solidFill>
                  <a:srgbClr val="4CC9F0"/>
                </a:solidFill>
                <a:latin typeface="Cambria"/>
              </a:rPr>
              <a:t>2</a:t>
            </a:r>
          </a:p>
        </p:txBody>
      </p:sp>
      <p:sp>
        <p:nvSpPr>
          <p:cNvPr id="12" name="TextBox 11"/>
          <p:cNvSpPr txBox="1"/>
          <p:nvPr/>
        </p:nvSpPr>
        <p:spPr>
          <a:xfrm>
            <a:off x="1280160" y="3429000"/>
            <a:ext cx="4480560" cy="256540"/>
          </a:xfrm>
          <a:prstGeom prst="rect">
            <a:avLst/>
          </a:prstGeom>
          <a:noFill/>
        </p:spPr>
        <p:txBody>
          <a:bodyPr wrap="square" lIns="0" rIns="0" tIns="0" bIns="0" anchor="ctr">
            <a:spAutoFit/>
          </a:bodyPr>
          <a:lstStyle/>
          <a:p>
            <a:pPr algn="l"/>
            <a:r>
              <a:rPr sz="1250" b="1" i="0">
                <a:solidFill>
                  <a:srgbClr val="F4F6FB"/>
                </a:solidFill>
                <a:latin typeface="Calibri"/>
              </a:rPr>
              <a:t>SSH in</a:t>
            </a:r>
          </a:p>
        </p:txBody>
      </p:sp>
      <p:sp>
        <p:nvSpPr>
          <p:cNvPr id="13" name="TextBox 12"/>
          <p:cNvSpPr txBox="1"/>
          <p:nvPr/>
        </p:nvSpPr>
        <p:spPr>
          <a:xfrm>
            <a:off x="1280160" y="3666490"/>
            <a:ext cx="4480560" cy="274320"/>
          </a:xfrm>
          <a:prstGeom prst="rect">
            <a:avLst/>
          </a:prstGeom>
          <a:noFill/>
        </p:spPr>
        <p:txBody>
          <a:bodyPr wrap="square" lIns="0" rIns="0" tIns="0" bIns="0" anchor="ctr">
            <a:spAutoFit/>
          </a:bodyPr>
          <a:lstStyle/>
          <a:p>
            <a:pPr algn="l"/>
            <a:r>
              <a:rPr sz="1100" b="0" i="0">
                <a:solidFill>
                  <a:srgbClr val="B8C7E4"/>
                </a:solidFill>
                <a:latin typeface="Calibri"/>
              </a:rPr>
              <a:t>Same idea: the previous level's password is this login.</a:t>
            </a:r>
          </a:p>
        </p:txBody>
      </p:sp>
      <p:sp>
        <p:nvSpPr>
          <p:cNvPr id="14" name="TextBox 13"/>
          <p:cNvSpPr txBox="1"/>
          <p:nvPr/>
        </p:nvSpPr>
        <p:spPr>
          <a:xfrm>
            <a:off x="859790" y="4014470"/>
            <a:ext cx="365760" cy="622300"/>
          </a:xfrm>
          <a:prstGeom prst="rect">
            <a:avLst/>
          </a:prstGeom>
          <a:noFill/>
        </p:spPr>
        <p:txBody>
          <a:bodyPr wrap="square" lIns="0" rIns="0" tIns="0" bIns="0" anchor="ctr">
            <a:spAutoFit/>
          </a:bodyPr>
          <a:lstStyle/>
          <a:p>
            <a:pPr algn="l"/>
            <a:r>
              <a:rPr sz="1600" b="1" i="0">
                <a:solidFill>
                  <a:srgbClr val="4CC9F0"/>
                </a:solidFill>
                <a:latin typeface="Cambria"/>
              </a:rPr>
              <a:t>3</a:t>
            </a:r>
          </a:p>
        </p:txBody>
      </p:sp>
      <p:sp>
        <p:nvSpPr>
          <p:cNvPr id="15" name="TextBox 14"/>
          <p:cNvSpPr txBox="1"/>
          <p:nvPr/>
        </p:nvSpPr>
        <p:spPr>
          <a:xfrm>
            <a:off x="1280160" y="4051300"/>
            <a:ext cx="4480560" cy="256540"/>
          </a:xfrm>
          <a:prstGeom prst="rect">
            <a:avLst/>
          </a:prstGeom>
          <a:noFill/>
        </p:spPr>
        <p:txBody>
          <a:bodyPr wrap="square" lIns="0" rIns="0" tIns="0" bIns="0" anchor="ctr">
            <a:spAutoFit/>
          </a:bodyPr>
          <a:lstStyle/>
          <a:p>
            <a:pPr algn="l"/>
            <a:r>
              <a:rPr sz="1250" b="1" i="0">
                <a:solidFill>
                  <a:srgbClr val="F4F6FB"/>
                </a:solidFill>
                <a:latin typeface="Calibri"/>
              </a:rPr>
              <a:t>Break the cipher</a:t>
            </a:r>
          </a:p>
        </p:txBody>
      </p:sp>
      <p:sp>
        <p:nvSpPr>
          <p:cNvPr id="16" name="TextBox 15"/>
          <p:cNvSpPr txBox="1"/>
          <p:nvPr/>
        </p:nvSpPr>
        <p:spPr>
          <a:xfrm>
            <a:off x="1280160" y="4288790"/>
            <a:ext cx="4480560" cy="274320"/>
          </a:xfrm>
          <a:prstGeom prst="rect">
            <a:avLst/>
          </a:prstGeom>
          <a:noFill/>
        </p:spPr>
        <p:txBody>
          <a:bodyPr wrap="square" lIns="0" rIns="0" tIns="0" bIns="0" anchor="ctr">
            <a:spAutoFit/>
          </a:bodyPr>
          <a:lstStyle/>
          <a:p>
            <a:pPr algn="l"/>
            <a:r>
              <a:rPr sz="1100" b="0" i="0">
                <a:solidFill>
                  <a:srgbClr val="B8C7E4"/>
                </a:solidFill>
                <a:latin typeface="Calibri"/>
              </a:rPr>
              <a:t>Everything you need is in the level's own directory.</a:t>
            </a:r>
          </a:p>
        </p:txBody>
      </p:sp>
      <p:sp>
        <p:nvSpPr>
          <p:cNvPr id="17" name="TextBox 16"/>
          <p:cNvSpPr txBox="1"/>
          <p:nvPr/>
        </p:nvSpPr>
        <p:spPr>
          <a:xfrm>
            <a:off x="859790" y="4635500"/>
            <a:ext cx="365760" cy="622300"/>
          </a:xfrm>
          <a:prstGeom prst="rect">
            <a:avLst/>
          </a:prstGeom>
          <a:noFill/>
        </p:spPr>
        <p:txBody>
          <a:bodyPr wrap="square" lIns="0" rIns="0" tIns="0" bIns="0" anchor="ctr">
            <a:spAutoFit/>
          </a:bodyPr>
          <a:lstStyle/>
          <a:p>
            <a:pPr algn="l"/>
            <a:r>
              <a:rPr sz="1600" b="1" i="0">
                <a:solidFill>
                  <a:srgbClr val="4CC9F0"/>
                </a:solidFill>
                <a:latin typeface="Cambria"/>
              </a:rPr>
              <a:t>4</a:t>
            </a:r>
          </a:p>
        </p:txBody>
      </p:sp>
      <p:sp>
        <p:nvSpPr>
          <p:cNvPr id="18" name="TextBox 17"/>
          <p:cNvSpPr txBox="1"/>
          <p:nvPr/>
        </p:nvSpPr>
        <p:spPr>
          <a:xfrm>
            <a:off x="1280160" y="4672330"/>
            <a:ext cx="4480560" cy="256540"/>
          </a:xfrm>
          <a:prstGeom prst="rect">
            <a:avLst/>
          </a:prstGeom>
          <a:noFill/>
        </p:spPr>
        <p:txBody>
          <a:bodyPr wrap="square" lIns="0" rIns="0" tIns="0" bIns="0" anchor="ctr">
            <a:spAutoFit/>
          </a:bodyPr>
          <a:lstStyle/>
          <a:p>
            <a:pPr algn="l"/>
            <a:r>
              <a:rPr sz="1250" b="1" i="0">
                <a:solidFill>
                  <a:srgbClr val="F4F6FB"/>
                </a:solidFill>
                <a:latin typeface="Calibri"/>
              </a:rPr>
              <a:t>Submit the flag</a:t>
            </a:r>
          </a:p>
        </p:txBody>
      </p:sp>
      <p:sp>
        <p:nvSpPr>
          <p:cNvPr id="19" name="TextBox 18"/>
          <p:cNvSpPr txBox="1"/>
          <p:nvPr/>
        </p:nvSpPr>
        <p:spPr>
          <a:xfrm>
            <a:off x="1280160" y="4909820"/>
            <a:ext cx="4480560" cy="274320"/>
          </a:xfrm>
          <a:prstGeom prst="rect">
            <a:avLst/>
          </a:prstGeom>
          <a:noFill/>
        </p:spPr>
        <p:txBody>
          <a:bodyPr wrap="square" lIns="0" rIns="0" tIns="0" bIns="0" anchor="ctr">
            <a:spAutoFit/>
          </a:bodyPr>
          <a:lstStyle/>
          <a:p>
            <a:pPr algn="l"/>
            <a:r>
              <a:rPr sz="1100" b="0" i="0">
                <a:solidFill>
                  <a:srgbClr val="B8C7E4"/>
                </a:solidFill>
                <a:latin typeface="Calibri"/>
              </a:rPr>
              <a:t>The recovered password is both the flag and your next login.</a:t>
            </a:r>
          </a:p>
        </p:txBody>
      </p:sp>
      <p:sp>
        <p:nvSpPr>
          <p:cNvPr id="20" name="Rounded Rectangle 19"/>
          <p:cNvSpPr/>
          <p:nvPr/>
        </p:nvSpPr>
        <p:spPr>
          <a:xfrm>
            <a:off x="6383020" y="2148840"/>
            <a:ext cx="5260340" cy="3126740"/>
          </a:xfrm>
          <a:prstGeom prst="roundRect">
            <a:avLst>
              <a:gd name="adj" fmla="val 263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7340" y="2405380"/>
            <a:ext cx="4711700" cy="237490"/>
          </a:xfrm>
          <a:prstGeom prst="rect">
            <a:avLst/>
          </a:prstGeom>
          <a:noFill/>
        </p:spPr>
        <p:txBody>
          <a:bodyPr wrap="square" lIns="0" rIns="0" tIns="0" bIns="0" anchor="ctr">
            <a:spAutoFit/>
          </a:bodyPr>
          <a:lstStyle/>
          <a:p>
            <a:pPr algn="l"/>
            <a:r>
              <a:rPr sz="950" b="1" i="0" spc="110">
                <a:solidFill>
                  <a:srgbClr val="4CC9F0"/>
                </a:solidFill>
                <a:latin typeface="Calibri"/>
              </a:rPr>
              <a:t>THE LAUNCH PANEL</a:t>
            </a:r>
          </a:p>
        </p:txBody>
      </p:sp>
      <p:sp>
        <p:nvSpPr>
          <p:cNvPr id="22" name="Oval 21"/>
          <p:cNvSpPr/>
          <p:nvPr/>
        </p:nvSpPr>
        <p:spPr>
          <a:xfrm>
            <a:off x="6657340" y="2843530"/>
            <a:ext cx="402590" cy="402590"/>
          </a:xfrm>
          <a:prstGeom prst="ellipse">
            <a:avLst/>
          </a:prstGeom>
          <a:solidFill>
            <a:srgbClr val="4C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11.png"/>
          <p:cNvPicPr>
            <a:picLocks noChangeAspect="1"/>
          </p:cNvPicPr>
          <p:nvPr/>
        </p:nvPicPr>
        <p:blipFill>
          <a:blip r:embed="rId3"/>
          <a:stretch>
            <a:fillRect/>
          </a:stretch>
        </p:blipFill>
        <p:spPr>
          <a:xfrm>
            <a:off x="6761480" y="2948940"/>
            <a:ext cx="193040" cy="193040"/>
          </a:xfrm>
          <a:prstGeom prst="rect">
            <a:avLst/>
          </a:prstGeom>
        </p:spPr>
      </p:pic>
      <p:sp>
        <p:nvSpPr>
          <p:cNvPr id="24" name="TextBox 23"/>
          <p:cNvSpPr txBox="1"/>
          <p:nvPr/>
        </p:nvSpPr>
        <p:spPr>
          <a:xfrm>
            <a:off x="7223759" y="2788920"/>
            <a:ext cx="4117340" cy="256540"/>
          </a:xfrm>
          <a:prstGeom prst="rect">
            <a:avLst/>
          </a:prstGeom>
          <a:noFill/>
        </p:spPr>
        <p:txBody>
          <a:bodyPr wrap="square" lIns="0" rIns="0" tIns="0" bIns="0" anchor="ctr">
            <a:spAutoFit/>
          </a:bodyPr>
          <a:lstStyle/>
          <a:p>
            <a:pPr algn="l"/>
            <a:r>
              <a:rPr sz="1250" b="1" i="0">
                <a:solidFill>
                  <a:srgbClr val="F4F6FB"/>
                </a:solidFill>
                <a:latin typeface="Calibri"/>
              </a:rPr>
              <a:t>Launch Environment</a:t>
            </a:r>
          </a:p>
        </p:txBody>
      </p:sp>
      <p:sp>
        <p:nvSpPr>
          <p:cNvPr id="25" name="TextBox 24"/>
          <p:cNvSpPr txBox="1"/>
          <p:nvPr/>
        </p:nvSpPr>
        <p:spPr>
          <a:xfrm>
            <a:off x="7223759" y="3026410"/>
            <a:ext cx="4117340" cy="292100"/>
          </a:xfrm>
          <a:prstGeom prst="rect">
            <a:avLst/>
          </a:prstGeom>
          <a:noFill/>
        </p:spPr>
        <p:txBody>
          <a:bodyPr wrap="square" lIns="0" rIns="0" tIns="0" bIns="0" anchor="ctr">
            <a:spAutoFit/>
          </a:bodyPr>
          <a:lstStyle/>
          <a:p>
            <a:pPr algn="l"/>
            <a:r>
              <a:rPr sz="1100" b="0" i="0">
                <a:solidFill>
                  <a:srgbClr val="B8C7E4"/>
                </a:solidFill>
                <a:latin typeface="Calibri"/>
              </a:rPr>
              <a:t>Starts your box, or reconnects you to one already running.</a:t>
            </a:r>
          </a:p>
        </p:txBody>
      </p:sp>
      <p:sp>
        <p:nvSpPr>
          <p:cNvPr id="26" name="Oval 25"/>
          <p:cNvSpPr/>
          <p:nvPr/>
        </p:nvSpPr>
        <p:spPr>
          <a:xfrm>
            <a:off x="6657340" y="3465829"/>
            <a:ext cx="402590" cy="402590"/>
          </a:xfrm>
          <a:prstGeom prst="ellipse">
            <a:avLst/>
          </a:prstGeom>
          <a:solidFill>
            <a:srgbClr val="4C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12.png"/>
          <p:cNvPicPr>
            <a:picLocks noChangeAspect="1"/>
          </p:cNvPicPr>
          <p:nvPr/>
        </p:nvPicPr>
        <p:blipFill>
          <a:blip r:embed="rId4"/>
          <a:stretch>
            <a:fillRect/>
          </a:stretch>
        </p:blipFill>
        <p:spPr>
          <a:xfrm>
            <a:off x="6761480" y="3569970"/>
            <a:ext cx="193040" cy="193040"/>
          </a:xfrm>
          <a:prstGeom prst="rect">
            <a:avLst/>
          </a:prstGeom>
        </p:spPr>
      </p:pic>
      <p:sp>
        <p:nvSpPr>
          <p:cNvPr id="28" name="TextBox 27"/>
          <p:cNvSpPr txBox="1"/>
          <p:nvPr/>
        </p:nvSpPr>
        <p:spPr>
          <a:xfrm>
            <a:off x="7223759" y="3411220"/>
            <a:ext cx="4117340" cy="256540"/>
          </a:xfrm>
          <a:prstGeom prst="rect">
            <a:avLst/>
          </a:prstGeom>
          <a:noFill/>
        </p:spPr>
        <p:txBody>
          <a:bodyPr wrap="square" lIns="0" rIns="0" tIns="0" bIns="0" anchor="ctr">
            <a:spAutoFit/>
          </a:bodyPr>
          <a:lstStyle/>
          <a:p>
            <a:pPr algn="l"/>
            <a:r>
              <a:rPr sz="1250" b="1" i="0">
                <a:solidFill>
                  <a:srgbClr val="F4F6FB"/>
                </a:solidFill>
                <a:latin typeface="Calibri"/>
              </a:rPr>
              <a:t>Reboot Host</a:t>
            </a:r>
          </a:p>
        </p:txBody>
      </p:sp>
      <p:sp>
        <p:nvSpPr>
          <p:cNvPr id="29" name="TextBox 28"/>
          <p:cNvSpPr txBox="1"/>
          <p:nvPr/>
        </p:nvSpPr>
        <p:spPr>
          <a:xfrm>
            <a:off x="7223759" y="3648710"/>
            <a:ext cx="4117340" cy="292100"/>
          </a:xfrm>
          <a:prstGeom prst="rect">
            <a:avLst/>
          </a:prstGeom>
          <a:noFill/>
        </p:spPr>
        <p:txBody>
          <a:bodyPr wrap="square" lIns="0" rIns="0" tIns="0" bIns="0" anchor="ctr">
            <a:spAutoFit/>
          </a:bodyPr>
          <a:lstStyle/>
          <a:p>
            <a:pPr algn="l"/>
            <a:r>
              <a:rPr sz="1100" b="0" i="0">
                <a:solidFill>
                  <a:srgbClr val="B8C7E4"/>
                </a:solidFill>
                <a:latin typeface="Calibri"/>
              </a:rPr>
              <a:t>Restarts it in place. Same connection details afterward.</a:t>
            </a:r>
          </a:p>
        </p:txBody>
      </p:sp>
      <p:sp>
        <p:nvSpPr>
          <p:cNvPr id="30" name="Oval 29"/>
          <p:cNvSpPr/>
          <p:nvPr/>
        </p:nvSpPr>
        <p:spPr>
          <a:xfrm>
            <a:off x="6657340" y="4086860"/>
            <a:ext cx="402590" cy="402590"/>
          </a:xfrm>
          <a:prstGeom prst="ellipse">
            <a:avLst/>
          </a:prstGeom>
          <a:solidFill>
            <a:srgbClr val="4C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13.png"/>
          <p:cNvPicPr>
            <a:picLocks noChangeAspect="1"/>
          </p:cNvPicPr>
          <p:nvPr/>
        </p:nvPicPr>
        <p:blipFill>
          <a:blip r:embed="rId5"/>
          <a:stretch>
            <a:fillRect/>
          </a:stretch>
        </p:blipFill>
        <p:spPr>
          <a:xfrm>
            <a:off x="6761480" y="4192270"/>
            <a:ext cx="193040" cy="193040"/>
          </a:xfrm>
          <a:prstGeom prst="rect">
            <a:avLst/>
          </a:prstGeom>
        </p:spPr>
      </p:pic>
      <p:sp>
        <p:nvSpPr>
          <p:cNvPr id="32" name="TextBox 31"/>
          <p:cNvSpPr txBox="1"/>
          <p:nvPr/>
        </p:nvSpPr>
        <p:spPr>
          <a:xfrm>
            <a:off x="7223759" y="4032250"/>
            <a:ext cx="4117340" cy="256540"/>
          </a:xfrm>
          <a:prstGeom prst="rect">
            <a:avLst/>
          </a:prstGeom>
          <a:noFill/>
        </p:spPr>
        <p:txBody>
          <a:bodyPr wrap="square" lIns="0" rIns="0" tIns="0" bIns="0" anchor="ctr">
            <a:spAutoFit/>
          </a:bodyPr>
          <a:lstStyle/>
          <a:p>
            <a:pPr algn="l"/>
            <a:r>
              <a:rPr sz="1250" b="1" i="0">
                <a:solidFill>
                  <a:srgbClr val="F4F6FB"/>
                </a:solidFill>
                <a:latin typeface="Calibri"/>
              </a:rPr>
              <a:t>Relaunch Environment</a:t>
            </a:r>
          </a:p>
        </p:txBody>
      </p:sp>
      <p:sp>
        <p:nvSpPr>
          <p:cNvPr id="33" name="TextBox 32"/>
          <p:cNvSpPr txBox="1"/>
          <p:nvPr/>
        </p:nvSpPr>
        <p:spPr>
          <a:xfrm>
            <a:off x="7223759" y="4269740"/>
            <a:ext cx="4117340" cy="292100"/>
          </a:xfrm>
          <a:prstGeom prst="rect">
            <a:avLst/>
          </a:prstGeom>
          <a:noFill/>
        </p:spPr>
        <p:txBody>
          <a:bodyPr wrap="square" lIns="0" rIns="0" tIns="0" bIns="0" anchor="ctr">
            <a:spAutoFit/>
          </a:bodyPr>
          <a:lstStyle/>
          <a:p>
            <a:pPr algn="l"/>
            <a:r>
              <a:rPr sz="1100" b="0" i="0">
                <a:solidFill>
                  <a:srgbClr val="B8C7E4"/>
                </a:solidFill>
                <a:latin typeface="Calibri"/>
              </a:rPr>
              <a:t>Rebuilds from scratch. Anything you changed inside is lost.</a:t>
            </a:r>
          </a:p>
        </p:txBody>
      </p:sp>
      <p:sp>
        <p:nvSpPr>
          <p:cNvPr id="34" name="Oval 33"/>
          <p:cNvSpPr/>
          <p:nvPr/>
        </p:nvSpPr>
        <p:spPr>
          <a:xfrm>
            <a:off x="6657340" y="4709160"/>
            <a:ext cx="402590" cy="402590"/>
          </a:xfrm>
          <a:prstGeom prst="ellipse">
            <a:avLst/>
          </a:prstGeom>
          <a:solidFill>
            <a:srgbClr val="4C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14.png"/>
          <p:cNvPicPr>
            <a:picLocks noChangeAspect="1"/>
          </p:cNvPicPr>
          <p:nvPr/>
        </p:nvPicPr>
        <p:blipFill>
          <a:blip r:embed="rId6"/>
          <a:stretch>
            <a:fillRect/>
          </a:stretch>
        </p:blipFill>
        <p:spPr>
          <a:xfrm>
            <a:off x="6761480" y="4813300"/>
            <a:ext cx="193040" cy="193040"/>
          </a:xfrm>
          <a:prstGeom prst="rect">
            <a:avLst/>
          </a:prstGeom>
        </p:spPr>
      </p:pic>
      <p:sp>
        <p:nvSpPr>
          <p:cNvPr id="36" name="TextBox 35"/>
          <p:cNvSpPr txBox="1"/>
          <p:nvPr/>
        </p:nvSpPr>
        <p:spPr>
          <a:xfrm>
            <a:off x="7223759" y="4654550"/>
            <a:ext cx="4117340" cy="256540"/>
          </a:xfrm>
          <a:prstGeom prst="rect">
            <a:avLst/>
          </a:prstGeom>
          <a:noFill/>
        </p:spPr>
        <p:txBody>
          <a:bodyPr wrap="square" lIns="0" rIns="0" tIns="0" bIns="0" anchor="ctr">
            <a:spAutoFit/>
          </a:bodyPr>
          <a:lstStyle/>
          <a:p>
            <a:pPr algn="l"/>
            <a:r>
              <a:rPr sz="1250" b="1" i="0">
                <a:solidFill>
                  <a:srgbClr val="F4F6FB"/>
                </a:solidFill>
                <a:latin typeface="Calibri"/>
              </a:rPr>
              <a:t>+5 more minutes</a:t>
            </a:r>
          </a:p>
        </p:txBody>
      </p:sp>
      <p:sp>
        <p:nvSpPr>
          <p:cNvPr id="37" name="TextBox 36"/>
          <p:cNvSpPr txBox="1"/>
          <p:nvPr/>
        </p:nvSpPr>
        <p:spPr>
          <a:xfrm>
            <a:off x="7223759" y="4892040"/>
            <a:ext cx="4117340" cy="292100"/>
          </a:xfrm>
          <a:prstGeom prst="rect">
            <a:avLst/>
          </a:prstGeom>
          <a:noFill/>
        </p:spPr>
        <p:txBody>
          <a:bodyPr wrap="square" lIns="0" rIns="0" tIns="0" bIns="0" anchor="ctr">
            <a:spAutoFit/>
          </a:bodyPr>
          <a:lstStyle/>
          <a:p>
            <a:pPr algn="l"/>
            <a:r>
              <a:rPr sz="1100" b="0" i="0">
                <a:solidFill>
                  <a:srgbClr val="B8C7E4"/>
                </a:solidFill>
                <a:latin typeface="Calibri"/>
              </a:rPr>
              <a:t>Appears only once the track is solved and a shutdown has started.</a:t>
            </a:r>
          </a:p>
        </p:txBody>
      </p:sp>
      <p:sp>
        <p:nvSpPr>
          <p:cNvPr id="38" name="TextBox 37"/>
          <p:cNvSpPr txBox="1"/>
          <p:nvPr/>
        </p:nvSpPr>
        <p:spPr>
          <a:xfrm>
            <a:off x="548640" y="5532120"/>
            <a:ext cx="11094720" cy="274320"/>
          </a:xfrm>
          <a:prstGeom prst="rect">
            <a:avLst/>
          </a:prstGeom>
          <a:noFill/>
        </p:spPr>
        <p:txBody>
          <a:bodyPr wrap="square" lIns="0" rIns="0" tIns="0" bIns="0" anchor="ctr">
            <a:spAutoFit/>
          </a:bodyPr>
          <a:lstStyle/>
          <a:p>
            <a:pPr algn="l"/>
            <a:r>
              <a:rPr sz="1250" b="0" i="1">
                <a:solidFill>
                  <a:srgbClr val="4CC9F0"/>
                </a:solidFill>
                <a:latin typeface="Calibri"/>
              </a:rPr>
              <a:t>The command-line tools you need are already installed — run krypton-tools --help on the box.</a:t>
            </a:r>
          </a:p>
        </p:txBody>
      </p:sp>
      <p:sp>
        <p:nvSpPr>
          <p:cNvPr id="39" name="TextBox 38"/>
          <p:cNvSpPr txBox="1"/>
          <p:nvPr/>
        </p:nvSpPr>
        <p:spPr>
          <a:xfrm>
            <a:off x="548640" y="5897880"/>
            <a:ext cx="11094720" cy="274320"/>
          </a:xfrm>
          <a:prstGeom prst="rect">
            <a:avLst/>
          </a:prstGeom>
          <a:noFill/>
        </p:spPr>
        <p:txBody>
          <a:bodyPr wrap="square" lIns="0" rIns="0" tIns="0" bIns="0" anchor="ctr">
            <a:spAutoFit/>
          </a:bodyPr>
          <a:lstStyle/>
          <a:p>
            <a:pPr algn="l"/>
            <a:r>
              <a:rPr sz="1050" b="1" i="0" spc="80">
                <a:solidFill>
                  <a:srgbClr val="4CC9F0"/>
                </a:solidFill>
                <a:latin typeface="Calibri"/>
              </a:rPr>
              <a:t>Want a coach while you play? The AI Copilot track (Guide 04) is the event's one sanctioned AI helper — set it up early.</a:t>
            </a:r>
          </a:p>
        </p:txBody>
      </p:sp>
      <p:sp>
        <p:nvSpPr>
          <p:cNvPr id="40" name="TextBox 39"/>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41" name="TextBox 40"/>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image-10.png"/>
          <p:cNvPicPr>
            <a:picLocks noChangeAspect="1"/>
          </p:cNvPicPr>
          <p:nvPr/>
        </p:nvPicPr>
        <p:blipFill>
          <a:blip r:embed="rId2">
            <a:alphaModFix amt="28000"/>
          </a:blip>
          <a:stretch>
            <a:fillRect/>
          </a:stretch>
        </p:blipFill>
        <p:spPr>
          <a:xfrm>
            <a:off x="8549640" y="109220"/>
            <a:ext cx="3291840" cy="1902460"/>
          </a:xfrm>
          <a:prstGeom prst="rect">
            <a:avLst/>
          </a:prstGeom>
        </p:spPr>
      </p:pic>
      <p:sp>
        <p:nvSpPr>
          <p:cNvPr id="3" name="TextBox 2"/>
          <p:cNvSpPr txBox="1"/>
          <p:nvPr/>
        </p:nvSpPr>
        <p:spPr>
          <a:xfrm>
            <a:off x="548640" y="457200"/>
            <a:ext cx="11094720" cy="274320"/>
          </a:xfrm>
          <a:prstGeom prst="rect">
            <a:avLst/>
          </a:prstGeom>
          <a:noFill/>
        </p:spPr>
        <p:txBody>
          <a:bodyPr wrap="square" lIns="0" rIns="0" tIns="0" bIns="0" anchor="ctr">
            <a:spAutoFit/>
          </a:bodyPr>
          <a:lstStyle/>
          <a:p>
            <a:pPr algn="l"/>
            <a:r>
              <a:rPr sz="1100" b="1" i="0" spc="120">
                <a:solidFill>
                  <a:srgbClr val="4CC9F0"/>
                </a:solidFill>
                <a:latin typeface="Calibri"/>
              </a:rPr>
              <a:t>YOUR FIRST FLAG</a:t>
            </a:r>
          </a:p>
        </p:txBody>
      </p:sp>
      <p:sp>
        <p:nvSpPr>
          <p:cNvPr id="4" name="TextBox 3"/>
          <p:cNvSpPr txBox="1"/>
          <p:nvPr/>
        </p:nvSpPr>
        <p:spPr>
          <a:xfrm>
            <a:off x="548640" y="749300"/>
            <a:ext cx="11094720" cy="566420"/>
          </a:xfrm>
          <a:prstGeom prst="rect">
            <a:avLst/>
          </a:prstGeom>
          <a:noFill/>
        </p:spPr>
        <p:txBody>
          <a:bodyPr wrap="square" lIns="0" rIns="0" tIns="0" bIns="0" anchor="ctr">
            <a:spAutoFit/>
          </a:bodyPr>
          <a:lstStyle/>
          <a:p>
            <a:pPr algn="l"/>
            <a:r>
              <a:rPr sz="3200" b="1" i="0">
                <a:solidFill>
                  <a:srgbClr val="F4F6FB"/>
                </a:solidFill>
                <a:latin typeface="Cambria"/>
              </a:rPr>
              <a:t>Start Here, step by step</a:t>
            </a:r>
          </a:p>
        </p:txBody>
      </p:sp>
      <p:sp>
        <p:nvSpPr>
          <p:cNvPr id="5" name="TextBox 4"/>
          <p:cNvSpPr txBox="1"/>
          <p:nvPr/>
        </p:nvSpPr>
        <p:spPr>
          <a:xfrm>
            <a:off x="548640" y="1389380"/>
            <a:ext cx="9814560" cy="474980"/>
          </a:xfrm>
          <a:prstGeom prst="rect">
            <a:avLst/>
          </a:prstGeom>
          <a:noFill/>
        </p:spPr>
        <p:txBody>
          <a:bodyPr wrap="square" lIns="0" rIns="0" tIns="0" bIns="0" anchor="ctr">
            <a:spAutoFit/>
          </a:bodyPr>
          <a:lstStyle/>
          <a:p>
            <a:pPr algn="l">
              <a:lnSpc>
                <a:spcPct val="115000"/>
              </a:lnSpc>
            </a:pPr>
            <a:r>
              <a:rPr sz="1400" b="0" i="0">
                <a:solidFill>
                  <a:srgbClr val="B8C7E4"/>
                </a:solidFill>
                <a:latin typeface="Calibri"/>
              </a:rPr>
              <a:t>Ten points to confirm you can reach the box and read a file, before any cipher is involved.</a:t>
            </a:r>
          </a:p>
        </p:txBody>
      </p:sp>
      <p:sp>
        <p:nvSpPr>
          <p:cNvPr id="6" name="Rounded Rectangle 5"/>
          <p:cNvSpPr/>
          <p:nvPr/>
        </p:nvSpPr>
        <p:spPr>
          <a:xfrm>
            <a:off x="548640" y="2194560"/>
            <a:ext cx="2430780" cy="2788920"/>
          </a:xfrm>
          <a:prstGeom prst="roundRect">
            <a:avLst>
              <a:gd name="adj" fmla="val 3386"/>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0740" y="2432050"/>
            <a:ext cx="548640" cy="457200"/>
          </a:xfrm>
          <a:prstGeom prst="rect">
            <a:avLst/>
          </a:prstGeom>
          <a:noFill/>
        </p:spPr>
        <p:txBody>
          <a:bodyPr wrap="square" lIns="0" rIns="0" tIns="0" bIns="0" anchor="ctr">
            <a:spAutoFit/>
          </a:bodyPr>
          <a:lstStyle/>
          <a:p>
            <a:pPr algn="l"/>
            <a:r>
              <a:rPr sz="2600" b="1" i="0">
                <a:solidFill>
                  <a:srgbClr val="4CC9F0"/>
                </a:solidFill>
                <a:latin typeface="Cambria"/>
              </a:rPr>
              <a:t>1</a:t>
            </a:r>
          </a:p>
        </p:txBody>
      </p:sp>
      <p:sp>
        <p:nvSpPr>
          <p:cNvPr id="8" name="TextBox 7"/>
          <p:cNvSpPr txBox="1"/>
          <p:nvPr/>
        </p:nvSpPr>
        <p:spPr>
          <a:xfrm>
            <a:off x="840740" y="2926080"/>
            <a:ext cx="1845310" cy="548640"/>
          </a:xfrm>
          <a:prstGeom prst="rect">
            <a:avLst/>
          </a:prstGeom>
          <a:noFill/>
        </p:spPr>
        <p:txBody>
          <a:bodyPr wrap="square" lIns="0" rIns="0" tIns="0" bIns="0" anchor="t">
            <a:spAutoFit/>
          </a:bodyPr>
          <a:lstStyle/>
          <a:p>
            <a:pPr algn="l"/>
            <a:r>
              <a:rPr sz="1500" b="1" i="0">
                <a:solidFill>
                  <a:srgbClr val="F4F6FB"/>
                </a:solidFill>
                <a:latin typeface="Cambria"/>
              </a:rPr>
              <a:t>Click Launch</a:t>
            </a:r>
          </a:p>
        </p:txBody>
      </p:sp>
      <p:sp>
        <p:nvSpPr>
          <p:cNvPr id="9" name="TextBox 8"/>
          <p:cNvSpPr txBox="1"/>
          <p:nvPr/>
        </p:nvSpPr>
        <p:spPr>
          <a:xfrm>
            <a:off x="840740" y="3492500"/>
            <a:ext cx="1845310" cy="1216660"/>
          </a:xfrm>
          <a:prstGeom prst="rect">
            <a:avLst/>
          </a:prstGeom>
          <a:noFill/>
        </p:spPr>
        <p:txBody>
          <a:bodyPr wrap="square" lIns="0" rIns="0" tIns="0" bIns="0" anchor="t">
            <a:spAutoFit/>
          </a:bodyPr>
          <a:lstStyle/>
          <a:p>
            <a:pPr algn="l">
              <a:lnSpc>
                <a:spcPct val="115000"/>
              </a:lnSpc>
            </a:pPr>
            <a:r>
              <a:rPr sz="1200" b="0" i="0">
                <a:solidFill>
                  <a:srgbClr val="B8C7E4"/>
                </a:solidFill>
                <a:latin typeface="Calibri"/>
              </a:rPr>
              <a:t>On the "Krypton: Start Here" challenge in CTFd.</a:t>
            </a:r>
          </a:p>
        </p:txBody>
      </p:sp>
      <p:sp>
        <p:nvSpPr>
          <p:cNvPr id="10" name="TextBox 9"/>
          <p:cNvSpPr txBox="1"/>
          <p:nvPr/>
        </p:nvSpPr>
        <p:spPr>
          <a:xfrm>
            <a:off x="2979420" y="3388360"/>
            <a:ext cx="457200" cy="402590"/>
          </a:xfrm>
          <a:prstGeom prst="rect">
            <a:avLst/>
          </a:prstGeom>
          <a:noFill/>
        </p:spPr>
        <p:txBody>
          <a:bodyPr wrap="square" lIns="0" rIns="0" tIns="0" bIns="0" anchor="ctr">
            <a:spAutoFit/>
          </a:bodyPr>
          <a:lstStyle/>
          <a:p>
            <a:pPr algn="ctr"/>
            <a:r>
              <a:rPr sz="1800" b="0" i="0">
                <a:solidFill>
                  <a:srgbClr val="8FA3C8"/>
                </a:solidFill>
                <a:latin typeface="Calibri"/>
              </a:rPr>
              <a:t>→</a:t>
            </a:r>
          </a:p>
        </p:txBody>
      </p:sp>
      <p:sp>
        <p:nvSpPr>
          <p:cNvPr id="11" name="Rounded Rectangle 10"/>
          <p:cNvSpPr/>
          <p:nvPr/>
        </p:nvSpPr>
        <p:spPr>
          <a:xfrm>
            <a:off x="3436620" y="2194560"/>
            <a:ext cx="2430780" cy="2788920"/>
          </a:xfrm>
          <a:prstGeom prst="roundRect">
            <a:avLst>
              <a:gd name="adj" fmla="val 3386"/>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8720" y="2432050"/>
            <a:ext cx="548640" cy="457200"/>
          </a:xfrm>
          <a:prstGeom prst="rect">
            <a:avLst/>
          </a:prstGeom>
          <a:noFill/>
        </p:spPr>
        <p:txBody>
          <a:bodyPr wrap="square" lIns="0" rIns="0" tIns="0" bIns="0" anchor="ctr">
            <a:spAutoFit/>
          </a:bodyPr>
          <a:lstStyle/>
          <a:p>
            <a:pPr algn="l"/>
            <a:r>
              <a:rPr sz="2600" b="1" i="0">
                <a:solidFill>
                  <a:srgbClr val="4CC9F0"/>
                </a:solidFill>
                <a:latin typeface="Cambria"/>
              </a:rPr>
              <a:t>2</a:t>
            </a:r>
          </a:p>
        </p:txBody>
      </p:sp>
      <p:sp>
        <p:nvSpPr>
          <p:cNvPr id="13" name="TextBox 12"/>
          <p:cNvSpPr txBox="1"/>
          <p:nvPr/>
        </p:nvSpPr>
        <p:spPr>
          <a:xfrm>
            <a:off x="3728720" y="2926080"/>
            <a:ext cx="1845310" cy="548640"/>
          </a:xfrm>
          <a:prstGeom prst="rect">
            <a:avLst/>
          </a:prstGeom>
          <a:noFill/>
        </p:spPr>
        <p:txBody>
          <a:bodyPr wrap="square" lIns="0" rIns="0" tIns="0" bIns="0" anchor="t">
            <a:spAutoFit/>
          </a:bodyPr>
          <a:lstStyle/>
          <a:p>
            <a:pPr algn="l"/>
            <a:r>
              <a:rPr sz="1500" b="1" i="0">
                <a:solidFill>
                  <a:srgbClr val="F4F6FB"/>
                </a:solidFill>
                <a:latin typeface="Cambria"/>
              </a:rPr>
              <a:t>Log in</a:t>
            </a:r>
          </a:p>
        </p:txBody>
      </p:sp>
      <p:sp>
        <p:nvSpPr>
          <p:cNvPr id="14" name="TextBox 13"/>
          <p:cNvSpPr txBox="1"/>
          <p:nvPr/>
        </p:nvSpPr>
        <p:spPr>
          <a:xfrm>
            <a:off x="3728720" y="3492500"/>
            <a:ext cx="1845310" cy="1216660"/>
          </a:xfrm>
          <a:prstGeom prst="rect">
            <a:avLst/>
          </a:prstGeom>
          <a:noFill/>
        </p:spPr>
        <p:txBody>
          <a:bodyPr wrap="square" lIns="0" rIns="0" tIns="0" bIns="0" anchor="t">
            <a:spAutoFit/>
          </a:bodyPr>
          <a:lstStyle/>
          <a:p>
            <a:pPr algn="l">
              <a:lnSpc>
                <a:spcPct val="115000"/>
              </a:lnSpc>
            </a:pPr>
            <a:r>
              <a:rPr sz="1200" b="0" i="0">
                <a:solidFill>
                  <a:srgbClr val="B8C7E4"/>
                </a:solidFill>
                <a:latin typeface="Calibri"/>
              </a:rPr>
              <a:t>Connect as krypton0 with password krypton0 — the fixed public entry account.</a:t>
            </a:r>
          </a:p>
        </p:txBody>
      </p:sp>
      <p:sp>
        <p:nvSpPr>
          <p:cNvPr id="15" name="TextBox 14"/>
          <p:cNvSpPr txBox="1"/>
          <p:nvPr/>
        </p:nvSpPr>
        <p:spPr>
          <a:xfrm>
            <a:off x="5867400" y="3388360"/>
            <a:ext cx="457200" cy="402590"/>
          </a:xfrm>
          <a:prstGeom prst="rect">
            <a:avLst/>
          </a:prstGeom>
          <a:noFill/>
        </p:spPr>
        <p:txBody>
          <a:bodyPr wrap="square" lIns="0" rIns="0" tIns="0" bIns="0" anchor="ctr">
            <a:spAutoFit/>
          </a:bodyPr>
          <a:lstStyle/>
          <a:p>
            <a:pPr algn="ctr"/>
            <a:r>
              <a:rPr sz="1800" b="0" i="0">
                <a:solidFill>
                  <a:srgbClr val="8FA3C8"/>
                </a:solidFill>
                <a:latin typeface="Calibri"/>
              </a:rPr>
              <a:t>→</a:t>
            </a:r>
          </a:p>
        </p:txBody>
      </p:sp>
      <p:sp>
        <p:nvSpPr>
          <p:cNvPr id="16" name="Rounded Rectangle 15"/>
          <p:cNvSpPr/>
          <p:nvPr/>
        </p:nvSpPr>
        <p:spPr>
          <a:xfrm>
            <a:off x="6324600" y="2194560"/>
            <a:ext cx="2430780" cy="2788920"/>
          </a:xfrm>
          <a:prstGeom prst="roundRect">
            <a:avLst>
              <a:gd name="adj" fmla="val 3386"/>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6700" y="2432050"/>
            <a:ext cx="548640" cy="457200"/>
          </a:xfrm>
          <a:prstGeom prst="rect">
            <a:avLst/>
          </a:prstGeom>
          <a:noFill/>
        </p:spPr>
        <p:txBody>
          <a:bodyPr wrap="square" lIns="0" rIns="0" tIns="0" bIns="0" anchor="ctr">
            <a:spAutoFit/>
          </a:bodyPr>
          <a:lstStyle/>
          <a:p>
            <a:pPr algn="l"/>
            <a:r>
              <a:rPr sz="2600" b="1" i="0">
                <a:solidFill>
                  <a:srgbClr val="4CC9F0"/>
                </a:solidFill>
                <a:latin typeface="Cambria"/>
              </a:rPr>
              <a:t>3</a:t>
            </a:r>
          </a:p>
        </p:txBody>
      </p:sp>
      <p:sp>
        <p:nvSpPr>
          <p:cNvPr id="18" name="TextBox 17"/>
          <p:cNvSpPr txBox="1"/>
          <p:nvPr/>
        </p:nvSpPr>
        <p:spPr>
          <a:xfrm>
            <a:off x="6616700" y="2926080"/>
            <a:ext cx="1845310" cy="548640"/>
          </a:xfrm>
          <a:prstGeom prst="rect">
            <a:avLst/>
          </a:prstGeom>
          <a:noFill/>
        </p:spPr>
        <p:txBody>
          <a:bodyPr wrap="square" lIns="0" rIns="0" tIns="0" bIns="0" anchor="t">
            <a:spAutoFit/>
          </a:bodyPr>
          <a:lstStyle/>
          <a:p>
            <a:pPr algn="l"/>
            <a:r>
              <a:rPr sz="1500" b="1" i="0">
                <a:solidFill>
                  <a:srgbClr val="F4F6FB"/>
                </a:solidFill>
                <a:latin typeface="Cambria"/>
              </a:rPr>
              <a:t>Read welcome.txt</a:t>
            </a:r>
          </a:p>
        </p:txBody>
      </p:sp>
      <p:sp>
        <p:nvSpPr>
          <p:cNvPr id="19" name="TextBox 18"/>
          <p:cNvSpPr txBox="1"/>
          <p:nvPr/>
        </p:nvSpPr>
        <p:spPr>
          <a:xfrm>
            <a:off x="6616700" y="3492500"/>
            <a:ext cx="1845310" cy="1216660"/>
          </a:xfrm>
          <a:prstGeom prst="rect">
            <a:avLst/>
          </a:prstGeom>
          <a:noFill/>
        </p:spPr>
        <p:txBody>
          <a:bodyPr wrap="square" lIns="0" rIns="0" tIns="0" bIns="0" anchor="t">
            <a:spAutoFit/>
          </a:bodyPr>
          <a:lstStyle/>
          <a:p>
            <a:pPr algn="l">
              <a:lnSpc>
                <a:spcPct val="115000"/>
              </a:lnSpc>
            </a:pPr>
            <a:r>
              <a:rPr sz="1200" b="0" i="0">
                <a:solidFill>
                  <a:srgbClr val="B8C7E4"/>
                </a:solidFill>
                <a:latin typeface="Calibri"/>
              </a:rPr>
              <a:t>In the home directory.</a:t>
            </a:r>
          </a:p>
        </p:txBody>
      </p:sp>
      <p:sp>
        <p:nvSpPr>
          <p:cNvPr id="20" name="TextBox 19"/>
          <p:cNvSpPr txBox="1"/>
          <p:nvPr/>
        </p:nvSpPr>
        <p:spPr>
          <a:xfrm>
            <a:off x="8755380" y="3388360"/>
            <a:ext cx="457200" cy="402590"/>
          </a:xfrm>
          <a:prstGeom prst="rect">
            <a:avLst/>
          </a:prstGeom>
          <a:noFill/>
        </p:spPr>
        <p:txBody>
          <a:bodyPr wrap="square" lIns="0" rIns="0" tIns="0" bIns="0" anchor="ctr">
            <a:spAutoFit/>
          </a:bodyPr>
          <a:lstStyle/>
          <a:p>
            <a:pPr algn="ctr"/>
            <a:r>
              <a:rPr sz="1800" b="0" i="0">
                <a:solidFill>
                  <a:srgbClr val="8FA3C8"/>
                </a:solidFill>
                <a:latin typeface="Calibri"/>
              </a:rPr>
              <a:t>→</a:t>
            </a:r>
          </a:p>
        </p:txBody>
      </p:sp>
      <p:sp>
        <p:nvSpPr>
          <p:cNvPr id="21" name="Rounded Rectangle 20"/>
          <p:cNvSpPr/>
          <p:nvPr/>
        </p:nvSpPr>
        <p:spPr>
          <a:xfrm>
            <a:off x="9212580" y="2194560"/>
            <a:ext cx="2430780" cy="2788920"/>
          </a:xfrm>
          <a:prstGeom prst="roundRect">
            <a:avLst>
              <a:gd name="adj" fmla="val 3386"/>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4680" y="2432050"/>
            <a:ext cx="548640" cy="457200"/>
          </a:xfrm>
          <a:prstGeom prst="rect">
            <a:avLst/>
          </a:prstGeom>
          <a:noFill/>
        </p:spPr>
        <p:txBody>
          <a:bodyPr wrap="square" lIns="0" rIns="0" tIns="0" bIns="0" anchor="ctr">
            <a:spAutoFit/>
          </a:bodyPr>
          <a:lstStyle/>
          <a:p>
            <a:pPr algn="l"/>
            <a:r>
              <a:rPr sz="2600" b="1" i="0">
                <a:solidFill>
                  <a:srgbClr val="4CC9F0"/>
                </a:solidFill>
                <a:latin typeface="Cambria"/>
              </a:rPr>
              <a:t>4</a:t>
            </a:r>
          </a:p>
        </p:txBody>
      </p:sp>
      <p:sp>
        <p:nvSpPr>
          <p:cNvPr id="23" name="TextBox 22"/>
          <p:cNvSpPr txBox="1"/>
          <p:nvPr/>
        </p:nvSpPr>
        <p:spPr>
          <a:xfrm>
            <a:off x="9504680" y="2926080"/>
            <a:ext cx="1845310" cy="548640"/>
          </a:xfrm>
          <a:prstGeom prst="rect">
            <a:avLst/>
          </a:prstGeom>
          <a:noFill/>
        </p:spPr>
        <p:txBody>
          <a:bodyPr wrap="square" lIns="0" rIns="0" tIns="0" bIns="0" anchor="t">
            <a:spAutoFit/>
          </a:bodyPr>
          <a:lstStyle/>
          <a:p>
            <a:pPr algn="l"/>
            <a:r>
              <a:rPr sz="1500" b="1" i="0">
                <a:solidFill>
                  <a:srgbClr val="F4F6FB"/>
                </a:solidFill>
                <a:latin typeface="Cambria"/>
              </a:rPr>
              <a:t>Submit it</a:t>
            </a:r>
          </a:p>
        </p:txBody>
      </p:sp>
      <p:sp>
        <p:nvSpPr>
          <p:cNvPr id="24" name="TextBox 23"/>
          <p:cNvSpPr txBox="1"/>
          <p:nvPr/>
        </p:nvSpPr>
        <p:spPr>
          <a:xfrm>
            <a:off x="9504680" y="3492500"/>
            <a:ext cx="1845310" cy="1216660"/>
          </a:xfrm>
          <a:prstGeom prst="rect">
            <a:avLst/>
          </a:prstGeom>
          <a:noFill/>
        </p:spPr>
        <p:txBody>
          <a:bodyPr wrap="square" lIns="0" rIns="0" tIns="0" bIns="0" anchor="t">
            <a:spAutoFit/>
          </a:bodyPr>
          <a:lstStyle/>
          <a:p>
            <a:pPr algn="l">
              <a:lnSpc>
                <a:spcPct val="115000"/>
              </a:lnSpc>
            </a:pPr>
            <a:r>
              <a:rPr sz="1200" b="0" i="0">
                <a:solidFill>
                  <a:srgbClr val="B8C7E4"/>
                </a:solidFill>
                <a:latin typeface="Calibri"/>
              </a:rPr>
              <a:t>Then begin Krypton 0 → 1: Base64 Decoding.</a:t>
            </a:r>
          </a:p>
        </p:txBody>
      </p:sp>
      <p:sp>
        <p:nvSpPr>
          <p:cNvPr id="25" name="TextBox 24"/>
          <p:cNvSpPr txBox="1"/>
          <p:nvPr/>
        </p:nvSpPr>
        <p:spPr>
          <a:xfrm>
            <a:off x="548640" y="5349240"/>
            <a:ext cx="11094720" cy="274320"/>
          </a:xfrm>
          <a:prstGeom prst="rect">
            <a:avLst/>
          </a:prstGeom>
          <a:noFill/>
        </p:spPr>
        <p:txBody>
          <a:bodyPr wrap="square" lIns="0" rIns="0" tIns="0" bIns="0" anchor="ctr">
            <a:spAutoFit/>
          </a:bodyPr>
          <a:lstStyle/>
          <a:p>
            <a:pPr algn="l"/>
            <a:r>
              <a:rPr sz="1250" b="0" i="1">
                <a:solidFill>
                  <a:srgbClr val="4CC9F0"/>
                </a:solidFill>
                <a:latin typeface="Calibri"/>
              </a:rPr>
              <a:t>Krypton 0 is deliberately gentle — it's an encoding, not a cipher.</a:t>
            </a:r>
          </a:p>
        </p:txBody>
      </p:sp>
      <p:sp>
        <p:nvSpPr>
          <p:cNvPr id="26" name="TextBox 25"/>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27" name="TextBox 26"/>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image-16.png"/>
          <p:cNvPicPr>
            <a:picLocks noChangeAspect="1"/>
          </p:cNvPicPr>
          <p:nvPr/>
        </p:nvPicPr>
        <p:blipFill>
          <a:blip r:embed="rId2"/>
          <a:stretch>
            <a:fillRect/>
          </a:stretch>
        </p:blipFill>
        <p:spPr>
          <a:xfrm>
            <a:off x="7881620" y="2286000"/>
            <a:ext cx="3749040" cy="3072130"/>
          </a:xfrm>
          <a:prstGeom prst="rect">
            <a:avLst/>
          </a:prstGeom>
        </p:spPr>
      </p:pic>
      <p:sp>
        <p:nvSpPr>
          <p:cNvPr id="3" name="TextBox 2"/>
          <p:cNvSpPr txBox="1"/>
          <p:nvPr/>
        </p:nvSpPr>
        <p:spPr>
          <a:xfrm>
            <a:off x="548640" y="1143000"/>
            <a:ext cx="7315200" cy="731520"/>
          </a:xfrm>
          <a:prstGeom prst="rect">
            <a:avLst/>
          </a:prstGeom>
          <a:noFill/>
        </p:spPr>
        <p:txBody>
          <a:bodyPr wrap="square" lIns="0" rIns="0" tIns="0" bIns="0" anchor="ctr">
            <a:spAutoFit/>
          </a:bodyPr>
          <a:lstStyle/>
          <a:p>
            <a:pPr algn="l"/>
            <a:r>
              <a:rPr sz="4000" b="1" i="0">
                <a:solidFill>
                  <a:srgbClr val="F4F6FB"/>
                </a:solidFill>
                <a:latin typeface="Cambria"/>
              </a:rPr>
              <a:t>Ready to play.</a:t>
            </a:r>
          </a:p>
        </p:txBody>
      </p:sp>
      <p:sp>
        <p:nvSpPr>
          <p:cNvPr id="4" name="TextBox 3"/>
          <p:cNvSpPr txBox="1"/>
          <p:nvPr/>
        </p:nvSpPr>
        <p:spPr>
          <a:xfrm>
            <a:off x="548640" y="1920239"/>
            <a:ext cx="7680959" cy="365760"/>
          </a:xfrm>
          <a:prstGeom prst="rect">
            <a:avLst/>
          </a:prstGeom>
          <a:noFill/>
        </p:spPr>
        <p:txBody>
          <a:bodyPr wrap="square" lIns="0" rIns="0" tIns="0" bIns="0" anchor="ctr">
            <a:spAutoFit/>
          </a:bodyPr>
          <a:lstStyle/>
          <a:p>
            <a:pPr algn="l"/>
            <a:r>
              <a:rPr sz="1350" b="0" i="0">
                <a:solidFill>
                  <a:srgbClr val="B8C7E4"/>
                </a:solidFill>
                <a:latin typeface="Calibri"/>
              </a:rPr>
              <a:t>Krypton is short, self-contained, and needs far less Linux than Bandit.</a:t>
            </a:r>
          </a:p>
        </p:txBody>
      </p:sp>
      <p:sp>
        <p:nvSpPr>
          <p:cNvPr id="5" name="Rounded Rectangle 4"/>
          <p:cNvSpPr/>
          <p:nvPr/>
        </p:nvSpPr>
        <p:spPr>
          <a:xfrm>
            <a:off x="548640" y="2606040"/>
            <a:ext cx="6614159" cy="694690"/>
          </a:xfrm>
          <a:prstGeom prst="roundRect">
            <a:avLst>
              <a:gd name="adj" fmla="val 1184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180" y="2606040"/>
            <a:ext cx="457200" cy="694690"/>
          </a:xfrm>
          <a:prstGeom prst="rect">
            <a:avLst/>
          </a:prstGeom>
          <a:noFill/>
        </p:spPr>
        <p:txBody>
          <a:bodyPr wrap="square" lIns="0" rIns="0" tIns="0" bIns="0" anchor="ctr">
            <a:spAutoFit/>
          </a:bodyPr>
          <a:lstStyle/>
          <a:p>
            <a:pPr algn="l"/>
            <a:r>
              <a:rPr sz="1900" b="1" i="0">
                <a:solidFill>
                  <a:srgbClr val="4CC9F0"/>
                </a:solidFill>
                <a:latin typeface="Cambria"/>
              </a:rPr>
              <a:t>1</a:t>
            </a:r>
          </a:p>
        </p:txBody>
      </p:sp>
      <p:sp>
        <p:nvSpPr>
          <p:cNvPr id="7" name="TextBox 6"/>
          <p:cNvSpPr txBox="1"/>
          <p:nvPr/>
        </p:nvSpPr>
        <p:spPr>
          <a:xfrm>
            <a:off x="1554480" y="2606040"/>
            <a:ext cx="5334000" cy="694690"/>
          </a:xfrm>
          <a:prstGeom prst="rect">
            <a:avLst/>
          </a:prstGeom>
          <a:noFill/>
        </p:spPr>
        <p:txBody>
          <a:bodyPr wrap="square" lIns="0" rIns="0" tIns="0" bIns="0" anchor="ctr">
            <a:spAutoFit/>
          </a:bodyPr>
          <a:lstStyle/>
          <a:p>
            <a:pPr algn="l"/>
            <a:r>
              <a:rPr sz="1400" b="0" i="0">
                <a:solidFill>
                  <a:srgbClr val="F4F6FB"/>
                </a:solidFill>
                <a:latin typeface="Calibri"/>
              </a:rPr>
              <a:t>Log in to CTFd and open the Cryptography category</a:t>
            </a:r>
          </a:p>
        </p:txBody>
      </p:sp>
      <p:sp>
        <p:nvSpPr>
          <p:cNvPr id="8" name="Rounded Rectangle 7"/>
          <p:cNvSpPr/>
          <p:nvPr/>
        </p:nvSpPr>
        <p:spPr>
          <a:xfrm>
            <a:off x="548640" y="3368040"/>
            <a:ext cx="6614159" cy="694690"/>
          </a:xfrm>
          <a:prstGeom prst="roundRect">
            <a:avLst>
              <a:gd name="adj" fmla="val 11842"/>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180" y="3368040"/>
            <a:ext cx="457200" cy="694690"/>
          </a:xfrm>
          <a:prstGeom prst="rect">
            <a:avLst/>
          </a:prstGeom>
          <a:noFill/>
        </p:spPr>
        <p:txBody>
          <a:bodyPr wrap="square" lIns="0" rIns="0" tIns="0" bIns="0" anchor="ctr">
            <a:spAutoFit/>
          </a:bodyPr>
          <a:lstStyle/>
          <a:p>
            <a:pPr algn="l"/>
            <a:r>
              <a:rPr sz="1900" b="1" i="0">
                <a:solidFill>
                  <a:srgbClr val="4CC9F0"/>
                </a:solidFill>
                <a:latin typeface="Cambria"/>
              </a:rPr>
              <a:t>2</a:t>
            </a:r>
          </a:p>
        </p:txBody>
      </p:sp>
      <p:sp>
        <p:nvSpPr>
          <p:cNvPr id="10" name="TextBox 9"/>
          <p:cNvSpPr txBox="1"/>
          <p:nvPr/>
        </p:nvSpPr>
        <p:spPr>
          <a:xfrm>
            <a:off x="1554480" y="3368040"/>
            <a:ext cx="5334000" cy="694690"/>
          </a:xfrm>
          <a:prstGeom prst="rect">
            <a:avLst/>
          </a:prstGeom>
          <a:noFill/>
        </p:spPr>
        <p:txBody>
          <a:bodyPr wrap="square" lIns="0" rIns="0" tIns="0" bIns="0" anchor="ctr">
            <a:spAutoFit/>
          </a:bodyPr>
          <a:lstStyle/>
          <a:p>
            <a:pPr algn="l"/>
            <a:r>
              <a:rPr sz="1400" b="0" i="0">
                <a:solidFill>
                  <a:srgbClr val="F4F6FB"/>
                </a:solidFill>
                <a:latin typeface="Calibri"/>
              </a:rPr>
              <a:t>Solve "Krypton: Start Here" to check your connection</a:t>
            </a:r>
          </a:p>
        </p:txBody>
      </p:sp>
      <p:sp>
        <p:nvSpPr>
          <p:cNvPr id="11" name="Rounded Rectangle 10"/>
          <p:cNvSpPr/>
          <p:nvPr/>
        </p:nvSpPr>
        <p:spPr>
          <a:xfrm>
            <a:off x="548640" y="4130040"/>
            <a:ext cx="6614159" cy="694690"/>
          </a:xfrm>
          <a:prstGeom prst="roundRect">
            <a:avLst>
              <a:gd name="adj" fmla="val 1184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180" y="4130040"/>
            <a:ext cx="457200" cy="694690"/>
          </a:xfrm>
          <a:prstGeom prst="rect">
            <a:avLst/>
          </a:prstGeom>
          <a:noFill/>
        </p:spPr>
        <p:txBody>
          <a:bodyPr wrap="square" lIns="0" rIns="0" tIns="0" bIns="0" anchor="ctr">
            <a:spAutoFit/>
          </a:bodyPr>
          <a:lstStyle/>
          <a:p>
            <a:pPr algn="l"/>
            <a:r>
              <a:rPr sz="1900" b="1" i="0">
                <a:solidFill>
                  <a:srgbClr val="4CC9F0"/>
                </a:solidFill>
                <a:latin typeface="Cambria"/>
              </a:rPr>
              <a:t>3</a:t>
            </a:r>
          </a:p>
        </p:txBody>
      </p:sp>
      <p:sp>
        <p:nvSpPr>
          <p:cNvPr id="13" name="TextBox 12"/>
          <p:cNvSpPr txBox="1"/>
          <p:nvPr/>
        </p:nvSpPr>
        <p:spPr>
          <a:xfrm>
            <a:off x="1554480" y="4130040"/>
            <a:ext cx="5334000" cy="694690"/>
          </a:xfrm>
          <a:prstGeom prst="rect">
            <a:avLst/>
          </a:prstGeom>
          <a:noFill/>
        </p:spPr>
        <p:txBody>
          <a:bodyPr wrap="square" lIns="0" rIns="0" tIns="0" bIns="0" anchor="ctr">
            <a:spAutoFit/>
          </a:bodyPr>
          <a:lstStyle/>
          <a:p>
            <a:pPr algn="l"/>
            <a:r>
              <a:rPr sz="1400" b="0" i="0">
                <a:solidFill>
                  <a:srgbClr val="F4F6FB"/>
                </a:solidFill>
                <a:latin typeface="Calibri"/>
              </a:rPr>
              <a:t>Launch the environment — levels 0 to 6 share it</a:t>
            </a:r>
          </a:p>
        </p:txBody>
      </p:sp>
      <p:sp>
        <p:nvSpPr>
          <p:cNvPr id="14" name="Rounded Rectangle 13"/>
          <p:cNvSpPr/>
          <p:nvPr/>
        </p:nvSpPr>
        <p:spPr>
          <a:xfrm>
            <a:off x="548640" y="4892040"/>
            <a:ext cx="6614159" cy="694690"/>
          </a:xfrm>
          <a:prstGeom prst="roundRect">
            <a:avLst>
              <a:gd name="adj" fmla="val 11842"/>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180" y="4892040"/>
            <a:ext cx="457200" cy="694690"/>
          </a:xfrm>
          <a:prstGeom prst="rect">
            <a:avLst/>
          </a:prstGeom>
          <a:noFill/>
        </p:spPr>
        <p:txBody>
          <a:bodyPr wrap="square" lIns="0" rIns="0" tIns="0" bIns="0" anchor="ctr">
            <a:spAutoFit/>
          </a:bodyPr>
          <a:lstStyle/>
          <a:p>
            <a:pPr algn="l"/>
            <a:r>
              <a:rPr sz="1900" b="1" i="0">
                <a:solidFill>
                  <a:srgbClr val="4CC9F0"/>
                </a:solidFill>
                <a:latin typeface="Cambria"/>
              </a:rPr>
              <a:t>4</a:t>
            </a:r>
          </a:p>
        </p:txBody>
      </p:sp>
      <p:sp>
        <p:nvSpPr>
          <p:cNvPr id="16" name="TextBox 15"/>
          <p:cNvSpPr txBox="1"/>
          <p:nvPr/>
        </p:nvSpPr>
        <p:spPr>
          <a:xfrm>
            <a:off x="1554480" y="4892040"/>
            <a:ext cx="5334000" cy="694690"/>
          </a:xfrm>
          <a:prstGeom prst="rect">
            <a:avLst/>
          </a:prstGeom>
          <a:noFill/>
        </p:spPr>
        <p:txBody>
          <a:bodyPr wrap="square" lIns="0" rIns="0" tIns="0" bIns="0" anchor="ctr">
            <a:spAutoFit/>
          </a:bodyPr>
          <a:lstStyle/>
          <a:p>
            <a:pPr algn="l"/>
            <a:r>
              <a:rPr sz="1400" b="0" i="0">
                <a:solidFill>
                  <a:srgbClr val="F4F6FB"/>
                </a:solidFill>
                <a:latin typeface="Calibri"/>
              </a:rPr>
              <a:t>Run krypton-tools --help on the box before you start guessing</a:t>
            </a:r>
          </a:p>
        </p:txBody>
      </p:sp>
      <p:sp>
        <p:nvSpPr>
          <p:cNvPr id="17" name="Rounded Rectangle 16"/>
          <p:cNvSpPr/>
          <p:nvPr/>
        </p:nvSpPr>
        <p:spPr>
          <a:xfrm>
            <a:off x="548640" y="5654040"/>
            <a:ext cx="6614159" cy="694690"/>
          </a:xfrm>
          <a:prstGeom prst="roundRect">
            <a:avLst>
              <a:gd name="adj" fmla="val 11842"/>
            </a:avLst>
          </a:prstGeom>
          <a:solidFill>
            <a:srgbClr val="14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180" y="5654040"/>
            <a:ext cx="457200" cy="694690"/>
          </a:xfrm>
          <a:prstGeom prst="rect">
            <a:avLst/>
          </a:prstGeom>
          <a:noFill/>
        </p:spPr>
        <p:txBody>
          <a:bodyPr wrap="square" lIns="0" rIns="0" tIns="0" bIns="0" anchor="ctr">
            <a:spAutoFit/>
          </a:bodyPr>
          <a:lstStyle/>
          <a:p>
            <a:pPr algn="l"/>
            <a:r>
              <a:rPr sz="1900" b="1" i="0">
                <a:solidFill>
                  <a:srgbClr val="4CC9F0"/>
                </a:solidFill>
                <a:latin typeface="Cambria"/>
              </a:rPr>
              <a:t>5</a:t>
            </a:r>
          </a:p>
        </p:txBody>
      </p:sp>
      <p:sp>
        <p:nvSpPr>
          <p:cNvPr id="19" name="TextBox 18"/>
          <p:cNvSpPr txBox="1"/>
          <p:nvPr/>
        </p:nvSpPr>
        <p:spPr>
          <a:xfrm>
            <a:off x="1554480" y="5654040"/>
            <a:ext cx="5334000" cy="694690"/>
          </a:xfrm>
          <a:prstGeom prst="rect">
            <a:avLst/>
          </a:prstGeom>
          <a:noFill/>
        </p:spPr>
        <p:txBody>
          <a:bodyPr wrap="square" lIns="0" rIns="0" tIns="0" bIns="0" anchor="ctr">
            <a:spAutoFit/>
          </a:bodyPr>
          <a:lstStyle/>
          <a:p>
            <a:pPr algn="l"/>
            <a:r>
              <a:rPr sz="1400" b="0" i="0">
                <a:solidFill>
                  <a:srgbClr val="F4F6FB"/>
                </a:solidFill>
                <a:latin typeface="Calibri"/>
              </a:rPr>
              <a:t>Stuck? Find a staff member. Hints cost a share of the challenge's points — the cost is shown before you open one.</a:t>
            </a:r>
          </a:p>
        </p:txBody>
      </p:sp>
      <p:sp>
        <p:nvSpPr>
          <p:cNvPr id="20" name="TextBox 19"/>
          <p:cNvSpPr txBox="1"/>
          <p:nvPr/>
        </p:nvSpPr>
        <p:spPr>
          <a:xfrm>
            <a:off x="7366000" y="5654040"/>
            <a:ext cx="4267200" cy="694690"/>
          </a:xfrm>
          <a:prstGeom prst="rect">
            <a:avLst/>
          </a:prstGeom>
          <a:noFill/>
        </p:spPr>
        <p:txBody>
          <a:bodyPr wrap="square" lIns="0" rIns="0" tIns="0" bIns="0" anchor="ctr">
            <a:spAutoFit/>
          </a:bodyPr>
          <a:lstStyle/>
          <a:p>
            <a:pPr algn="l"/>
            <a:r>
              <a:rPr sz="1400" b="0" i="1">
                <a:solidFill>
                  <a:srgbClr val="4CC9F0"/>
                </a:solidFill>
                <a:latin typeface="Calibri"/>
              </a:rPr>
              <a:t>Good luck.</a:t>
            </a:r>
          </a:p>
        </p:txBody>
      </p:sp>
      <p:sp>
        <p:nvSpPr>
          <p:cNvPr id="21" name="TextBox 20"/>
          <p:cNvSpPr txBox="1"/>
          <p:nvPr/>
        </p:nvSpPr>
        <p:spPr>
          <a:xfrm>
            <a:off x="548640" y="6446520"/>
            <a:ext cx="2743200" cy="274320"/>
          </a:xfrm>
          <a:prstGeom prst="rect">
            <a:avLst/>
          </a:prstGeom>
          <a:noFill/>
        </p:spPr>
        <p:txBody>
          <a:bodyPr wrap="square" lIns="0" rIns="0" tIns="0" bIns="0" anchor="ctr">
            <a:spAutoFit/>
          </a:bodyPr>
          <a:lstStyle/>
          <a:p>
            <a:pPr algn="l"/>
            <a:r>
              <a:rPr sz="1000" b="0" i="0" spc="150">
                <a:solidFill>
                  <a:srgbClr val="8FA3C8"/>
                </a:solidFill>
                <a:latin typeface="Calibri"/>
              </a:rPr>
              <a:t>CEI LABS CTF — GUIDE 02 / 04</a:t>
            </a:r>
          </a:p>
        </p:txBody>
      </p:sp>
      <p:sp>
        <p:nvSpPr>
          <p:cNvPr id="22" name="TextBox 21"/>
          <p:cNvSpPr txBox="1"/>
          <p:nvPr/>
        </p:nvSpPr>
        <p:spPr>
          <a:xfrm>
            <a:off x="10728960" y="6446520"/>
            <a:ext cx="914400" cy="274320"/>
          </a:xfrm>
          <a:prstGeom prst="rect">
            <a:avLst/>
          </a:prstGeom>
          <a:noFill/>
        </p:spPr>
        <p:txBody>
          <a:bodyPr wrap="square" lIns="0" rIns="0" tIns="0" bIns="0" anchor="ctr">
            <a:spAutoFit/>
          </a:bodyPr>
          <a:lstStyle/>
          <a:p>
            <a:pPr algn="r"/>
            <a:r>
              <a:rPr sz="1000" b="0" i="0">
                <a:solidFill>
                  <a:srgbClr val="8FA3C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