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Krypton is the shortest track and the most self-contained: seven levels that walk the entire history of classical cryptography, from an encoding that isn't really a cipher at all up to a stream cipher. It is a good second track — it needs far less Linux than Bandit, so it rewards people who found Bandit heavy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level is a single named technique. Nothing here needs deep Linux — if Bandit felt heavy, start with this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deliberate pause. Say what is coming and roughly how long it will take, then work through the topics. None of them is a level and none is a method — it is the shared vocabulary the track assumes. If you are running short, this list is also the menu: cut topics from it rather than rushing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Encoding is not encryption. Base64 changes how bytes look. It keeps no secret at all.
The left column is the explanation; the right is a worked example you can talk through line by line. The example is a generic illustration of the concept — it is not a payload, path or command for any actual level, so it can be shown in full without spoiling anything.
Land this: No key means no secret. It is a costume, not a 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Substitution and the shift. Replace every letter with another by a fixed rule. The rule is the key.
The left column is the explanation; the right is a worked example you can talk through line by line. The example is a generic illustration of the concept — it is not a payload, path or command for any actual level, so it can be shown in full without spoiling anything.
Land this: Twenty-five possible numbers is not a secret, it is a short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Frequency analysis. Real language is lopsided, and substitution preserves the lopsidedness.
The left column is the explanation; the right is a worked example you can talk through line by line. The example is a generic illustration of the concept — it is not a payload, path or command for any actual level, so it can be shown in full without spoiling anything.
Land this: You are not reading the letters. You are counting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Polyalphabetic ciphers. Use several shifts in rotation, and the frequency counts flatten out.
The left column is the explanation; the right is a worked example you can talk through line by line. The example is a generic illustration of the concept — it is not a payload, path or command for any actual level, so it can be shown in full without spoiling anything.
Land this: One key letter per position. The key is short; the message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the key length. If the key repeats, the ciphertext repeats — and the gaps betray the period.
The left column is the explanation; the right is a worked example you can talk through line by line. The example is a generic illustration of the concept — it is not a payload, path or command for any actual level, so it can be shown in full without spoiling anything.
Land this: Two techniques, in order: find the period, then count the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 ciphers and XOR. Generate a long key rather than writing one down, and combine bit by bit.
The left column is the explanation; the right is a worked example you can talk through line by line. The example is a generic illustration of the concept — it is not a payload, path or command for any actual level, so it can be shown in full without spoiling anything.
Land this: Encrypting and decrypting stop being opposites. They become the same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Identical mechanics to Bandit, so if the room has already seen that deck you can move quickly here. The one addition worth naming is krypton-tools --help: the tools they need are already on the box, and people waste time installing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points to confirm you can reach the box and read a file, before any cipher is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 leave it up while people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2194560" y="4480560"/>
            <a:ext cx="4206240" cy="4206240"/>
          </a:xfrm>
          <a:prstGeom prst="ellipse">
            <a:avLst/>
          </a:prstGeom>
          <a:solidFill>
            <a:srgbClr val="141F30"/>
          </a:solidFill>
          <a:ln/>
        </p:spPr>
      </p:sp>
      <p:pic>
        <p:nvPicPr>
          <p:cNvPr id="3" name="Image 0" descr="preencoded.png">    </p:cNvPr>
          <p:cNvPicPr>
            <a:picLocks noChangeAspect="1"/>
          </p:cNvPicPr>
          <p:nvPr/>
        </p:nvPicPr>
        <p:blipFill>
          <a:blip r:embed="rId1"/>
          <a:stretch>
            <a:fillRect/>
          </a:stretch>
        </p:blipFill>
        <p:spPr>
          <a:xfrm>
            <a:off x="6903720" y="1051560"/>
            <a:ext cx="4800600" cy="3931920"/>
          </a:xfrm>
          <a:prstGeom prst="rect">
            <a:avLst/>
          </a:prstGeom>
        </p:spPr>
      </p:pic>
      <p:sp>
        <p:nvSpPr>
          <p:cNvPr id="4" name="Shape 1"/>
          <p:cNvSpPr/>
          <p:nvPr/>
        </p:nvSpPr>
        <p:spPr>
          <a:xfrm>
            <a:off x="548640" y="960120"/>
            <a:ext cx="786384" cy="786384"/>
          </a:xfrm>
          <a:prstGeom prst="ellipse">
            <a:avLst/>
          </a:prstGeom>
          <a:solidFill>
            <a:srgbClr val="4CC9F0"/>
          </a:solidFill>
          <a:ln/>
        </p:spPr>
      </p:sp>
      <p:pic>
        <p:nvPicPr>
          <p:cNvPr id="5" name="Image 1" descr="preencoded.png">    </p:cNvPr>
          <p:cNvPicPr>
            <a:picLocks noChangeAspect="1"/>
          </p:cNvPicPr>
          <p:nvPr/>
        </p:nvPicPr>
        <p:blipFill>
          <a:blip r:embed="rId2"/>
          <a:stretch>
            <a:fillRect/>
          </a:stretch>
        </p:blipFill>
        <p:spPr>
          <a:xfrm>
            <a:off x="753100" y="1164580"/>
            <a:ext cx="377464" cy="377464"/>
          </a:xfrm>
          <a:prstGeom prst="rect">
            <a:avLst/>
          </a:prstGeom>
        </p:spPr>
      </p:pic>
      <p:sp>
        <p:nvSpPr>
          <p:cNvPr id="6" name="Text 2"/>
          <p:cNvSpPr/>
          <p:nvPr/>
        </p:nvSpPr>
        <p:spPr>
          <a:xfrm>
            <a:off x="548640" y="3017520"/>
            <a:ext cx="6126480" cy="822960"/>
          </a:xfrm>
          <a:prstGeom prst="rect">
            <a:avLst/>
          </a:prstGeom>
          <a:noFill/>
          <a:ln/>
        </p:spPr>
        <p:txBody>
          <a:bodyPr wrap="square" lIns="0" tIns="0" rIns="0" bIns="0" rtlCol="0" anchor="ctr"/>
          <a:lstStyle/>
          <a:p>
            <a:pPr indent="0" marL="0">
              <a:buNone/>
            </a:pPr>
            <a:r>
              <a:rPr lang="en-US" sz="4400" b="1" dirty="0">
                <a:solidFill>
                  <a:srgbClr val="F4F6FB"/>
                </a:solidFill>
                <a:latin typeface="Cambria" pitchFamily="34" charset="0"/>
                <a:ea typeface="Cambria" pitchFamily="34" charset="-122"/>
                <a:cs typeface="Cambria" pitchFamily="34" charset="-120"/>
              </a:rPr>
              <a:t>KRYPTON</a:t>
            </a:r>
            <a:endParaRPr lang="en-US" sz="4400" dirty="0"/>
          </a:p>
        </p:txBody>
      </p:sp>
      <p:sp>
        <p:nvSpPr>
          <p:cNvPr id="7" name="Text 3"/>
          <p:cNvSpPr/>
          <p:nvPr/>
        </p:nvSpPr>
        <p:spPr>
          <a:xfrm>
            <a:off x="548640" y="3886200"/>
            <a:ext cx="6126480" cy="411480"/>
          </a:xfrm>
          <a:prstGeom prst="rect">
            <a:avLst/>
          </a:prstGeom>
          <a:noFill/>
          <a:ln/>
        </p:spPr>
        <p:txBody>
          <a:bodyPr wrap="square" lIns="0" tIns="0" rIns="0" bIns="0" rtlCol="0" anchor="ctr"/>
          <a:lstStyle/>
          <a:p>
            <a:pPr indent="0" marL="0">
              <a:buNone/>
            </a:pPr>
            <a:r>
              <a:rPr lang="en-US" sz="2200" b="1" i="1" dirty="0">
                <a:solidFill>
                  <a:srgbClr val="4CC9F0"/>
                </a:solidFill>
                <a:latin typeface="Cambria" pitchFamily="34" charset="0"/>
                <a:ea typeface="Cambria" pitchFamily="34" charset="-122"/>
                <a:cs typeface="Cambria" pitchFamily="34" charset="-120"/>
              </a:rPr>
              <a:t>Signal from the Dark</a:t>
            </a:r>
            <a:endParaRPr lang="en-US" sz="2200" dirty="0"/>
          </a:p>
        </p:txBody>
      </p:sp>
      <p:sp>
        <p:nvSpPr>
          <p:cNvPr id="8" name="Text 4"/>
          <p:cNvSpPr/>
          <p:nvPr/>
        </p:nvSpPr>
        <p:spPr>
          <a:xfrm>
            <a:off x="548640" y="4389120"/>
            <a:ext cx="6217920" cy="566928"/>
          </a:xfrm>
          <a:prstGeom prst="rect">
            <a:avLst/>
          </a:prstGeom>
          <a:noFill/>
          <a:ln/>
        </p:spPr>
        <p:txBody>
          <a:bodyPr wrap="square" lIns="0" tIns="0" rIns="0" bIns="0" rtlCol="0" anchor="ctr"/>
          <a:lstStyle/>
          <a:p>
            <a:pPr indent="0" marL="0">
              <a:lnSpc>
                <a:spcPct val="115000"/>
              </a:lnSpc>
              <a:buNone/>
            </a:pPr>
            <a:r>
              <a:rPr lang="en-US" sz="1350" dirty="0">
                <a:solidFill>
                  <a:srgbClr val="93A5C7"/>
                </a:solidFill>
                <a:latin typeface="Calibri" pitchFamily="34" charset="0"/>
                <a:ea typeface="Calibri" pitchFamily="34" charset="-122"/>
                <a:cs typeface="Calibri" pitchFamily="34" charset="-120"/>
              </a:rPr>
              <a:t>Seven levels of classical cryptography, played as one long night shift on a deep-space listening post.</a:t>
            </a:r>
            <a:endParaRPr lang="en-US" sz="1350" dirty="0"/>
          </a:p>
        </p:txBody>
      </p:sp>
      <p:sp>
        <p:nvSpPr>
          <p:cNvPr id="9" name="Text 5"/>
          <p:cNvSpPr/>
          <p:nvPr/>
        </p:nvSpPr>
        <p:spPr>
          <a:xfrm>
            <a:off x="548640" y="5029200"/>
            <a:ext cx="6217920" cy="1188720"/>
          </a:xfrm>
          <a:prstGeom prst="rect">
            <a:avLst/>
          </a:prstGeom>
          <a:noFill/>
          <a:ln/>
        </p:spPr>
        <p:txBody>
          <a:bodyPr wrap="square" lIns="0" tIns="0" rIns="0" bIns="0" rtlCol="0" anchor="ctr"/>
          <a:lstStyle/>
          <a:p>
            <a:pPr indent="0" marL="0">
              <a:lnSpc>
                <a:spcPct val="122000"/>
              </a:lnSpc>
              <a:buNone/>
            </a:pPr>
            <a:r>
              <a:rPr lang="en-US" sz="1150" i="1" dirty="0">
                <a:solidFill>
                  <a:srgbClr val="5B6B8C"/>
                </a:solidFill>
                <a:latin typeface="Calibri" pitchFamily="34" charset="0"/>
                <a:ea typeface="Calibri" pitchFamily="34" charset="-122"/>
                <a:cs typeface="Calibri" pitchFamily="34" charset="-120"/>
              </a:rPr>
              <a:t>A deep-space listening post catches a faint transmission no one can place. Over one long night shift the operator peels back layer after layer, watching the signal grow stranger — less like noise, more like something reaching back — until the last layer reveals a pattern that never quite repeats.</a:t>
            </a:r>
            <a:endParaRPr lang="en-US" sz="1150" dirty="0"/>
          </a:p>
        </p:txBody>
      </p:sp>
      <p:sp>
        <p:nvSpPr>
          <p:cNvPr id="10" name="Text 6"/>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11" name="Text 7"/>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01</a:t>
            </a:r>
            <a:endParaRPr lang="en-US" sz="900" dirty="0"/>
          </a:p>
        </p:txBody>
      </p:sp>
    </p:spTree>
  </p:cSld>
  <p:clrMapOvr>
    <a:masterClrMapping/>
  </p:clrMapOvr>
  <p:transition spd="med" advClick="1">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4CC9F0"/>
                </a:solidFill>
                <a:latin typeface="Calibri" pitchFamily="34" charset="0"/>
                <a:ea typeface="Calibri" pitchFamily="34" charset="-122"/>
                <a:cs typeface="Calibri" pitchFamily="34" charset="-120"/>
              </a:rPr>
              <a:t>THE MAP</a:t>
            </a:r>
            <a:endParaRPr lang="en-US" sz="1100" dirty="0"/>
          </a:p>
        </p:txBody>
      </p:sp>
      <p:sp>
        <p:nvSpPr>
          <p:cNvPr id="3"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Seven levels, one night shift</a:t>
            </a:r>
            <a:endParaRPr lang="en-US" sz="3200" dirty="0"/>
          </a:p>
        </p:txBody>
      </p:sp>
      <p:sp>
        <p:nvSpPr>
          <p:cNvPr id="4"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Each level is a single named technique. Nothing here needs deep Linux — if Bandit felt heavy, start with this track.</a:t>
            </a:r>
            <a:endParaRPr lang="en-US" sz="1300" dirty="0"/>
          </a:p>
        </p:txBody>
      </p:sp>
      <p:sp>
        <p:nvSpPr>
          <p:cNvPr id="5" name="Shape 3"/>
          <p:cNvSpPr/>
          <p:nvPr/>
        </p:nvSpPr>
        <p:spPr>
          <a:xfrm>
            <a:off x="548640" y="1975104"/>
            <a:ext cx="2581580" cy="1874520"/>
          </a:xfrm>
          <a:prstGeom prst="roundRect">
            <a:avLst>
              <a:gd name="adj" fmla="val 4390"/>
            </a:avLst>
          </a:prstGeom>
          <a:solidFill>
            <a:srgbClr val="141F30"/>
          </a:solidFill>
          <a:ln/>
        </p:spPr>
      </p:sp>
      <p:pic>
        <p:nvPicPr>
          <p:cNvPr id="6" name="Image 0" descr="preencoded.png">    </p:cNvPr>
          <p:cNvPicPr>
            <a:picLocks noChangeAspect="1"/>
          </p:cNvPicPr>
          <p:nvPr/>
        </p:nvPicPr>
        <p:blipFill>
          <a:blip r:embed="rId1"/>
          <a:stretch>
            <a:fillRect/>
          </a:stretch>
        </p:blipFill>
        <p:spPr>
          <a:xfrm>
            <a:off x="676656" y="2103120"/>
            <a:ext cx="2325548" cy="639526"/>
          </a:xfrm>
          <a:prstGeom prst="rect">
            <a:avLst/>
          </a:prstGeom>
        </p:spPr>
      </p:pic>
      <p:sp>
        <p:nvSpPr>
          <p:cNvPr id="7" name="Text 4"/>
          <p:cNvSpPr/>
          <p:nvPr/>
        </p:nvSpPr>
        <p:spPr>
          <a:xfrm>
            <a:off x="786384" y="2879806"/>
            <a:ext cx="2106092" cy="219456"/>
          </a:xfrm>
          <a:prstGeom prst="rect">
            <a:avLst/>
          </a:prstGeom>
          <a:noFill/>
          <a:ln/>
        </p:spPr>
        <p:txBody>
          <a:bodyPr wrap="square" lIns="0" tIns="0" rIns="0" bIns="0" rtlCol="0" anchor="t"/>
          <a:lstStyle/>
          <a:p>
            <a:pPr indent="0" marL="0">
              <a:buNone/>
            </a:pPr>
            <a:r>
              <a:rPr lang="en-US" sz="1050" b="1" spc="80" kern="0" dirty="0">
                <a:solidFill>
                  <a:srgbClr val="4CC9F0"/>
                </a:solidFill>
                <a:latin typeface="Calibri" pitchFamily="34" charset="0"/>
                <a:ea typeface="Calibri" pitchFamily="34" charset="-122"/>
                <a:cs typeface="Calibri" pitchFamily="34" charset="-120"/>
              </a:rPr>
              <a:t>00</a:t>
            </a:r>
            <a:endParaRPr lang="en-US" sz="1050" dirty="0"/>
          </a:p>
        </p:txBody>
      </p:sp>
      <p:sp>
        <p:nvSpPr>
          <p:cNvPr id="8" name="Text 5"/>
          <p:cNvSpPr/>
          <p:nvPr/>
        </p:nvSpPr>
        <p:spPr>
          <a:xfrm>
            <a:off x="786384" y="3117550"/>
            <a:ext cx="2106092" cy="274320"/>
          </a:xfrm>
          <a:prstGeom prst="rect">
            <a:avLst/>
          </a:prstGeom>
          <a:noFill/>
          <a:ln/>
        </p:spPr>
        <p:txBody>
          <a:bodyPr wrap="square" lIns="0" tIns="0" rIns="0" bIns="0" rtlCol="0" anchor="t"/>
          <a:lstStyle/>
          <a:p>
            <a:pPr indent="0" marL="0">
              <a:buNone/>
            </a:pPr>
            <a:r>
              <a:rPr lang="en-US" sz="1400" b="1" dirty="0">
                <a:solidFill>
                  <a:srgbClr val="F4F6FB"/>
                </a:solidFill>
                <a:latin typeface="Cambria" pitchFamily="34" charset="0"/>
                <a:ea typeface="Cambria" pitchFamily="34" charset="-122"/>
                <a:cs typeface="Cambria" pitchFamily="34" charset="-120"/>
              </a:rPr>
              <a:t>Base64</a:t>
            </a:r>
            <a:endParaRPr lang="en-US" sz="1400" dirty="0"/>
          </a:p>
        </p:txBody>
      </p:sp>
      <p:sp>
        <p:nvSpPr>
          <p:cNvPr id="9" name="Text 6"/>
          <p:cNvSpPr/>
          <p:nvPr/>
        </p:nvSpPr>
        <p:spPr>
          <a:xfrm>
            <a:off x="786384" y="3401014"/>
            <a:ext cx="2106092" cy="366314"/>
          </a:xfrm>
          <a:prstGeom prst="rect">
            <a:avLst/>
          </a:prstGeom>
          <a:noFill/>
          <a:ln/>
        </p:spPr>
        <p:txBody>
          <a:bodyPr wrap="square" lIns="0" tIns="0" rIns="0" bIns="0" rtlCol="0" anchor="t"/>
          <a:lstStyle/>
          <a:p>
            <a:pPr indent="0" marL="0">
              <a:lnSpc>
                <a:spcPct val="110000"/>
              </a:lnSpc>
              <a:buNone/>
            </a:pPr>
            <a:r>
              <a:rPr lang="en-US" sz="1000" dirty="0">
                <a:solidFill>
                  <a:srgbClr val="93A5C7"/>
                </a:solidFill>
                <a:latin typeface="Calibri" pitchFamily="34" charset="0"/>
                <a:ea typeface="Calibri" pitchFamily="34" charset="-122"/>
                <a:cs typeface="Calibri" pitchFamily="34" charset="-120"/>
              </a:rPr>
              <a:t>Not a cipher at all — an encoding. No key, no secret.</a:t>
            </a:r>
            <a:endParaRPr lang="en-US" sz="1000" dirty="0"/>
          </a:p>
        </p:txBody>
      </p:sp>
      <p:sp>
        <p:nvSpPr>
          <p:cNvPr id="10" name="Shape 7"/>
          <p:cNvSpPr/>
          <p:nvPr/>
        </p:nvSpPr>
        <p:spPr>
          <a:xfrm>
            <a:off x="3386252" y="1975104"/>
            <a:ext cx="2581580" cy="1874520"/>
          </a:xfrm>
          <a:prstGeom prst="roundRect">
            <a:avLst>
              <a:gd name="adj" fmla="val 4390"/>
            </a:avLst>
          </a:prstGeom>
          <a:solidFill>
            <a:srgbClr val="141F30"/>
          </a:solidFill>
          <a:ln/>
        </p:spPr>
      </p:sp>
      <p:pic>
        <p:nvPicPr>
          <p:cNvPr id="11" name="Image 1" descr="preencoded.png">    </p:cNvPr>
          <p:cNvPicPr>
            <a:picLocks noChangeAspect="1"/>
          </p:cNvPicPr>
          <p:nvPr/>
        </p:nvPicPr>
        <p:blipFill>
          <a:blip r:embed="rId2"/>
          <a:stretch>
            <a:fillRect/>
          </a:stretch>
        </p:blipFill>
        <p:spPr>
          <a:xfrm>
            <a:off x="3514268" y="2103120"/>
            <a:ext cx="2325548" cy="639526"/>
          </a:xfrm>
          <a:prstGeom prst="rect">
            <a:avLst/>
          </a:prstGeom>
        </p:spPr>
      </p:pic>
      <p:sp>
        <p:nvSpPr>
          <p:cNvPr id="12" name="Text 8"/>
          <p:cNvSpPr/>
          <p:nvPr/>
        </p:nvSpPr>
        <p:spPr>
          <a:xfrm>
            <a:off x="3623996" y="2879806"/>
            <a:ext cx="2106092" cy="219456"/>
          </a:xfrm>
          <a:prstGeom prst="rect">
            <a:avLst/>
          </a:prstGeom>
          <a:noFill/>
          <a:ln/>
        </p:spPr>
        <p:txBody>
          <a:bodyPr wrap="square" lIns="0" tIns="0" rIns="0" bIns="0" rtlCol="0" anchor="t"/>
          <a:lstStyle/>
          <a:p>
            <a:pPr indent="0" marL="0">
              <a:buNone/>
            </a:pPr>
            <a:r>
              <a:rPr lang="en-US" sz="1050" b="1" spc="80" kern="0" dirty="0">
                <a:solidFill>
                  <a:srgbClr val="4CC9F0"/>
                </a:solidFill>
                <a:latin typeface="Calibri" pitchFamily="34" charset="0"/>
                <a:ea typeface="Calibri" pitchFamily="34" charset="-122"/>
                <a:cs typeface="Calibri" pitchFamily="34" charset="-120"/>
              </a:rPr>
              <a:t>01</a:t>
            </a:r>
            <a:endParaRPr lang="en-US" sz="1050" dirty="0"/>
          </a:p>
        </p:txBody>
      </p:sp>
      <p:sp>
        <p:nvSpPr>
          <p:cNvPr id="13" name="Text 9"/>
          <p:cNvSpPr/>
          <p:nvPr/>
        </p:nvSpPr>
        <p:spPr>
          <a:xfrm>
            <a:off x="3623996" y="3117550"/>
            <a:ext cx="2106092" cy="274320"/>
          </a:xfrm>
          <a:prstGeom prst="rect">
            <a:avLst/>
          </a:prstGeom>
          <a:noFill/>
          <a:ln/>
        </p:spPr>
        <p:txBody>
          <a:bodyPr wrap="square" lIns="0" tIns="0" rIns="0" bIns="0" rtlCol="0" anchor="t"/>
          <a:lstStyle/>
          <a:p>
            <a:pPr indent="0" marL="0">
              <a:buNone/>
            </a:pPr>
            <a:r>
              <a:rPr lang="en-US" sz="1400" b="1" dirty="0">
                <a:solidFill>
                  <a:srgbClr val="F4F6FB"/>
                </a:solidFill>
                <a:latin typeface="Cambria" pitchFamily="34" charset="0"/>
                <a:ea typeface="Cambria" pitchFamily="34" charset="-122"/>
                <a:cs typeface="Cambria" pitchFamily="34" charset="-120"/>
              </a:rPr>
              <a:t>ROT13</a:t>
            </a:r>
            <a:endParaRPr lang="en-US" sz="1400" dirty="0"/>
          </a:p>
        </p:txBody>
      </p:sp>
      <p:sp>
        <p:nvSpPr>
          <p:cNvPr id="14" name="Text 10"/>
          <p:cNvSpPr/>
          <p:nvPr/>
        </p:nvSpPr>
        <p:spPr>
          <a:xfrm>
            <a:off x="3623996" y="3401014"/>
            <a:ext cx="2106092" cy="366314"/>
          </a:xfrm>
          <a:prstGeom prst="rect">
            <a:avLst/>
          </a:prstGeom>
          <a:noFill/>
          <a:ln/>
        </p:spPr>
        <p:txBody>
          <a:bodyPr wrap="square" lIns="0" tIns="0" rIns="0" bIns="0" rtlCol="0" anchor="t"/>
          <a:lstStyle/>
          <a:p>
            <a:pPr indent="0" marL="0">
              <a:lnSpc>
                <a:spcPct val="110000"/>
              </a:lnSpc>
              <a:buNone/>
            </a:pPr>
            <a:r>
              <a:rPr lang="en-US" sz="1000" dirty="0">
                <a:solidFill>
                  <a:srgbClr val="93A5C7"/>
                </a:solidFill>
                <a:latin typeface="Calibri" pitchFamily="34" charset="0"/>
                <a:ea typeface="Calibri" pitchFamily="34" charset="-122"/>
                <a:cs typeface="Calibri" pitchFamily="34" charset="-120"/>
              </a:rPr>
              <a:t>A fixed rotation. Apply it twice and you are back.</a:t>
            </a:r>
            <a:endParaRPr lang="en-US" sz="1000" dirty="0"/>
          </a:p>
        </p:txBody>
      </p:sp>
      <p:sp>
        <p:nvSpPr>
          <p:cNvPr id="15" name="Shape 11"/>
          <p:cNvSpPr/>
          <p:nvPr/>
        </p:nvSpPr>
        <p:spPr>
          <a:xfrm>
            <a:off x="6223864" y="1975104"/>
            <a:ext cx="2581580" cy="1874520"/>
          </a:xfrm>
          <a:prstGeom prst="roundRect">
            <a:avLst>
              <a:gd name="adj" fmla="val 4390"/>
            </a:avLst>
          </a:prstGeom>
          <a:solidFill>
            <a:srgbClr val="141F30"/>
          </a:solidFill>
          <a:ln/>
        </p:spPr>
      </p:sp>
      <p:pic>
        <p:nvPicPr>
          <p:cNvPr id="16" name="Image 2" descr="preencoded.png">    </p:cNvPr>
          <p:cNvPicPr>
            <a:picLocks noChangeAspect="1"/>
          </p:cNvPicPr>
          <p:nvPr/>
        </p:nvPicPr>
        <p:blipFill>
          <a:blip r:embed="rId3"/>
          <a:stretch>
            <a:fillRect/>
          </a:stretch>
        </p:blipFill>
        <p:spPr>
          <a:xfrm>
            <a:off x="6351880" y="2103120"/>
            <a:ext cx="2325548" cy="639526"/>
          </a:xfrm>
          <a:prstGeom prst="rect">
            <a:avLst/>
          </a:prstGeom>
        </p:spPr>
      </p:pic>
      <p:sp>
        <p:nvSpPr>
          <p:cNvPr id="17" name="Text 12"/>
          <p:cNvSpPr/>
          <p:nvPr/>
        </p:nvSpPr>
        <p:spPr>
          <a:xfrm>
            <a:off x="6461608" y="2879806"/>
            <a:ext cx="2106092" cy="219456"/>
          </a:xfrm>
          <a:prstGeom prst="rect">
            <a:avLst/>
          </a:prstGeom>
          <a:noFill/>
          <a:ln/>
        </p:spPr>
        <p:txBody>
          <a:bodyPr wrap="square" lIns="0" tIns="0" rIns="0" bIns="0" rtlCol="0" anchor="t"/>
          <a:lstStyle/>
          <a:p>
            <a:pPr indent="0" marL="0">
              <a:buNone/>
            </a:pPr>
            <a:r>
              <a:rPr lang="en-US" sz="1050" b="1" spc="80" kern="0" dirty="0">
                <a:solidFill>
                  <a:srgbClr val="4CC9F0"/>
                </a:solidFill>
                <a:latin typeface="Calibri" pitchFamily="34" charset="0"/>
                <a:ea typeface="Calibri" pitchFamily="34" charset="-122"/>
                <a:cs typeface="Calibri" pitchFamily="34" charset="-120"/>
              </a:rPr>
              <a:t>02</a:t>
            </a:r>
            <a:endParaRPr lang="en-US" sz="1050" dirty="0"/>
          </a:p>
        </p:txBody>
      </p:sp>
      <p:sp>
        <p:nvSpPr>
          <p:cNvPr id="18" name="Text 13"/>
          <p:cNvSpPr/>
          <p:nvPr/>
        </p:nvSpPr>
        <p:spPr>
          <a:xfrm>
            <a:off x="6461608" y="3117550"/>
            <a:ext cx="2106092" cy="274320"/>
          </a:xfrm>
          <a:prstGeom prst="rect">
            <a:avLst/>
          </a:prstGeom>
          <a:noFill/>
          <a:ln/>
        </p:spPr>
        <p:txBody>
          <a:bodyPr wrap="square" lIns="0" tIns="0" rIns="0" bIns="0" rtlCol="0" anchor="t"/>
          <a:lstStyle/>
          <a:p>
            <a:pPr indent="0" marL="0">
              <a:buNone/>
            </a:pPr>
            <a:r>
              <a:rPr lang="en-US" sz="1400" b="1" dirty="0">
                <a:solidFill>
                  <a:srgbClr val="F4F6FB"/>
                </a:solidFill>
                <a:latin typeface="Cambria" pitchFamily="34" charset="0"/>
                <a:ea typeface="Cambria" pitchFamily="34" charset="-122"/>
                <a:cs typeface="Cambria" pitchFamily="34" charset="-120"/>
              </a:rPr>
              <a:t>Caesar Shift</a:t>
            </a:r>
            <a:endParaRPr lang="en-US" sz="1400" dirty="0"/>
          </a:p>
        </p:txBody>
      </p:sp>
      <p:sp>
        <p:nvSpPr>
          <p:cNvPr id="19" name="Text 14"/>
          <p:cNvSpPr/>
          <p:nvPr/>
        </p:nvSpPr>
        <p:spPr>
          <a:xfrm>
            <a:off x="6461608" y="3401014"/>
            <a:ext cx="2106092" cy="366314"/>
          </a:xfrm>
          <a:prstGeom prst="rect">
            <a:avLst/>
          </a:prstGeom>
          <a:noFill/>
          <a:ln/>
        </p:spPr>
        <p:txBody>
          <a:bodyPr wrap="square" lIns="0" tIns="0" rIns="0" bIns="0" rtlCol="0" anchor="t"/>
          <a:lstStyle/>
          <a:p>
            <a:pPr indent="0" marL="0">
              <a:lnSpc>
                <a:spcPct val="110000"/>
              </a:lnSpc>
              <a:buNone/>
            </a:pPr>
            <a:r>
              <a:rPr lang="en-US" sz="1000" dirty="0">
                <a:solidFill>
                  <a:srgbClr val="93A5C7"/>
                </a:solidFill>
                <a:latin typeface="Calibri" pitchFamily="34" charset="0"/>
                <a:ea typeface="Calibri" pitchFamily="34" charset="-122"/>
                <a:cs typeface="Calibri" pitchFamily="34" charset="-120"/>
              </a:rPr>
              <a:t>Same idea, but nobody tells you the number.</a:t>
            </a:r>
            <a:endParaRPr lang="en-US" sz="1000" dirty="0"/>
          </a:p>
        </p:txBody>
      </p:sp>
      <p:sp>
        <p:nvSpPr>
          <p:cNvPr id="20" name="Shape 15"/>
          <p:cNvSpPr/>
          <p:nvPr/>
        </p:nvSpPr>
        <p:spPr>
          <a:xfrm>
            <a:off x="9061475" y="1975104"/>
            <a:ext cx="2581580" cy="1874520"/>
          </a:xfrm>
          <a:prstGeom prst="roundRect">
            <a:avLst>
              <a:gd name="adj" fmla="val 4390"/>
            </a:avLst>
          </a:prstGeom>
          <a:solidFill>
            <a:srgbClr val="141F30"/>
          </a:solidFill>
          <a:ln/>
        </p:spPr>
      </p:sp>
      <p:pic>
        <p:nvPicPr>
          <p:cNvPr id="21" name="Image 3" descr="preencoded.png">    </p:cNvPr>
          <p:cNvPicPr>
            <a:picLocks noChangeAspect="1"/>
          </p:cNvPicPr>
          <p:nvPr/>
        </p:nvPicPr>
        <p:blipFill>
          <a:blip r:embed="rId4"/>
          <a:stretch>
            <a:fillRect/>
          </a:stretch>
        </p:blipFill>
        <p:spPr>
          <a:xfrm>
            <a:off x="9189491" y="2103120"/>
            <a:ext cx="2325548" cy="639526"/>
          </a:xfrm>
          <a:prstGeom prst="rect">
            <a:avLst/>
          </a:prstGeom>
        </p:spPr>
      </p:pic>
      <p:sp>
        <p:nvSpPr>
          <p:cNvPr id="22" name="Text 16"/>
          <p:cNvSpPr/>
          <p:nvPr/>
        </p:nvSpPr>
        <p:spPr>
          <a:xfrm>
            <a:off x="9299219" y="2879806"/>
            <a:ext cx="2106092" cy="219456"/>
          </a:xfrm>
          <a:prstGeom prst="rect">
            <a:avLst/>
          </a:prstGeom>
          <a:noFill/>
          <a:ln/>
        </p:spPr>
        <p:txBody>
          <a:bodyPr wrap="square" lIns="0" tIns="0" rIns="0" bIns="0" rtlCol="0" anchor="t"/>
          <a:lstStyle/>
          <a:p>
            <a:pPr indent="0" marL="0">
              <a:buNone/>
            </a:pPr>
            <a:r>
              <a:rPr lang="en-US" sz="1050" b="1" spc="80" kern="0" dirty="0">
                <a:solidFill>
                  <a:srgbClr val="4CC9F0"/>
                </a:solidFill>
                <a:latin typeface="Calibri" pitchFamily="34" charset="0"/>
                <a:ea typeface="Calibri" pitchFamily="34" charset="-122"/>
                <a:cs typeface="Calibri" pitchFamily="34" charset="-120"/>
              </a:rPr>
              <a:t>03</a:t>
            </a:r>
            <a:endParaRPr lang="en-US" sz="1050" dirty="0"/>
          </a:p>
        </p:txBody>
      </p:sp>
      <p:sp>
        <p:nvSpPr>
          <p:cNvPr id="23" name="Text 17"/>
          <p:cNvSpPr/>
          <p:nvPr/>
        </p:nvSpPr>
        <p:spPr>
          <a:xfrm>
            <a:off x="9299219" y="3117550"/>
            <a:ext cx="2106092" cy="274320"/>
          </a:xfrm>
          <a:prstGeom prst="rect">
            <a:avLst/>
          </a:prstGeom>
          <a:noFill/>
          <a:ln/>
        </p:spPr>
        <p:txBody>
          <a:bodyPr wrap="square" lIns="0" tIns="0" rIns="0" bIns="0" rtlCol="0" anchor="t"/>
          <a:lstStyle/>
          <a:p>
            <a:pPr indent="0" marL="0">
              <a:buNone/>
            </a:pPr>
            <a:r>
              <a:rPr lang="en-US" sz="1400" b="1" dirty="0">
                <a:solidFill>
                  <a:srgbClr val="F4F6FB"/>
                </a:solidFill>
                <a:latin typeface="Cambria" pitchFamily="34" charset="0"/>
                <a:ea typeface="Cambria" pitchFamily="34" charset="-122"/>
                <a:cs typeface="Cambria" pitchFamily="34" charset="-120"/>
              </a:rPr>
              <a:t>Frequency</a:t>
            </a:r>
            <a:endParaRPr lang="en-US" sz="1400" dirty="0"/>
          </a:p>
        </p:txBody>
      </p:sp>
      <p:sp>
        <p:nvSpPr>
          <p:cNvPr id="24" name="Text 18"/>
          <p:cNvSpPr/>
          <p:nvPr/>
        </p:nvSpPr>
        <p:spPr>
          <a:xfrm>
            <a:off x="9299219" y="3401014"/>
            <a:ext cx="2106092" cy="366314"/>
          </a:xfrm>
          <a:prstGeom prst="rect">
            <a:avLst/>
          </a:prstGeom>
          <a:noFill/>
          <a:ln/>
        </p:spPr>
        <p:txBody>
          <a:bodyPr wrap="square" lIns="0" tIns="0" rIns="0" bIns="0" rtlCol="0" anchor="t"/>
          <a:lstStyle/>
          <a:p>
            <a:pPr indent="0" marL="0">
              <a:lnSpc>
                <a:spcPct val="110000"/>
              </a:lnSpc>
              <a:buNone/>
            </a:pPr>
            <a:r>
              <a:rPr lang="en-US" sz="1000" dirty="0">
                <a:solidFill>
                  <a:srgbClr val="93A5C7"/>
                </a:solidFill>
                <a:latin typeface="Calibri" pitchFamily="34" charset="0"/>
                <a:ea typeface="Calibri" pitchFamily="34" charset="-122"/>
                <a:cs typeface="Calibri" pitchFamily="34" charset="-120"/>
              </a:rPr>
              <a:t>Letters aren't evenly used. That imbalance is a crowbar.</a:t>
            </a:r>
            <a:endParaRPr lang="en-US" sz="1000" dirty="0"/>
          </a:p>
        </p:txBody>
      </p:sp>
      <p:sp>
        <p:nvSpPr>
          <p:cNvPr id="25" name="Shape 19"/>
          <p:cNvSpPr/>
          <p:nvPr/>
        </p:nvSpPr>
        <p:spPr>
          <a:xfrm>
            <a:off x="548640" y="4105656"/>
            <a:ext cx="2581580" cy="1874520"/>
          </a:xfrm>
          <a:prstGeom prst="roundRect">
            <a:avLst>
              <a:gd name="adj" fmla="val 4390"/>
            </a:avLst>
          </a:prstGeom>
          <a:solidFill>
            <a:srgbClr val="1B2740"/>
          </a:solidFill>
          <a:ln/>
        </p:spPr>
      </p:sp>
      <p:pic>
        <p:nvPicPr>
          <p:cNvPr id="26" name="Image 4" descr="preencoded.png">    </p:cNvPr>
          <p:cNvPicPr>
            <a:picLocks noChangeAspect="1"/>
          </p:cNvPicPr>
          <p:nvPr/>
        </p:nvPicPr>
        <p:blipFill>
          <a:blip r:embed="rId5"/>
          <a:stretch>
            <a:fillRect/>
          </a:stretch>
        </p:blipFill>
        <p:spPr>
          <a:xfrm>
            <a:off x="676656" y="4233672"/>
            <a:ext cx="2325548" cy="639526"/>
          </a:xfrm>
          <a:prstGeom prst="rect">
            <a:avLst/>
          </a:prstGeom>
        </p:spPr>
      </p:pic>
      <p:sp>
        <p:nvSpPr>
          <p:cNvPr id="27" name="Text 20"/>
          <p:cNvSpPr/>
          <p:nvPr/>
        </p:nvSpPr>
        <p:spPr>
          <a:xfrm>
            <a:off x="786384" y="5010358"/>
            <a:ext cx="2106092" cy="219456"/>
          </a:xfrm>
          <a:prstGeom prst="rect">
            <a:avLst/>
          </a:prstGeom>
          <a:noFill/>
          <a:ln/>
        </p:spPr>
        <p:txBody>
          <a:bodyPr wrap="square" lIns="0" tIns="0" rIns="0" bIns="0" rtlCol="0" anchor="t"/>
          <a:lstStyle/>
          <a:p>
            <a:pPr indent="0" marL="0">
              <a:buNone/>
            </a:pPr>
            <a:r>
              <a:rPr lang="en-US" sz="1050" b="1" spc="80" kern="0" dirty="0">
                <a:solidFill>
                  <a:srgbClr val="4CC9F0"/>
                </a:solidFill>
                <a:latin typeface="Calibri" pitchFamily="34" charset="0"/>
                <a:ea typeface="Calibri" pitchFamily="34" charset="-122"/>
                <a:cs typeface="Calibri" pitchFamily="34" charset="-120"/>
              </a:rPr>
              <a:t>04</a:t>
            </a:r>
            <a:endParaRPr lang="en-US" sz="1050" dirty="0"/>
          </a:p>
        </p:txBody>
      </p:sp>
      <p:sp>
        <p:nvSpPr>
          <p:cNvPr id="28" name="Text 21"/>
          <p:cNvSpPr/>
          <p:nvPr/>
        </p:nvSpPr>
        <p:spPr>
          <a:xfrm>
            <a:off x="786384" y="5248102"/>
            <a:ext cx="2106092" cy="274320"/>
          </a:xfrm>
          <a:prstGeom prst="rect">
            <a:avLst/>
          </a:prstGeom>
          <a:noFill/>
          <a:ln/>
        </p:spPr>
        <p:txBody>
          <a:bodyPr wrap="square" lIns="0" tIns="0" rIns="0" bIns="0" rtlCol="0" anchor="t"/>
          <a:lstStyle/>
          <a:p>
            <a:pPr indent="0" marL="0">
              <a:buNone/>
            </a:pPr>
            <a:r>
              <a:rPr lang="en-US" sz="1400" b="1" dirty="0">
                <a:solidFill>
                  <a:srgbClr val="F4F6FB"/>
                </a:solidFill>
                <a:latin typeface="Cambria" pitchFamily="34" charset="0"/>
                <a:ea typeface="Cambria" pitchFamily="34" charset="-122"/>
                <a:cs typeface="Cambria" pitchFamily="34" charset="-120"/>
              </a:rPr>
              <a:t>Vigenère</a:t>
            </a:r>
            <a:endParaRPr lang="en-US" sz="1400" dirty="0"/>
          </a:p>
        </p:txBody>
      </p:sp>
      <p:sp>
        <p:nvSpPr>
          <p:cNvPr id="29" name="Text 22"/>
          <p:cNvSpPr/>
          <p:nvPr/>
        </p:nvSpPr>
        <p:spPr>
          <a:xfrm>
            <a:off x="786384" y="5531566"/>
            <a:ext cx="2106092" cy="366314"/>
          </a:xfrm>
          <a:prstGeom prst="rect">
            <a:avLst/>
          </a:prstGeom>
          <a:noFill/>
          <a:ln/>
        </p:spPr>
        <p:txBody>
          <a:bodyPr wrap="square" lIns="0" tIns="0" rIns="0" bIns="0" rtlCol="0" anchor="t"/>
          <a:lstStyle/>
          <a:p>
            <a:pPr indent="0" marL="0">
              <a:lnSpc>
                <a:spcPct val="110000"/>
              </a:lnSpc>
              <a:buNone/>
            </a:pPr>
            <a:r>
              <a:rPr lang="en-US" sz="1000" dirty="0">
                <a:solidFill>
                  <a:srgbClr val="93A5C7"/>
                </a:solidFill>
                <a:latin typeface="Calibri" pitchFamily="34" charset="0"/>
                <a:ea typeface="Calibri" pitchFamily="34" charset="-122"/>
                <a:cs typeface="Calibri" pitchFamily="34" charset="-120"/>
              </a:rPr>
              <a:t>A shift that changes per position — period given.</a:t>
            </a:r>
            <a:endParaRPr lang="en-US" sz="1000" dirty="0"/>
          </a:p>
        </p:txBody>
      </p:sp>
      <p:sp>
        <p:nvSpPr>
          <p:cNvPr id="30" name="Shape 23"/>
          <p:cNvSpPr/>
          <p:nvPr/>
        </p:nvSpPr>
        <p:spPr>
          <a:xfrm>
            <a:off x="3386252" y="4105656"/>
            <a:ext cx="2581580" cy="1874520"/>
          </a:xfrm>
          <a:prstGeom prst="roundRect">
            <a:avLst>
              <a:gd name="adj" fmla="val 4390"/>
            </a:avLst>
          </a:prstGeom>
          <a:solidFill>
            <a:srgbClr val="1B2740"/>
          </a:solidFill>
          <a:ln/>
        </p:spPr>
      </p:sp>
      <p:pic>
        <p:nvPicPr>
          <p:cNvPr id="31" name="Image 5" descr="preencoded.png">    </p:cNvPr>
          <p:cNvPicPr>
            <a:picLocks noChangeAspect="1"/>
          </p:cNvPicPr>
          <p:nvPr/>
        </p:nvPicPr>
        <p:blipFill>
          <a:blip r:embed="rId6"/>
          <a:stretch>
            <a:fillRect/>
          </a:stretch>
        </p:blipFill>
        <p:spPr>
          <a:xfrm>
            <a:off x="3514268" y="4233672"/>
            <a:ext cx="2325548" cy="639526"/>
          </a:xfrm>
          <a:prstGeom prst="rect">
            <a:avLst/>
          </a:prstGeom>
        </p:spPr>
      </p:pic>
      <p:sp>
        <p:nvSpPr>
          <p:cNvPr id="32" name="Text 24"/>
          <p:cNvSpPr/>
          <p:nvPr/>
        </p:nvSpPr>
        <p:spPr>
          <a:xfrm>
            <a:off x="3623996" y="5010358"/>
            <a:ext cx="2106092" cy="219456"/>
          </a:xfrm>
          <a:prstGeom prst="rect">
            <a:avLst/>
          </a:prstGeom>
          <a:noFill/>
          <a:ln/>
        </p:spPr>
        <p:txBody>
          <a:bodyPr wrap="square" lIns="0" tIns="0" rIns="0" bIns="0" rtlCol="0" anchor="t"/>
          <a:lstStyle/>
          <a:p>
            <a:pPr indent="0" marL="0">
              <a:buNone/>
            </a:pPr>
            <a:r>
              <a:rPr lang="en-US" sz="1050" b="1" spc="80" kern="0" dirty="0">
                <a:solidFill>
                  <a:srgbClr val="4CC9F0"/>
                </a:solidFill>
                <a:latin typeface="Calibri" pitchFamily="34" charset="0"/>
                <a:ea typeface="Calibri" pitchFamily="34" charset="-122"/>
                <a:cs typeface="Calibri" pitchFamily="34" charset="-120"/>
              </a:rPr>
              <a:t>05</a:t>
            </a:r>
            <a:endParaRPr lang="en-US" sz="1050" dirty="0"/>
          </a:p>
        </p:txBody>
      </p:sp>
      <p:sp>
        <p:nvSpPr>
          <p:cNvPr id="33" name="Text 25"/>
          <p:cNvSpPr/>
          <p:nvPr/>
        </p:nvSpPr>
        <p:spPr>
          <a:xfrm>
            <a:off x="3623996" y="5248102"/>
            <a:ext cx="2106092" cy="274320"/>
          </a:xfrm>
          <a:prstGeom prst="rect">
            <a:avLst/>
          </a:prstGeom>
          <a:noFill/>
          <a:ln/>
        </p:spPr>
        <p:txBody>
          <a:bodyPr wrap="square" lIns="0" tIns="0" rIns="0" bIns="0" rtlCol="0" anchor="t"/>
          <a:lstStyle/>
          <a:p>
            <a:pPr indent="0" marL="0">
              <a:buNone/>
            </a:pPr>
            <a:r>
              <a:rPr lang="en-US" sz="1400" b="1" dirty="0">
                <a:solidFill>
                  <a:srgbClr val="F4F6FB"/>
                </a:solidFill>
                <a:latin typeface="Cambria" pitchFamily="34" charset="0"/>
                <a:ea typeface="Cambria" pitchFamily="34" charset="-122"/>
                <a:cs typeface="Cambria" pitchFamily="34" charset="-120"/>
              </a:rPr>
              <a:t>Kasiski Test</a:t>
            </a:r>
            <a:endParaRPr lang="en-US" sz="1400" dirty="0"/>
          </a:p>
        </p:txBody>
      </p:sp>
      <p:sp>
        <p:nvSpPr>
          <p:cNvPr id="34" name="Text 26"/>
          <p:cNvSpPr/>
          <p:nvPr/>
        </p:nvSpPr>
        <p:spPr>
          <a:xfrm>
            <a:off x="3623996" y="5531566"/>
            <a:ext cx="2106092" cy="366314"/>
          </a:xfrm>
          <a:prstGeom prst="rect">
            <a:avLst/>
          </a:prstGeom>
          <a:noFill/>
          <a:ln/>
        </p:spPr>
        <p:txBody>
          <a:bodyPr wrap="square" lIns="0" tIns="0" rIns="0" bIns="0" rtlCol="0" anchor="t"/>
          <a:lstStyle/>
          <a:p>
            <a:pPr indent="0" marL="0">
              <a:lnSpc>
                <a:spcPct val="110000"/>
              </a:lnSpc>
              <a:buNone/>
            </a:pPr>
            <a:r>
              <a:rPr lang="en-US" sz="1000" dirty="0">
                <a:solidFill>
                  <a:srgbClr val="93A5C7"/>
                </a:solidFill>
                <a:latin typeface="Calibri" pitchFamily="34" charset="0"/>
                <a:ea typeface="Calibri" pitchFamily="34" charset="-122"/>
                <a:cs typeface="Calibri" pitchFamily="34" charset="-120"/>
              </a:rPr>
              <a:t>The period isn't given. Repeats give it away.</a:t>
            </a:r>
            <a:endParaRPr lang="en-US" sz="1000" dirty="0"/>
          </a:p>
        </p:txBody>
      </p:sp>
      <p:sp>
        <p:nvSpPr>
          <p:cNvPr id="35" name="Shape 27"/>
          <p:cNvSpPr/>
          <p:nvPr/>
        </p:nvSpPr>
        <p:spPr>
          <a:xfrm>
            <a:off x="6223864" y="4105656"/>
            <a:ext cx="2581580" cy="1874520"/>
          </a:xfrm>
          <a:prstGeom prst="roundRect">
            <a:avLst>
              <a:gd name="adj" fmla="val 4390"/>
            </a:avLst>
          </a:prstGeom>
          <a:solidFill>
            <a:srgbClr val="1B2740"/>
          </a:solidFill>
          <a:ln/>
        </p:spPr>
      </p:sp>
      <p:pic>
        <p:nvPicPr>
          <p:cNvPr id="36" name="Image 6" descr="preencoded.png">    </p:cNvPr>
          <p:cNvPicPr>
            <a:picLocks noChangeAspect="1"/>
          </p:cNvPicPr>
          <p:nvPr/>
        </p:nvPicPr>
        <p:blipFill>
          <a:blip r:embed="rId7"/>
          <a:stretch>
            <a:fillRect/>
          </a:stretch>
        </p:blipFill>
        <p:spPr>
          <a:xfrm>
            <a:off x="6351880" y="4233672"/>
            <a:ext cx="2325548" cy="639526"/>
          </a:xfrm>
          <a:prstGeom prst="rect">
            <a:avLst/>
          </a:prstGeom>
        </p:spPr>
      </p:pic>
      <p:sp>
        <p:nvSpPr>
          <p:cNvPr id="37" name="Text 28"/>
          <p:cNvSpPr/>
          <p:nvPr/>
        </p:nvSpPr>
        <p:spPr>
          <a:xfrm>
            <a:off x="6461608" y="5010358"/>
            <a:ext cx="2106092" cy="219456"/>
          </a:xfrm>
          <a:prstGeom prst="rect">
            <a:avLst/>
          </a:prstGeom>
          <a:noFill/>
          <a:ln/>
        </p:spPr>
        <p:txBody>
          <a:bodyPr wrap="square" lIns="0" tIns="0" rIns="0" bIns="0" rtlCol="0" anchor="t"/>
          <a:lstStyle/>
          <a:p>
            <a:pPr indent="0" marL="0">
              <a:buNone/>
            </a:pPr>
            <a:r>
              <a:rPr lang="en-US" sz="1050" b="1" spc="80" kern="0" dirty="0">
                <a:solidFill>
                  <a:srgbClr val="4CC9F0"/>
                </a:solidFill>
                <a:latin typeface="Calibri" pitchFamily="34" charset="0"/>
                <a:ea typeface="Calibri" pitchFamily="34" charset="-122"/>
                <a:cs typeface="Calibri" pitchFamily="34" charset="-120"/>
              </a:rPr>
              <a:t>06</a:t>
            </a:r>
            <a:endParaRPr lang="en-US" sz="1050" dirty="0"/>
          </a:p>
        </p:txBody>
      </p:sp>
      <p:sp>
        <p:nvSpPr>
          <p:cNvPr id="38" name="Text 29"/>
          <p:cNvSpPr/>
          <p:nvPr/>
        </p:nvSpPr>
        <p:spPr>
          <a:xfrm>
            <a:off x="6461608" y="5248102"/>
            <a:ext cx="2106092" cy="274320"/>
          </a:xfrm>
          <a:prstGeom prst="rect">
            <a:avLst/>
          </a:prstGeom>
          <a:noFill/>
          <a:ln/>
        </p:spPr>
        <p:txBody>
          <a:bodyPr wrap="square" lIns="0" tIns="0" rIns="0" bIns="0" rtlCol="0" anchor="t"/>
          <a:lstStyle/>
          <a:p>
            <a:pPr indent="0" marL="0">
              <a:buNone/>
            </a:pPr>
            <a:r>
              <a:rPr lang="en-US" sz="1400" b="1" dirty="0">
                <a:solidFill>
                  <a:srgbClr val="F4F6FB"/>
                </a:solidFill>
                <a:latin typeface="Cambria" pitchFamily="34" charset="0"/>
                <a:ea typeface="Cambria" pitchFamily="34" charset="-122"/>
                <a:cs typeface="Cambria" pitchFamily="34" charset="-120"/>
              </a:rPr>
              <a:t>Stream Cipher</a:t>
            </a:r>
            <a:endParaRPr lang="en-US" sz="1400" dirty="0"/>
          </a:p>
        </p:txBody>
      </p:sp>
      <p:sp>
        <p:nvSpPr>
          <p:cNvPr id="39" name="Text 30"/>
          <p:cNvSpPr/>
          <p:nvPr/>
        </p:nvSpPr>
        <p:spPr>
          <a:xfrm>
            <a:off x="6461608" y="5531566"/>
            <a:ext cx="2106092" cy="366314"/>
          </a:xfrm>
          <a:prstGeom prst="rect">
            <a:avLst/>
          </a:prstGeom>
          <a:noFill/>
          <a:ln/>
        </p:spPr>
        <p:txBody>
          <a:bodyPr wrap="square" lIns="0" tIns="0" rIns="0" bIns="0" rtlCol="0" anchor="t"/>
          <a:lstStyle/>
          <a:p>
            <a:pPr indent="0" marL="0">
              <a:lnSpc>
                <a:spcPct val="110000"/>
              </a:lnSpc>
              <a:buNone/>
            </a:pPr>
            <a:r>
              <a:rPr lang="en-US" sz="1000" dirty="0">
                <a:solidFill>
                  <a:srgbClr val="93A5C7"/>
                </a:solidFill>
                <a:latin typeface="Calibri" pitchFamily="34" charset="0"/>
                <a:ea typeface="Calibri" pitchFamily="34" charset="-122"/>
                <a:cs typeface="Calibri" pitchFamily="34" charset="-120"/>
              </a:rPr>
              <a:t>A keystream that never quite repeats.</a:t>
            </a:r>
            <a:endParaRPr lang="en-US" sz="1000" dirty="0"/>
          </a:p>
        </p:txBody>
      </p:sp>
      <p:sp>
        <p:nvSpPr>
          <p:cNvPr id="40" name="Text 31"/>
          <p:cNvSpPr/>
          <p:nvPr/>
        </p:nvSpPr>
        <p:spPr>
          <a:xfrm>
            <a:off x="548640" y="6108192"/>
            <a:ext cx="11094415" cy="274320"/>
          </a:xfrm>
          <a:prstGeom prst="rect">
            <a:avLst/>
          </a:prstGeom>
          <a:noFill/>
          <a:ln/>
        </p:spPr>
        <p:txBody>
          <a:bodyPr wrap="square" lIns="0" tIns="0" rIns="0" bIns="0" rtlCol="0" anchor="ctr"/>
          <a:lstStyle/>
          <a:p>
            <a:pPr indent="0" marL="0">
              <a:buNone/>
            </a:pPr>
            <a:r>
              <a:rPr lang="en-US" sz="1250" i="1" dirty="0">
                <a:solidFill>
                  <a:srgbClr val="4CC9F0"/>
                </a:solidFill>
                <a:latin typeface="Calibri" pitchFamily="34" charset="0"/>
                <a:ea typeface="Calibri" pitchFamily="34" charset="-122"/>
                <a:cs typeface="Calibri" pitchFamily="34" charset="-120"/>
              </a:rPr>
              <a:t>Levels 0–6 share one box. Krypton has no environment of its own beyond that.</a:t>
            </a:r>
            <a:endParaRPr lang="en-US" sz="1250" dirty="0"/>
          </a:p>
        </p:txBody>
      </p:sp>
      <p:sp>
        <p:nvSpPr>
          <p:cNvPr id="41" name="Text 32"/>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42" name="Text 33"/>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02</a:t>
            </a:r>
            <a:endParaRPr lang="en-US" sz="900" dirty="0"/>
          </a:p>
        </p:txBody>
      </p:sp>
    </p:spTree>
  </p:cSld>
  <p:clrMapOvr>
    <a:masterClrMapping/>
  </p:clrMapOvr>
  <p:transition spd="med" advClick="1">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595360" y="-2194560"/>
            <a:ext cx="6035040" cy="6035040"/>
          </a:xfrm>
          <a:prstGeom prst="ellipse">
            <a:avLst/>
          </a:prstGeom>
          <a:solidFill>
            <a:srgbClr val="141F30"/>
          </a:solidFill>
          <a:ln/>
        </p:spPr>
      </p:sp>
      <p:sp>
        <p:nvSpPr>
          <p:cNvPr id="3" name="Text 1"/>
          <p:cNvSpPr/>
          <p:nvPr/>
        </p:nvSpPr>
        <p:spPr>
          <a:xfrm>
            <a:off x="548640" y="1783080"/>
            <a:ext cx="5486400" cy="292608"/>
          </a:xfrm>
          <a:prstGeom prst="rect">
            <a:avLst/>
          </a:prstGeom>
          <a:noFill/>
          <a:ln/>
        </p:spPr>
        <p:txBody>
          <a:bodyPr wrap="square" lIns="0" tIns="0" rIns="0" bIns="0" rtlCol="0" anchor="ctr"/>
          <a:lstStyle/>
          <a:p>
            <a:pPr indent="0" marL="0">
              <a:buNone/>
            </a:pPr>
            <a:r>
              <a:rPr lang="en-US" sz="1100" b="1" spc="140" kern="0" dirty="0">
                <a:solidFill>
                  <a:srgbClr val="4CC9F0"/>
                </a:solidFill>
                <a:latin typeface="Calibri" pitchFamily="34" charset="0"/>
                <a:ea typeface="Calibri" pitchFamily="34" charset="-122"/>
                <a:cs typeface="Calibri" pitchFamily="34" charset="-120"/>
              </a:rPr>
              <a:t>THE IDEAS</a:t>
            </a:r>
            <a:endParaRPr lang="en-US" sz="1100" dirty="0"/>
          </a:p>
        </p:txBody>
      </p:sp>
      <p:sp>
        <p:nvSpPr>
          <p:cNvPr id="4" name="Text 2"/>
          <p:cNvSpPr/>
          <p:nvPr/>
        </p:nvSpPr>
        <p:spPr>
          <a:xfrm>
            <a:off x="548640" y="2103120"/>
            <a:ext cx="8595360" cy="960120"/>
          </a:xfrm>
          <a:prstGeom prst="rect">
            <a:avLst/>
          </a:prstGeom>
          <a:noFill/>
          <a:ln/>
        </p:spPr>
        <p:txBody>
          <a:bodyPr wrap="square" lIns="0" tIns="0" rIns="0" bIns="0" rtlCol="0" anchor="t"/>
          <a:lstStyle/>
          <a:p>
            <a:pPr indent="0" marL="0">
              <a:buNone/>
            </a:pPr>
            <a:r>
              <a:rPr lang="en-US" sz="3800" b="1" dirty="0">
                <a:solidFill>
                  <a:srgbClr val="F4F6FB"/>
                </a:solidFill>
                <a:latin typeface="Cambria" pitchFamily="34" charset="0"/>
                <a:ea typeface="Cambria" pitchFamily="34" charset="-122"/>
                <a:cs typeface="Cambria" pitchFamily="34" charset="-120"/>
              </a:rPr>
              <a:t>Six ideas every cipher rests on</a:t>
            </a:r>
            <a:endParaRPr lang="en-US" sz="3800" dirty="0"/>
          </a:p>
        </p:txBody>
      </p:sp>
      <p:sp>
        <p:nvSpPr>
          <p:cNvPr id="5" name="Text 3"/>
          <p:cNvSpPr/>
          <p:nvPr/>
        </p:nvSpPr>
        <p:spPr>
          <a:xfrm>
            <a:off x="548640" y="3017520"/>
            <a:ext cx="6949440" cy="548640"/>
          </a:xfrm>
          <a:prstGeom prst="rect">
            <a:avLst/>
          </a:prstGeom>
          <a:noFill/>
          <a:ln/>
        </p:spPr>
        <p:txBody>
          <a:bodyPr wrap="square" lIns="0" tIns="0" rIns="0" bIns="0" rtlCol="0" anchor="ctr"/>
          <a:lstStyle/>
          <a:p>
            <a:pPr indent="0" marL="0">
              <a:lnSpc>
                <a:spcPct val="118000"/>
              </a:lnSpc>
              <a:buNone/>
            </a:pPr>
            <a:r>
              <a:rPr lang="en-US" sz="1350" dirty="0">
                <a:solidFill>
                  <a:srgbClr val="93A5C7"/>
                </a:solidFill>
                <a:latin typeface="Calibri" pitchFamily="34" charset="0"/>
                <a:ea typeface="Calibri" pitchFamily="34" charset="-122"/>
                <a:cs typeface="Calibri" pitchFamily="34" charset="-120"/>
              </a:rPr>
              <a:t>The vocabulary the levels are written in. Each one is a technique this track will ask you to recognise, explained here without being applied to anything you have to solve.</a:t>
            </a:r>
            <a:endParaRPr lang="en-US" sz="1350" dirty="0"/>
          </a:p>
        </p:txBody>
      </p:sp>
      <p:sp>
        <p:nvSpPr>
          <p:cNvPr id="6" name="Text 4"/>
          <p:cNvSpPr/>
          <p:nvPr/>
        </p:nvSpPr>
        <p:spPr>
          <a:xfrm>
            <a:off x="548640" y="3977640"/>
            <a:ext cx="411480" cy="402336"/>
          </a:xfrm>
          <a:prstGeom prst="rect">
            <a:avLst/>
          </a:prstGeom>
          <a:noFill/>
          <a:ln/>
        </p:spPr>
        <p:txBody>
          <a:bodyPr wrap="square" lIns="0" tIns="0" rIns="0" bIns="0" rtlCol="0" anchor="ctr"/>
          <a:lstStyle/>
          <a:p>
            <a:pPr indent="0" marL="0">
              <a:buNone/>
            </a:pPr>
            <a:r>
              <a:rPr lang="en-US" sz="1200" b="1" dirty="0">
                <a:solidFill>
                  <a:srgbClr val="4CC9F0"/>
                </a:solidFill>
                <a:latin typeface="Cambria" pitchFamily="34" charset="0"/>
                <a:ea typeface="Cambria" pitchFamily="34" charset="-122"/>
                <a:cs typeface="Cambria" pitchFamily="34" charset="-120"/>
              </a:rPr>
              <a:t>01</a:t>
            </a:r>
            <a:endParaRPr lang="en-US" sz="1200" dirty="0"/>
          </a:p>
        </p:txBody>
      </p:sp>
      <p:sp>
        <p:nvSpPr>
          <p:cNvPr id="7" name="Text 5"/>
          <p:cNvSpPr/>
          <p:nvPr/>
        </p:nvSpPr>
        <p:spPr>
          <a:xfrm>
            <a:off x="1005840" y="3977640"/>
            <a:ext cx="4663440" cy="402336"/>
          </a:xfrm>
          <a:prstGeom prst="rect">
            <a:avLst/>
          </a:prstGeom>
          <a:noFill/>
          <a:ln/>
        </p:spPr>
        <p:txBody>
          <a:bodyPr wrap="square" lIns="0" tIns="0" rIns="0" bIns="0" rtlCol="0" anchor="ctr"/>
          <a:lstStyle/>
          <a:p>
            <a:pPr indent="0" marL="0">
              <a:buNone/>
            </a:pPr>
            <a:r>
              <a:rPr lang="en-US" sz="1300" dirty="0">
                <a:solidFill>
                  <a:srgbClr val="F4F6FB"/>
                </a:solidFill>
                <a:latin typeface="Calibri" pitchFamily="34" charset="0"/>
                <a:ea typeface="Calibri" pitchFamily="34" charset="-122"/>
                <a:cs typeface="Calibri" pitchFamily="34" charset="-120"/>
              </a:rPr>
              <a:t>Encoding is not encryption</a:t>
            </a:r>
            <a:endParaRPr lang="en-US" sz="1300" dirty="0"/>
          </a:p>
        </p:txBody>
      </p:sp>
      <p:sp>
        <p:nvSpPr>
          <p:cNvPr id="8" name="Text 6"/>
          <p:cNvSpPr/>
          <p:nvPr/>
        </p:nvSpPr>
        <p:spPr>
          <a:xfrm>
            <a:off x="548640" y="4379976"/>
            <a:ext cx="411480" cy="402336"/>
          </a:xfrm>
          <a:prstGeom prst="rect">
            <a:avLst/>
          </a:prstGeom>
          <a:noFill/>
          <a:ln/>
        </p:spPr>
        <p:txBody>
          <a:bodyPr wrap="square" lIns="0" tIns="0" rIns="0" bIns="0" rtlCol="0" anchor="ctr"/>
          <a:lstStyle/>
          <a:p>
            <a:pPr indent="0" marL="0">
              <a:buNone/>
            </a:pPr>
            <a:r>
              <a:rPr lang="en-US" sz="1200" b="1" dirty="0">
                <a:solidFill>
                  <a:srgbClr val="4CC9F0"/>
                </a:solidFill>
                <a:latin typeface="Cambria" pitchFamily="34" charset="0"/>
                <a:ea typeface="Cambria" pitchFamily="34" charset="-122"/>
                <a:cs typeface="Cambria" pitchFamily="34" charset="-120"/>
              </a:rPr>
              <a:t>02</a:t>
            </a:r>
            <a:endParaRPr lang="en-US" sz="1200" dirty="0"/>
          </a:p>
        </p:txBody>
      </p:sp>
      <p:sp>
        <p:nvSpPr>
          <p:cNvPr id="9" name="Text 7"/>
          <p:cNvSpPr/>
          <p:nvPr/>
        </p:nvSpPr>
        <p:spPr>
          <a:xfrm>
            <a:off x="1005840" y="4379976"/>
            <a:ext cx="4663440" cy="402336"/>
          </a:xfrm>
          <a:prstGeom prst="rect">
            <a:avLst/>
          </a:prstGeom>
          <a:noFill/>
          <a:ln/>
        </p:spPr>
        <p:txBody>
          <a:bodyPr wrap="square" lIns="0" tIns="0" rIns="0" bIns="0" rtlCol="0" anchor="ctr"/>
          <a:lstStyle/>
          <a:p>
            <a:pPr indent="0" marL="0">
              <a:buNone/>
            </a:pPr>
            <a:r>
              <a:rPr lang="en-US" sz="1300" dirty="0">
                <a:solidFill>
                  <a:srgbClr val="F4F6FB"/>
                </a:solidFill>
                <a:latin typeface="Calibri" pitchFamily="34" charset="0"/>
                <a:ea typeface="Calibri" pitchFamily="34" charset="-122"/>
                <a:cs typeface="Calibri" pitchFamily="34" charset="-120"/>
              </a:rPr>
              <a:t>Substitution and the shift</a:t>
            </a:r>
            <a:endParaRPr lang="en-US" sz="1300" dirty="0"/>
          </a:p>
        </p:txBody>
      </p:sp>
      <p:sp>
        <p:nvSpPr>
          <p:cNvPr id="10" name="Text 8"/>
          <p:cNvSpPr/>
          <p:nvPr/>
        </p:nvSpPr>
        <p:spPr>
          <a:xfrm>
            <a:off x="548640" y="4782312"/>
            <a:ext cx="411480" cy="402336"/>
          </a:xfrm>
          <a:prstGeom prst="rect">
            <a:avLst/>
          </a:prstGeom>
          <a:noFill/>
          <a:ln/>
        </p:spPr>
        <p:txBody>
          <a:bodyPr wrap="square" lIns="0" tIns="0" rIns="0" bIns="0" rtlCol="0" anchor="ctr"/>
          <a:lstStyle/>
          <a:p>
            <a:pPr indent="0" marL="0">
              <a:buNone/>
            </a:pPr>
            <a:r>
              <a:rPr lang="en-US" sz="1200" b="1" dirty="0">
                <a:solidFill>
                  <a:srgbClr val="4CC9F0"/>
                </a:solidFill>
                <a:latin typeface="Cambria" pitchFamily="34" charset="0"/>
                <a:ea typeface="Cambria" pitchFamily="34" charset="-122"/>
                <a:cs typeface="Cambria" pitchFamily="34" charset="-120"/>
              </a:rPr>
              <a:t>03</a:t>
            </a:r>
            <a:endParaRPr lang="en-US" sz="1200" dirty="0"/>
          </a:p>
        </p:txBody>
      </p:sp>
      <p:sp>
        <p:nvSpPr>
          <p:cNvPr id="11" name="Text 9"/>
          <p:cNvSpPr/>
          <p:nvPr/>
        </p:nvSpPr>
        <p:spPr>
          <a:xfrm>
            <a:off x="1005840" y="4782312"/>
            <a:ext cx="4663440" cy="402336"/>
          </a:xfrm>
          <a:prstGeom prst="rect">
            <a:avLst/>
          </a:prstGeom>
          <a:noFill/>
          <a:ln/>
        </p:spPr>
        <p:txBody>
          <a:bodyPr wrap="square" lIns="0" tIns="0" rIns="0" bIns="0" rtlCol="0" anchor="ctr"/>
          <a:lstStyle/>
          <a:p>
            <a:pPr indent="0" marL="0">
              <a:buNone/>
            </a:pPr>
            <a:r>
              <a:rPr lang="en-US" sz="1300" dirty="0">
                <a:solidFill>
                  <a:srgbClr val="F4F6FB"/>
                </a:solidFill>
                <a:latin typeface="Calibri" pitchFamily="34" charset="0"/>
                <a:ea typeface="Calibri" pitchFamily="34" charset="-122"/>
                <a:cs typeface="Calibri" pitchFamily="34" charset="-120"/>
              </a:rPr>
              <a:t>Frequency analysis</a:t>
            </a:r>
            <a:endParaRPr lang="en-US" sz="1300" dirty="0"/>
          </a:p>
        </p:txBody>
      </p:sp>
      <p:sp>
        <p:nvSpPr>
          <p:cNvPr id="12" name="Text 10"/>
          <p:cNvSpPr/>
          <p:nvPr/>
        </p:nvSpPr>
        <p:spPr>
          <a:xfrm>
            <a:off x="6126480" y="3977640"/>
            <a:ext cx="411480" cy="402336"/>
          </a:xfrm>
          <a:prstGeom prst="rect">
            <a:avLst/>
          </a:prstGeom>
          <a:noFill/>
          <a:ln/>
        </p:spPr>
        <p:txBody>
          <a:bodyPr wrap="square" lIns="0" tIns="0" rIns="0" bIns="0" rtlCol="0" anchor="ctr"/>
          <a:lstStyle/>
          <a:p>
            <a:pPr indent="0" marL="0">
              <a:buNone/>
            </a:pPr>
            <a:r>
              <a:rPr lang="en-US" sz="1200" b="1" dirty="0">
                <a:solidFill>
                  <a:srgbClr val="4CC9F0"/>
                </a:solidFill>
                <a:latin typeface="Cambria" pitchFamily="34" charset="0"/>
                <a:ea typeface="Cambria" pitchFamily="34" charset="-122"/>
                <a:cs typeface="Cambria" pitchFamily="34" charset="-120"/>
              </a:rPr>
              <a:t>04</a:t>
            </a:r>
            <a:endParaRPr lang="en-US" sz="1200" dirty="0"/>
          </a:p>
        </p:txBody>
      </p:sp>
      <p:sp>
        <p:nvSpPr>
          <p:cNvPr id="13" name="Text 11"/>
          <p:cNvSpPr/>
          <p:nvPr/>
        </p:nvSpPr>
        <p:spPr>
          <a:xfrm>
            <a:off x="6583680" y="3977640"/>
            <a:ext cx="4663440" cy="402336"/>
          </a:xfrm>
          <a:prstGeom prst="rect">
            <a:avLst/>
          </a:prstGeom>
          <a:noFill/>
          <a:ln/>
        </p:spPr>
        <p:txBody>
          <a:bodyPr wrap="square" lIns="0" tIns="0" rIns="0" bIns="0" rtlCol="0" anchor="ctr"/>
          <a:lstStyle/>
          <a:p>
            <a:pPr indent="0" marL="0">
              <a:buNone/>
            </a:pPr>
            <a:r>
              <a:rPr lang="en-US" sz="1300" dirty="0">
                <a:solidFill>
                  <a:srgbClr val="F4F6FB"/>
                </a:solidFill>
                <a:latin typeface="Calibri" pitchFamily="34" charset="0"/>
                <a:ea typeface="Calibri" pitchFamily="34" charset="-122"/>
                <a:cs typeface="Calibri" pitchFamily="34" charset="-120"/>
              </a:rPr>
              <a:t>Polyalphabetic ciphers</a:t>
            </a:r>
            <a:endParaRPr lang="en-US" sz="1300" dirty="0"/>
          </a:p>
        </p:txBody>
      </p:sp>
      <p:sp>
        <p:nvSpPr>
          <p:cNvPr id="14" name="Text 12"/>
          <p:cNvSpPr/>
          <p:nvPr/>
        </p:nvSpPr>
        <p:spPr>
          <a:xfrm>
            <a:off x="6126480" y="4379976"/>
            <a:ext cx="411480" cy="402336"/>
          </a:xfrm>
          <a:prstGeom prst="rect">
            <a:avLst/>
          </a:prstGeom>
          <a:noFill/>
          <a:ln/>
        </p:spPr>
        <p:txBody>
          <a:bodyPr wrap="square" lIns="0" tIns="0" rIns="0" bIns="0" rtlCol="0" anchor="ctr"/>
          <a:lstStyle/>
          <a:p>
            <a:pPr indent="0" marL="0">
              <a:buNone/>
            </a:pPr>
            <a:r>
              <a:rPr lang="en-US" sz="1200" b="1" dirty="0">
                <a:solidFill>
                  <a:srgbClr val="4CC9F0"/>
                </a:solidFill>
                <a:latin typeface="Cambria" pitchFamily="34" charset="0"/>
                <a:ea typeface="Cambria" pitchFamily="34" charset="-122"/>
                <a:cs typeface="Cambria" pitchFamily="34" charset="-120"/>
              </a:rPr>
              <a:t>05</a:t>
            </a:r>
            <a:endParaRPr lang="en-US" sz="1200" dirty="0"/>
          </a:p>
        </p:txBody>
      </p:sp>
      <p:sp>
        <p:nvSpPr>
          <p:cNvPr id="15" name="Text 13"/>
          <p:cNvSpPr/>
          <p:nvPr/>
        </p:nvSpPr>
        <p:spPr>
          <a:xfrm>
            <a:off x="6583680" y="4379976"/>
            <a:ext cx="4663440" cy="402336"/>
          </a:xfrm>
          <a:prstGeom prst="rect">
            <a:avLst/>
          </a:prstGeom>
          <a:noFill/>
          <a:ln/>
        </p:spPr>
        <p:txBody>
          <a:bodyPr wrap="square" lIns="0" tIns="0" rIns="0" bIns="0" rtlCol="0" anchor="ctr"/>
          <a:lstStyle/>
          <a:p>
            <a:pPr indent="0" marL="0">
              <a:buNone/>
            </a:pPr>
            <a:r>
              <a:rPr lang="en-US" sz="1300" dirty="0">
                <a:solidFill>
                  <a:srgbClr val="F4F6FB"/>
                </a:solidFill>
                <a:latin typeface="Calibri" pitchFamily="34" charset="0"/>
                <a:ea typeface="Calibri" pitchFamily="34" charset="-122"/>
                <a:cs typeface="Calibri" pitchFamily="34" charset="-120"/>
              </a:rPr>
              <a:t>Finding the key length</a:t>
            </a:r>
            <a:endParaRPr lang="en-US" sz="1300" dirty="0"/>
          </a:p>
        </p:txBody>
      </p:sp>
      <p:sp>
        <p:nvSpPr>
          <p:cNvPr id="16" name="Text 14"/>
          <p:cNvSpPr/>
          <p:nvPr/>
        </p:nvSpPr>
        <p:spPr>
          <a:xfrm>
            <a:off x="6126480" y="4782312"/>
            <a:ext cx="411480" cy="402336"/>
          </a:xfrm>
          <a:prstGeom prst="rect">
            <a:avLst/>
          </a:prstGeom>
          <a:noFill/>
          <a:ln/>
        </p:spPr>
        <p:txBody>
          <a:bodyPr wrap="square" lIns="0" tIns="0" rIns="0" bIns="0" rtlCol="0" anchor="ctr"/>
          <a:lstStyle/>
          <a:p>
            <a:pPr indent="0" marL="0">
              <a:buNone/>
            </a:pPr>
            <a:r>
              <a:rPr lang="en-US" sz="1200" b="1" dirty="0">
                <a:solidFill>
                  <a:srgbClr val="4CC9F0"/>
                </a:solidFill>
                <a:latin typeface="Cambria" pitchFamily="34" charset="0"/>
                <a:ea typeface="Cambria" pitchFamily="34" charset="-122"/>
                <a:cs typeface="Cambria" pitchFamily="34" charset="-120"/>
              </a:rPr>
              <a:t>06</a:t>
            </a:r>
            <a:endParaRPr lang="en-US" sz="1200" dirty="0"/>
          </a:p>
        </p:txBody>
      </p:sp>
      <p:sp>
        <p:nvSpPr>
          <p:cNvPr id="17" name="Text 15"/>
          <p:cNvSpPr/>
          <p:nvPr/>
        </p:nvSpPr>
        <p:spPr>
          <a:xfrm>
            <a:off x="6583680" y="4782312"/>
            <a:ext cx="4663440" cy="402336"/>
          </a:xfrm>
          <a:prstGeom prst="rect">
            <a:avLst/>
          </a:prstGeom>
          <a:noFill/>
          <a:ln/>
        </p:spPr>
        <p:txBody>
          <a:bodyPr wrap="square" lIns="0" tIns="0" rIns="0" bIns="0" rtlCol="0" anchor="ctr"/>
          <a:lstStyle/>
          <a:p>
            <a:pPr indent="0" marL="0">
              <a:buNone/>
            </a:pPr>
            <a:r>
              <a:rPr lang="en-US" sz="1300" dirty="0">
                <a:solidFill>
                  <a:srgbClr val="F4F6FB"/>
                </a:solidFill>
                <a:latin typeface="Calibri" pitchFamily="34" charset="0"/>
                <a:ea typeface="Calibri" pitchFamily="34" charset="-122"/>
                <a:cs typeface="Calibri" pitchFamily="34" charset="-120"/>
              </a:rPr>
              <a:t>Stream ciphers and XOR</a:t>
            </a:r>
            <a:endParaRPr lang="en-US" sz="1300" dirty="0"/>
          </a:p>
        </p:txBody>
      </p:sp>
      <p:sp>
        <p:nvSpPr>
          <p:cNvPr id="18" name="Text 16"/>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19" name="Text 17"/>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03</a:t>
            </a:r>
            <a:endParaRPr lang="en-US" sz="900" dirty="0"/>
          </a:p>
        </p:txBody>
      </p:sp>
    </p:spTree>
  </p:cSld>
  <p:clrMapOvr>
    <a:masterClrMapping/>
  </p:clrMapOvr>
  <p:transition spd="med" advClick="1">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4CC9F0"/>
                </a:solidFill>
                <a:latin typeface="Calibri" pitchFamily="34" charset="0"/>
                <a:ea typeface="Calibri" pitchFamily="34" charset="-122"/>
                <a:cs typeface="Calibri" pitchFamily="34" charset="-120"/>
              </a:rPr>
              <a:t>THEORY  01 / 06</a:t>
            </a:r>
            <a:endParaRPr lang="en-US" sz="1100" dirty="0"/>
          </a:p>
        </p:txBody>
      </p:sp>
      <p:sp>
        <p:nvSpPr>
          <p:cNvPr id="3"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Encoding is not encryption</a:t>
            </a:r>
            <a:endParaRPr lang="en-US" sz="3200" dirty="0"/>
          </a:p>
        </p:txBody>
      </p:sp>
      <p:sp>
        <p:nvSpPr>
          <p:cNvPr id="4"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Base64 changes how bytes look. It keeps no secret at all.</a:t>
            </a:r>
            <a:endParaRPr lang="en-US" sz="1300" dirty="0"/>
          </a:p>
        </p:txBody>
      </p:sp>
      <p:sp>
        <p:nvSpPr>
          <p:cNvPr id="5" name="Shape 3"/>
          <p:cNvSpPr/>
          <p:nvPr/>
        </p:nvSpPr>
        <p:spPr>
          <a:xfrm>
            <a:off x="548640" y="2148840"/>
            <a:ext cx="5577840" cy="3127248"/>
          </a:xfrm>
          <a:prstGeom prst="roundRect">
            <a:avLst>
              <a:gd name="adj" fmla="val 2632"/>
            </a:avLst>
          </a:prstGeom>
          <a:solidFill>
            <a:srgbClr val="141F30"/>
          </a:solidFill>
          <a:ln/>
        </p:spPr>
      </p:sp>
      <p:sp>
        <p:nvSpPr>
          <p:cNvPr id="6" name="Text 4"/>
          <p:cNvSpPr/>
          <p:nvPr/>
        </p:nvSpPr>
        <p:spPr>
          <a:xfrm>
            <a:off x="859536" y="2423160"/>
            <a:ext cx="4956048" cy="237744"/>
          </a:xfrm>
          <a:prstGeom prst="rect">
            <a:avLst/>
          </a:prstGeom>
          <a:noFill/>
          <a:ln/>
        </p:spPr>
        <p:txBody>
          <a:bodyPr wrap="square" lIns="0" tIns="0" rIns="0" bIns="0" rtlCol="0" anchor="ctr"/>
          <a:lstStyle/>
          <a:p>
            <a:pPr indent="0" marL="0">
              <a:buNone/>
            </a:pPr>
            <a:r>
              <a:rPr lang="en-US" sz="950" b="1" spc="110" kern="0" dirty="0">
                <a:solidFill>
                  <a:srgbClr val="4CC9F0"/>
                </a:solidFill>
                <a:latin typeface="Calibri" pitchFamily="34" charset="0"/>
                <a:ea typeface="Calibri" pitchFamily="34" charset="-122"/>
                <a:cs typeface="Calibri" pitchFamily="34" charset="-120"/>
              </a:rPr>
              <a:t>WHAT IT IS</a:t>
            </a:r>
            <a:endParaRPr lang="en-US" sz="950" dirty="0"/>
          </a:p>
        </p:txBody>
      </p:sp>
      <p:sp>
        <p:nvSpPr>
          <p:cNvPr id="7" name="Text 5"/>
          <p:cNvSpPr/>
          <p:nvPr/>
        </p:nvSpPr>
        <p:spPr>
          <a:xfrm>
            <a:off x="859536" y="2697480"/>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Encoding converts data into a different alphabet so that it survives transport — text using only safe characters, for instance. The transformation is fixed and public, and there is no key, so anyone at all can undo it. Base64 turns every three bytes into four printable characters, which is why encoded text runs about a third longer and often ends in an equals sign.</a:t>
            </a:r>
            <a:endParaRPr lang="en-US" sz="1200" dirty="0"/>
          </a:p>
        </p:txBody>
      </p:sp>
      <p:sp>
        <p:nvSpPr>
          <p:cNvPr id="8" name="Text 6"/>
          <p:cNvSpPr/>
          <p:nvPr/>
        </p:nvSpPr>
        <p:spPr>
          <a:xfrm>
            <a:off x="859536" y="3959352"/>
            <a:ext cx="4956048" cy="237744"/>
          </a:xfrm>
          <a:prstGeom prst="rect">
            <a:avLst/>
          </a:prstGeom>
          <a:noFill/>
          <a:ln/>
        </p:spPr>
        <p:txBody>
          <a:bodyPr wrap="square" lIns="0" tIns="0" rIns="0" bIns="0" rtlCol="0" anchor="ctr"/>
          <a:lstStyle/>
          <a:p>
            <a:pPr indent="0" marL="0">
              <a:buNone/>
            </a:pPr>
            <a:r>
              <a:rPr lang="en-US" sz="950" b="1" spc="110" kern="0" dirty="0">
                <a:solidFill>
                  <a:srgbClr val="4CC9F0"/>
                </a:solidFill>
                <a:latin typeface="Calibri" pitchFamily="34" charset="0"/>
                <a:ea typeface="Calibri" pitchFamily="34" charset="-122"/>
                <a:cs typeface="Calibri" pitchFamily="34" charset="-120"/>
              </a:rPr>
              <a:t>WHY IT MATTERS HERE</a:t>
            </a:r>
            <a:endParaRPr lang="en-US" sz="950" dirty="0"/>
          </a:p>
        </p:txBody>
      </p:sp>
      <p:sp>
        <p:nvSpPr>
          <p:cNvPr id="9" name="Text 7"/>
          <p:cNvSpPr/>
          <p:nvPr/>
        </p:nvSpPr>
        <p:spPr>
          <a:xfrm>
            <a:off x="859536" y="4233672"/>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Encoded data looks scrambled and is constantly mistaken for encrypted data. Telling them apart saves you from attacking something that was never locked in the first place.</a:t>
            </a:r>
            <a:endParaRPr lang="en-US" sz="1200" dirty="0"/>
          </a:p>
        </p:txBody>
      </p:sp>
      <p:sp>
        <p:nvSpPr>
          <p:cNvPr id="10" name="Shape 8"/>
          <p:cNvSpPr/>
          <p:nvPr/>
        </p:nvSpPr>
        <p:spPr>
          <a:xfrm>
            <a:off x="6382512" y="2148840"/>
            <a:ext cx="5260543" cy="3127248"/>
          </a:xfrm>
          <a:prstGeom prst="roundRect">
            <a:avLst>
              <a:gd name="adj" fmla="val 2632"/>
            </a:avLst>
          </a:prstGeom>
          <a:solidFill>
            <a:srgbClr val="141F30"/>
          </a:solidFill>
          <a:ln/>
        </p:spPr>
      </p:sp>
      <p:sp>
        <p:nvSpPr>
          <p:cNvPr id="11" name="Text 9"/>
          <p:cNvSpPr/>
          <p:nvPr/>
        </p:nvSpPr>
        <p:spPr>
          <a:xfrm>
            <a:off x="6656832" y="2404872"/>
            <a:ext cx="4711903" cy="2615184"/>
          </a:xfrm>
          <a:prstGeom prst="rect">
            <a:avLst/>
          </a:prstGeom>
          <a:noFill/>
          <a:ln/>
        </p:spPr>
        <p:txBody>
          <a:bodyPr wrap="square" lIns="0" tIns="0" rIns="0" bIns="0" rtlCol="0" anchor="t"/>
          <a:lstStyle/>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base64, both directions</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plain     HELLO</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encoded   SEVMTE8=</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how to recognise it</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alphabet is A-Z a-z 0-9 + /</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length is a multiple of 4</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padded at the end with = or ==</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roughly a third longer than the input</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there is no key,</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so there is nothing to break</a:t>
            </a:r>
            <a:endParaRPr lang="en-US" sz="1050" dirty="0"/>
          </a:p>
        </p:txBody>
      </p:sp>
      <p:sp>
        <p:nvSpPr>
          <p:cNvPr id="12" name="Text 10"/>
          <p:cNvSpPr/>
          <p:nvPr/>
        </p:nvSpPr>
        <p:spPr>
          <a:xfrm>
            <a:off x="548640" y="5532120"/>
            <a:ext cx="11094415" cy="274320"/>
          </a:xfrm>
          <a:prstGeom prst="rect">
            <a:avLst/>
          </a:prstGeom>
          <a:noFill/>
          <a:ln/>
        </p:spPr>
        <p:txBody>
          <a:bodyPr wrap="square" lIns="0" tIns="0" rIns="0" bIns="0" rtlCol="0" anchor="ctr"/>
          <a:lstStyle/>
          <a:p>
            <a:pPr indent="0" marL="0">
              <a:buNone/>
            </a:pPr>
            <a:r>
              <a:rPr lang="en-US" sz="1250" i="1" dirty="0">
                <a:solidFill>
                  <a:srgbClr val="4CC9F0"/>
                </a:solidFill>
                <a:latin typeface="Calibri" pitchFamily="34" charset="0"/>
                <a:ea typeface="Calibri" pitchFamily="34" charset="-122"/>
                <a:cs typeface="Calibri" pitchFamily="34" charset="-120"/>
              </a:rPr>
              <a:t>No key means no secret. It is a costume, not a lock.</a:t>
            </a:r>
            <a:endParaRPr lang="en-US" sz="1250" dirty="0"/>
          </a:p>
        </p:txBody>
      </p:sp>
      <p:sp>
        <p:nvSpPr>
          <p:cNvPr id="13" name="Text 11"/>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14" name="Text 12"/>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04</a:t>
            </a:r>
            <a:endParaRPr lang="en-US" sz="900" dirty="0"/>
          </a:p>
        </p:txBody>
      </p:sp>
    </p:spTree>
  </p:cSld>
  <p:clrMapOvr>
    <a:masterClrMapping/>
  </p:clrMapOvr>
  <p:transition spd="med" advClick="1">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4CC9F0"/>
                </a:solidFill>
                <a:latin typeface="Calibri" pitchFamily="34" charset="0"/>
                <a:ea typeface="Calibri" pitchFamily="34" charset="-122"/>
                <a:cs typeface="Calibri" pitchFamily="34" charset="-120"/>
              </a:rPr>
              <a:t>THEORY  02 / 06</a:t>
            </a:r>
            <a:endParaRPr lang="en-US" sz="1100" dirty="0"/>
          </a:p>
        </p:txBody>
      </p:sp>
      <p:sp>
        <p:nvSpPr>
          <p:cNvPr id="3"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Substitution and the shift</a:t>
            </a:r>
            <a:endParaRPr lang="en-US" sz="3200" dirty="0"/>
          </a:p>
        </p:txBody>
      </p:sp>
      <p:sp>
        <p:nvSpPr>
          <p:cNvPr id="4"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Replace every letter with another by a fixed rule. The rule is the key.</a:t>
            </a:r>
            <a:endParaRPr lang="en-US" sz="1300" dirty="0"/>
          </a:p>
        </p:txBody>
      </p:sp>
      <p:sp>
        <p:nvSpPr>
          <p:cNvPr id="5" name="Shape 3"/>
          <p:cNvSpPr/>
          <p:nvPr/>
        </p:nvSpPr>
        <p:spPr>
          <a:xfrm>
            <a:off x="548640" y="2148840"/>
            <a:ext cx="5577840" cy="3127248"/>
          </a:xfrm>
          <a:prstGeom prst="roundRect">
            <a:avLst>
              <a:gd name="adj" fmla="val 2632"/>
            </a:avLst>
          </a:prstGeom>
          <a:solidFill>
            <a:srgbClr val="141F30"/>
          </a:solidFill>
          <a:ln/>
        </p:spPr>
      </p:sp>
      <p:sp>
        <p:nvSpPr>
          <p:cNvPr id="6" name="Text 4"/>
          <p:cNvSpPr/>
          <p:nvPr/>
        </p:nvSpPr>
        <p:spPr>
          <a:xfrm>
            <a:off x="859536" y="2423160"/>
            <a:ext cx="4956048" cy="237744"/>
          </a:xfrm>
          <a:prstGeom prst="rect">
            <a:avLst/>
          </a:prstGeom>
          <a:noFill/>
          <a:ln/>
        </p:spPr>
        <p:txBody>
          <a:bodyPr wrap="square" lIns="0" tIns="0" rIns="0" bIns="0" rtlCol="0" anchor="ctr"/>
          <a:lstStyle/>
          <a:p>
            <a:pPr indent="0" marL="0">
              <a:buNone/>
            </a:pPr>
            <a:r>
              <a:rPr lang="en-US" sz="950" b="1" spc="110" kern="0" dirty="0">
                <a:solidFill>
                  <a:srgbClr val="4CC9F0"/>
                </a:solidFill>
                <a:latin typeface="Calibri" pitchFamily="34" charset="0"/>
                <a:ea typeface="Calibri" pitchFamily="34" charset="-122"/>
                <a:cs typeface="Calibri" pitchFamily="34" charset="-120"/>
              </a:rPr>
              <a:t>WHAT IT IS</a:t>
            </a:r>
            <a:endParaRPr lang="en-US" sz="950" dirty="0"/>
          </a:p>
        </p:txBody>
      </p:sp>
      <p:sp>
        <p:nvSpPr>
          <p:cNvPr id="7" name="Text 5"/>
          <p:cNvSpPr/>
          <p:nvPr/>
        </p:nvSpPr>
        <p:spPr>
          <a:xfrm>
            <a:off x="859536" y="2697480"/>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The oldest family of ciphers replaces each symbol with a different one. In a shift cipher the rule is simply "move along the alphabet by a fixed number", wrapping round at the end. Encrypting and decrypting are the same operation in opposite directions, and the entire secret is that one number.</a:t>
            </a:r>
            <a:endParaRPr lang="en-US" sz="1200" dirty="0"/>
          </a:p>
        </p:txBody>
      </p:sp>
      <p:sp>
        <p:nvSpPr>
          <p:cNvPr id="8" name="Text 6"/>
          <p:cNvSpPr/>
          <p:nvPr/>
        </p:nvSpPr>
        <p:spPr>
          <a:xfrm>
            <a:off x="859536" y="3959352"/>
            <a:ext cx="4956048" cy="237744"/>
          </a:xfrm>
          <a:prstGeom prst="rect">
            <a:avLst/>
          </a:prstGeom>
          <a:noFill/>
          <a:ln/>
        </p:spPr>
        <p:txBody>
          <a:bodyPr wrap="square" lIns="0" tIns="0" rIns="0" bIns="0" rtlCol="0" anchor="ctr"/>
          <a:lstStyle/>
          <a:p>
            <a:pPr indent="0" marL="0">
              <a:buNone/>
            </a:pPr>
            <a:r>
              <a:rPr lang="en-US" sz="950" b="1" spc="110" kern="0" dirty="0">
                <a:solidFill>
                  <a:srgbClr val="4CC9F0"/>
                </a:solidFill>
                <a:latin typeface="Calibri" pitchFamily="34" charset="0"/>
                <a:ea typeface="Calibri" pitchFamily="34" charset="-122"/>
                <a:cs typeface="Calibri" pitchFamily="34" charset="-120"/>
              </a:rPr>
              <a:t>WHY IT MATTERS HERE</a:t>
            </a:r>
            <a:endParaRPr lang="en-US" sz="950" dirty="0"/>
          </a:p>
        </p:txBody>
      </p:sp>
      <p:sp>
        <p:nvSpPr>
          <p:cNvPr id="9" name="Text 7"/>
          <p:cNvSpPr/>
          <p:nvPr/>
        </p:nvSpPr>
        <p:spPr>
          <a:xfrm>
            <a:off x="859536" y="4233672"/>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It is the foundation everything else on this track builds on or reacts against. A rotation of 13 is the same mechanism with the number fixed and published; the interesting case is when nobody tells you the number at all.</a:t>
            </a:r>
            <a:endParaRPr lang="en-US" sz="1200" dirty="0"/>
          </a:p>
        </p:txBody>
      </p:sp>
      <p:sp>
        <p:nvSpPr>
          <p:cNvPr id="10" name="Shape 8"/>
          <p:cNvSpPr/>
          <p:nvPr/>
        </p:nvSpPr>
        <p:spPr>
          <a:xfrm>
            <a:off x="6382512" y="2148840"/>
            <a:ext cx="5260543" cy="3566160"/>
          </a:xfrm>
          <a:prstGeom prst="roundRect">
            <a:avLst>
              <a:gd name="adj" fmla="val 2308"/>
            </a:avLst>
          </a:prstGeom>
          <a:solidFill>
            <a:srgbClr val="141F30"/>
          </a:solidFill>
          <a:ln/>
        </p:spPr>
      </p:sp>
      <p:sp>
        <p:nvSpPr>
          <p:cNvPr id="11" name="Text 9"/>
          <p:cNvSpPr/>
          <p:nvPr/>
        </p:nvSpPr>
        <p:spPr>
          <a:xfrm>
            <a:off x="6656832" y="2386584"/>
            <a:ext cx="1828800" cy="219456"/>
          </a:xfrm>
          <a:prstGeom prst="rect">
            <a:avLst/>
          </a:prstGeom>
          <a:noFill/>
          <a:ln/>
        </p:spPr>
        <p:txBody>
          <a:bodyPr wrap="square" lIns="0" tIns="0" rIns="0" bIns="0" rtlCol="0" anchor="ctr"/>
          <a:lstStyle/>
          <a:p>
            <a:pPr indent="0" marL="0">
              <a:buNone/>
            </a:pPr>
            <a:r>
              <a:rPr lang="en-US" sz="900" b="1" spc="100" kern="0" dirty="0">
                <a:solidFill>
                  <a:srgbClr val="5B6B8C"/>
                </a:solidFill>
                <a:latin typeface="Calibri" pitchFamily="34" charset="0"/>
                <a:ea typeface="Calibri" pitchFamily="34" charset="-122"/>
                <a:cs typeface="Calibri" pitchFamily="34" charset="-120"/>
              </a:rPr>
              <a:t>PLAIN</a:t>
            </a:r>
            <a:endParaRPr lang="en-US" sz="900" dirty="0"/>
          </a:p>
        </p:txBody>
      </p:sp>
      <p:sp>
        <p:nvSpPr>
          <p:cNvPr id="12" name="Text 10"/>
          <p:cNvSpPr/>
          <p:nvPr/>
        </p:nvSpPr>
        <p:spPr>
          <a:xfrm>
            <a:off x="6656832"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A</a:t>
            </a:r>
            <a:endParaRPr lang="en-US" sz="1000" dirty="0"/>
          </a:p>
        </p:txBody>
      </p:sp>
      <p:sp>
        <p:nvSpPr>
          <p:cNvPr id="13" name="Text 11"/>
          <p:cNvSpPr/>
          <p:nvPr/>
        </p:nvSpPr>
        <p:spPr>
          <a:xfrm>
            <a:off x="6838059"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B</a:t>
            </a:r>
            <a:endParaRPr lang="en-US" sz="1000" dirty="0"/>
          </a:p>
        </p:txBody>
      </p:sp>
      <p:sp>
        <p:nvSpPr>
          <p:cNvPr id="14" name="Text 12"/>
          <p:cNvSpPr/>
          <p:nvPr/>
        </p:nvSpPr>
        <p:spPr>
          <a:xfrm>
            <a:off x="7019286"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C</a:t>
            </a:r>
            <a:endParaRPr lang="en-US" sz="1000" dirty="0"/>
          </a:p>
        </p:txBody>
      </p:sp>
      <p:sp>
        <p:nvSpPr>
          <p:cNvPr id="15" name="Text 13"/>
          <p:cNvSpPr/>
          <p:nvPr/>
        </p:nvSpPr>
        <p:spPr>
          <a:xfrm>
            <a:off x="7200513"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D</a:t>
            </a:r>
            <a:endParaRPr lang="en-US" sz="1000" dirty="0"/>
          </a:p>
        </p:txBody>
      </p:sp>
      <p:sp>
        <p:nvSpPr>
          <p:cNvPr id="16" name="Text 14"/>
          <p:cNvSpPr/>
          <p:nvPr/>
        </p:nvSpPr>
        <p:spPr>
          <a:xfrm>
            <a:off x="7381740"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E</a:t>
            </a:r>
            <a:endParaRPr lang="en-US" sz="1000" dirty="0"/>
          </a:p>
        </p:txBody>
      </p:sp>
      <p:sp>
        <p:nvSpPr>
          <p:cNvPr id="17" name="Text 15"/>
          <p:cNvSpPr/>
          <p:nvPr/>
        </p:nvSpPr>
        <p:spPr>
          <a:xfrm>
            <a:off x="7562967"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F</a:t>
            </a:r>
            <a:endParaRPr lang="en-US" sz="1000" dirty="0"/>
          </a:p>
        </p:txBody>
      </p:sp>
      <p:sp>
        <p:nvSpPr>
          <p:cNvPr id="18" name="Text 16"/>
          <p:cNvSpPr/>
          <p:nvPr/>
        </p:nvSpPr>
        <p:spPr>
          <a:xfrm>
            <a:off x="7744194"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G</a:t>
            </a:r>
            <a:endParaRPr lang="en-US" sz="1000" dirty="0"/>
          </a:p>
        </p:txBody>
      </p:sp>
      <p:sp>
        <p:nvSpPr>
          <p:cNvPr id="19" name="Text 17"/>
          <p:cNvSpPr/>
          <p:nvPr/>
        </p:nvSpPr>
        <p:spPr>
          <a:xfrm>
            <a:off x="7925421"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H</a:t>
            </a:r>
            <a:endParaRPr lang="en-US" sz="1000" dirty="0"/>
          </a:p>
        </p:txBody>
      </p:sp>
      <p:sp>
        <p:nvSpPr>
          <p:cNvPr id="20" name="Text 18"/>
          <p:cNvSpPr/>
          <p:nvPr/>
        </p:nvSpPr>
        <p:spPr>
          <a:xfrm>
            <a:off x="8106648"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I</a:t>
            </a:r>
            <a:endParaRPr lang="en-US" sz="1000" dirty="0"/>
          </a:p>
        </p:txBody>
      </p:sp>
      <p:sp>
        <p:nvSpPr>
          <p:cNvPr id="21" name="Text 19"/>
          <p:cNvSpPr/>
          <p:nvPr/>
        </p:nvSpPr>
        <p:spPr>
          <a:xfrm>
            <a:off x="8287875"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J</a:t>
            </a:r>
            <a:endParaRPr lang="en-US" sz="1000" dirty="0"/>
          </a:p>
        </p:txBody>
      </p:sp>
      <p:sp>
        <p:nvSpPr>
          <p:cNvPr id="22" name="Text 20"/>
          <p:cNvSpPr/>
          <p:nvPr/>
        </p:nvSpPr>
        <p:spPr>
          <a:xfrm>
            <a:off x="8469102"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K</a:t>
            </a:r>
            <a:endParaRPr lang="en-US" sz="1000" dirty="0"/>
          </a:p>
        </p:txBody>
      </p:sp>
      <p:sp>
        <p:nvSpPr>
          <p:cNvPr id="23" name="Text 21"/>
          <p:cNvSpPr/>
          <p:nvPr/>
        </p:nvSpPr>
        <p:spPr>
          <a:xfrm>
            <a:off x="8650330"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L</a:t>
            </a:r>
            <a:endParaRPr lang="en-US" sz="1000" dirty="0"/>
          </a:p>
        </p:txBody>
      </p:sp>
      <p:sp>
        <p:nvSpPr>
          <p:cNvPr id="24" name="Text 22"/>
          <p:cNvSpPr/>
          <p:nvPr/>
        </p:nvSpPr>
        <p:spPr>
          <a:xfrm>
            <a:off x="8831557"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M</a:t>
            </a:r>
            <a:endParaRPr lang="en-US" sz="1000" dirty="0"/>
          </a:p>
        </p:txBody>
      </p:sp>
      <p:sp>
        <p:nvSpPr>
          <p:cNvPr id="25" name="Text 23"/>
          <p:cNvSpPr/>
          <p:nvPr/>
        </p:nvSpPr>
        <p:spPr>
          <a:xfrm>
            <a:off x="9012784"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N</a:t>
            </a:r>
            <a:endParaRPr lang="en-US" sz="1000" dirty="0"/>
          </a:p>
        </p:txBody>
      </p:sp>
      <p:sp>
        <p:nvSpPr>
          <p:cNvPr id="26" name="Text 24"/>
          <p:cNvSpPr/>
          <p:nvPr/>
        </p:nvSpPr>
        <p:spPr>
          <a:xfrm>
            <a:off x="9194011"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O</a:t>
            </a:r>
            <a:endParaRPr lang="en-US" sz="1000" dirty="0"/>
          </a:p>
        </p:txBody>
      </p:sp>
      <p:sp>
        <p:nvSpPr>
          <p:cNvPr id="27" name="Text 25"/>
          <p:cNvSpPr/>
          <p:nvPr/>
        </p:nvSpPr>
        <p:spPr>
          <a:xfrm>
            <a:off x="9375238"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P</a:t>
            </a:r>
            <a:endParaRPr lang="en-US" sz="1000" dirty="0"/>
          </a:p>
        </p:txBody>
      </p:sp>
      <p:sp>
        <p:nvSpPr>
          <p:cNvPr id="28" name="Text 26"/>
          <p:cNvSpPr/>
          <p:nvPr/>
        </p:nvSpPr>
        <p:spPr>
          <a:xfrm>
            <a:off x="9556465"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Q</a:t>
            </a:r>
            <a:endParaRPr lang="en-US" sz="1000" dirty="0"/>
          </a:p>
        </p:txBody>
      </p:sp>
      <p:sp>
        <p:nvSpPr>
          <p:cNvPr id="29" name="Text 27"/>
          <p:cNvSpPr/>
          <p:nvPr/>
        </p:nvSpPr>
        <p:spPr>
          <a:xfrm>
            <a:off x="9737692"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R</a:t>
            </a:r>
            <a:endParaRPr lang="en-US" sz="1000" dirty="0"/>
          </a:p>
        </p:txBody>
      </p:sp>
      <p:sp>
        <p:nvSpPr>
          <p:cNvPr id="30" name="Text 28"/>
          <p:cNvSpPr/>
          <p:nvPr/>
        </p:nvSpPr>
        <p:spPr>
          <a:xfrm>
            <a:off x="9918919"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S</a:t>
            </a:r>
            <a:endParaRPr lang="en-US" sz="1000" dirty="0"/>
          </a:p>
        </p:txBody>
      </p:sp>
      <p:sp>
        <p:nvSpPr>
          <p:cNvPr id="31" name="Text 29"/>
          <p:cNvSpPr/>
          <p:nvPr/>
        </p:nvSpPr>
        <p:spPr>
          <a:xfrm>
            <a:off x="10100146"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T</a:t>
            </a:r>
            <a:endParaRPr lang="en-US" sz="1000" dirty="0"/>
          </a:p>
        </p:txBody>
      </p:sp>
      <p:sp>
        <p:nvSpPr>
          <p:cNvPr id="32" name="Text 30"/>
          <p:cNvSpPr/>
          <p:nvPr/>
        </p:nvSpPr>
        <p:spPr>
          <a:xfrm>
            <a:off x="10281373"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U</a:t>
            </a:r>
            <a:endParaRPr lang="en-US" sz="1000" dirty="0"/>
          </a:p>
        </p:txBody>
      </p:sp>
      <p:sp>
        <p:nvSpPr>
          <p:cNvPr id="33" name="Text 31"/>
          <p:cNvSpPr/>
          <p:nvPr/>
        </p:nvSpPr>
        <p:spPr>
          <a:xfrm>
            <a:off x="10462600"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V</a:t>
            </a:r>
            <a:endParaRPr lang="en-US" sz="1000" dirty="0"/>
          </a:p>
        </p:txBody>
      </p:sp>
      <p:sp>
        <p:nvSpPr>
          <p:cNvPr id="34" name="Text 32"/>
          <p:cNvSpPr/>
          <p:nvPr/>
        </p:nvSpPr>
        <p:spPr>
          <a:xfrm>
            <a:off x="10643827"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W</a:t>
            </a:r>
            <a:endParaRPr lang="en-US" sz="1000" dirty="0"/>
          </a:p>
        </p:txBody>
      </p:sp>
      <p:sp>
        <p:nvSpPr>
          <p:cNvPr id="35" name="Text 33"/>
          <p:cNvSpPr/>
          <p:nvPr/>
        </p:nvSpPr>
        <p:spPr>
          <a:xfrm>
            <a:off x="10825054"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X</a:t>
            </a:r>
            <a:endParaRPr lang="en-US" sz="1000" dirty="0"/>
          </a:p>
        </p:txBody>
      </p:sp>
      <p:sp>
        <p:nvSpPr>
          <p:cNvPr id="36" name="Text 34"/>
          <p:cNvSpPr/>
          <p:nvPr/>
        </p:nvSpPr>
        <p:spPr>
          <a:xfrm>
            <a:off x="11006281"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Y</a:t>
            </a:r>
            <a:endParaRPr lang="en-US" sz="1000" dirty="0"/>
          </a:p>
        </p:txBody>
      </p:sp>
      <p:sp>
        <p:nvSpPr>
          <p:cNvPr id="37" name="Text 35"/>
          <p:cNvSpPr/>
          <p:nvPr/>
        </p:nvSpPr>
        <p:spPr>
          <a:xfrm>
            <a:off x="11187508" y="2651760"/>
            <a:ext cx="181227" cy="274320"/>
          </a:xfrm>
          <a:prstGeom prst="rect">
            <a:avLst/>
          </a:prstGeom>
          <a:noFill/>
          <a:ln/>
        </p:spPr>
        <p:txBody>
          <a:bodyPr wrap="square" lIns="0" tIns="0" rIns="0" bIns="0" rtlCol="0" anchor="ctr"/>
          <a:lstStyle/>
          <a:p>
            <a:pPr algn="ctr" indent="0" marL="0">
              <a:buNone/>
            </a:pPr>
            <a:r>
              <a:rPr lang="en-US" sz="1000" dirty="0">
                <a:solidFill>
                  <a:srgbClr val="93A5C7"/>
                </a:solidFill>
                <a:latin typeface="Courier New" pitchFamily="34" charset="0"/>
                <a:ea typeface="Courier New" pitchFamily="34" charset="-122"/>
                <a:cs typeface="Courier New" pitchFamily="34" charset="-120"/>
              </a:rPr>
              <a:t>Z</a:t>
            </a:r>
            <a:endParaRPr lang="en-US" sz="1000" dirty="0"/>
          </a:p>
        </p:txBody>
      </p:sp>
      <p:sp>
        <p:nvSpPr>
          <p:cNvPr id="38" name="Text 36"/>
          <p:cNvSpPr/>
          <p:nvPr/>
        </p:nvSpPr>
        <p:spPr>
          <a:xfrm>
            <a:off x="6656832" y="3017520"/>
            <a:ext cx="2011680" cy="219456"/>
          </a:xfrm>
          <a:prstGeom prst="rect">
            <a:avLst/>
          </a:prstGeom>
          <a:noFill/>
          <a:ln/>
        </p:spPr>
        <p:txBody>
          <a:bodyPr wrap="square" lIns="0" tIns="0" rIns="0" bIns="0" rtlCol="0" anchor="ctr"/>
          <a:lstStyle/>
          <a:p>
            <a:pPr indent="0" marL="0">
              <a:buNone/>
            </a:pPr>
            <a:r>
              <a:rPr lang="en-US" sz="900" b="1" spc="100" kern="0" dirty="0">
                <a:solidFill>
                  <a:srgbClr val="4CC9F0"/>
                </a:solidFill>
                <a:latin typeface="Calibri" pitchFamily="34" charset="0"/>
                <a:ea typeface="Calibri" pitchFamily="34" charset="-122"/>
                <a:cs typeface="Calibri" pitchFamily="34" charset="-120"/>
              </a:rPr>
              <a:t>SHIFTED BY 3</a:t>
            </a:r>
            <a:endParaRPr lang="en-US" sz="900" dirty="0"/>
          </a:p>
        </p:txBody>
      </p:sp>
      <p:sp>
        <p:nvSpPr>
          <p:cNvPr id="39" name="Text 37"/>
          <p:cNvSpPr/>
          <p:nvPr/>
        </p:nvSpPr>
        <p:spPr>
          <a:xfrm>
            <a:off x="6656832"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D</a:t>
            </a:r>
            <a:endParaRPr lang="en-US" sz="1000" dirty="0"/>
          </a:p>
        </p:txBody>
      </p:sp>
      <p:sp>
        <p:nvSpPr>
          <p:cNvPr id="40" name="Text 38"/>
          <p:cNvSpPr/>
          <p:nvPr/>
        </p:nvSpPr>
        <p:spPr>
          <a:xfrm>
            <a:off x="6838059"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E</a:t>
            </a:r>
            <a:endParaRPr lang="en-US" sz="1000" dirty="0"/>
          </a:p>
        </p:txBody>
      </p:sp>
      <p:sp>
        <p:nvSpPr>
          <p:cNvPr id="41" name="Text 39"/>
          <p:cNvSpPr/>
          <p:nvPr/>
        </p:nvSpPr>
        <p:spPr>
          <a:xfrm>
            <a:off x="7019286"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F</a:t>
            </a:r>
            <a:endParaRPr lang="en-US" sz="1000" dirty="0"/>
          </a:p>
        </p:txBody>
      </p:sp>
      <p:sp>
        <p:nvSpPr>
          <p:cNvPr id="42" name="Text 40"/>
          <p:cNvSpPr/>
          <p:nvPr/>
        </p:nvSpPr>
        <p:spPr>
          <a:xfrm>
            <a:off x="7200513"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G</a:t>
            </a:r>
            <a:endParaRPr lang="en-US" sz="1000" dirty="0"/>
          </a:p>
        </p:txBody>
      </p:sp>
      <p:sp>
        <p:nvSpPr>
          <p:cNvPr id="43" name="Text 41"/>
          <p:cNvSpPr/>
          <p:nvPr/>
        </p:nvSpPr>
        <p:spPr>
          <a:xfrm>
            <a:off x="7381740"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H</a:t>
            </a:r>
            <a:endParaRPr lang="en-US" sz="1000" dirty="0"/>
          </a:p>
        </p:txBody>
      </p:sp>
      <p:sp>
        <p:nvSpPr>
          <p:cNvPr id="44" name="Text 42"/>
          <p:cNvSpPr/>
          <p:nvPr/>
        </p:nvSpPr>
        <p:spPr>
          <a:xfrm>
            <a:off x="7562967"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I</a:t>
            </a:r>
            <a:endParaRPr lang="en-US" sz="1000" dirty="0"/>
          </a:p>
        </p:txBody>
      </p:sp>
      <p:sp>
        <p:nvSpPr>
          <p:cNvPr id="45" name="Text 43"/>
          <p:cNvSpPr/>
          <p:nvPr/>
        </p:nvSpPr>
        <p:spPr>
          <a:xfrm>
            <a:off x="7744194"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J</a:t>
            </a:r>
            <a:endParaRPr lang="en-US" sz="1000" dirty="0"/>
          </a:p>
        </p:txBody>
      </p:sp>
      <p:sp>
        <p:nvSpPr>
          <p:cNvPr id="46" name="Text 44"/>
          <p:cNvSpPr/>
          <p:nvPr/>
        </p:nvSpPr>
        <p:spPr>
          <a:xfrm>
            <a:off x="7925421"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K</a:t>
            </a:r>
            <a:endParaRPr lang="en-US" sz="1000" dirty="0"/>
          </a:p>
        </p:txBody>
      </p:sp>
      <p:sp>
        <p:nvSpPr>
          <p:cNvPr id="47" name="Text 45"/>
          <p:cNvSpPr/>
          <p:nvPr/>
        </p:nvSpPr>
        <p:spPr>
          <a:xfrm>
            <a:off x="8106648"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L</a:t>
            </a:r>
            <a:endParaRPr lang="en-US" sz="1000" dirty="0"/>
          </a:p>
        </p:txBody>
      </p:sp>
      <p:sp>
        <p:nvSpPr>
          <p:cNvPr id="48" name="Text 46"/>
          <p:cNvSpPr/>
          <p:nvPr/>
        </p:nvSpPr>
        <p:spPr>
          <a:xfrm>
            <a:off x="8287875"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M</a:t>
            </a:r>
            <a:endParaRPr lang="en-US" sz="1000" dirty="0"/>
          </a:p>
        </p:txBody>
      </p:sp>
      <p:sp>
        <p:nvSpPr>
          <p:cNvPr id="49" name="Text 47"/>
          <p:cNvSpPr/>
          <p:nvPr/>
        </p:nvSpPr>
        <p:spPr>
          <a:xfrm>
            <a:off x="8469102"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N</a:t>
            </a:r>
            <a:endParaRPr lang="en-US" sz="1000" dirty="0"/>
          </a:p>
        </p:txBody>
      </p:sp>
      <p:sp>
        <p:nvSpPr>
          <p:cNvPr id="50" name="Text 48"/>
          <p:cNvSpPr/>
          <p:nvPr/>
        </p:nvSpPr>
        <p:spPr>
          <a:xfrm>
            <a:off x="8650330"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O</a:t>
            </a:r>
            <a:endParaRPr lang="en-US" sz="1000" dirty="0"/>
          </a:p>
        </p:txBody>
      </p:sp>
      <p:sp>
        <p:nvSpPr>
          <p:cNvPr id="51" name="Text 49"/>
          <p:cNvSpPr/>
          <p:nvPr/>
        </p:nvSpPr>
        <p:spPr>
          <a:xfrm>
            <a:off x="8831557"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P</a:t>
            </a:r>
            <a:endParaRPr lang="en-US" sz="1000" dirty="0"/>
          </a:p>
        </p:txBody>
      </p:sp>
      <p:sp>
        <p:nvSpPr>
          <p:cNvPr id="52" name="Text 50"/>
          <p:cNvSpPr/>
          <p:nvPr/>
        </p:nvSpPr>
        <p:spPr>
          <a:xfrm>
            <a:off x="9012784"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Q</a:t>
            </a:r>
            <a:endParaRPr lang="en-US" sz="1000" dirty="0"/>
          </a:p>
        </p:txBody>
      </p:sp>
      <p:sp>
        <p:nvSpPr>
          <p:cNvPr id="53" name="Text 51"/>
          <p:cNvSpPr/>
          <p:nvPr/>
        </p:nvSpPr>
        <p:spPr>
          <a:xfrm>
            <a:off x="9194011"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R</a:t>
            </a:r>
            <a:endParaRPr lang="en-US" sz="1000" dirty="0"/>
          </a:p>
        </p:txBody>
      </p:sp>
      <p:sp>
        <p:nvSpPr>
          <p:cNvPr id="54" name="Text 52"/>
          <p:cNvSpPr/>
          <p:nvPr/>
        </p:nvSpPr>
        <p:spPr>
          <a:xfrm>
            <a:off x="9375238"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S</a:t>
            </a:r>
            <a:endParaRPr lang="en-US" sz="1000" dirty="0"/>
          </a:p>
        </p:txBody>
      </p:sp>
      <p:sp>
        <p:nvSpPr>
          <p:cNvPr id="55" name="Text 53"/>
          <p:cNvSpPr/>
          <p:nvPr/>
        </p:nvSpPr>
        <p:spPr>
          <a:xfrm>
            <a:off x="9556465"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T</a:t>
            </a:r>
            <a:endParaRPr lang="en-US" sz="1000" dirty="0"/>
          </a:p>
        </p:txBody>
      </p:sp>
      <p:sp>
        <p:nvSpPr>
          <p:cNvPr id="56" name="Text 54"/>
          <p:cNvSpPr/>
          <p:nvPr/>
        </p:nvSpPr>
        <p:spPr>
          <a:xfrm>
            <a:off x="9737692"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U</a:t>
            </a:r>
            <a:endParaRPr lang="en-US" sz="1000" dirty="0"/>
          </a:p>
        </p:txBody>
      </p:sp>
      <p:sp>
        <p:nvSpPr>
          <p:cNvPr id="57" name="Text 55"/>
          <p:cNvSpPr/>
          <p:nvPr/>
        </p:nvSpPr>
        <p:spPr>
          <a:xfrm>
            <a:off x="9918919"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V</a:t>
            </a:r>
            <a:endParaRPr lang="en-US" sz="1000" dirty="0"/>
          </a:p>
        </p:txBody>
      </p:sp>
      <p:sp>
        <p:nvSpPr>
          <p:cNvPr id="58" name="Text 56"/>
          <p:cNvSpPr/>
          <p:nvPr/>
        </p:nvSpPr>
        <p:spPr>
          <a:xfrm>
            <a:off x="10100146"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W</a:t>
            </a:r>
            <a:endParaRPr lang="en-US" sz="1000" dirty="0"/>
          </a:p>
        </p:txBody>
      </p:sp>
      <p:sp>
        <p:nvSpPr>
          <p:cNvPr id="59" name="Text 57"/>
          <p:cNvSpPr/>
          <p:nvPr/>
        </p:nvSpPr>
        <p:spPr>
          <a:xfrm>
            <a:off x="10281373"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X</a:t>
            </a:r>
            <a:endParaRPr lang="en-US" sz="1000" dirty="0"/>
          </a:p>
        </p:txBody>
      </p:sp>
      <p:sp>
        <p:nvSpPr>
          <p:cNvPr id="60" name="Text 58"/>
          <p:cNvSpPr/>
          <p:nvPr/>
        </p:nvSpPr>
        <p:spPr>
          <a:xfrm>
            <a:off x="10462600"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Y</a:t>
            </a:r>
            <a:endParaRPr lang="en-US" sz="1000" dirty="0"/>
          </a:p>
        </p:txBody>
      </p:sp>
      <p:sp>
        <p:nvSpPr>
          <p:cNvPr id="61" name="Text 59"/>
          <p:cNvSpPr/>
          <p:nvPr/>
        </p:nvSpPr>
        <p:spPr>
          <a:xfrm>
            <a:off x="10643827"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Z</a:t>
            </a:r>
            <a:endParaRPr lang="en-US" sz="1000" dirty="0"/>
          </a:p>
        </p:txBody>
      </p:sp>
      <p:sp>
        <p:nvSpPr>
          <p:cNvPr id="62" name="Text 60"/>
          <p:cNvSpPr/>
          <p:nvPr/>
        </p:nvSpPr>
        <p:spPr>
          <a:xfrm>
            <a:off x="10825054"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A</a:t>
            </a:r>
            <a:endParaRPr lang="en-US" sz="1000" dirty="0"/>
          </a:p>
        </p:txBody>
      </p:sp>
      <p:sp>
        <p:nvSpPr>
          <p:cNvPr id="63" name="Text 61"/>
          <p:cNvSpPr/>
          <p:nvPr/>
        </p:nvSpPr>
        <p:spPr>
          <a:xfrm>
            <a:off x="11006281"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B</a:t>
            </a:r>
            <a:endParaRPr lang="en-US" sz="1000" dirty="0"/>
          </a:p>
        </p:txBody>
      </p:sp>
      <p:sp>
        <p:nvSpPr>
          <p:cNvPr id="64" name="Text 62"/>
          <p:cNvSpPr/>
          <p:nvPr/>
        </p:nvSpPr>
        <p:spPr>
          <a:xfrm>
            <a:off x="11187508" y="3282696"/>
            <a:ext cx="181227" cy="274320"/>
          </a:xfrm>
          <a:prstGeom prst="rect">
            <a:avLst/>
          </a:prstGeom>
          <a:noFill/>
          <a:ln/>
        </p:spPr>
        <p:txBody>
          <a:bodyPr wrap="square" lIns="0" tIns="0" rIns="0" bIns="0" rtlCol="0" anchor="ctr"/>
          <a:lstStyle/>
          <a:p>
            <a:pPr algn="ctr" indent="0" marL="0">
              <a:buNone/>
            </a:pPr>
            <a:r>
              <a:rPr lang="en-US" sz="1000" b="1" dirty="0">
                <a:solidFill>
                  <a:srgbClr val="4CC9F0"/>
                </a:solidFill>
                <a:latin typeface="Courier New" pitchFamily="34" charset="0"/>
                <a:ea typeface="Courier New" pitchFamily="34" charset="-122"/>
                <a:cs typeface="Courier New" pitchFamily="34" charset="-120"/>
              </a:rPr>
              <a:t>C</a:t>
            </a:r>
            <a:endParaRPr lang="en-US" sz="1000" dirty="0"/>
          </a:p>
        </p:txBody>
      </p:sp>
      <p:sp>
        <p:nvSpPr>
          <p:cNvPr id="65" name="Text 63"/>
          <p:cNvSpPr/>
          <p:nvPr/>
        </p:nvSpPr>
        <p:spPr>
          <a:xfrm>
            <a:off x="6656832" y="3840480"/>
            <a:ext cx="1371600" cy="256032"/>
          </a:xfrm>
          <a:prstGeom prst="rect">
            <a:avLst/>
          </a:prstGeom>
          <a:noFill/>
          <a:ln/>
        </p:spPr>
        <p:txBody>
          <a:bodyPr wrap="square" lIns="0" tIns="0" rIns="0" bIns="0" rtlCol="0" anchor="ctr"/>
          <a:lstStyle/>
          <a:p>
            <a:pPr indent="0" marL="0">
              <a:buNone/>
            </a:pPr>
            <a:r>
              <a:rPr lang="en-US" sz="900" b="1" spc="100" kern="0" dirty="0">
                <a:solidFill>
                  <a:srgbClr val="5B6B8C"/>
                </a:solidFill>
                <a:latin typeface="Calibri" pitchFamily="34" charset="0"/>
                <a:ea typeface="Calibri" pitchFamily="34" charset="-122"/>
                <a:cs typeface="Calibri" pitchFamily="34" charset="-120"/>
              </a:rPr>
              <a:t>CIPHERTEXT</a:t>
            </a:r>
            <a:endParaRPr lang="en-US" sz="900" dirty="0"/>
          </a:p>
        </p:txBody>
      </p:sp>
      <p:sp>
        <p:nvSpPr>
          <p:cNvPr id="66" name="Text 64"/>
          <p:cNvSpPr/>
          <p:nvPr/>
        </p:nvSpPr>
        <p:spPr>
          <a:xfrm>
            <a:off x="6656832" y="4078224"/>
            <a:ext cx="4711903" cy="310896"/>
          </a:xfrm>
          <a:prstGeom prst="rect">
            <a:avLst/>
          </a:prstGeom>
          <a:noFill/>
          <a:ln/>
        </p:spPr>
        <p:txBody>
          <a:bodyPr wrap="square" lIns="0" tIns="0" rIns="0" bIns="0" rtlCol="0" anchor="ctr"/>
          <a:lstStyle/>
          <a:p>
            <a:pPr indent="0" marL="0">
              <a:buNone/>
            </a:pPr>
            <a:r>
              <a:rPr lang="en-US" sz="1400" dirty="0">
                <a:solidFill>
                  <a:srgbClr val="93A5C7"/>
                </a:solidFill>
                <a:latin typeface="Courier New" pitchFamily="34" charset="0"/>
                <a:ea typeface="Courier New" pitchFamily="34" charset="-122"/>
                <a:cs typeface="Courier New" pitchFamily="34" charset="-120"/>
              </a:rPr>
              <a:t>WKH VLJQDO LV IDLQW</a:t>
            </a:r>
            <a:endParaRPr lang="en-US" sz="1400" dirty="0"/>
          </a:p>
        </p:txBody>
      </p:sp>
      <p:sp>
        <p:nvSpPr>
          <p:cNvPr id="67" name="Text 65"/>
          <p:cNvSpPr/>
          <p:nvPr/>
        </p:nvSpPr>
        <p:spPr>
          <a:xfrm>
            <a:off x="6656832" y="4498848"/>
            <a:ext cx="1371600" cy="256032"/>
          </a:xfrm>
          <a:prstGeom prst="rect">
            <a:avLst/>
          </a:prstGeom>
          <a:noFill/>
          <a:ln/>
        </p:spPr>
        <p:txBody>
          <a:bodyPr wrap="square" lIns="0" tIns="0" rIns="0" bIns="0" rtlCol="0" anchor="ctr"/>
          <a:lstStyle/>
          <a:p>
            <a:pPr indent="0" marL="0">
              <a:buNone/>
            </a:pPr>
            <a:r>
              <a:rPr lang="en-US" sz="900" b="1" spc="100" kern="0" dirty="0">
                <a:solidFill>
                  <a:srgbClr val="5B6B8C"/>
                </a:solidFill>
                <a:latin typeface="Calibri" pitchFamily="34" charset="0"/>
                <a:ea typeface="Calibri" pitchFamily="34" charset="-122"/>
                <a:cs typeface="Calibri" pitchFamily="34" charset="-120"/>
              </a:rPr>
              <a:t>SHIFTED BACK</a:t>
            </a:r>
            <a:endParaRPr lang="en-US" sz="900" dirty="0"/>
          </a:p>
        </p:txBody>
      </p:sp>
      <p:sp>
        <p:nvSpPr>
          <p:cNvPr id="68" name="Text 66"/>
          <p:cNvSpPr/>
          <p:nvPr/>
        </p:nvSpPr>
        <p:spPr>
          <a:xfrm>
            <a:off x="6656832" y="4736592"/>
            <a:ext cx="4711903" cy="310896"/>
          </a:xfrm>
          <a:prstGeom prst="rect">
            <a:avLst/>
          </a:prstGeom>
          <a:noFill/>
          <a:ln/>
        </p:spPr>
        <p:txBody>
          <a:bodyPr wrap="square" lIns="0" tIns="0" rIns="0" bIns="0" rtlCol="0" anchor="ctr"/>
          <a:lstStyle/>
          <a:p>
            <a:pPr indent="0" marL="0">
              <a:buNone/>
            </a:pPr>
            <a:r>
              <a:rPr lang="en-US" sz="1400" b="1" dirty="0">
                <a:solidFill>
                  <a:srgbClr val="4CC9F0"/>
                </a:solidFill>
                <a:latin typeface="Courier New" pitchFamily="34" charset="0"/>
                <a:ea typeface="Courier New" pitchFamily="34" charset="-122"/>
                <a:cs typeface="Courier New" pitchFamily="34" charset="-120"/>
              </a:rPr>
              <a:t>THE SIGNAL IS FAINT</a:t>
            </a:r>
            <a:endParaRPr lang="en-US" sz="1400" dirty="0"/>
          </a:p>
        </p:txBody>
      </p:sp>
      <p:sp>
        <p:nvSpPr>
          <p:cNvPr id="69" name="Text 67"/>
          <p:cNvSpPr/>
          <p:nvPr/>
        </p:nvSpPr>
        <p:spPr>
          <a:xfrm>
            <a:off x="6656832" y="5148072"/>
            <a:ext cx="4711903" cy="457200"/>
          </a:xfrm>
          <a:prstGeom prst="rect">
            <a:avLst/>
          </a:prstGeom>
          <a:noFill/>
          <a:ln/>
        </p:spPr>
        <p:txBody>
          <a:bodyPr wrap="square" lIns="0" tIns="0" rIns="0" bIns="0" rtlCol="0" anchor="ctr"/>
          <a:lstStyle/>
          <a:p>
            <a:pPr indent="0" marL="0">
              <a:lnSpc>
                <a:spcPct val="115000"/>
              </a:lnSpc>
              <a:buNone/>
            </a:pPr>
            <a:r>
              <a:rPr lang="en-US" sz="1100" dirty="0">
                <a:solidFill>
                  <a:srgbClr val="93A5C7"/>
                </a:solidFill>
                <a:latin typeface="Calibri" pitchFamily="34" charset="0"/>
                <a:ea typeface="Calibri" pitchFamily="34" charset="-122"/>
                <a:cs typeface="Calibri" pitchFamily="34" charset="-120"/>
              </a:rPr>
              <a:t>Encrypting and decrypting are the same move, in opposite directions.</a:t>
            </a:r>
            <a:endParaRPr lang="en-US" sz="1100" dirty="0"/>
          </a:p>
        </p:txBody>
      </p:sp>
      <p:sp>
        <p:nvSpPr>
          <p:cNvPr id="70" name="Text 68"/>
          <p:cNvSpPr/>
          <p:nvPr/>
        </p:nvSpPr>
        <p:spPr>
          <a:xfrm>
            <a:off x="548640" y="5532120"/>
            <a:ext cx="11094415" cy="274320"/>
          </a:xfrm>
          <a:prstGeom prst="rect">
            <a:avLst/>
          </a:prstGeom>
          <a:noFill/>
          <a:ln/>
        </p:spPr>
        <p:txBody>
          <a:bodyPr wrap="square" lIns="0" tIns="0" rIns="0" bIns="0" rtlCol="0" anchor="ctr"/>
          <a:lstStyle/>
          <a:p>
            <a:pPr indent="0" marL="0">
              <a:buNone/>
            </a:pPr>
            <a:r>
              <a:rPr lang="en-US" sz="1250" i="1" dirty="0">
                <a:solidFill>
                  <a:srgbClr val="4CC9F0"/>
                </a:solidFill>
                <a:latin typeface="Calibri" pitchFamily="34" charset="0"/>
                <a:ea typeface="Calibri" pitchFamily="34" charset="-122"/>
                <a:cs typeface="Calibri" pitchFamily="34" charset="-120"/>
              </a:rPr>
              <a:t>Twenty-five possible numbers is not a secret, it is a short wait.</a:t>
            </a:r>
            <a:endParaRPr lang="en-US" sz="1250" dirty="0"/>
          </a:p>
        </p:txBody>
      </p:sp>
      <p:sp>
        <p:nvSpPr>
          <p:cNvPr id="71" name="Text 69"/>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72" name="Text 70"/>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05</a:t>
            </a:r>
            <a:endParaRPr lang="en-US" sz="900" dirty="0"/>
          </a:p>
        </p:txBody>
      </p:sp>
    </p:spTree>
  </p:cSld>
  <p:clrMapOvr>
    <a:masterClrMapping/>
  </p:clrMapOvr>
  <p:transition spd="med" advClick="1">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4CC9F0"/>
                </a:solidFill>
                <a:latin typeface="Calibri" pitchFamily="34" charset="0"/>
                <a:ea typeface="Calibri" pitchFamily="34" charset="-122"/>
                <a:cs typeface="Calibri" pitchFamily="34" charset="-120"/>
              </a:rPr>
              <a:t>THEORY  03 / 06</a:t>
            </a:r>
            <a:endParaRPr lang="en-US" sz="1100" dirty="0"/>
          </a:p>
        </p:txBody>
      </p:sp>
      <p:sp>
        <p:nvSpPr>
          <p:cNvPr id="3"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Frequency analysis</a:t>
            </a:r>
            <a:endParaRPr lang="en-US" sz="3200" dirty="0"/>
          </a:p>
        </p:txBody>
      </p:sp>
      <p:sp>
        <p:nvSpPr>
          <p:cNvPr id="4"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Real language is lopsided, and substitution preserves the lopsidedness.</a:t>
            </a:r>
            <a:endParaRPr lang="en-US" sz="1300" dirty="0"/>
          </a:p>
        </p:txBody>
      </p:sp>
      <p:sp>
        <p:nvSpPr>
          <p:cNvPr id="5" name="Shape 3"/>
          <p:cNvSpPr/>
          <p:nvPr/>
        </p:nvSpPr>
        <p:spPr>
          <a:xfrm>
            <a:off x="548640" y="2148840"/>
            <a:ext cx="5577840" cy="3127248"/>
          </a:xfrm>
          <a:prstGeom prst="roundRect">
            <a:avLst>
              <a:gd name="adj" fmla="val 2632"/>
            </a:avLst>
          </a:prstGeom>
          <a:solidFill>
            <a:srgbClr val="141F30"/>
          </a:solidFill>
          <a:ln/>
        </p:spPr>
      </p:sp>
      <p:sp>
        <p:nvSpPr>
          <p:cNvPr id="6" name="Text 4"/>
          <p:cNvSpPr/>
          <p:nvPr/>
        </p:nvSpPr>
        <p:spPr>
          <a:xfrm>
            <a:off x="859536" y="2423160"/>
            <a:ext cx="4956048" cy="237744"/>
          </a:xfrm>
          <a:prstGeom prst="rect">
            <a:avLst/>
          </a:prstGeom>
          <a:noFill/>
          <a:ln/>
        </p:spPr>
        <p:txBody>
          <a:bodyPr wrap="square" lIns="0" tIns="0" rIns="0" bIns="0" rtlCol="0" anchor="ctr"/>
          <a:lstStyle/>
          <a:p>
            <a:pPr indent="0" marL="0">
              <a:buNone/>
            </a:pPr>
            <a:r>
              <a:rPr lang="en-US" sz="950" b="1" spc="110" kern="0" dirty="0">
                <a:solidFill>
                  <a:srgbClr val="4CC9F0"/>
                </a:solidFill>
                <a:latin typeface="Calibri" pitchFamily="34" charset="0"/>
                <a:ea typeface="Calibri" pitchFamily="34" charset="-122"/>
                <a:cs typeface="Calibri" pitchFamily="34" charset="-120"/>
              </a:rPr>
              <a:t>WHAT IT IS</a:t>
            </a:r>
            <a:endParaRPr lang="en-US" sz="950" dirty="0"/>
          </a:p>
        </p:txBody>
      </p:sp>
      <p:sp>
        <p:nvSpPr>
          <p:cNvPr id="7" name="Text 5"/>
          <p:cNvSpPr/>
          <p:nvPr/>
        </p:nvSpPr>
        <p:spPr>
          <a:xfrm>
            <a:off x="859536" y="2697480"/>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In English some letters appear far more often than others: E and T at the top, Q and Z at the bottom. A substitution cipher renames the letters but does nothing to how often each one occurs. Count the symbols in the ciphertext and the commonest one is very probably standing in for E.</a:t>
            </a:r>
            <a:endParaRPr lang="en-US" sz="1200" dirty="0"/>
          </a:p>
        </p:txBody>
      </p:sp>
      <p:sp>
        <p:nvSpPr>
          <p:cNvPr id="8" name="Text 6"/>
          <p:cNvSpPr/>
          <p:nvPr/>
        </p:nvSpPr>
        <p:spPr>
          <a:xfrm>
            <a:off x="859536" y="3959352"/>
            <a:ext cx="4956048" cy="237744"/>
          </a:xfrm>
          <a:prstGeom prst="rect">
            <a:avLst/>
          </a:prstGeom>
          <a:noFill/>
          <a:ln/>
        </p:spPr>
        <p:txBody>
          <a:bodyPr wrap="square" lIns="0" tIns="0" rIns="0" bIns="0" rtlCol="0" anchor="ctr"/>
          <a:lstStyle/>
          <a:p>
            <a:pPr indent="0" marL="0">
              <a:buNone/>
            </a:pPr>
            <a:r>
              <a:rPr lang="en-US" sz="950" b="1" spc="110" kern="0" dirty="0">
                <a:solidFill>
                  <a:srgbClr val="4CC9F0"/>
                </a:solidFill>
                <a:latin typeface="Calibri" pitchFamily="34" charset="0"/>
                <a:ea typeface="Calibri" pitchFamily="34" charset="-122"/>
                <a:cs typeface="Calibri" pitchFamily="34" charset="-120"/>
              </a:rPr>
              <a:t>WHY IT MATTERS HERE</a:t>
            </a:r>
            <a:endParaRPr lang="en-US" sz="950" dirty="0"/>
          </a:p>
        </p:txBody>
      </p:sp>
      <p:sp>
        <p:nvSpPr>
          <p:cNvPr id="9" name="Text 7"/>
          <p:cNvSpPr/>
          <p:nvPr/>
        </p:nvSpPr>
        <p:spPr>
          <a:xfrm>
            <a:off x="859536" y="4233672"/>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This is the single idea that finished simple substitution as a serious method. It also explains why a short message is safer than a long one: counts need volume before they mean anything.</a:t>
            </a:r>
            <a:endParaRPr lang="en-US" sz="1200" dirty="0"/>
          </a:p>
        </p:txBody>
      </p:sp>
      <p:sp>
        <p:nvSpPr>
          <p:cNvPr id="10" name="Shape 8"/>
          <p:cNvSpPr/>
          <p:nvPr/>
        </p:nvSpPr>
        <p:spPr>
          <a:xfrm>
            <a:off x="6382512" y="2148840"/>
            <a:ext cx="5260543" cy="3127248"/>
          </a:xfrm>
          <a:prstGeom prst="roundRect">
            <a:avLst>
              <a:gd name="adj" fmla="val 2632"/>
            </a:avLst>
          </a:prstGeom>
          <a:solidFill>
            <a:srgbClr val="141F30"/>
          </a:solidFill>
          <a:ln/>
        </p:spPr>
      </p:sp>
      <p:sp>
        <p:nvSpPr>
          <p:cNvPr id="11" name="Text 9"/>
          <p:cNvSpPr/>
          <p:nvPr/>
        </p:nvSpPr>
        <p:spPr>
          <a:xfrm>
            <a:off x="6656832" y="2404872"/>
            <a:ext cx="4711903" cy="2615184"/>
          </a:xfrm>
          <a:prstGeom prst="rect">
            <a:avLst/>
          </a:prstGeom>
          <a:noFill/>
          <a:ln/>
        </p:spPr>
        <p:txBody>
          <a:bodyPr wrap="square" lIns="0" tIns="0" rIns="0" bIns="0" rtlCol="0" anchor="t"/>
          <a:lstStyle/>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English letter frequency, roughly</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E  ############   12.7%</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T  #########       9.1%</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A  ########        8.2%</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O  #######         7.5%</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I  #######         7.0%</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Z  #               0.1%</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a substitution changes the NAMES</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but not the SHAPE of the counts</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so the tallest bar is probably E</a:t>
            </a:r>
            <a:endParaRPr lang="en-US" sz="1050" dirty="0"/>
          </a:p>
        </p:txBody>
      </p:sp>
      <p:sp>
        <p:nvSpPr>
          <p:cNvPr id="12" name="Text 10"/>
          <p:cNvSpPr/>
          <p:nvPr/>
        </p:nvSpPr>
        <p:spPr>
          <a:xfrm>
            <a:off x="548640" y="5532120"/>
            <a:ext cx="11094415" cy="274320"/>
          </a:xfrm>
          <a:prstGeom prst="rect">
            <a:avLst/>
          </a:prstGeom>
          <a:noFill/>
          <a:ln/>
        </p:spPr>
        <p:txBody>
          <a:bodyPr wrap="square" lIns="0" tIns="0" rIns="0" bIns="0" rtlCol="0" anchor="ctr"/>
          <a:lstStyle/>
          <a:p>
            <a:pPr indent="0" marL="0">
              <a:buNone/>
            </a:pPr>
            <a:r>
              <a:rPr lang="en-US" sz="1250" i="1" dirty="0">
                <a:solidFill>
                  <a:srgbClr val="4CC9F0"/>
                </a:solidFill>
                <a:latin typeface="Calibri" pitchFamily="34" charset="0"/>
                <a:ea typeface="Calibri" pitchFamily="34" charset="-122"/>
                <a:cs typeface="Calibri" pitchFamily="34" charset="-120"/>
              </a:rPr>
              <a:t>You are not reading the letters. You are counting them.</a:t>
            </a:r>
            <a:endParaRPr lang="en-US" sz="1250" dirty="0"/>
          </a:p>
        </p:txBody>
      </p:sp>
      <p:sp>
        <p:nvSpPr>
          <p:cNvPr id="13" name="Text 11"/>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14" name="Text 12"/>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06</a:t>
            </a:r>
            <a:endParaRPr lang="en-US" sz="900" dirty="0"/>
          </a:p>
        </p:txBody>
      </p:sp>
    </p:spTree>
  </p:cSld>
  <p:clrMapOvr>
    <a:masterClrMapping/>
  </p:clrMapOvr>
  <p:transition spd="med" advClick="1">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4CC9F0"/>
                </a:solidFill>
                <a:latin typeface="Calibri" pitchFamily="34" charset="0"/>
                <a:ea typeface="Calibri" pitchFamily="34" charset="-122"/>
                <a:cs typeface="Calibri" pitchFamily="34" charset="-120"/>
              </a:rPr>
              <a:t>THEORY  04 / 06</a:t>
            </a:r>
            <a:endParaRPr lang="en-US" sz="1100" dirty="0"/>
          </a:p>
        </p:txBody>
      </p:sp>
      <p:sp>
        <p:nvSpPr>
          <p:cNvPr id="3"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Polyalphabetic ciphers</a:t>
            </a:r>
            <a:endParaRPr lang="en-US" sz="3200" dirty="0"/>
          </a:p>
        </p:txBody>
      </p:sp>
      <p:sp>
        <p:nvSpPr>
          <p:cNvPr id="4"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Use several shifts in rotation, and the frequency counts flatten out.</a:t>
            </a:r>
            <a:endParaRPr lang="en-US" sz="1300" dirty="0"/>
          </a:p>
        </p:txBody>
      </p:sp>
      <p:sp>
        <p:nvSpPr>
          <p:cNvPr id="5" name="Shape 3"/>
          <p:cNvSpPr/>
          <p:nvPr/>
        </p:nvSpPr>
        <p:spPr>
          <a:xfrm>
            <a:off x="548640" y="2148840"/>
            <a:ext cx="5577840" cy="3127248"/>
          </a:xfrm>
          <a:prstGeom prst="roundRect">
            <a:avLst>
              <a:gd name="adj" fmla="val 2632"/>
            </a:avLst>
          </a:prstGeom>
          <a:solidFill>
            <a:srgbClr val="141F30"/>
          </a:solidFill>
          <a:ln/>
        </p:spPr>
      </p:sp>
      <p:sp>
        <p:nvSpPr>
          <p:cNvPr id="6" name="Text 4"/>
          <p:cNvSpPr/>
          <p:nvPr/>
        </p:nvSpPr>
        <p:spPr>
          <a:xfrm>
            <a:off x="859536" y="2423160"/>
            <a:ext cx="4956048" cy="237744"/>
          </a:xfrm>
          <a:prstGeom prst="rect">
            <a:avLst/>
          </a:prstGeom>
          <a:noFill/>
          <a:ln/>
        </p:spPr>
        <p:txBody>
          <a:bodyPr wrap="square" lIns="0" tIns="0" rIns="0" bIns="0" rtlCol="0" anchor="ctr"/>
          <a:lstStyle/>
          <a:p>
            <a:pPr indent="0" marL="0">
              <a:buNone/>
            </a:pPr>
            <a:r>
              <a:rPr lang="en-US" sz="950" b="1" spc="110" kern="0" dirty="0">
                <a:solidFill>
                  <a:srgbClr val="4CC9F0"/>
                </a:solidFill>
                <a:latin typeface="Calibri" pitchFamily="34" charset="0"/>
                <a:ea typeface="Calibri" pitchFamily="34" charset="-122"/>
                <a:cs typeface="Calibri" pitchFamily="34" charset="-120"/>
              </a:rPr>
              <a:t>WHAT IT IS</a:t>
            </a:r>
            <a:endParaRPr lang="en-US" sz="950" dirty="0"/>
          </a:p>
        </p:txBody>
      </p:sp>
      <p:sp>
        <p:nvSpPr>
          <p:cNvPr id="7" name="Text 5"/>
          <p:cNvSpPr/>
          <p:nvPr/>
        </p:nvSpPr>
        <p:spPr>
          <a:xfrm>
            <a:off x="859536" y="2697480"/>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A Vigenere cipher takes a keyword and uses each of its letters as a shift in turn, repeating the keyword across the message. The same plaintext letter therefore encrypts differently depending on where it happens to sit, so counting letters no longer produces one clear answer.</a:t>
            </a:r>
            <a:endParaRPr lang="en-US" sz="1200" dirty="0"/>
          </a:p>
        </p:txBody>
      </p:sp>
      <p:sp>
        <p:nvSpPr>
          <p:cNvPr id="8" name="Text 6"/>
          <p:cNvSpPr/>
          <p:nvPr/>
        </p:nvSpPr>
        <p:spPr>
          <a:xfrm>
            <a:off x="859536" y="3959352"/>
            <a:ext cx="4956048" cy="237744"/>
          </a:xfrm>
          <a:prstGeom prst="rect">
            <a:avLst/>
          </a:prstGeom>
          <a:noFill/>
          <a:ln/>
        </p:spPr>
        <p:txBody>
          <a:bodyPr wrap="square" lIns="0" tIns="0" rIns="0" bIns="0" rtlCol="0" anchor="ctr"/>
          <a:lstStyle/>
          <a:p>
            <a:pPr indent="0" marL="0">
              <a:buNone/>
            </a:pPr>
            <a:r>
              <a:rPr lang="en-US" sz="950" b="1" spc="110" kern="0" dirty="0">
                <a:solidFill>
                  <a:srgbClr val="4CC9F0"/>
                </a:solidFill>
                <a:latin typeface="Calibri" pitchFamily="34" charset="0"/>
                <a:ea typeface="Calibri" pitchFamily="34" charset="-122"/>
                <a:cs typeface="Calibri" pitchFamily="34" charset="-120"/>
              </a:rPr>
              <a:t>WHY IT MATTERS HERE</a:t>
            </a:r>
            <a:endParaRPr lang="en-US" sz="950" dirty="0"/>
          </a:p>
        </p:txBody>
      </p:sp>
      <p:sp>
        <p:nvSpPr>
          <p:cNvPr id="9" name="Text 7"/>
          <p:cNvSpPr/>
          <p:nvPr/>
        </p:nvSpPr>
        <p:spPr>
          <a:xfrm>
            <a:off x="859536" y="4233672"/>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It defeats the previous idea head-on, and for centuries that made it look unbreakable. The weakness that replaces the old one is repetition: the keyword restarts, again and again, at a perfectly fixed interval.</a:t>
            </a:r>
            <a:endParaRPr lang="en-US" sz="1200" dirty="0"/>
          </a:p>
        </p:txBody>
      </p:sp>
      <p:sp>
        <p:nvSpPr>
          <p:cNvPr id="10" name="Shape 8"/>
          <p:cNvSpPr/>
          <p:nvPr/>
        </p:nvSpPr>
        <p:spPr>
          <a:xfrm>
            <a:off x="6382512" y="2148840"/>
            <a:ext cx="5260543" cy="3127248"/>
          </a:xfrm>
          <a:prstGeom prst="roundRect">
            <a:avLst>
              <a:gd name="adj" fmla="val 2632"/>
            </a:avLst>
          </a:prstGeom>
          <a:solidFill>
            <a:srgbClr val="141F30"/>
          </a:solidFill>
          <a:ln/>
        </p:spPr>
      </p:sp>
      <p:sp>
        <p:nvSpPr>
          <p:cNvPr id="11" name="Text 9"/>
          <p:cNvSpPr/>
          <p:nvPr/>
        </p:nvSpPr>
        <p:spPr>
          <a:xfrm>
            <a:off x="6656832" y="2404872"/>
            <a:ext cx="4711903" cy="2615184"/>
          </a:xfrm>
          <a:prstGeom prst="rect">
            <a:avLst/>
          </a:prstGeom>
          <a:noFill/>
          <a:ln/>
        </p:spPr>
        <p:txBody>
          <a:bodyPr wrap="square" lIns="0" tIns="0" rIns="0" bIns="0" rtlCol="0" anchor="t"/>
          <a:lstStyle/>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plaintext   THESIGNALISFAINT</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key         KEYKEYKEYKEYKEYK</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ciphertext  DLCCMEXEJSWDKMLD</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each position uses its own shift</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T + K  -&gt;  D</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H + E  -&gt;  L</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E + Y  -&gt;  C</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note the two Es and the three Is</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do not become the same letter</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so counting no longer gives one answer</a:t>
            </a:r>
            <a:endParaRPr lang="en-US" sz="1050" dirty="0"/>
          </a:p>
        </p:txBody>
      </p:sp>
      <p:sp>
        <p:nvSpPr>
          <p:cNvPr id="12" name="Text 10"/>
          <p:cNvSpPr/>
          <p:nvPr/>
        </p:nvSpPr>
        <p:spPr>
          <a:xfrm>
            <a:off x="548640" y="5532120"/>
            <a:ext cx="11094415" cy="274320"/>
          </a:xfrm>
          <a:prstGeom prst="rect">
            <a:avLst/>
          </a:prstGeom>
          <a:noFill/>
          <a:ln/>
        </p:spPr>
        <p:txBody>
          <a:bodyPr wrap="square" lIns="0" tIns="0" rIns="0" bIns="0" rtlCol="0" anchor="ctr"/>
          <a:lstStyle/>
          <a:p>
            <a:pPr indent="0" marL="0">
              <a:buNone/>
            </a:pPr>
            <a:r>
              <a:rPr lang="en-US" sz="1250" i="1" dirty="0">
                <a:solidFill>
                  <a:srgbClr val="4CC9F0"/>
                </a:solidFill>
                <a:latin typeface="Calibri" pitchFamily="34" charset="0"/>
                <a:ea typeface="Calibri" pitchFamily="34" charset="-122"/>
                <a:cs typeface="Calibri" pitchFamily="34" charset="-120"/>
              </a:rPr>
              <a:t>One key letter per position. The key is short; the message is not.</a:t>
            </a:r>
            <a:endParaRPr lang="en-US" sz="1250" dirty="0"/>
          </a:p>
        </p:txBody>
      </p:sp>
      <p:sp>
        <p:nvSpPr>
          <p:cNvPr id="13" name="Text 11"/>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14" name="Text 12"/>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07</a:t>
            </a:r>
            <a:endParaRPr lang="en-US" sz="900" dirty="0"/>
          </a:p>
        </p:txBody>
      </p:sp>
    </p:spTree>
  </p:cSld>
  <p:clrMapOvr>
    <a:masterClrMapping/>
  </p:clrMapOvr>
  <p:transition spd="med" advClick="1">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4CC9F0"/>
                </a:solidFill>
                <a:latin typeface="Calibri" pitchFamily="34" charset="0"/>
                <a:ea typeface="Calibri" pitchFamily="34" charset="-122"/>
                <a:cs typeface="Calibri" pitchFamily="34" charset="-120"/>
              </a:rPr>
              <a:t>THEORY  05 / 06</a:t>
            </a:r>
            <a:endParaRPr lang="en-US" sz="1100" dirty="0"/>
          </a:p>
        </p:txBody>
      </p:sp>
      <p:sp>
        <p:nvSpPr>
          <p:cNvPr id="3"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Finding the key length</a:t>
            </a:r>
            <a:endParaRPr lang="en-US" sz="3200" dirty="0"/>
          </a:p>
        </p:txBody>
      </p:sp>
      <p:sp>
        <p:nvSpPr>
          <p:cNvPr id="4"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If the key repeats, the ciphertext repeats — and the gaps betray the period.</a:t>
            </a:r>
            <a:endParaRPr lang="en-US" sz="1300" dirty="0"/>
          </a:p>
        </p:txBody>
      </p:sp>
      <p:sp>
        <p:nvSpPr>
          <p:cNvPr id="5" name="Shape 3"/>
          <p:cNvSpPr/>
          <p:nvPr/>
        </p:nvSpPr>
        <p:spPr>
          <a:xfrm>
            <a:off x="548640" y="2148840"/>
            <a:ext cx="5577840" cy="3127248"/>
          </a:xfrm>
          <a:prstGeom prst="roundRect">
            <a:avLst>
              <a:gd name="adj" fmla="val 2632"/>
            </a:avLst>
          </a:prstGeom>
          <a:solidFill>
            <a:srgbClr val="141F30"/>
          </a:solidFill>
          <a:ln/>
        </p:spPr>
      </p:sp>
      <p:sp>
        <p:nvSpPr>
          <p:cNvPr id="6" name="Text 4"/>
          <p:cNvSpPr/>
          <p:nvPr/>
        </p:nvSpPr>
        <p:spPr>
          <a:xfrm>
            <a:off x="859536" y="2423160"/>
            <a:ext cx="4956048" cy="237744"/>
          </a:xfrm>
          <a:prstGeom prst="rect">
            <a:avLst/>
          </a:prstGeom>
          <a:noFill/>
          <a:ln/>
        </p:spPr>
        <p:txBody>
          <a:bodyPr wrap="square" lIns="0" tIns="0" rIns="0" bIns="0" rtlCol="0" anchor="ctr"/>
          <a:lstStyle/>
          <a:p>
            <a:pPr indent="0" marL="0">
              <a:buNone/>
            </a:pPr>
            <a:r>
              <a:rPr lang="en-US" sz="950" b="1" spc="110" kern="0" dirty="0">
                <a:solidFill>
                  <a:srgbClr val="4CC9F0"/>
                </a:solidFill>
                <a:latin typeface="Calibri" pitchFamily="34" charset="0"/>
                <a:ea typeface="Calibri" pitchFamily="34" charset="-122"/>
                <a:cs typeface="Calibri" pitchFamily="34" charset="-120"/>
              </a:rPr>
              <a:t>WHAT IT IS</a:t>
            </a:r>
            <a:endParaRPr lang="en-US" sz="950" dirty="0"/>
          </a:p>
        </p:txBody>
      </p:sp>
      <p:sp>
        <p:nvSpPr>
          <p:cNvPr id="7" name="Text 5"/>
          <p:cNvSpPr/>
          <p:nvPr/>
        </p:nvSpPr>
        <p:spPr>
          <a:xfrm>
            <a:off x="859536" y="2697480"/>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When the same plaintext fragment happens to line up with the same part of the keyword, it encrypts to the same ciphertext fragment. Measure the distance between two such repeats and the key length must divide that distance. Do it for several repeats and the common factor stands out.</a:t>
            </a:r>
            <a:endParaRPr lang="en-US" sz="1200" dirty="0"/>
          </a:p>
        </p:txBody>
      </p:sp>
      <p:sp>
        <p:nvSpPr>
          <p:cNvPr id="8" name="Text 6"/>
          <p:cNvSpPr/>
          <p:nvPr/>
        </p:nvSpPr>
        <p:spPr>
          <a:xfrm>
            <a:off x="859536" y="3959352"/>
            <a:ext cx="4956048" cy="237744"/>
          </a:xfrm>
          <a:prstGeom prst="rect">
            <a:avLst/>
          </a:prstGeom>
          <a:noFill/>
          <a:ln/>
        </p:spPr>
        <p:txBody>
          <a:bodyPr wrap="square" lIns="0" tIns="0" rIns="0" bIns="0" rtlCol="0" anchor="ctr"/>
          <a:lstStyle/>
          <a:p>
            <a:pPr indent="0" marL="0">
              <a:buNone/>
            </a:pPr>
            <a:r>
              <a:rPr lang="en-US" sz="950" b="1" spc="110" kern="0" dirty="0">
                <a:solidFill>
                  <a:srgbClr val="4CC9F0"/>
                </a:solidFill>
                <a:latin typeface="Calibri" pitchFamily="34" charset="0"/>
                <a:ea typeface="Calibri" pitchFamily="34" charset="-122"/>
                <a:cs typeface="Calibri" pitchFamily="34" charset="-120"/>
              </a:rPr>
              <a:t>WHY IT MATTERS HERE</a:t>
            </a:r>
            <a:endParaRPr lang="en-US" sz="950" dirty="0"/>
          </a:p>
        </p:txBody>
      </p:sp>
      <p:sp>
        <p:nvSpPr>
          <p:cNvPr id="9" name="Text 7"/>
          <p:cNvSpPr/>
          <p:nvPr/>
        </p:nvSpPr>
        <p:spPr>
          <a:xfrm>
            <a:off x="859536" y="4233672"/>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Once the length is known the message splits into that many independent columns, and each column is an ordinary single shift — solvable by counting letters. This is the step that turns an unbreakable-looking cipher back into one you already know how to attack.</a:t>
            </a:r>
            <a:endParaRPr lang="en-US" sz="1200" dirty="0"/>
          </a:p>
        </p:txBody>
      </p:sp>
      <p:sp>
        <p:nvSpPr>
          <p:cNvPr id="10" name="Shape 8"/>
          <p:cNvSpPr/>
          <p:nvPr/>
        </p:nvSpPr>
        <p:spPr>
          <a:xfrm>
            <a:off x="6382512" y="2148840"/>
            <a:ext cx="5260543" cy="3127248"/>
          </a:xfrm>
          <a:prstGeom prst="roundRect">
            <a:avLst>
              <a:gd name="adj" fmla="val 2632"/>
            </a:avLst>
          </a:prstGeom>
          <a:solidFill>
            <a:srgbClr val="141F30"/>
          </a:solidFill>
          <a:ln/>
        </p:spPr>
      </p:sp>
      <p:sp>
        <p:nvSpPr>
          <p:cNvPr id="11" name="Text 9"/>
          <p:cNvSpPr/>
          <p:nvPr/>
        </p:nvSpPr>
        <p:spPr>
          <a:xfrm>
            <a:off x="6656832" y="2404872"/>
            <a:ext cx="4711903" cy="2615184"/>
          </a:xfrm>
          <a:prstGeom prst="rect">
            <a:avLst/>
          </a:prstGeom>
          <a:noFill/>
          <a:ln/>
        </p:spPr>
        <p:txBody>
          <a:bodyPr wrap="square" lIns="0" tIns="0" rIns="0" bIns="0" rtlCol="0" anchor="t"/>
          <a:lstStyle/>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the same fragment, appearing twice</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....WXZ..........WXZ.......</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            ^</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position 4   position 20</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distance = 16</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another pair, distance 24</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common factors of 16 and 24: 2, 4, 8</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so the key is probably 4 or 8 long</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then split into that many columns</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each column is one simple shift</a:t>
            </a:r>
            <a:endParaRPr lang="en-US" sz="1050" dirty="0"/>
          </a:p>
        </p:txBody>
      </p:sp>
      <p:sp>
        <p:nvSpPr>
          <p:cNvPr id="12" name="Text 10"/>
          <p:cNvSpPr/>
          <p:nvPr/>
        </p:nvSpPr>
        <p:spPr>
          <a:xfrm>
            <a:off x="548640" y="5532120"/>
            <a:ext cx="11094415" cy="274320"/>
          </a:xfrm>
          <a:prstGeom prst="rect">
            <a:avLst/>
          </a:prstGeom>
          <a:noFill/>
          <a:ln/>
        </p:spPr>
        <p:txBody>
          <a:bodyPr wrap="square" lIns="0" tIns="0" rIns="0" bIns="0" rtlCol="0" anchor="ctr"/>
          <a:lstStyle/>
          <a:p>
            <a:pPr indent="0" marL="0">
              <a:buNone/>
            </a:pPr>
            <a:r>
              <a:rPr lang="en-US" sz="1250" i="1" dirty="0">
                <a:solidFill>
                  <a:srgbClr val="4CC9F0"/>
                </a:solidFill>
                <a:latin typeface="Calibri" pitchFamily="34" charset="0"/>
                <a:ea typeface="Calibri" pitchFamily="34" charset="-122"/>
                <a:cs typeface="Calibri" pitchFamily="34" charset="-120"/>
              </a:rPr>
              <a:t>Two techniques, in order: find the period, then count the letters.</a:t>
            </a:r>
            <a:endParaRPr lang="en-US" sz="1250" dirty="0"/>
          </a:p>
        </p:txBody>
      </p:sp>
      <p:sp>
        <p:nvSpPr>
          <p:cNvPr id="13" name="Text 11"/>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14" name="Text 12"/>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08</a:t>
            </a:r>
            <a:endParaRPr lang="en-US" sz="900" dirty="0"/>
          </a:p>
        </p:txBody>
      </p:sp>
    </p:spTree>
  </p:cSld>
  <p:clrMapOvr>
    <a:masterClrMapping/>
  </p:clrMapOvr>
  <p:transition spd="med" advClick="1">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4CC9F0"/>
                </a:solidFill>
                <a:latin typeface="Calibri" pitchFamily="34" charset="0"/>
                <a:ea typeface="Calibri" pitchFamily="34" charset="-122"/>
                <a:cs typeface="Calibri" pitchFamily="34" charset="-120"/>
              </a:rPr>
              <a:t>THEORY  06 / 06</a:t>
            </a:r>
            <a:endParaRPr lang="en-US" sz="1100" dirty="0"/>
          </a:p>
        </p:txBody>
      </p:sp>
      <p:sp>
        <p:nvSpPr>
          <p:cNvPr id="3"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Stream ciphers and XOR</a:t>
            </a:r>
            <a:endParaRPr lang="en-US" sz="3200" dirty="0"/>
          </a:p>
        </p:txBody>
      </p:sp>
      <p:sp>
        <p:nvSpPr>
          <p:cNvPr id="4"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Generate a long key rather than writing one down, and combine bit by bit.</a:t>
            </a:r>
            <a:endParaRPr lang="en-US" sz="1300" dirty="0"/>
          </a:p>
        </p:txBody>
      </p:sp>
      <p:sp>
        <p:nvSpPr>
          <p:cNvPr id="5" name="Shape 3"/>
          <p:cNvSpPr/>
          <p:nvPr/>
        </p:nvSpPr>
        <p:spPr>
          <a:xfrm>
            <a:off x="548640" y="2148840"/>
            <a:ext cx="5577840" cy="3127248"/>
          </a:xfrm>
          <a:prstGeom prst="roundRect">
            <a:avLst>
              <a:gd name="adj" fmla="val 2632"/>
            </a:avLst>
          </a:prstGeom>
          <a:solidFill>
            <a:srgbClr val="141F30"/>
          </a:solidFill>
          <a:ln/>
        </p:spPr>
      </p:sp>
      <p:sp>
        <p:nvSpPr>
          <p:cNvPr id="6" name="Text 4"/>
          <p:cNvSpPr/>
          <p:nvPr/>
        </p:nvSpPr>
        <p:spPr>
          <a:xfrm>
            <a:off x="859536" y="2423160"/>
            <a:ext cx="4956048" cy="237744"/>
          </a:xfrm>
          <a:prstGeom prst="rect">
            <a:avLst/>
          </a:prstGeom>
          <a:noFill/>
          <a:ln/>
        </p:spPr>
        <p:txBody>
          <a:bodyPr wrap="square" lIns="0" tIns="0" rIns="0" bIns="0" rtlCol="0" anchor="ctr"/>
          <a:lstStyle/>
          <a:p>
            <a:pPr indent="0" marL="0">
              <a:buNone/>
            </a:pPr>
            <a:r>
              <a:rPr lang="en-US" sz="950" b="1" spc="110" kern="0" dirty="0">
                <a:solidFill>
                  <a:srgbClr val="4CC9F0"/>
                </a:solidFill>
                <a:latin typeface="Calibri" pitchFamily="34" charset="0"/>
                <a:ea typeface="Calibri" pitchFamily="34" charset="-122"/>
                <a:cs typeface="Calibri" pitchFamily="34" charset="-120"/>
              </a:rPr>
              <a:t>WHAT IT IS</a:t>
            </a:r>
            <a:endParaRPr lang="en-US" sz="950" dirty="0"/>
          </a:p>
        </p:txBody>
      </p:sp>
      <p:sp>
        <p:nvSpPr>
          <p:cNvPr id="7" name="Text 5"/>
          <p:cNvSpPr/>
          <p:nvPr/>
        </p:nvSpPr>
        <p:spPr>
          <a:xfrm>
            <a:off x="859536" y="2697480"/>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A stream cipher produces a keystream from a small seed and combines it with the message using XOR, an operation that is its own inverse — so the identical process both encrypts and decrypts. The generator is deterministic: the same seed always produces the same keystream.</a:t>
            </a:r>
            <a:endParaRPr lang="en-US" sz="1200" dirty="0"/>
          </a:p>
        </p:txBody>
      </p:sp>
      <p:sp>
        <p:nvSpPr>
          <p:cNvPr id="8" name="Text 6"/>
          <p:cNvSpPr/>
          <p:nvPr/>
        </p:nvSpPr>
        <p:spPr>
          <a:xfrm>
            <a:off x="859536" y="3959352"/>
            <a:ext cx="4956048" cy="237744"/>
          </a:xfrm>
          <a:prstGeom prst="rect">
            <a:avLst/>
          </a:prstGeom>
          <a:noFill/>
          <a:ln/>
        </p:spPr>
        <p:txBody>
          <a:bodyPr wrap="square" lIns="0" tIns="0" rIns="0" bIns="0" rtlCol="0" anchor="ctr"/>
          <a:lstStyle/>
          <a:p>
            <a:pPr indent="0" marL="0">
              <a:buNone/>
            </a:pPr>
            <a:r>
              <a:rPr lang="en-US" sz="950" b="1" spc="110" kern="0" dirty="0">
                <a:solidFill>
                  <a:srgbClr val="4CC9F0"/>
                </a:solidFill>
                <a:latin typeface="Calibri" pitchFamily="34" charset="0"/>
                <a:ea typeface="Calibri" pitchFamily="34" charset="-122"/>
                <a:cs typeface="Calibri" pitchFamily="34" charset="-120"/>
              </a:rPr>
              <a:t>WHY IT MATTERS HERE</a:t>
            </a:r>
            <a:endParaRPr lang="en-US" sz="950" dirty="0"/>
          </a:p>
        </p:txBody>
      </p:sp>
      <p:sp>
        <p:nvSpPr>
          <p:cNvPr id="9" name="Text 7"/>
          <p:cNvSpPr/>
          <p:nvPr/>
        </p:nvSpPr>
        <p:spPr>
          <a:xfrm>
            <a:off x="859536" y="4233672"/>
            <a:ext cx="4956048" cy="1371600"/>
          </a:xfrm>
          <a:prstGeom prst="rect">
            <a:avLst/>
          </a:prstGeom>
          <a:noFill/>
          <a:ln/>
        </p:spPr>
        <p:txBody>
          <a:bodyPr wrap="square" lIns="0" tIns="0" rIns="0" bIns="0" rtlCol="0" anchor="t"/>
          <a:lstStyle/>
          <a:p>
            <a:pPr indent="0" marL="0">
              <a:lnSpc>
                <a:spcPct val="120000"/>
              </a:lnSpc>
              <a:buNone/>
            </a:pPr>
            <a:r>
              <a:rPr lang="en-US" sz="1200" dirty="0">
                <a:solidFill>
                  <a:srgbClr val="93A5C7"/>
                </a:solidFill>
                <a:latin typeface="Calibri" pitchFamily="34" charset="0"/>
                <a:ea typeface="Calibri" pitchFamily="34" charset="-122"/>
                <a:cs typeface="Calibri" pitchFamily="34" charset="-120"/>
              </a:rPr>
              <a:t>This is where the classical era ends and the modern one starts. Security no longer rests on keeping a rule hidden. It rests on the keystream being long, non-repeating, and impossible to predict from any piece of it you happen to see.</a:t>
            </a:r>
            <a:endParaRPr lang="en-US" sz="1200" dirty="0"/>
          </a:p>
        </p:txBody>
      </p:sp>
      <p:sp>
        <p:nvSpPr>
          <p:cNvPr id="10" name="Shape 8"/>
          <p:cNvSpPr/>
          <p:nvPr/>
        </p:nvSpPr>
        <p:spPr>
          <a:xfrm>
            <a:off x="6382512" y="2148840"/>
            <a:ext cx="5260543" cy="3127248"/>
          </a:xfrm>
          <a:prstGeom prst="roundRect">
            <a:avLst>
              <a:gd name="adj" fmla="val 2632"/>
            </a:avLst>
          </a:prstGeom>
          <a:solidFill>
            <a:srgbClr val="141F30"/>
          </a:solidFill>
          <a:ln/>
        </p:spPr>
      </p:sp>
      <p:sp>
        <p:nvSpPr>
          <p:cNvPr id="11" name="Text 9"/>
          <p:cNvSpPr/>
          <p:nvPr/>
        </p:nvSpPr>
        <p:spPr>
          <a:xfrm>
            <a:off x="6656832" y="2404872"/>
            <a:ext cx="4711903" cy="2615184"/>
          </a:xfrm>
          <a:prstGeom prst="rect">
            <a:avLst/>
          </a:prstGeom>
          <a:noFill/>
          <a:ln/>
        </p:spPr>
        <p:txBody>
          <a:bodyPr wrap="square" lIns="0" tIns="0" rIns="0" bIns="0" rtlCol="0" anchor="t"/>
          <a:lstStyle/>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XOR applied twice returns the original</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message    1 0 1 1 0 0 1 0</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keystream  1 1 0 1 0 1 1 0</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cipher     0 1 1 0 0 1 0 0</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keystream  1 1 0 1 0 1 1 0</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message    1 0 1 1 0 0 1 0   &lt;- back again</a:t>
            </a:r>
            <a:endParaRPr lang="en-US" sz="1050" dirty="0"/>
          </a:p>
          <a:p>
            <a:pPr indent="0" marL="0">
              <a:lnSpc>
                <a:spcPct val="112000"/>
              </a:lnSpc>
              <a:buNone/>
            </a:pPr>
            <a:r>
              <a:rPr lang="en-US" sz="1050" dirty="0">
                <a:solidFill>
                  <a:srgbClr val="F4F6FB"/>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the rule is simply:</a:t>
            </a:r>
            <a:endParaRPr lang="en-US" sz="1050" dirty="0"/>
          </a:p>
          <a:p>
            <a:pPr indent="0" marL="0">
              <a:lnSpc>
                <a:spcPct val="112000"/>
              </a:lnSpc>
              <a:buNone/>
            </a:pPr>
            <a:r>
              <a:rPr lang="en-US" sz="1050" i="1" dirty="0">
                <a:solidFill>
                  <a:srgbClr val="5B6B8C"/>
                </a:solidFill>
                <a:latin typeface="Courier New" pitchFamily="34" charset="0"/>
                <a:ea typeface="Courier New" pitchFamily="34" charset="-122"/>
                <a:cs typeface="Courier New" pitchFamily="34" charset="-120"/>
              </a:rPr>
              <a:t>same bits -&gt; 0 , different bits -&gt; 1</a:t>
            </a:r>
            <a:endParaRPr lang="en-US" sz="1050" dirty="0"/>
          </a:p>
        </p:txBody>
      </p:sp>
      <p:sp>
        <p:nvSpPr>
          <p:cNvPr id="12" name="Text 10"/>
          <p:cNvSpPr/>
          <p:nvPr/>
        </p:nvSpPr>
        <p:spPr>
          <a:xfrm>
            <a:off x="548640" y="5532120"/>
            <a:ext cx="11094415" cy="274320"/>
          </a:xfrm>
          <a:prstGeom prst="rect">
            <a:avLst/>
          </a:prstGeom>
          <a:noFill/>
          <a:ln/>
        </p:spPr>
        <p:txBody>
          <a:bodyPr wrap="square" lIns="0" tIns="0" rIns="0" bIns="0" rtlCol="0" anchor="ctr"/>
          <a:lstStyle/>
          <a:p>
            <a:pPr indent="0" marL="0">
              <a:buNone/>
            </a:pPr>
            <a:r>
              <a:rPr lang="en-US" sz="1250" i="1" dirty="0">
                <a:solidFill>
                  <a:srgbClr val="4CC9F0"/>
                </a:solidFill>
                <a:latin typeface="Calibri" pitchFamily="34" charset="0"/>
                <a:ea typeface="Calibri" pitchFamily="34" charset="-122"/>
                <a:cs typeface="Calibri" pitchFamily="34" charset="-120"/>
              </a:rPr>
              <a:t>Encrypting and decrypting stop being opposites. They become the same act.</a:t>
            </a:r>
            <a:endParaRPr lang="en-US" sz="1250" dirty="0"/>
          </a:p>
        </p:txBody>
      </p:sp>
      <p:sp>
        <p:nvSpPr>
          <p:cNvPr id="13" name="Text 11"/>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14" name="Text 12"/>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09</a:t>
            </a:r>
            <a:endParaRPr lang="en-US" sz="900" dirty="0"/>
          </a:p>
        </p:txBody>
      </p:sp>
    </p:spTree>
  </p:cSld>
  <p:clrMapOvr>
    <a:masterClrMapping/>
  </p:clrMapOvr>
  <p:transition spd="med" advClick="1">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28000"/>
          </a:blip>
          <a:stretch>
            <a:fillRect/>
          </a:stretch>
        </p:blipFill>
        <p:spPr>
          <a:xfrm>
            <a:off x="8549640" y="109728"/>
            <a:ext cx="3291840" cy="1901952"/>
          </a:xfrm>
          <a:prstGeom prst="rect">
            <a:avLst/>
          </a:prstGeom>
        </p:spPr>
      </p:pic>
      <p:sp>
        <p:nvSpPr>
          <p:cNvPr id="3"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4CC9F0"/>
                </a:solidFill>
                <a:latin typeface="Calibri" pitchFamily="34" charset="0"/>
                <a:ea typeface="Calibri" pitchFamily="34" charset="-122"/>
                <a:cs typeface="Calibri" pitchFamily="34" charset="-120"/>
              </a:rPr>
              <a:t>GETTING IN</a:t>
            </a:r>
            <a:endParaRPr lang="en-US" sz="1100" dirty="0"/>
          </a:p>
        </p:txBody>
      </p:sp>
      <p:sp>
        <p:nvSpPr>
          <p:cNvPr id="4"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You connect with SSH</a:t>
            </a:r>
            <a:endParaRPr lang="en-US" sz="3200" dirty="0"/>
          </a:p>
        </p:txBody>
      </p:sp>
      <p:sp>
        <p:nvSpPr>
          <p:cNvPr id="5"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Same as Bandit: a host, a port, and your own terminal. If you've already played Bandit, you already know this part.</a:t>
            </a:r>
            <a:endParaRPr lang="en-US" sz="1300" dirty="0"/>
          </a:p>
        </p:txBody>
      </p:sp>
      <p:sp>
        <p:nvSpPr>
          <p:cNvPr id="6" name="Shape 3"/>
          <p:cNvSpPr/>
          <p:nvPr/>
        </p:nvSpPr>
        <p:spPr>
          <a:xfrm>
            <a:off x="548640" y="2148840"/>
            <a:ext cx="5577840" cy="3127248"/>
          </a:xfrm>
          <a:prstGeom prst="roundRect">
            <a:avLst>
              <a:gd name="adj" fmla="val 2632"/>
            </a:avLst>
          </a:prstGeom>
          <a:solidFill>
            <a:srgbClr val="141F30"/>
          </a:solidFill>
          <a:ln/>
        </p:spPr>
      </p:sp>
      <p:sp>
        <p:nvSpPr>
          <p:cNvPr id="7" name="Text 4"/>
          <p:cNvSpPr/>
          <p:nvPr/>
        </p:nvSpPr>
        <p:spPr>
          <a:xfrm>
            <a:off x="859536" y="2404872"/>
            <a:ext cx="4956048" cy="237744"/>
          </a:xfrm>
          <a:prstGeom prst="rect">
            <a:avLst/>
          </a:prstGeom>
          <a:noFill/>
          <a:ln/>
        </p:spPr>
        <p:txBody>
          <a:bodyPr wrap="square" lIns="0" tIns="0" rIns="0" bIns="0" rtlCol="0" anchor="ctr"/>
          <a:lstStyle/>
          <a:p>
            <a:pPr indent="0" marL="0">
              <a:buNone/>
            </a:pPr>
            <a:r>
              <a:rPr lang="en-US" sz="950" b="1" spc="110" kern="0" dirty="0">
                <a:solidFill>
                  <a:srgbClr val="4CC9F0"/>
                </a:solidFill>
                <a:latin typeface="Calibri" pitchFamily="34" charset="0"/>
                <a:ea typeface="Calibri" pitchFamily="34" charset="-122"/>
                <a:cs typeface="Calibri" pitchFamily="34" charset="-120"/>
              </a:rPr>
              <a:t>STEP BY STEP</a:t>
            </a:r>
            <a:endParaRPr lang="en-US" sz="950" dirty="0"/>
          </a:p>
        </p:txBody>
      </p:sp>
      <p:sp>
        <p:nvSpPr>
          <p:cNvPr id="8" name="Text 5"/>
          <p:cNvSpPr/>
          <p:nvPr/>
        </p:nvSpPr>
        <p:spPr>
          <a:xfrm>
            <a:off x="859536" y="2770632"/>
            <a:ext cx="365760" cy="621792"/>
          </a:xfrm>
          <a:prstGeom prst="rect">
            <a:avLst/>
          </a:prstGeom>
          <a:noFill/>
          <a:ln/>
        </p:spPr>
        <p:txBody>
          <a:bodyPr wrap="square" lIns="0" tIns="0" rIns="0" bIns="0" rtlCol="0" anchor="ctr"/>
          <a:lstStyle/>
          <a:p>
            <a:pPr indent="0" marL="0">
              <a:buNone/>
            </a:pPr>
            <a:r>
              <a:rPr lang="en-US" sz="1600" b="1" dirty="0">
                <a:solidFill>
                  <a:srgbClr val="4CC9F0"/>
                </a:solidFill>
                <a:latin typeface="Cambria" pitchFamily="34" charset="0"/>
                <a:ea typeface="Cambria" pitchFamily="34" charset="-122"/>
                <a:cs typeface="Cambria" pitchFamily="34" charset="-120"/>
              </a:rPr>
              <a:t>1</a:t>
            </a:r>
            <a:endParaRPr lang="en-US" sz="1600" dirty="0"/>
          </a:p>
        </p:txBody>
      </p:sp>
      <p:sp>
        <p:nvSpPr>
          <p:cNvPr id="9" name="Text 6"/>
          <p:cNvSpPr/>
          <p:nvPr/>
        </p:nvSpPr>
        <p:spPr>
          <a:xfrm>
            <a:off x="1280160" y="2807208"/>
            <a:ext cx="4480560" cy="256032"/>
          </a:xfrm>
          <a:prstGeom prst="rect">
            <a:avLst/>
          </a:prstGeom>
          <a:noFill/>
          <a:ln/>
        </p:spPr>
        <p:txBody>
          <a:bodyPr wrap="square" lIns="0" tIns="0" rIns="0" bIns="0" rtlCol="0" anchor="ctr"/>
          <a:lstStyle/>
          <a:p>
            <a:pPr indent="0" marL="0">
              <a:buNone/>
            </a:pPr>
            <a:r>
              <a:rPr lang="en-US" sz="1250" b="1" dirty="0">
                <a:solidFill>
                  <a:srgbClr val="F4F6FB"/>
                </a:solidFill>
                <a:latin typeface="Calibri" pitchFamily="34" charset="0"/>
                <a:ea typeface="Calibri" pitchFamily="34" charset="-122"/>
                <a:cs typeface="Calibri" pitchFamily="34" charset="-120"/>
              </a:rPr>
              <a:t>Launch Environment</a:t>
            </a:r>
            <a:endParaRPr lang="en-US" sz="1250" dirty="0"/>
          </a:p>
        </p:txBody>
      </p:sp>
      <p:sp>
        <p:nvSpPr>
          <p:cNvPr id="10" name="Text 7"/>
          <p:cNvSpPr/>
          <p:nvPr/>
        </p:nvSpPr>
        <p:spPr>
          <a:xfrm>
            <a:off x="1280160" y="3044952"/>
            <a:ext cx="4480560" cy="274320"/>
          </a:xfrm>
          <a:prstGeom prst="rect">
            <a:avLst/>
          </a:prstGeom>
          <a:noFill/>
          <a:ln/>
        </p:spPr>
        <p:txBody>
          <a:bodyPr wrap="square" lIns="0" tIns="0" rIns="0" bIns="0" rtlCol="0" anchor="ctr"/>
          <a:lstStyle/>
          <a:p>
            <a:pPr indent="0" marL="0">
              <a:buNone/>
            </a:pPr>
            <a:r>
              <a:rPr lang="en-US" sz="1100" dirty="0">
                <a:solidFill>
                  <a:srgbClr val="93A5C7"/>
                </a:solidFill>
                <a:latin typeface="Calibri" pitchFamily="34" charset="0"/>
                <a:ea typeface="Calibri" pitchFamily="34" charset="-122"/>
                <a:cs typeface="Calibri" pitchFamily="34" charset="-120"/>
              </a:rPr>
              <a:t>On any Krypton challenge. Wait for the host and port.</a:t>
            </a:r>
            <a:endParaRPr lang="en-US" sz="1100" dirty="0"/>
          </a:p>
        </p:txBody>
      </p:sp>
      <p:sp>
        <p:nvSpPr>
          <p:cNvPr id="11" name="Text 8"/>
          <p:cNvSpPr/>
          <p:nvPr/>
        </p:nvSpPr>
        <p:spPr>
          <a:xfrm>
            <a:off x="859536" y="3392424"/>
            <a:ext cx="365760" cy="621792"/>
          </a:xfrm>
          <a:prstGeom prst="rect">
            <a:avLst/>
          </a:prstGeom>
          <a:noFill/>
          <a:ln/>
        </p:spPr>
        <p:txBody>
          <a:bodyPr wrap="square" lIns="0" tIns="0" rIns="0" bIns="0" rtlCol="0" anchor="ctr"/>
          <a:lstStyle/>
          <a:p>
            <a:pPr indent="0" marL="0">
              <a:buNone/>
            </a:pPr>
            <a:r>
              <a:rPr lang="en-US" sz="1600" b="1" dirty="0">
                <a:solidFill>
                  <a:srgbClr val="4CC9F0"/>
                </a:solidFill>
                <a:latin typeface="Cambria" pitchFamily="34" charset="0"/>
                <a:ea typeface="Cambria" pitchFamily="34" charset="-122"/>
                <a:cs typeface="Cambria" pitchFamily="34" charset="-120"/>
              </a:rPr>
              <a:t>2</a:t>
            </a:r>
            <a:endParaRPr lang="en-US" sz="1600" dirty="0"/>
          </a:p>
        </p:txBody>
      </p:sp>
      <p:sp>
        <p:nvSpPr>
          <p:cNvPr id="12" name="Text 9"/>
          <p:cNvSpPr/>
          <p:nvPr/>
        </p:nvSpPr>
        <p:spPr>
          <a:xfrm>
            <a:off x="1280160" y="3429000"/>
            <a:ext cx="4480560" cy="256032"/>
          </a:xfrm>
          <a:prstGeom prst="rect">
            <a:avLst/>
          </a:prstGeom>
          <a:noFill/>
          <a:ln/>
        </p:spPr>
        <p:txBody>
          <a:bodyPr wrap="square" lIns="0" tIns="0" rIns="0" bIns="0" rtlCol="0" anchor="ctr"/>
          <a:lstStyle/>
          <a:p>
            <a:pPr indent="0" marL="0">
              <a:buNone/>
            </a:pPr>
            <a:r>
              <a:rPr lang="en-US" sz="1250" b="1" dirty="0">
                <a:solidFill>
                  <a:srgbClr val="F4F6FB"/>
                </a:solidFill>
                <a:latin typeface="Calibri" pitchFamily="34" charset="0"/>
                <a:ea typeface="Calibri" pitchFamily="34" charset="-122"/>
                <a:cs typeface="Calibri" pitchFamily="34" charset="-120"/>
              </a:rPr>
              <a:t>SSH in</a:t>
            </a:r>
            <a:endParaRPr lang="en-US" sz="1250" dirty="0"/>
          </a:p>
        </p:txBody>
      </p:sp>
      <p:sp>
        <p:nvSpPr>
          <p:cNvPr id="13" name="Text 10"/>
          <p:cNvSpPr/>
          <p:nvPr/>
        </p:nvSpPr>
        <p:spPr>
          <a:xfrm>
            <a:off x="1280160" y="3666744"/>
            <a:ext cx="4480560" cy="274320"/>
          </a:xfrm>
          <a:prstGeom prst="rect">
            <a:avLst/>
          </a:prstGeom>
          <a:noFill/>
          <a:ln/>
        </p:spPr>
        <p:txBody>
          <a:bodyPr wrap="square" lIns="0" tIns="0" rIns="0" bIns="0" rtlCol="0" anchor="ctr"/>
          <a:lstStyle/>
          <a:p>
            <a:pPr indent="0" marL="0">
              <a:buNone/>
            </a:pPr>
            <a:r>
              <a:rPr lang="en-US" sz="1100" dirty="0">
                <a:solidFill>
                  <a:srgbClr val="93A5C7"/>
                </a:solidFill>
                <a:latin typeface="Calibri" pitchFamily="34" charset="0"/>
                <a:ea typeface="Calibri" pitchFamily="34" charset="-122"/>
                <a:cs typeface="Calibri" pitchFamily="34" charset="-120"/>
              </a:rPr>
              <a:t>Same idea: the previous level's password is this login.</a:t>
            </a:r>
            <a:endParaRPr lang="en-US" sz="1100" dirty="0"/>
          </a:p>
        </p:txBody>
      </p:sp>
      <p:sp>
        <p:nvSpPr>
          <p:cNvPr id="14" name="Text 11"/>
          <p:cNvSpPr/>
          <p:nvPr/>
        </p:nvSpPr>
        <p:spPr>
          <a:xfrm>
            <a:off x="859536" y="4014216"/>
            <a:ext cx="365760" cy="621792"/>
          </a:xfrm>
          <a:prstGeom prst="rect">
            <a:avLst/>
          </a:prstGeom>
          <a:noFill/>
          <a:ln/>
        </p:spPr>
        <p:txBody>
          <a:bodyPr wrap="square" lIns="0" tIns="0" rIns="0" bIns="0" rtlCol="0" anchor="ctr"/>
          <a:lstStyle/>
          <a:p>
            <a:pPr indent="0" marL="0">
              <a:buNone/>
            </a:pPr>
            <a:r>
              <a:rPr lang="en-US" sz="1600" b="1" dirty="0">
                <a:solidFill>
                  <a:srgbClr val="4CC9F0"/>
                </a:solidFill>
                <a:latin typeface="Cambria" pitchFamily="34" charset="0"/>
                <a:ea typeface="Cambria" pitchFamily="34" charset="-122"/>
                <a:cs typeface="Cambria" pitchFamily="34" charset="-120"/>
              </a:rPr>
              <a:t>3</a:t>
            </a:r>
            <a:endParaRPr lang="en-US" sz="1600" dirty="0"/>
          </a:p>
        </p:txBody>
      </p:sp>
      <p:sp>
        <p:nvSpPr>
          <p:cNvPr id="15" name="Text 12"/>
          <p:cNvSpPr/>
          <p:nvPr/>
        </p:nvSpPr>
        <p:spPr>
          <a:xfrm>
            <a:off x="1280160" y="4050792"/>
            <a:ext cx="4480560" cy="256032"/>
          </a:xfrm>
          <a:prstGeom prst="rect">
            <a:avLst/>
          </a:prstGeom>
          <a:noFill/>
          <a:ln/>
        </p:spPr>
        <p:txBody>
          <a:bodyPr wrap="square" lIns="0" tIns="0" rIns="0" bIns="0" rtlCol="0" anchor="ctr"/>
          <a:lstStyle/>
          <a:p>
            <a:pPr indent="0" marL="0">
              <a:buNone/>
            </a:pPr>
            <a:r>
              <a:rPr lang="en-US" sz="1250" b="1" dirty="0">
                <a:solidFill>
                  <a:srgbClr val="F4F6FB"/>
                </a:solidFill>
                <a:latin typeface="Calibri" pitchFamily="34" charset="0"/>
                <a:ea typeface="Calibri" pitchFamily="34" charset="-122"/>
                <a:cs typeface="Calibri" pitchFamily="34" charset="-120"/>
              </a:rPr>
              <a:t>Break the cipher</a:t>
            </a:r>
            <a:endParaRPr lang="en-US" sz="1250" dirty="0"/>
          </a:p>
        </p:txBody>
      </p:sp>
      <p:sp>
        <p:nvSpPr>
          <p:cNvPr id="16" name="Text 13"/>
          <p:cNvSpPr/>
          <p:nvPr/>
        </p:nvSpPr>
        <p:spPr>
          <a:xfrm>
            <a:off x="1280160" y="4288536"/>
            <a:ext cx="4480560" cy="274320"/>
          </a:xfrm>
          <a:prstGeom prst="rect">
            <a:avLst/>
          </a:prstGeom>
          <a:noFill/>
          <a:ln/>
        </p:spPr>
        <p:txBody>
          <a:bodyPr wrap="square" lIns="0" tIns="0" rIns="0" bIns="0" rtlCol="0" anchor="ctr"/>
          <a:lstStyle/>
          <a:p>
            <a:pPr indent="0" marL="0">
              <a:buNone/>
            </a:pPr>
            <a:r>
              <a:rPr lang="en-US" sz="1100" dirty="0">
                <a:solidFill>
                  <a:srgbClr val="93A5C7"/>
                </a:solidFill>
                <a:latin typeface="Calibri" pitchFamily="34" charset="0"/>
                <a:ea typeface="Calibri" pitchFamily="34" charset="-122"/>
                <a:cs typeface="Calibri" pitchFamily="34" charset="-120"/>
              </a:rPr>
              <a:t>Everything you need is in the level's own directory.</a:t>
            </a:r>
            <a:endParaRPr lang="en-US" sz="1100" dirty="0"/>
          </a:p>
        </p:txBody>
      </p:sp>
      <p:sp>
        <p:nvSpPr>
          <p:cNvPr id="17" name="Text 14"/>
          <p:cNvSpPr/>
          <p:nvPr/>
        </p:nvSpPr>
        <p:spPr>
          <a:xfrm>
            <a:off x="859536" y="4636008"/>
            <a:ext cx="365760" cy="621792"/>
          </a:xfrm>
          <a:prstGeom prst="rect">
            <a:avLst/>
          </a:prstGeom>
          <a:noFill/>
          <a:ln/>
        </p:spPr>
        <p:txBody>
          <a:bodyPr wrap="square" lIns="0" tIns="0" rIns="0" bIns="0" rtlCol="0" anchor="ctr"/>
          <a:lstStyle/>
          <a:p>
            <a:pPr indent="0" marL="0">
              <a:buNone/>
            </a:pPr>
            <a:r>
              <a:rPr lang="en-US" sz="1600" b="1" dirty="0">
                <a:solidFill>
                  <a:srgbClr val="4CC9F0"/>
                </a:solidFill>
                <a:latin typeface="Cambria" pitchFamily="34" charset="0"/>
                <a:ea typeface="Cambria" pitchFamily="34" charset="-122"/>
                <a:cs typeface="Cambria" pitchFamily="34" charset="-120"/>
              </a:rPr>
              <a:t>4</a:t>
            </a:r>
            <a:endParaRPr lang="en-US" sz="1600" dirty="0"/>
          </a:p>
        </p:txBody>
      </p:sp>
      <p:sp>
        <p:nvSpPr>
          <p:cNvPr id="18" name="Text 15"/>
          <p:cNvSpPr/>
          <p:nvPr/>
        </p:nvSpPr>
        <p:spPr>
          <a:xfrm>
            <a:off x="1280160" y="4672584"/>
            <a:ext cx="4480560" cy="256032"/>
          </a:xfrm>
          <a:prstGeom prst="rect">
            <a:avLst/>
          </a:prstGeom>
          <a:noFill/>
          <a:ln/>
        </p:spPr>
        <p:txBody>
          <a:bodyPr wrap="square" lIns="0" tIns="0" rIns="0" bIns="0" rtlCol="0" anchor="ctr"/>
          <a:lstStyle/>
          <a:p>
            <a:pPr indent="0" marL="0">
              <a:buNone/>
            </a:pPr>
            <a:r>
              <a:rPr lang="en-US" sz="1250" b="1" dirty="0">
                <a:solidFill>
                  <a:srgbClr val="F4F6FB"/>
                </a:solidFill>
                <a:latin typeface="Calibri" pitchFamily="34" charset="0"/>
                <a:ea typeface="Calibri" pitchFamily="34" charset="-122"/>
                <a:cs typeface="Calibri" pitchFamily="34" charset="-120"/>
              </a:rPr>
              <a:t>Submit the flag</a:t>
            </a:r>
            <a:endParaRPr lang="en-US" sz="1250" dirty="0"/>
          </a:p>
        </p:txBody>
      </p:sp>
      <p:sp>
        <p:nvSpPr>
          <p:cNvPr id="19" name="Text 16"/>
          <p:cNvSpPr/>
          <p:nvPr/>
        </p:nvSpPr>
        <p:spPr>
          <a:xfrm>
            <a:off x="1280160" y="4910328"/>
            <a:ext cx="4480560" cy="274320"/>
          </a:xfrm>
          <a:prstGeom prst="rect">
            <a:avLst/>
          </a:prstGeom>
          <a:noFill/>
          <a:ln/>
        </p:spPr>
        <p:txBody>
          <a:bodyPr wrap="square" lIns="0" tIns="0" rIns="0" bIns="0" rtlCol="0" anchor="ctr"/>
          <a:lstStyle/>
          <a:p>
            <a:pPr indent="0" marL="0">
              <a:buNone/>
            </a:pPr>
            <a:r>
              <a:rPr lang="en-US" sz="1100" dirty="0">
                <a:solidFill>
                  <a:srgbClr val="93A5C7"/>
                </a:solidFill>
                <a:latin typeface="Calibri" pitchFamily="34" charset="0"/>
                <a:ea typeface="Calibri" pitchFamily="34" charset="-122"/>
                <a:cs typeface="Calibri" pitchFamily="34" charset="-120"/>
              </a:rPr>
              <a:t>The recovered password is both the flag and your next login.</a:t>
            </a:r>
            <a:endParaRPr lang="en-US" sz="1100" dirty="0"/>
          </a:p>
        </p:txBody>
      </p:sp>
      <p:sp>
        <p:nvSpPr>
          <p:cNvPr id="20" name="Shape 17"/>
          <p:cNvSpPr/>
          <p:nvPr/>
        </p:nvSpPr>
        <p:spPr>
          <a:xfrm>
            <a:off x="6382512" y="2148840"/>
            <a:ext cx="5260543" cy="3127248"/>
          </a:xfrm>
          <a:prstGeom prst="roundRect">
            <a:avLst>
              <a:gd name="adj" fmla="val 2632"/>
            </a:avLst>
          </a:prstGeom>
          <a:solidFill>
            <a:srgbClr val="141F30"/>
          </a:solidFill>
          <a:ln/>
        </p:spPr>
      </p:sp>
      <p:sp>
        <p:nvSpPr>
          <p:cNvPr id="21" name="Text 18"/>
          <p:cNvSpPr/>
          <p:nvPr/>
        </p:nvSpPr>
        <p:spPr>
          <a:xfrm>
            <a:off x="6656832" y="2404872"/>
            <a:ext cx="4711903" cy="237744"/>
          </a:xfrm>
          <a:prstGeom prst="rect">
            <a:avLst/>
          </a:prstGeom>
          <a:noFill/>
          <a:ln/>
        </p:spPr>
        <p:txBody>
          <a:bodyPr wrap="square" lIns="0" tIns="0" rIns="0" bIns="0" rtlCol="0" anchor="ctr"/>
          <a:lstStyle/>
          <a:p>
            <a:pPr indent="0" marL="0">
              <a:buNone/>
            </a:pPr>
            <a:r>
              <a:rPr lang="en-US" sz="950" b="1" spc="110" kern="0" dirty="0">
                <a:solidFill>
                  <a:srgbClr val="4CC9F0"/>
                </a:solidFill>
                <a:latin typeface="Calibri" pitchFamily="34" charset="0"/>
                <a:ea typeface="Calibri" pitchFamily="34" charset="-122"/>
                <a:cs typeface="Calibri" pitchFamily="34" charset="-120"/>
              </a:rPr>
              <a:t>THE LAUNCH PANEL</a:t>
            </a:r>
            <a:endParaRPr lang="en-US" sz="950" dirty="0"/>
          </a:p>
        </p:txBody>
      </p:sp>
      <p:sp>
        <p:nvSpPr>
          <p:cNvPr id="22" name="Shape 19"/>
          <p:cNvSpPr/>
          <p:nvPr/>
        </p:nvSpPr>
        <p:spPr>
          <a:xfrm>
            <a:off x="6656832" y="2843784"/>
            <a:ext cx="402336" cy="402336"/>
          </a:xfrm>
          <a:prstGeom prst="ellipse">
            <a:avLst/>
          </a:prstGeom>
          <a:solidFill>
            <a:srgbClr val="4CC9F0"/>
          </a:solidFill>
          <a:ln/>
        </p:spPr>
      </p:sp>
      <p:pic>
        <p:nvPicPr>
          <p:cNvPr id="23" name="Image 1" descr="preencoded.png">    </p:cNvPr>
          <p:cNvPicPr>
            <a:picLocks noChangeAspect="1"/>
          </p:cNvPicPr>
          <p:nvPr/>
        </p:nvPicPr>
        <p:blipFill>
          <a:blip r:embed="rId2"/>
          <a:stretch>
            <a:fillRect/>
          </a:stretch>
        </p:blipFill>
        <p:spPr>
          <a:xfrm>
            <a:off x="6761439" y="2948391"/>
            <a:ext cx="193121" cy="193121"/>
          </a:xfrm>
          <a:prstGeom prst="rect">
            <a:avLst/>
          </a:prstGeom>
        </p:spPr>
      </p:pic>
      <p:sp>
        <p:nvSpPr>
          <p:cNvPr id="24" name="Text 20"/>
          <p:cNvSpPr/>
          <p:nvPr/>
        </p:nvSpPr>
        <p:spPr>
          <a:xfrm>
            <a:off x="7223760" y="2788920"/>
            <a:ext cx="4117543" cy="256032"/>
          </a:xfrm>
          <a:prstGeom prst="rect">
            <a:avLst/>
          </a:prstGeom>
          <a:noFill/>
          <a:ln/>
        </p:spPr>
        <p:txBody>
          <a:bodyPr wrap="square" lIns="0" tIns="0" rIns="0" bIns="0" rtlCol="0" anchor="ctr"/>
          <a:lstStyle/>
          <a:p>
            <a:pPr indent="0" marL="0">
              <a:buNone/>
            </a:pPr>
            <a:r>
              <a:rPr lang="en-US" sz="1250" b="1" dirty="0">
                <a:solidFill>
                  <a:srgbClr val="F4F6FB"/>
                </a:solidFill>
                <a:latin typeface="Calibri" pitchFamily="34" charset="0"/>
                <a:ea typeface="Calibri" pitchFamily="34" charset="-122"/>
                <a:cs typeface="Calibri" pitchFamily="34" charset="-120"/>
              </a:rPr>
              <a:t>Launch Environment</a:t>
            </a:r>
            <a:endParaRPr lang="en-US" sz="1250" dirty="0"/>
          </a:p>
        </p:txBody>
      </p:sp>
      <p:sp>
        <p:nvSpPr>
          <p:cNvPr id="25" name="Text 21"/>
          <p:cNvSpPr/>
          <p:nvPr/>
        </p:nvSpPr>
        <p:spPr>
          <a:xfrm>
            <a:off x="7223760" y="3026664"/>
            <a:ext cx="4117543" cy="292608"/>
          </a:xfrm>
          <a:prstGeom prst="rect">
            <a:avLst/>
          </a:prstGeom>
          <a:noFill/>
          <a:ln/>
        </p:spPr>
        <p:txBody>
          <a:bodyPr wrap="square" lIns="0" tIns="0" rIns="0" bIns="0" rtlCol="0" anchor="ctr"/>
          <a:lstStyle/>
          <a:p>
            <a:pPr indent="0" marL="0">
              <a:buNone/>
            </a:pPr>
            <a:r>
              <a:rPr lang="en-US" sz="1100" dirty="0">
                <a:solidFill>
                  <a:srgbClr val="93A5C7"/>
                </a:solidFill>
                <a:latin typeface="Calibri" pitchFamily="34" charset="0"/>
                <a:ea typeface="Calibri" pitchFamily="34" charset="-122"/>
                <a:cs typeface="Calibri" pitchFamily="34" charset="-120"/>
              </a:rPr>
              <a:t>Starts your box, or reconnects you to one already running.</a:t>
            </a:r>
            <a:endParaRPr lang="en-US" sz="1100" dirty="0"/>
          </a:p>
        </p:txBody>
      </p:sp>
      <p:sp>
        <p:nvSpPr>
          <p:cNvPr id="26" name="Shape 22"/>
          <p:cNvSpPr/>
          <p:nvPr/>
        </p:nvSpPr>
        <p:spPr>
          <a:xfrm>
            <a:off x="6656832" y="3465576"/>
            <a:ext cx="402336" cy="402336"/>
          </a:xfrm>
          <a:prstGeom prst="ellipse">
            <a:avLst/>
          </a:prstGeom>
          <a:solidFill>
            <a:srgbClr val="4CC9F0"/>
          </a:solidFill>
          <a:ln/>
        </p:spPr>
      </p:sp>
      <p:pic>
        <p:nvPicPr>
          <p:cNvPr id="27" name="Image 2" descr="preencoded.png">    </p:cNvPr>
          <p:cNvPicPr>
            <a:picLocks noChangeAspect="1"/>
          </p:cNvPicPr>
          <p:nvPr/>
        </p:nvPicPr>
        <p:blipFill>
          <a:blip r:embed="rId3"/>
          <a:stretch>
            <a:fillRect/>
          </a:stretch>
        </p:blipFill>
        <p:spPr>
          <a:xfrm>
            <a:off x="6761439" y="3570183"/>
            <a:ext cx="193121" cy="193121"/>
          </a:xfrm>
          <a:prstGeom prst="rect">
            <a:avLst/>
          </a:prstGeom>
        </p:spPr>
      </p:pic>
      <p:sp>
        <p:nvSpPr>
          <p:cNvPr id="28" name="Text 23"/>
          <p:cNvSpPr/>
          <p:nvPr/>
        </p:nvSpPr>
        <p:spPr>
          <a:xfrm>
            <a:off x="7223760" y="3410712"/>
            <a:ext cx="4117543" cy="256032"/>
          </a:xfrm>
          <a:prstGeom prst="rect">
            <a:avLst/>
          </a:prstGeom>
          <a:noFill/>
          <a:ln/>
        </p:spPr>
        <p:txBody>
          <a:bodyPr wrap="square" lIns="0" tIns="0" rIns="0" bIns="0" rtlCol="0" anchor="ctr"/>
          <a:lstStyle/>
          <a:p>
            <a:pPr indent="0" marL="0">
              <a:buNone/>
            </a:pPr>
            <a:r>
              <a:rPr lang="en-US" sz="1250" b="1" dirty="0">
                <a:solidFill>
                  <a:srgbClr val="F4F6FB"/>
                </a:solidFill>
                <a:latin typeface="Calibri" pitchFamily="34" charset="0"/>
                <a:ea typeface="Calibri" pitchFamily="34" charset="-122"/>
                <a:cs typeface="Calibri" pitchFamily="34" charset="-120"/>
              </a:rPr>
              <a:t>Reboot Host</a:t>
            </a:r>
            <a:endParaRPr lang="en-US" sz="1250" dirty="0"/>
          </a:p>
        </p:txBody>
      </p:sp>
      <p:sp>
        <p:nvSpPr>
          <p:cNvPr id="29" name="Text 24"/>
          <p:cNvSpPr/>
          <p:nvPr/>
        </p:nvSpPr>
        <p:spPr>
          <a:xfrm>
            <a:off x="7223760" y="3648456"/>
            <a:ext cx="4117543" cy="292608"/>
          </a:xfrm>
          <a:prstGeom prst="rect">
            <a:avLst/>
          </a:prstGeom>
          <a:noFill/>
          <a:ln/>
        </p:spPr>
        <p:txBody>
          <a:bodyPr wrap="square" lIns="0" tIns="0" rIns="0" bIns="0" rtlCol="0" anchor="ctr"/>
          <a:lstStyle/>
          <a:p>
            <a:pPr indent="0" marL="0">
              <a:buNone/>
            </a:pPr>
            <a:r>
              <a:rPr lang="en-US" sz="1100" dirty="0">
                <a:solidFill>
                  <a:srgbClr val="93A5C7"/>
                </a:solidFill>
                <a:latin typeface="Calibri" pitchFamily="34" charset="0"/>
                <a:ea typeface="Calibri" pitchFamily="34" charset="-122"/>
                <a:cs typeface="Calibri" pitchFamily="34" charset="-120"/>
              </a:rPr>
              <a:t>Restarts it in place. Same connection details afterward.</a:t>
            </a:r>
            <a:endParaRPr lang="en-US" sz="1100" dirty="0"/>
          </a:p>
        </p:txBody>
      </p:sp>
      <p:sp>
        <p:nvSpPr>
          <p:cNvPr id="30" name="Shape 25"/>
          <p:cNvSpPr/>
          <p:nvPr/>
        </p:nvSpPr>
        <p:spPr>
          <a:xfrm>
            <a:off x="6656832" y="4087368"/>
            <a:ext cx="402336" cy="402336"/>
          </a:xfrm>
          <a:prstGeom prst="ellipse">
            <a:avLst/>
          </a:prstGeom>
          <a:solidFill>
            <a:srgbClr val="4CC9F0"/>
          </a:solidFill>
          <a:ln/>
        </p:spPr>
      </p:sp>
      <p:pic>
        <p:nvPicPr>
          <p:cNvPr id="31" name="Image 3" descr="preencoded.png">    </p:cNvPr>
          <p:cNvPicPr>
            <a:picLocks noChangeAspect="1"/>
          </p:cNvPicPr>
          <p:nvPr/>
        </p:nvPicPr>
        <p:blipFill>
          <a:blip r:embed="rId4"/>
          <a:stretch>
            <a:fillRect/>
          </a:stretch>
        </p:blipFill>
        <p:spPr>
          <a:xfrm>
            <a:off x="6761439" y="4191975"/>
            <a:ext cx="193121" cy="193121"/>
          </a:xfrm>
          <a:prstGeom prst="rect">
            <a:avLst/>
          </a:prstGeom>
        </p:spPr>
      </p:pic>
      <p:sp>
        <p:nvSpPr>
          <p:cNvPr id="32" name="Text 26"/>
          <p:cNvSpPr/>
          <p:nvPr/>
        </p:nvSpPr>
        <p:spPr>
          <a:xfrm>
            <a:off x="7223760" y="4032504"/>
            <a:ext cx="4117543" cy="256032"/>
          </a:xfrm>
          <a:prstGeom prst="rect">
            <a:avLst/>
          </a:prstGeom>
          <a:noFill/>
          <a:ln/>
        </p:spPr>
        <p:txBody>
          <a:bodyPr wrap="square" lIns="0" tIns="0" rIns="0" bIns="0" rtlCol="0" anchor="ctr"/>
          <a:lstStyle/>
          <a:p>
            <a:pPr indent="0" marL="0">
              <a:buNone/>
            </a:pPr>
            <a:r>
              <a:rPr lang="en-US" sz="1250" b="1" dirty="0">
                <a:solidFill>
                  <a:srgbClr val="F4F6FB"/>
                </a:solidFill>
                <a:latin typeface="Calibri" pitchFamily="34" charset="0"/>
                <a:ea typeface="Calibri" pitchFamily="34" charset="-122"/>
                <a:cs typeface="Calibri" pitchFamily="34" charset="-120"/>
              </a:rPr>
              <a:t>Relaunch Environment</a:t>
            </a:r>
            <a:endParaRPr lang="en-US" sz="1250" dirty="0"/>
          </a:p>
        </p:txBody>
      </p:sp>
      <p:sp>
        <p:nvSpPr>
          <p:cNvPr id="33" name="Text 27"/>
          <p:cNvSpPr/>
          <p:nvPr/>
        </p:nvSpPr>
        <p:spPr>
          <a:xfrm>
            <a:off x="7223760" y="4270248"/>
            <a:ext cx="4117543" cy="292608"/>
          </a:xfrm>
          <a:prstGeom prst="rect">
            <a:avLst/>
          </a:prstGeom>
          <a:noFill/>
          <a:ln/>
        </p:spPr>
        <p:txBody>
          <a:bodyPr wrap="square" lIns="0" tIns="0" rIns="0" bIns="0" rtlCol="0" anchor="ctr"/>
          <a:lstStyle/>
          <a:p>
            <a:pPr indent="0" marL="0">
              <a:buNone/>
            </a:pPr>
            <a:r>
              <a:rPr lang="en-US" sz="1100" dirty="0">
                <a:solidFill>
                  <a:srgbClr val="93A5C7"/>
                </a:solidFill>
                <a:latin typeface="Calibri" pitchFamily="34" charset="0"/>
                <a:ea typeface="Calibri" pitchFamily="34" charset="-122"/>
                <a:cs typeface="Calibri" pitchFamily="34" charset="-120"/>
              </a:rPr>
              <a:t>Rebuilds from scratch. Anything you changed inside is lost.</a:t>
            </a:r>
            <a:endParaRPr lang="en-US" sz="1100" dirty="0"/>
          </a:p>
        </p:txBody>
      </p:sp>
      <p:sp>
        <p:nvSpPr>
          <p:cNvPr id="34" name="Shape 28"/>
          <p:cNvSpPr/>
          <p:nvPr/>
        </p:nvSpPr>
        <p:spPr>
          <a:xfrm>
            <a:off x="6656832" y="4709160"/>
            <a:ext cx="402336" cy="402336"/>
          </a:xfrm>
          <a:prstGeom prst="ellipse">
            <a:avLst/>
          </a:prstGeom>
          <a:solidFill>
            <a:srgbClr val="4CC9F0"/>
          </a:solidFill>
          <a:ln/>
        </p:spPr>
      </p:sp>
      <p:pic>
        <p:nvPicPr>
          <p:cNvPr id="35" name="Image 4" descr="preencoded.png">    </p:cNvPr>
          <p:cNvPicPr>
            <a:picLocks noChangeAspect="1"/>
          </p:cNvPicPr>
          <p:nvPr/>
        </p:nvPicPr>
        <p:blipFill>
          <a:blip r:embed="rId5"/>
          <a:stretch>
            <a:fillRect/>
          </a:stretch>
        </p:blipFill>
        <p:spPr>
          <a:xfrm>
            <a:off x="6761439" y="4813767"/>
            <a:ext cx="193121" cy="193121"/>
          </a:xfrm>
          <a:prstGeom prst="rect">
            <a:avLst/>
          </a:prstGeom>
        </p:spPr>
      </p:pic>
      <p:sp>
        <p:nvSpPr>
          <p:cNvPr id="36" name="Text 29"/>
          <p:cNvSpPr/>
          <p:nvPr/>
        </p:nvSpPr>
        <p:spPr>
          <a:xfrm>
            <a:off x="7223760" y="4654296"/>
            <a:ext cx="4117543" cy="256032"/>
          </a:xfrm>
          <a:prstGeom prst="rect">
            <a:avLst/>
          </a:prstGeom>
          <a:noFill/>
          <a:ln/>
        </p:spPr>
        <p:txBody>
          <a:bodyPr wrap="square" lIns="0" tIns="0" rIns="0" bIns="0" rtlCol="0" anchor="ctr"/>
          <a:lstStyle/>
          <a:p>
            <a:pPr indent="0" marL="0">
              <a:buNone/>
            </a:pPr>
            <a:r>
              <a:rPr lang="en-US" sz="1250" b="1" dirty="0">
                <a:solidFill>
                  <a:srgbClr val="F4F6FB"/>
                </a:solidFill>
                <a:latin typeface="Calibri" pitchFamily="34" charset="0"/>
                <a:ea typeface="Calibri" pitchFamily="34" charset="-122"/>
                <a:cs typeface="Calibri" pitchFamily="34" charset="-120"/>
              </a:rPr>
              <a:t>+5 more minutes</a:t>
            </a:r>
            <a:endParaRPr lang="en-US" sz="1250" dirty="0"/>
          </a:p>
        </p:txBody>
      </p:sp>
      <p:sp>
        <p:nvSpPr>
          <p:cNvPr id="37" name="Text 30"/>
          <p:cNvSpPr/>
          <p:nvPr/>
        </p:nvSpPr>
        <p:spPr>
          <a:xfrm>
            <a:off x="7223760" y="4892040"/>
            <a:ext cx="4117543" cy="292608"/>
          </a:xfrm>
          <a:prstGeom prst="rect">
            <a:avLst/>
          </a:prstGeom>
          <a:noFill/>
          <a:ln/>
        </p:spPr>
        <p:txBody>
          <a:bodyPr wrap="square" lIns="0" tIns="0" rIns="0" bIns="0" rtlCol="0" anchor="ctr"/>
          <a:lstStyle/>
          <a:p>
            <a:pPr indent="0" marL="0">
              <a:buNone/>
            </a:pPr>
            <a:r>
              <a:rPr lang="en-US" sz="1100" dirty="0">
                <a:solidFill>
                  <a:srgbClr val="93A5C7"/>
                </a:solidFill>
                <a:latin typeface="Calibri" pitchFamily="34" charset="0"/>
                <a:ea typeface="Calibri" pitchFamily="34" charset="-122"/>
                <a:cs typeface="Calibri" pitchFamily="34" charset="-120"/>
              </a:rPr>
              <a:t>Appears only once the track is solved and a shutdown has started.</a:t>
            </a:r>
            <a:endParaRPr lang="en-US" sz="1100" dirty="0"/>
          </a:p>
        </p:txBody>
      </p:sp>
      <p:sp>
        <p:nvSpPr>
          <p:cNvPr id="38" name="Text 31"/>
          <p:cNvSpPr/>
          <p:nvPr/>
        </p:nvSpPr>
        <p:spPr>
          <a:xfrm>
            <a:off x="548640" y="5532120"/>
            <a:ext cx="11094415" cy="274320"/>
          </a:xfrm>
          <a:prstGeom prst="rect">
            <a:avLst/>
          </a:prstGeom>
          <a:noFill/>
          <a:ln/>
        </p:spPr>
        <p:txBody>
          <a:bodyPr wrap="square" lIns="0" tIns="0" rIns="0" bIns="0" rtlCol="0" anchor="ctr"/>
          <a:lstStyle/>
          <a:p>
            <a:pPr indent="0" marL="0">
              <a:buNone/>
            </a:pPr>
            <a:r>
              <a:rPr lang="en-US" sz="1250" i="1" dirty="0">
                <a:solidFill>
                  <a:srgbClr val="4CC9F0"/>
                </a:solidFill>
                <a:latin typeface="Calibri" pitchFamily="34" charset="0"/>
                <a:ea typeface="Calibri" pitchFamily="34" charset="-122"/>
                <a:cs typeface="Calibri" pitchFamily="34" charset="-120"/>
              </a:rPr>
              <a:t>The command-line tools you need are already installed — run krypton-tools --help on the box.</a:t>
            </a:r>
            <a:endParaRPr lang="en-US" sz="1250" dirty="0"/>
          </a:p>
        </p:txBody>
      </p:sp>
      <p:sp>
        <p:nvSpPr>
          <p:cNvPr id="39" name="Text 32"/>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40" name="Text 33"/>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10</a:t>
            </a:r>
            <a:endParaRPr lang="en-US" sz="900" dirty="0"/>
          </a:p>
        </p:txBody>
      </p:sp>
    </p:spTree>
  </p:cSld>
  <p:clrMapOvr>
    <a:masterClrMapping/>
  </p:clrMapOvr>
  <p:transition spd="med" advClick="1">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28000"/>
          </a:blip>
          <a:stretch>
            <a:fillRect/>
          </a:stretch>
        </p:blipFill>
        <p:spPr>
          <a:xfrm>
            <a:off x="8549640" y="109728"/>
            <a:ext cx="3291840" cy="1901952"/>
          </a:xfrm>
          <a:prstGeom prst="rect">
            <a:avLst/>
          </a:prstGeom>
        </p:spPr>
      </p:pic>
      <p:sp>
        <p:nvSpPr>
          <p:cNvPr id="3" name="Text 0"/>
          <p:cNvSpPr/>
          <p:nvPr/>
        </p:nvSpPr>
        <p:spPr>
          <a:xfrm>
            <a:off x="548640" y="457200"/>
            <a:ext cx="11094415" cy="274320"/>
          </a:xfrm>
          <a:prstGeom prst="rect">
            <a:avLst/>
          </a:prstGeom>
          <a:noFill/>
          <a:ln/>
        </p:spPr>
        <p:txBody>
          <a:bodyPr wrap="square" lIns="0" tIns="0" rIns="0" bIns="0" rtlCol="0" anchor="ctr"/>
          <a:lstStyle/>
          <a:p>
            <a:pPr indent="0" marL="0">
              <a:buNone/>
            </a:pPr>
            <a:r>
              <a:rPr lang="en-US" sz="1100" b="1" spc="120" kern="0" dirty="0">
                <a:solidFill>
                  <a:srgbClr val="4CC9F0"/>
                </a:solidFill>
                <a:latin typeface="Calibri" pitchFamily="34" charset="0"/>
                <a:ea typeface="Calibri" pitchFamily="34" charset="-122"/>
                <a:cs typeface="Calibri" pitchFamily="34" charset="-120"/>
              </a:rPr>
              <a:t>YOUR FIRST FLAG</a:t>
            </a:r>
            <a:endParaRPr lang="en-US" sz="1100" dirty="0"/>
          </a:p>
        </p:txBody>
      </p:sp>
      <p:sp>
        <p:nvSpPr>
          <p:cNvPr id="4" name="Text 1"/>
          <p:cNvSpPr/>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4F6FB"/>
                </a:solidFill>
                <a:latin typeface="Cambria" pitchFamily="34" charset="0"/>
                <a:ea typeface="Cambria" pitchFamily="34" charset="-122"/>
                <a:cs typeface="Cambria" pitchFamily="34" charset="-120"/>
              </a:rPr>
              <a:t>Start Here, step by step</a:t>
            </a:r>
            <a:endParaRPr lang="en-US" sz="3200" dirty="0"/>
          </a:p>
        </p:txBody>
      </p:sp>
      <p:sp>
        <p:nvSpPr>
          <p:cNvPr id="5" name="Text 2"/>
          <p:cNvSpPr/>
          <p:nvPr/>
        </p:nvSpPr>
        <p:spPr>
          <a:xfrm>
            <a:off x="548640" y="1389888"/>
            <a:ext cx="9814255" cy="475488"/>
          </a:xfrm>
          <a:prstGeom prst="rect">
            <a:avLst/>
          </a:prstGeom>
          <a:noFill/>
          <a:ln/>
        </p:spPr>
        <p:txBody>
          <a:bodyPr wrap="square" lIns="0" tIns="0" rIns="0" bIns="0" rtlCol="0" anchor="ctr"/>
          <a:lstStyle/>
          <a:p>
            <a:pPr indent="0" marL="0">
              <a:lnSpc>
                <a:spcPct val="115000"/>
              </a:lnSpc>
              <a:buNone/>
            </a:pPr>
            <a:r>
              <a:rPr lang="en-US" sz="1300" dirty="0">
                <a:solidFill>
                  <a:srgbClr val="93A5C7"/>
                </a:solidFill>
                <a:latin typeface="Calibri" pitchFamily="34" charset="0"/>
                <a:ea typeface="Calibri" pitchFamily="34" charset="-122"/>
                <a:cs typeface="Calibri" pitchFamily="34" charset="-120"/>
              </a:rPr>
              <a:t>Ten points to confirm you can reach the box and read a file, before any cipher is involved.</a:t>
            </a:r>
            <a:endParaRPr lang="en-US" sz="1300" dirty="0"/>
          </a:p>
        </p:txBody>
      </p:sp>
      <p:sp>
        <p:nvSpPr>
          <p:cNvPr id="6" name="Shape 3"/>
          <p:cNvSpPr/>
          <p:nvPr/>
        </p:nvSpPr>
        <p:spPr>
          <a:xfrm>
            <a:off x="548640" y="2194560"/>
            <a:ext cx="2430704" cy="2788920"/>
          </a:xfrm>
          <a:prstGeom prst="roundRect">
            <a:avLst>
              <a:gd name="adj" fmla="val 3386"/>
            </a:avLst>
          </a:prstGeom>
          <a:solidFill>
            <a:srgbClr val="141F30"/>
          </a:solidFill>
          <a:ln/>
        </p:spPr>
      </p:sp>
      <p:sp>
        <p:nvSpPr>
          <p:cNvPr id="7" name="Text 4"/>
          <p:cNvSpPr/>
          <p:nvPr/>
        </p:nvSpPr>
        <p:spPr>
          <a:xfrm>
            <a:off x="841248" y="2432304"/>
            <a:ext cx="548640" cy="457200"/>
          </a:xfrm>
          <a:prstGeom prst="rect">
            <a:avLst/>
          </a:prstGeom>
          <a:noFill/>
          <a:ln/>
        </p:spPr>
        <p:txBody>
          <a:bodyPr wrap="square" lIns="0" tIns="0" rIns="0" bIns="0" rtlCol="0" anchor="ctr"/>
          <a:lstStyle/>
          <a:p>
            <a:pPr indent="0" marL="0">
              <a:buNone/>
            </a:pPr>
            <a:r>
              <a:rPr lang="en-US" sz="2600" b="1" dirty="0">
                <a:solidFill>
                  <a:srgbClr val="4CC9F0"/>
                </a:solidFill>
                <a:latin typeface="Cambria" pitchFamily="34" charset="0"/>
                <a:ea typeface="Cambria" pitchFamily="34" charset="-122"/>
                <a:cs typeface="Cambria" pitchFamily="34" charset="-120"/>
              </a:rPr>
              <a:t>1</a:t>
            </a:r>
            <a:endParaRPr lang="en-US" sz="2600" dirty="0"/>
          </a:p>
        </p:txBody>
      </p:sp>
      <p:sp>
        <p:nvSpPr>
          <p:cNvPr id="8" name="Text 5"/>
          <p:cNvSpPr/>
          <p:nvPr/>
        </p:nvSpPr>
        <p:spPr>
          <a:xfrm>
            <a:off x="841248" y="2926080"/>
            <a:ext cx="1845488" cy="548640"/>
          </a:xfrm>
          <a:prstGeom prst="rect">
            <a:avLst/>
          </a:prstGeom>
          <a:noFill/>
          <a:ln/>
        </p:spPr>
        <p:txBody>
          <a:bodyPr wrap="square" lIns="0" tIns="0" rIns="0" bIns="0" rtlCol="0" anchor="t"/>
          <a:lstStyle/>
          <a:p>
            <a:pPr indent="0" marL="0">
              <a:buNone/>
            </a:pPr>
            <a:r>
              <a:rPr lang="en-US" sz="1500" b="1" dirty="0">
                <a:solidFill>
                  <a:srgbClr val="F4F6FB"/>
                </a:solidFill>
                <a:latin typeface="Cambria" pitchFamily="34" charset="0"/>
                <a:ea typeface="Cambria" pitchFamily="34" charset="-122"/>
                <a:cs typeface="Cambria" pitchFamily="34" charset="-120"/>
              </a:rPr>
              <a:t>Click Launch</a:t>
            </a:r>
            <a:endParaRPr lang="en-US" sz="1500" dirty="0"/>
          </a:p>
        </p:txBody>
      </p:sp>
      <p:sp>
        <p:nvSpPr>
          <p:cNvPr id="9" name="Text 6"/>
          <p:cNvSpPr/>
          <p:nvPr/>
        </p:nvSpPr>
        <p:spPr>
          <a:xfrm>
            <a:off x="841248" y="3493008"/>
            <a:ext cx="1845488" cy="1216152"/>
          </a:xfrm>
          <a:prstGeom prst="rect">
            <a:avLst/>
          </a:prstGeom>
          <a:noFill/>
          <a:ln/>
        </p:spPr>
        <p:txBody>
          <a:bodyPr wrap="square" lIns="0" tIns="0" rIns="0" bIns="0" rtlCol="0" anchor="t"/>
          <a:lstStyle/>
          <a:p>
            <a:pPr indent="0" marL="0">
              <a:lnSpc>
                <a:spcPct val="115000"/>
              </a:lnSpc>
              <a:buNone/>
            </a:pPr>
            <a:r>
              <a:rPr lang="en-US" sz="1200" dirty="0">
                <a:solidFill>
                  <a:srgbClr val="93A5C7"/>
                </a:solidFill>
                <a:latin typeface="Calibri" pitchFamily="34" charset="0"/>
                <a:ea typeface="Calibri" pitchFamily="34" charset="-122"/>
                <a:cs typeface="Calibri" pitchFamily="34" charset="-120"/>
              </a:rPr>
              <a:t>On the "Krypton: Start Here" challenge in CTFd.</a:t>
            </a:r>
            <a:endParaRPr lang="en-US" sz="1200" dirty="0"/>
          </a:p>
        </p:txBody>
      </p:sp>
      <p:sp>
        <p:nvSpPr>
          <p:cNvPr id="10" name="Text 7"/>
          <p:cNvSpPr/>
          <p:nvPr/>
        </p:nvSpPr>
        <p:spPr>
          <a:xfrm>
            <a:off x="2979344" y="3387852"/>
            <a:ext cx="457200" cy="402336"/>
          </a:xfrm>
          <a:prstGeom prst="rect">
            <a:avLst/>
          </a:prstGeom>
          <a:noFill/>
          <a:ln/>
        </p:spPr>
        <p:txBody>
          <a:bodyPr wrap="square" lIns="0" tIns="0" rIns="0" bIns="0" rtlCol="0" anchor="ctr"/>
          <a:lstStyle/>
          <a:p>
            <a:pPr algn="ctr" indent="0" marL="0">
              <a:buNone/>
            </a:pPr>
            <a:r>
              <a:rPr lang="en-US" sz="1800" dirty="0">
                <a:solidFill>
                  <a:srgbClr val="5B6B8C"/>
                </a:solidFill>
                <a:latin typeface="Calibri" pitchFamily="34" charset="0"/>
                <a:ea typeface="Calibri" pitchFamily="34" charset="-122"/>
                <a:cs typeface="Calibri" pitchFamily="34" charset="-120"/>
              </a:rPr>
              <a:t>→</a:t>
            </a:r>
            <a:endParaRPr lang="en-US" sz="1800" dirty="0"/>
          </a:p>
        </p:txBody>
      </p:sp>
      <p:sp>
        <p:nvSpPr>
          <p:cNvPr id="11" name="Shape 8"/>
          <p:cNvSpPr/>
          <p:nvPr/>
        </p:nvSpPr>
        <p:spPr>
          <a:xfrm>
            <a:off x="3436544" y="2194560"/>
            <a:ext cx="2430704" cy="2788920"/>
          </a:xfrm>
          <a:prstGeom prst="roundRect">
            <a:avLst>
              <a:gd name="adj" fmla="val 3386"/>
            </a:avLst>
          </a:prstGeom>
          <a:solidFill>
            <a:srgbClr val="141F30"/>
          </a:solidFill>
          <a:ln/>
        </p:spPr>
      </p:sp>
      <p:sp>
        <p:nvSpPr>
          <p:cNvPr id="12" name="Text 9"/>
          <p:cNvSpPr/>
          <p:nvPr/>
        </p:nvSpPr>
        <p:spPr>
          <a:xfrm>
            <a:off x="3729152" y="2432304"/>
            <a:ext cx="548640" cy="457200"/>
          </a:xfrm>
          <a:prstGeom prst="rect">
            <a:avLst/>
          </a:prstGeom>
          <a:noFill/>
          <a:ln/>
        </p:spPr>
        <p:txBody>
          <a:bodyPr wrap="square" lIns="0" tIns="0" rIns="0" bIns="0" rtlCol="0" anchor="ctr"/>
          <a:lstStyle/>
          <a:p>
            <a:pPr indent="0" marL="0">
              <a:buNone/>
            </a:pPr>
            <a:r>
              <a:rPr lang="en-US" sz="2600" b="1" dirty="0">
                <a:solidFill>
                  <a:srgbClr val="4CC9F0"/>
                </a:solidFill>
                <a:latin typeface="Cambria" pitchFamily="34" charset="0"/>
                <a:ea typeface="Cambria" pitchFamily="34" charset="-122"/>
                <a:cs typeface="Cambria" pitchFamily="34" charset="-120"/>
              </a:rPr>
              <a:t>2</a:t>
            </a:r>
            <a:endParaRPr lang="en-US" sz="2600" dirty="0"/>
          </a:p>
        </p:txBody>
      </p:sp>
      <p:sp>
        <p:nvSpPr>
          <p:cNvPr id="13" name="Text 10"/>
          <p:cNvSpPr/>
          <p:nvPr/>
        </p:nvSpPr>
        <p:spPr>
          <a:xfrm>
            <a:off x="3729152" y="2926080"/>
            <a:ext cx="1845488" cy="548640"/>
          </a:xfrm>
          <a:prstGeom prst="rect">
            <a:avLst/>
          </a:prstGeom>
          <a:noFill/>
          <a:ln/>
        </p:spPr>
        <p:txBody>
          <a:bodyPr wrap="square" lIns="0" tIns="0" rIns="0" bIns="0" rtlCol="0" anchor="t"/>
          <a:lstStyle/>
          <a:p>
            <a:pPr indent="0" marL="0">
              <a:buNone/>
            </a:pPr>
            <a:r>
              <a:rPr lang="en-US" sz="1500" b="1" dirty="0">
                <a:solidFill>
                  <a:srgbClr val="F4F6FB"/>
                </a:solidFill>
                <a:latin typeface="Cambria" pitchFamily="34" charset="0"/>
                <a:ea typeface="Cambria" pitchFamily="34" charset="-122"/>
                <a:cs typeface="Cambria" pitchFamily="34" charset="-120"/>
              </a:rPr>
              <a:t>Log in</a:t>
            </a:r>
            <a:endParaRPr lang="en-US" sz="1500" dirty="0"/>
          </a:p>
        </p:txBody>
      </p:sp>
      <p:sp>
        <p:nvSpPr>
          <p:cNvPr id="14" name="Text 11"/>
          <p:cNvSpPr/>
          <p:nvPr/>
        </p:nvSpPr>
        <p:spPr>
          <a:xfrm>
            <a:off x="3729152" y="3493008"/>
            <a:ext cx="1845488" cy="1216152"/>
          </a:xfrm>
          <a:prstGeom prst="rect">
            <a:avLst/>
          </a:prstGeom>
          <a:noFill/>
          <a:ln/>
        </p:spPr>
        <p:txBody>
          <a:bodyPr wrap="square" lIns="0" tIns="0" rIns="0" bIns="0" rtlCol="0" anchor="t"/>
          <a:lstStyle/>
          <a:p>
            <a:pPr indent="0" marL="0">
              <a:lnSpc>
                <a:spcPct val="115000"/>
              </a:lnSpc>
              <a:buNone/>
            </a:pPr>
            <a:r>
              <a:rPr lang="en-US" sz="1200" dirty="0">
                <a:solidFill>
                  <a:srgbClr val="93A5C7"/>
                </a:solidFill>
                <a:latin typeface="Calibri" pitchFamily="34" charset="0"/>
                <a:ea typeface="Calibri" pitchFamily="34" charset="-122"/>
                <a:cs typeface="Calibri" pitchFamily="34" charset="-120"/>
              </a:rPr>
              <a:t>Connect as krypton0 with password krypton0 — the fixed public entry account.</a:t>
            </a:r>
            <a:endParaRPr lang="en-US" sz="1200" dirty="0"/>
          </a:p>
        </p:txBody>
      </p:sp>
      <p:sp>
        <p:nvSpPr>
          <p:cNvPr id="15" name="Text 12"/>
          <p:cNvSpPr/>
          <p:nvPr/>
        </p:nvSpPr>
        <p:spPr>
          <a:xfrm>
            <a:off x="5867248" y="3387852"/>
            <a:ext cx="457200" cy="402336"/>
          </a:xfrm>
          <a:prstGeom prst="rect">
            <a:avLst/>
          </a:prstGeom>
          <a:noFill/>
          <a:ln/>
        </p:spPr>
        <p:txBody>
          <a:bodyPr wrap="square" lIns="0" tIns="0" rIns="0" bIns="0" rtlCol="0" anchor="ctr"/>
          <a:lstStyle/>
          <a:p>
            <a:pPr algn="ctr" indent="0" marL="0">
              <a:buNone/>
            </a:pPr>
            <a:r>
              <a:rPr lang="en-US" sz="1800" dirty="0">
                <a:solidFill>
                  <a:srgbClr val="5B6B8C"/>
                </a:solidFill>
                <a:latin typeface="Calibri" pitchFamily="34" charset="0"/>
                <a:ea typeface="Calibri" pitchFamily="34" charset="-122"/>
                <a:cs typeface="Calibri" pitchFamily="34" charset="-120"/>
              </a:rPr>
              <a:t>→</a:t>
            </a:r>
            <a:endParaRPr lang="en-US" sz="1800" dirty="0"/>
          </a:p>
        </p:txBody>
      </p:sp>
      <p:sp>
        <p:nvSpPr>
          <p:cNvPr id="16" name="Shape 13"/>
          <p:cNvSpPr/>
          <p:nvPr/>
        </p:nvSpPr>
        <p:spPr>
          <a:xfrm>
            <a:off x="6324448" y="2194560"/>
            <a:ext cx="2430704" cy="2788920"/>
          </a:xfrm>
          <a:prstGeom prst="roundRect">
            <a:avLst>
              <a:gd name="adj" fmla="val 3386"/>
            </a:avLst>
          </a:prstGeom>
          <a:solidFill>
            <a:srgbClr val="141F30"/>
          </a:solidFill>
          <a:ln/>
        </p:spPr>
      </p:sp>
      <p:sp>
        <p:nvSpPr>
          <p:cNvPr id="17" name="Text 14"/>
          <p:cNvSpPr/>
          <p:nvPr/>
        </p:nvSpPr>
        <p:spPr>
          <a:xfrm>
            <a:off x="6617056" y="2432304"/>
            <a:ext cx="548640" cy="457200"/>
          </a:xfrm>
          <a:prstGeom prst="rect">
            <a:avLst/>
          </a:prstGeom>
          <a:noFill/>
          <a:ln/>
        </p:spPr>
        <p:txBody>
          <a:bodyPr wrap="square" lIns="0" tIns="0" rIns="0" bIns="0" rtlCol="0" anchor="ctr"/>
          <a:lstStyle/>
          <a:p>
            <a:pPr indent="0" marL="0">
              <a:buNone/>
            </a:pPr>
            <a:r>
              <a:rPr lang="en-US" sz="2600" b="1" dirty="0">
                <a:solidFill>
                  <a:srgbClr val="4CC9F0"/>
                </a:solidFill>
                <a:latin typeface="Cambria" pitchFamily="34" charset="0"/>
                <a:ea typeface="Cambria" pitchFamily="34" charset="-122"/>
                <a:cs typeface="Cambria" pitchFamily="34" charset="-120"/>
              </a:rPr>
              <a:t>3</a:t>
            </a:r>
            <a:endParaRPr lang="en-US" sz="2600" dirty="0"/>
          </a:p>
        </p:txBody>
      </p:sp>
      <p:sp>
        <p:nvSpPr>
          <p:cNvPr id="18" name="Text 15"/>
          <p:cNvSpPr/>
          <p:nvPr/>
        </p:nvSpPr>
        <p:spPr>
          <a:xfrm>
            <a:off x="6617056" y="2926080"/>
            <a:ext cx="1845488" cy="548640"/>
          </a:xfrm>
          <a:prstGeom prst="rect">
            <a:avLst/>
          </a:prstGeom>
          <a:noFill/>
          <a:ln/>
        </p:spPr>
        <p:txBody>
          <a:bodyPr wrap="square" lIns="0" tIns="0" rIns="0" bIns="0" rtlCol="0" anchor="t"/>
          <a:lstStyle/>
          <a:p>
            <a:pPr indent="0" marL="0">
              <a:buNone/>
            </a:pPr>
            <a:r>
              <a:rPr lang="en-US" sz="1500" b="1" dirty="0">
                <a:solidFill>
                  <a:srgbClr val="F4F6FB"/>
                </a:solidFill>
                <a:latin typeface="Cambria" pitchFamily="34" charset="0"/>
                <a:ea typeface="Cambria" pitchFamily="34" charset="-122"/>
                <a:cs typeface="Cambria" pitchFamily="34" charset="-120"/>
              </a:rPr>
              <a:t>Read welcome.txt</a:t>
            </a:r>
            <a:endParaRPr lang="en-US" sz="1500" dirty="0"/>
          </a:p>
        </p:txBody>
      </p:sp>
      <p:sp>
        <p:nvSpPr>
          <p:cNvPr id="19" name="Text 16"/>
          <p:cNvSpPr/>
          <p:nvPr/>
        </p:nvSpPr>
        <p:spPr>
          <a:xfrm>
            <a:off x="6617056" y="3493008"/>
            <a:ext cx="1845488" cy="1216152"/>
          </a:xfrm>
          <a:prstGeom prst="rect">
            <a:avLst/>
          </a:prstGeom>
          <a:noFill/>
          <a:ln/>
        </p:spPr>
        <p:txBody>
          <a:bodyPr wrap="square" lIns="0" tIns="0" rIns="0" bIns="0" rtlCol="0" anchor="t"/>
          <a:lstStyle/>
          <a:p>
            <a:pPr indent="0" marL="0">
              <a:lnSpc>
                <a:spcPct val="115000"/>
              </a:lnSpc>
              <a:buNone/>
            </a:pPr>
            <a:r>
              <a:rPr lang="en-US" sz="1200" dirty="0">
                <a:solidFill>
                  <a:srgbClr val="93A5C7"/>
                </a:solidFill>
                <a:latin typeface="Calibri" pitchFamily="34" charset="0"/>
                <a:ea typeface="Calibri" pitchFamily="34" charset="-122"/>
                <a:cs typeface="Calibri" pitchFamily="34" charset="-120"/>
              </a:rPr>
              <a:t>In the home directory.</a:t>
            </a:r>
            <a:endParaRPr lang="en-US" sz="1200" dirty="0"/>
          </a:p>
        </p:txBody>
      </p:sp>
      <p:sp>
        <p:nvSpPr>
          <p:cNvPr id="20" name="Text 17"/>
          <p:cNvSpPr/>
          <p:nvPr/>
        </p:nvSpPr>
        <p:spPr>
          <a:xfrm>
            <a:off x="8755151" y="3387852"/>
            <a:ext cx="457200" cy="402336"/>
          </a:xfrm>
          <a:prstGeom prst="rect">
            <a:avLst/>
          </a:prstGeom>
          <a:noFill/>
          <a:ln/>
        </p:spPr>
        <p:txBody>
          <a:bodyPr wrap="square" lIns="0" tIns="0" rIns="0" bIns="0" rtlCol="0" anchor="ctr"/>
          <a:lstStyle/>
          <a:p>
            <a:pPr algn="ctr" indent="0" marL="0">
              <a:buNone/>
            </a:pPr>
            <a:r>
              <a:rPr lang="en-US" sz="1800" dirty="0">
                <a:solidFill>
                  <a:srgbClr val="5B6B8C"/>
                </a:solidFill>
                <a:latin typeface="Calibri" pitchFamily="34" charset="0"/>
                <a:ea typeface="Calibri" pitchFamily="34" charset="-122"/>
                <a:cs typeface="Calibri" pitchFamily="34" charset="-120"/>
              </a:rPr>
              <a:t>→</a:t>
            </a:r>
            <a:endParaRPr lang="en-US" sz="1800" dirty="0"/>
          </a:p>
        </p:txBody>
      </p:sp>
      <p:sp>
        <p:nvSpPr>
          <p:cNvPr id="21" name="Shape 18"/>
          <p:cNvSpPr/>
          <p:nvPr/>
        </p:nvSpPr>
        <p:spPr>
          <a:xfrm>
            <a:off x="9212351" y="2194560"/>
            <a:ext cx="2430704" cy="2788920"/>
          </a:xfrm>
          <a:prstGeom prst="roundRect">
            <a:avLst>
              <a:gd name="adj" fmla="val 3386"/>
            </a:avLst>
          </a:prstGeom>
          <a:solidFill>
            <a:srgbClr val="141F30"/>
          </a:solidFill>
          <a:ln/>
        </p:spPr>
      </p:sp>
      <p:sp>
        <p:nvSpPr>
          <p:cNvPr id="22" name="Text 19"/>
          <p:cNvSpPr/>
          <p:nvPr/>
        </p:nvSpPr>
        <p:spPr>
          <a:xfrm>
            <a:off x="9504959" y="2432304"/>
            <a:ext cx="548640" cy="457200"/>
          </a:xfrm>
          <a:prstGeom prst="rect">
            <a:avLst/>
          </a:prstGeom>
          <a:noFill/>
          <a:ln/>
        </p:spPr>
        <p:txBody>
          <a:bodyPr wrap="square" lIns="0" tIns="0" rIns="0" bIns="0" rtlCol="0" anchor="ctr"/>
          <a:lstStyle/>
          <a:p>
            <a:pPr indent="0" marL="0">
              <a:buNone/>
            </a:pPr>
            <a:r>
              <a:rPr lang="en-US" sz="2600" b="1" dirty="0">
                <a:solidFill>
                  <a:srgbClr val="4CC9F0"/>
                </a:solidFill>
                <a:latin typeface="Cambria" pitchFamily="34" charset="0"/>
                <a:ea typeface="Cambria" pitchFamily="34" charset="-122"/>
                <a:cs typeface="Cambria" pitchFamily="34" charset="-120"/>
              </a:rPr>
              <a:t>4</a:t>
            </a:r>
            <a:endParaRPr lang="en-US" sz="2600" dirty="0"/>
          </a:p>
        </p:txBody>
      </p:sp>
      <p:sp>
        <p:nvSpPr>
          <p:cNvPr id="23" name="Text 20"/>
          <p:cNvSpPr/>
          <p:nvPr/>
        </p:nvSpPr>
        <p:spPr>
          <a:xfrm>
            <a:off x="9504959" y="2926080"/>
            <a:ext cx="1845488" cy="548640"/>
          </a:xfrm>
          <a:prstGeom prst="rect">
            <a:avLst/>
          </a:prstGeom>
          <a:noFill/>
          <a:ln/>
        </p:spPr>
        <p:txBody>
          <a:bodyPr wrap="square" lIns="0" tIns="0" rIns="0" bIns="0" rtlCol="0" anchor="t"/>
          <a:lstStyle/>
          <a:p>
            <a:pPr indent="0" marL="0">
              <a:buNone/>
            </a:pPr>
            <a:r>
              <a:rPr lang="en-US" sz="1500" b="1" dirty="0">
                <a:solidFill>
                  <a:srgbClr val="F4F6FB"/>
                </a:solidFill>
                <a:latin typeface="Cambria" pitchFamily="34" charset="0"/>
                <a:ea typeface="Cambria" pitchFamily="34" charset="-122"/>
                <a:cs typeface="Cambria" pitchFamily="34" charset="-120"/>
              </a:rPr>
              <a:t>Submit it</a:t>
            </a:r>
            <a:endParaRPr lang="en-US" sz="1500" dirty="0"/>
          </a:p>
        </p:txBody>
      </p:sp>
      <p:sp>
        <p:nvSpPr>
          <p:cNvPr id="24" name="Text 21"/>
          <p:cNvSpPr/>
          <p:nvPr/>
        </p:nvSpPr>
        <p:spPr>
          <a:xfrm>
            <a:off x="9504959" y="3493008"/>
            <a:ext cx="1845488" cy="1216152"/>
          </a:xfrm>
          <a:prstGeom prst="rect">
            <a:avLst/>
          </a:prstGeom>
          <a:noFill/>
          <a:ln/>
        </p:spPr>
        <p:txBody>
          <a:bodyPr wrap="square" lIns="0" tIns="0" rIns="0" bIns="0" rtlCol="0" anchor="t"/>
          <a:lstStyle/>
          <a:p>
            <a:pPr indent="0" marL="0">
              <a:lnSpc>
                <a:spcPct val="115000"/>
              </a:lnSpc>
              <a:buNone/>
            </a:pPr>
            <a:r>
              <a:rPr lang="en-US" sz="1200" dirty="0">
                <a:solidFill>
                  <a:srgbClr val="93A5C7"/>
                </a:solidFill>
                <a:latin typeface="Calibri" pitchFamily="34" charset="0"/>
                <a:ea typeface="Calibri" pitchFamily="34" charset="-122"/>
                <a:cs typeface="Calibri" pitchFamily="34" charset="-120"/>
              </a:rPr>
              <a:t>Then begin Krypton 0 → 1: Base64 Decoding.</a:t>
            </a:r>
            <a:endParaRPr lang="en-US" sz="1200" dirty="0"/>
          </a:p>
        </p:txBody>
      </p:sp>
      <p:sp>
        <p:nvSpPr>
          <p:cNvPr id="25" name="Text 22"/>
          <p:cNvSpPr/>
          <p:nvPr/>
        </p:nvSpPr>
        <p:spPr>
          <a:xfrm>
            <a:off x="548640" y="5349240"/>
            <a:ext cx="11094415" cy="274320"/>
          </a:xfrm>
          <a:prstGeom prst="rect">
            <a:avLst/>
          </a:prstGeom>
          <a:noFill/>
          <a:ln/>
        </p:spPr>
        <p:txBody>
          <a:bodyPr wrap="square" lIns="0" tIns="0" rIns="0" bIns="0" rtlCol="0" anchor="ctr"/>
          <a:lstStyle/>
          <a:p>
            <a:pPr indent="0" marL="0">
              <a:buNone/>
            </a:pPr>
            <a:r>
              <a:rPr lang="en-US" sz="1250" i="1" dirty="0">
                <a:solidFill>
                  <a:srgbClr val="4CC9F0"/>
                </a:solidFill>
                <a:latin typeface="Calibri" pitchFamily="34" charset="0"/>
                <a:ea typeface="Calibri" pitchFamily="34" charset="-122"/>
                <a:cs typeface="Calibri" pitchFamily="34" charset="-120"/>
              </a:rPr>
              <a:t>Krypton 0 is deliberately gentle — it's an encoding, not a cipher.</a:t>
            </a:r>
            <a:endParaRPr lang="en-US" sz="1250" dirty="0"/>
          </a:p>
        </p:txBody>
      </p:sp>
      <p:sp>
        <p:nvSpPr>
          <p:cNvPr id="26" name="Text 23"/>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27" name="Text 24"/>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11</a:t>
            </a:r>
            <a:endParaRPr lang="en-US" sz="900" dirty="0"/>
          </a:p>
        </p:txBody>
      </p:sp>
    </p:spTree>
  </p:cSld>
  <p:clrMapOvr>
    <a:masterClrMapping/>
  </p:clrMapOvr>
  <p:transition spd="med" advClick="1">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882128" y="2286000"/>
            <a:ext cx="3749040" cy="3072384"/>
          </a:xfrm>
          <a:prstGeom prst="rect">
            <a:avLst/>
          </a:prstGeom>
        </p:spPr>
      </p:pic>
      <p:sp>
        <p:nvSpPr>
          <p:cNvPr id="3" name="Text 0"/>
          <p:cNvSpPr/>
          <p:nvPr/>
        </p:nvSpPr>
        <p:spPr>
          <a:xfrm>
            <a:off x="548640" y="1143000"/>
            <a:ext cx="7315200" cy="731520"/>
          </a:xfrm>
          <a:prstGeom prst="rect">
            <a:avLst/>
          </a:prstGeom>
          <a:noFill/>
          <a:ln/>
        </p:spPr>
        <p:txBody>
          <a:bodyPr wrap="square" lIns="0" tIns="0" rIns="0" bIns="0" rtlCol="0" anchor="ctr"/>
          <a:lstStyle/>
          <a:p>
            <a:pPr indent="0" marL="0">
              <a:buNone/>
            </a:pPr>
            <a:r>
              <a:rPr lang="en-US" sz="4000" b="1" dirty="0">
                <a:solidFill>
                  <a:srgbClr val="F4F6FB"/>
                </a:solidFill>
                <a:latin typeface="Cambria" pitchFamily="34" charset="0"/>
                <a:ea typeface="Cambria" pitchFamily="34" charset="-122"/>
                <a:cs typeface="Cambria" pitchFamily="34" charset="-120"/>
              </a:rPr>
              <a:t>Ready to play.</a:t>
            </a:r>
            <a:endParaRPr lang="en-US" sz="4000" dirty="0"/>
          </a:p>
        </p:txBody>
      </p:sp>
      <p:sp>
        <p:nvSpPr>
          <p:cNvPr id="4" name="Text 1"/>
          <p:cNvSpPr/>
          <p:nvPr/>
        </p:nvSpPr>
        <p:spPr>
          <a:xfrm>
            <a:off x="548640" y="1920240"/>
            <a:ext cx="7680960" cy="365760"/>
          </a:xfrm>
          <a:prstGeom prst="rect">
            <a:avLst/>
          </a:prstGeom>
          <a:noFill/>
          <a:ln/>
        </p:spPr>
        <p:txBody>
          <a:bodyPr wrap="square" lIns="0" tIns="0" rIns="0" bIns="0" rtlCol="0" anchor="ctr"/>
          <a:lstStyle/>
          <a:p>
            <a:pPr indent="0" marL="0">
              <a:buNone/>
            </a:pPr>
            <a:r>
              <a:rPr lang="en-US" sz="1350" dirty="0">
                <a:solidFill>
                  <a:srgbClr val="93A5C7"/>
                </a:solidFill>
                <a:latin typeface="Calibri" pitchFamily="34" charset="0"/>
                <a:ea typeface="Calibri" pitchFamily="34" charset="-122"/>
                <a:cs typeface="Calibri" pitchFamily="34" charset="-120"/>
              </a:rPr>
              <a:t>Krypton is short, self-contained, and needs far less Linux than Bandit.</a:t>
            </a:r>
            <a:endParaRPr lang="en-US" sz="1350" dirty="0"/>
          </a:p>
        </p:txBody>
      </p:sp>
      <p:sp>
        <p:nvSpPr>
          <p:cNvPr id="5" name="Shape 2"/>
          <p:cNvSpPr/>
          <p:nvPr/>
        </p:nvSpPr>
        <p:spPr>
          <a:xfrm>
            <a:off x="548640" y="2606040"/>
            <a:ext cx="6613855" cy="694944"/>
          </a:xfrm>
          <a:prstGeom prst="roundRect">
            <a:avLst>
              <a:gd name="adj" fmla="val 11842"/>
            </a:avLst>
          </a:prstGeom>
          <a:solidFill>
            <a:srgbClr val="141F30"/>
          </a:solidFill>
          <a:ln/>
        </p:spPr>
      </p:sp>
      <p:sp>
        <p:nvSpPr>
          <p:cNvPr id="6" name="Text 3"/>
          <p:cNvSpPr/>
          <p:nvPr/>
        </p:nvSpPr>
        <p:spPr>
          <a:xfrm>
            <a:off x="932688" y="2606040"/>
            <a:ext cx="457200" cy="694944"/>
          </a:xfrm>
          <a:prstGeom prst="rect">
            <a:avLst/>
          </a:prstGeom>
          <a:noFill/>
          <a:ln/>
        </p:spPr>
        <p:txBody>
          <a:bodyPr wrap="square" lIns="0" tIns="0" rIns="0" bIns="0" rtlCol="0" anchor="ctr"/>
          <a:lstStyle/>
          <a:p>
            <a:pPr indent="0" marL="0">
              <a:buNone/>
            </a:pPr>
            <a:r>
              <a:rPr lang="en-US" sz="1900" b="1" dirty="0">
                <a:solidFill>
                  <a:srgbClr val="4CC9F0"/>
                </a:solidFill>
                <a:latin typeface="Cambria" pitchFamily="34" charset="0"/>
                <a:ea typeface="Cambria" pitchFamily="34" charset="-122"/>
                <a:cs typeface="Cambria" pitchFamily="34" charset="-120"/>
              </a:rPr>
              <a:t>1</a:t>
            </a:r>
            <a:endParaRPr lang="en-US" sz="1900" dirty="0"/>
          </a:p>
        </p:txBody>
      </p:sp>
      <p:sp>
        <p:nvSpPr>
          <p:cNvPr id="7" name="Text 4"/>
          <p:cNvSpPr/>
          <p:nvPr/>
        </p:nvSpPr>
        <p:spPr>
          <a:xfrm>
            <a:off x="1554480" y="2606040"/>
            <a:ext cx="5333695" cy="694944"/>
          </a:xfrm>
          <a:prstGeom prst="rect">
            <a:avLst/>
          </a:prstGeom>
          <a:noFill/>
          <a:ln/>
        </p:spPr>
        <p:txBody>
          <a:bodyPr wrap="square" lIns="0" tIns="0" rIns="0" bIns="0" rtlCol="0" anchor="ctr"/>
          <a:lstStyle/>
          <a:p>
            <a:pPr indent="0" marL="0">
              <a:buNone/>
            </a:pPr>
            <a:r>
              <a:rPr lang="en-US" sz="1400" dirty="0">
                <a:solidFill>
                  <a:srgbClr val="F4F6FB"/>
                </a:solidFill>
                <a:latin typeface="Calibri" pitchFamily="34" charset="0"/>
                <a:ea typeface="Calibri" pitchFamily="34" charset="-122"/>
                <a:cs typeface="Calibri" pitchFamily="34" charset="-120"/>
              </a:rPr>
              <a:t>Log in to CTFd and open the Cryptography category</a:t>
            </a:r>
            <a:endParaRPr lang="en-US" sz="1400" dirty="0"/>
          </a:p>
        </p:txBody>
      </p:sp>
      <p:sp>
        <p:nvSpPr>
          <p:cNvPr id="8" name="Shape 5"/>
          <p:cNvSpPr/>
          <p:nvPr/>
        </p:nvSpPr>
        <p:spPr>
          <a:xfrm>
            <a:off x="548640" y="3438144"/>
            <a:ext cx="6613855" cy="694944"/>
          </a:xfrm>
          <a:prstGeom prst="roundRect">
            <a:avLst>
              <a:gd name="adj" fmla="val 11842"/>
            </a:avLst>
          </a:prstGeom>
          <a:solidFill>
            <a:srgbClr val="1B2740"/>
          </a:solidFill>
          <a:ln/>
        </p:spPr>
      </p:sp>
      <p:sp>
        <p:nvSpPr>
          <p:cNvPr id="9" name="Text 6"/>
          <p:cNvSpPr/>
          <p:nvPr/>
        </p:nvSpPr>
        <p:spPr>
          <a:xfrm>
            <a:off x="932688" y="3438144"/>
            <a:ext cx="457200" cy="694944"/>
          </a:xfrm>
          <a:prstGeom prst="rect">
            <a:avLst/>
          </a:prstGeom>
          <a:noFill/>
          <a:ln/>
        </p:spPr>
        <p:txBody>
          <a:bodyPr wrap="square" lIns="0" tIns="0" rIns="0" bIns="0" rtlCol="0" anchor="ctr"/>
          <a:lstStyle/>
          <a:p>
            <a:pPr indent="0" marL="0">
              <a:buNone/>
            </a:pPr>
            <a:r>
              <a:rPr lang="en-US" sz="1900" b="1" dirty="0">
                <a:solidFill>
                  <a:srgbClr val="4CC9F0"/>
                </a:solidFill>
                <a:latin typeface="Cambria" pitchFamily="34" charset="0"/>
                <a:ea typeface="Cambria" pitchFamily="34" charset="-122"/>
                <a:cs typeface="Cambria" pitchFamily="34" charset="-120"/>
              </a:rPr>
              <a:t>2</a:t>
            </a:r>
            <a:endParaRPr lang="en-US" sz="1900" dirty="0"/>
          </a:p>
        </p:txBody>
      </p:sp>
      <p:sp>
        <p:nvSpPr>
          <p:cNvPr id="10" name="Text 7"/>
          <p:cNvSpPr/>
          <p:nvPr/>
        </p:nvSpPr>
        <p:spPr>
          <a:xfrm>
            <a:off x="1554480" y="3438144"/>
            <a:ext cx="5333695" cy="694944"/>
          </a:xfrm>
          <a:prstGeom prst="rect">
            <a:avLst/>
          </a:prstGeom>
          <a:noFill/>
          <a:ln/>
        </p:spPr>
        <p:txBody>
          <a:bodyPr wrap="square" lIns="0" tIns="0" rIns="0" bIns="0" rtlCol="0" anchor="ctr"/>
          <a:lstStyle/>
          <a:p>
            <a:pPr indent="0" marL="0">
              <a:buNone/>
            </a:pPr>
            <a:r>
              <a:rPr lang="en-US" sz="1400" dirty="0">
                <a:solidFill>
                  <a:srgbClr val="F4F6FB"/>
                </a:solidFill>
                <a:latin typeface="Calibri" pitchFamily="34" charset="0"/>
                <a:ea typeface="Calibri" pitchFamily="34" charset="-122"/>
                <a:cs typeface="Calibri" pitchFamily="34" charset="-120"/>
              </a:rPr>
              <a:t>Solve "Krypton: Start Here" to check your connection</a:t>
            </a:r>
            <a:endParaRPr lang="en-US" sz="1400" dirty="0"/>
          </a:p>
        </p:txBody>
      </p:sp>
      <p:sp>
        <p:nvSpPr>
          <p:cNvPr id="11" name="Shape 8"/>
          <p:cNvSpPr/>
          <p:nvPr/>
        </p:nvSpPr>
        <p:spPr>
          <a:xfrm>
            <a:off x="548640" y="4270248"/>
            <a:ext cx="6613855" cy="694944"/>
          </a:xfrm>
          <a:prstGeom prst="roundRect">
            <a:avLst>
              <a:gd name="adj" fmla="val 11842"/>
            </a:avLst>
          </a:prstGeom>
          <a:solidFill>
            <a:srgbClr val="141F30"/>
          </a:solidFill>
          <a:ln/>
        </p:spPr>
      </p:sp>
      <p:sp>
        <p:nvSpPr>
          <p:cNvPr id="12" name="Text 9"/>
          <p:cNvSpPr/>
          <p:nvPr/>
        </p:nvSpPr>
        <p:spPr>
          <a:xfrm>
            <a:off x="932688" y="4270248"/>
            <a:ext cx="457200" cy="694944"/>
          </a:xfrm>
          <a:prstGeom prst="rect">
            <a:avLst/>
          </a:prstGeom>
          <a:noFill/>
          <a:ln/>
        </p:spPr>
        <p:txBody>
          <a:bodyPr wrap="square" lIns="0" tIns="0" rIns="0" bIns="0" rtlCol="0" anchor="ctr"/>
          <a:lstStyle/>
          <a:p>
            <a:pPr indent="0" marL="0">
              <a:buNone/>
            </a:pPr>
            <a:r>
              <a:rPr lang="en-US" sz="1900" b="1" dirty="0">
                <a:solidFill>
                  <a:srgbClr val="4CC9F0"/>
                </a:solidFill>
                <a:latin typeface="Cambria" pitchFamily="34" charset="0"/>
                <a:ea typeface="Cambria" pitchFamily="34" charset="-122"/>
                <a:cs typeface="Cambria" pitchFamily="34" charset="-120"/>
              </a:rPr>
              <a:t>3</a:t>
            </a:r>
            <a:endParaRPr lang="en-US" sz="1900" dirty="0"/>
          </a:p>
        </p:txBody>
      </p:sp>
      <p:sp>
        <p:nvSpPr>
          <p:cNvPr id="13" name="Text 10"/>
          <p:cNvSpPr/>
          <p:nvPr/>
        </p:nvSpPr>
        <p:spPr>
          <a:xfrm>
            <a:off x="1554480" y="4270248"/>
            <a:ext cx="5333695" cy="694944"/>
          </a:xfrm>
          <a:prstGeom prst="rect">
            <a:avLst/>
          </a:prstGeom>
          <a:noFill/>
          <a:ln/>
        </p:spPr>
        <p:txBody>
          <a:bodyPr wrap="square" lIns="0" tIns="0" rIns="0" bIns="0" rtlCol="0" anchor="ctr"/>
          <a:lstStyle/>
          <a:p>
            <a:pPr indent="0" marL="0">
              <a:buNone/>
            </a:pPr>
            <a:r>
              <a:rPr lang="en-US" sz="1400" dirty="0">
                <a:solidFill>
                  <a:srgbClr val="F4F6FB"/>
                </a:solidFill>
                <a:latin typeface="Calibri" pitchFamily="34" charset="0"/>
                <a:ea typeface="Calibri" pitchFamily="34" charset="-122"/>
                <a:cs typeface="Calibri" pitchFamily="34" charset="-120"/>
              </a:rPr>
              <a:t>Launch the environment — levels 0 to 6 share it</a:t>
            </a:r>
            <a:endParaRPr lang="en-US" sz="1400" dirty="0"/>
          </a:p>
        </p:txBody>
      </p:sp>
      <p:sp>
        <p:nvSpPr>
          <p:cNvPr id="14" name="Shape 11"/>
          <p:cNvSpPr/>
          <p:nvPr/>
        </p:nvSpPr>
        <p:spPr>
          <a:xfrm>
            <a:off x="548640" y="5102352"/>
            <a:ext cx="6613855" cy="694944"/>
          </a:xfrm>
          <a:prstGeom prst="roundRect">
            <a:avLst>
              <a:gd name="adj" fmla="val 11842"/>
            </a:avLst>
          </a:prstGeom>
          <a:solidFill>
            <a:srgbClr val="1B2740"/>
          </a:solidFill>
          <a:ln/>
        </p:spPr>
      </p:sp>
      <p:sp>
        <p:nvSpPr>
          <p:cNvPr id="15" name="Text 12"/>
          <p:cNvSpPr/>
          <p:nvPr/>
        </p:nvSpPr>
        <p:spPr>
          <a:xfrm>
            <a:off x="932688" y="5102352"/>
            <a:ext cx="457200" cy="694944"/>
          </a:xfrm>
          <a:prstGeom prst="rect">
            <a:avLst/>
          </a:prstGeom>
          <a:noFill/>
          <a:ln/>
        </p:spPr>
        <p:txBody>
          <a:bodyPr wrap="square" lIns="0" tIns="0" rIns="0" bIns="0" rtlCol="0" anchor="ctr"/>
          <a:lstStyle/>
          <a:p>
            <a:pPr indent="0" marL="0">
              <a:buNone/>
            </a:pPr>
            <a:r>
              <a:rPr lang="en-US" sz="1900" b="1" dirty="0">
                <a:solidFill>
                  <a:srgbClr val="4CC9F0"/>
                </a:solidFill>
                <a:latin typeface="Cambria" pitchFamily="34" charset="0"/>
                <a:ea typeface="Cambria" pitchFamily="34" charset="-122"/>
                <a:cs typeface="Cambria" pitchFamily="34" charset="-120"/>
              </a:rPr>
              <a:t>4</a:t>
            </a:r>
            <a:endParaRPr lang="en-US" sz="1900" dirty="0"/>
          </a:p>
        </p:txBody>
      </p:sp>
      <p:sp>
        <p:nvSpPr>
          <p:cNvPr id="16" name="Text 13"/>
          <p:cNvSpPr/>
          <p:nvPr/>
        </p:nvSpPr>
        <p:spPr>
          <a:xfrm>
            <a:off x="1554480" y="5102352"/>
            <a:ext cx="5333695" cy="694944"/>
          </a:xfrm>
          <a:prstGeom prst="rect">
            <a:avLst/>
          </a:prstGeom>
          <a:noFill/>
          <a:ln/>
        </p:spPr>
        <p:txBody>
          <a:bodyPr wrap="square" lIns="0" tIns="0" rIns="0" bIns="0" rtlCol="0" anchor="ctr"/>
          <a:lstStyle/>
          <a:p>
            <a:pPr indent="0" marL="0">
              <a:buNone/>
            </a:pPr>
            <a:r>
              <a:rPr lang="en-US" sz="1400" dirty="0">
                <a:solidFill>
                  <a:srgbClr val="F4F6FB"/>
                </a:solidFill>
                <a:latin typeface="Calibri" pitchFamily="34" charset="0"/>
                <a:ea typeface="Calibri" pitchFamily="34" charset="-122"/>
                <a:cs typeface="Calibri" pitchFamily="34" charset="-120"/>
              </a:rPr>
              <a:t>Run krypton-tools --help on the box before you start guessing</a:t>
            </a:r>
            <a:endParaRPr lang="en-US" sz="1400" dirty="0"/>
          </a:p>
        </p:txBody>
      </p:sp>
      <p:sp>
        <p:nvSpPr>
          <p:cNvPr id="17" name="Text 14"/>
          <p:cNvSpPr/>
          <p:nvPr/>
        </p:nvSpPr>
        <p:spPr>
          <a:xfrm>
            <a:off x="548640" y="5989320"/>
            <a:ext cx="5486400" cy="320040"/>
          </a:xfrm>
          <a:prstGeom prst="rect">
            <a:avLst/>
          </a:prstGeom>
          <a:noFill/>
          <a:ln/>
        </p:spPr>
        <p:txBody>
          <a:bodyPr wrap="square" lIns="0" tIns="0" rIns="0" bIns="0" rtlCol="0" anchor="ctr"/>
          <a:lstStyle/>
          <a:p>
            <a:pPr indent="0" marL="0">
              <a:buNone/>
            </a:pPr>
            <a:r>
              <a:rPr lang="en-US" sz="1400" i="1" dirty="0">
                <a:solidFill>
                  <a:srgbClr val="4CC9F0"/>
                </a:solidFill>
                <a:latin typeface="Calibri" pitchFamily="34" charset="0"/>
                <a:ea typeface="Calibri" pitchFamily="34" charset="-122"/>
                <a:cs typeface="Calibri" pitchFamily="34" charset="-120"/>
              </a:rPr>
              <a:t>Good luck.</a:t>
            </a:r>
            <a:endParaRPr lang="en-US" sz="1400" dirty="0"/>
          </a:p>
        </p:txBody>
      </p:sp>
      <p:sp>
        <p:nvSpPr>
          <p:cNvPr id="18" name="Text 15"/>
          <p:cNvSpPr/>
          <p:nvPr/>
        </p:nvSpPr>
        <p:spPr>
          <a:xfrm>
            <a:off x="548640" y="6446520"/>
            <a:ext cx="2743200" cy="274320"/>
          </a:xfrm>
          <a:prstGeom prst="rect">
            <a:avLst/>
          </a:prstGeom>
          <a:noFill/>
          <a:ln/>
        </p:spPr>
        <p:txBody>
          <a:bodyPr wrap="square" lIns="0" tIns="0" rIns="0" bIns="0" rtlCol="0" anchor="ctr"/>
          <a:lstStyle/>
          <a:p>
            <a:pPr indent="0" marL="0">
              <a:buNone/>
            </a:pPr>
            <a:r>
              <a:rPr lang="en-US" sz="900" spc="150" kern="0" dirty="0">
                <a:solidFill>
                  <a:srgbClr val="5B6B8C"/>
                </a:solidFill>
                <a:latin typeface="Calibri" pitchFamily="34" charset="0"/>
                <a:ea typeface="Calibri" pitchFamily="34" charset="-122"/>
                <a:cs typeface="Calibri" pitchFamily="34" charset="-120"/>
              </a:rPr>
              <a:t>CEI LABS CTF</a:t>
            </a:r>
            <a:endParaRPr lang="en-US" sz="900" dirty="0"/>
          </a:p>
        </p:txBody>
      </p:sp>
      <p:sp>
        <p:nvSpPr>
          <p:cNvPr id="19" name="Text 16"/>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12</a:t>
            </a:r>
            <a:endParaRPr lang="en-US" sz="900" dirty="0"/>
          </a:p>
        </p:txBody>
      </p:sp>
    </p:spTree>
  </p:cSld>
  <p:clrMapOvr>
    <a:masterClrMapping/>
  </p:clrMapOvr>
  <p:transition spd="med" advClick="1">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CEI 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CEI Labs</dc:creator>
  <cp:lastModifiedBy>CEI Labs</cp:lastModifiedBy>
  <cp:revision>1</cp:revision>
  <dcterms:created xsi:type="dcterms:W3CDTF">2026-08-04T12:28:52Z</dcterms:created>
  <dcterms:modified xsi:type="dcterms:W3CDTF">2026-08-04T12:28:52Z</dcterms:modified>
</cp:coreProperties>
</file>